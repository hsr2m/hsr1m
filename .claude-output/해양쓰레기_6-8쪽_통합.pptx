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BB58D5F-2662-C6A6-9F53-EAF9D6D8368A}">
          <p14:sldIdLst>
            <p14:sldId id="256"/>
            <p14:sldId id="257"/>
          </p14:sldIdLst>
        </p14:section>
        <p14:section name="01 기업이 겪는 문제" id="{D4D3417C-5AB8-947E-289B-CED1B3AC4ADD}">
          <p14:sldIdLst>
            <p14:sldId id="258"/>
            <p14:sldId id="259"/>
            <p14:sldId id="260"/>
            <p14:sldId id="262"/>
            <p14:sldId id="263"/>
            <p14:sldId id="264"/>
            <p14:sldId id="261"/>
            <p14:sldId id="265"/>
          </p14:sldIdLst>
        </p14:section>
        <p14:section name="02 솔루션" id="{F7B2757D-8CEE-FA10-ADFA-B77219C1BECE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3 검증" id="{298E781A-C576-69D4-68FD-67A961D9C76E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04 기대효과와 제안" id="{D256D76B-B4DC-24C5-EC9E-24C8D52F4AD4}">
          <p14:sldIdLst>
            <p14:sldId id="284"/>
            <p14:sldId id="285"/>
            <p14:sldId id="286"/>
            <p14:sldId id="287"/>
            <p14:sldId id="288"/>
          </p14:sldIdLst>
        </p14:section>
        <p14:section name="요약" id="{183CD6FD-94D3-AD04-D9EE-34DECED0A034}">
          <p14:sldIdLst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68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수거량(t)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0212E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120736</c:v>
                </c:pt>
                <c:pt idx="1">
                  <c:v>126035</c:v>
                </c:pt>
                <c:pt idx="2">
                  <c:v>131931</c:v>
                </c:pt>
                <c:pt idx="3">
                  <c:v>132686</c:v>
                </c:pt>
                <c:pt idx="4">
                  <c:v>144615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0-4F99-A487-2A91F19BC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879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00"/>
          <c:min val="0"/>
        </c:scaling>
        <c:delete val="0"/>
        <c:axPos val="l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879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891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6~8쪽 통합 요약. ① 업체 라벨은 면적×계수라 101 kg도 가정 밀도 계산값이며, 질문이 오면 "저울 실측이 1단계"라고 답한다. ② 수거량 증가는 수거사업 확대 영향일 수 있으니 "쓰레기가 늘었다"고 말하지 않는다. ③ 100 t 오차 = 5천만 원은 단가 50만 원/t 가정 계산.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83080"/>
            <a:ext cx="66751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840480"/>
            <a:ext cx="6492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0233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T2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기록과 실제는 78배 차이, 그 추정이 곧 공공 예산이다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225296"/>
            <a:ext cx="11094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50" b="0" dirty="0">
                <a:solidFill>
                  <a:schemeClr val="accent4"/>
                </a:solidFill>
              </a:rPr>
              <a:t>문갑도 업체 라벨 42개는 기록으로 1.3 kg이지만 3D 부피로 재면 101 kg입니다. 이 수거는 매년 늘어나는 공공 발주 사업이고, 약 87%를 지자체가 수행하므로 100 t 추정 오차가 곧 5천만 원의 예산 오차가 됩니다.</a:t>
            </a:r>
          </a:p>
        </p:txBody>
      </p:sp>
      <p:sp>
        <p:nvSpPr>
          <p:cNvPr id="4" name="card 1"/>
          <p:cNvSpPr/>
          <p:nvPr/>
        </p:nvSpPr>
        <p:spPr>
          <a:xfrm>
            <a:off x="548640" y="1810512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B3C5D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card 2"/>
          <p:cNvSpPr/>
          <p:nvPr/>
        </p:nvSpPr>
        <p:spPr>
          <a:xfrm>
            <a:off x="4251960" y="1810512"/>
            <a:ext cx="368503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B3C5D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ard 3"/>
          <p:cNvSpPr/>
          <p:nvPr/>
        </p:nvSpPr>
        <p:spPr>
          <a:xfrm>
            <a:off x="8119872" y="1810512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B3C5D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header 0"/>
          <p:cNvSpPr txBox="1"/>
          <p:nvPr/>
        </p:nvSpPr>
        <p:spPr>
          <a:xfrm>
            <a:off x="786384" y="201168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①  </a:t>
            </a:r>
            <a:r>
              <a:rPr lang="ko-KR" altLang="en-US" sz="1200" b="1" dirty="0">
                <a:solidFill>
                  <a:schemeClr val="tx1"/>
                </a:solidFill>
              </a:rPr>
              <a:t>문제: 기록 1.3 kg vs 3D 101 kg</a:t>
            </a:r>
          </a:p>
        </p:txBody>
      </p:sp>
      <p:sp>
        <p:nvSpPr>
          <p:cNvPr id="8" name="stat label 업체 기록 합계"/>
          <p:cNvSpPr txBox="1"/>
          <p:nvPr/>
        </p:nvSpPr>
        <p:spPr>
          <a:xfrm>
            <a:off x="786384" y="243230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업체 기록 합계</a:t>
            </a:r>
          </a:p>
        </p:txBody>
      </p:sp>
      <p:sp>
        <p:nvSpPr>
          <p:cNvPr id="9" name="stat value 업체 기록 합계"/>
          <p:cNvSpPr txBox="1"/>
          <p:nvPr/>
        </p:nvSpPr>
        <p:spPr>
          <a:xfrm>
            <a:off x="786384" y="2688336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>
                <a:solidFill>
                  <a:schemeClr val="tx2"/>
                </a:solidFill>
              </a:rPr>
              <a:t>1.3</a:t>
            </a:r>
            <a:r>
              <a:rPr lang="ko-KR" altLang="en-US" sz="1100" b="1" dirty="0">
                <a:solidFill>
                  <a:schemeClr val="accent4"/>
                </a:solidFill>
              </a:rPr>
              <a:t> kg</a:t>
            </a:r>
          </a:p>
        </p:txBody>
      </p:sp>
      <p:sp>
        <p:nvSpPr>
          <p:cNvPr id="10" name="stat sub 업체 기록 합계"/>
          <p:cNvSpPr txBox="1"/>
          <p:nvPr/>
        </p:nvSpPr>
        <p:spPr>
          <a:xfrm>
            <a:off x="786384" y="3145536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면적 × 계수로 산출한 라벨값</a:t>
            </a:r>
          </a:p>
        </p:txBody>
      </p:sp>
      <p:sp>
        <p:nvSpPr>
          <p:cNvPr id="11" name="stat label 3D 부피 × 밀도"/>
          <p:cNvSpPr txBox="1"/>
          <p:nvPr/>
        </p:nvSpPr>
        <p:spPr>
          <a:xfrm>
            <a:off x="2377440" y="243230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3D 부피 × 밀도</a:t>
            </a:r>
          </a:p>
        </p:txBody>
      </p:sp>
      <p:sp>
        <p:nvSpPr>
          <p:cNvPr id="12" name="stat value 3D 부피 × 밀도"/>
          <p:cNvSpPr txBox="1"/>
          <p:nvPr/>
        </p:nvSpPr>
        <p:spPr>
          <a:xfrm>
            <a:off x="2377440" y="2688336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>
                <a:solidFill>
                  <a:schemeClr val="accent2"/>
                </a:solidFill>
              </a:rPr>
              <a:t>101</a:t>
            </a:r>
            <a:r>
              <a:rPr lang="ko-KR" altLang="en-US" sz="1100" b="1" dirty="0">
                <a:solidFill>
                  <a:schemeClr val="accent4"/>
                </a:solidFill>
              </a:rPr>
              <a:t> kg</a:t>
            </a:r>
          </a:p>
        </p:txBody>
      </p:sp>
      <p:sp>
        <p:nvSpPr>
          <p:cNvPr id="13" name="stat sub 3D 부피 × 밀도"/>
          <p:cNvSpPr txBox="1"/>
          <p:nvPr/>
        </p:nvSpPr>
        <p:spPr>
          <a:xfrm>
            <a:off x="2377440" y="3145536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가정 밀도 범위 15~1,328 kg</a:t>
            </a:r>
          </a:p>
        </p:txBody>
      </p:sp>
      <p:sp>
        <p:nvSpPr>
          <p:cNvPr id="14" name="stat label 차이"/>
          <p:cNvSpPr txBox="1"/>
          <p:nvPr/>
        </p:nvSpPr>
        <p:spPr>
          <a:xfrm>
            <a:off x="786384" y="363931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차이</a:t>
            </a:r>
          </a:p>
        </p:txBody>
      </p:sp>
      <p:sp>
        <p:nvSpPr>
          <p:cNvPr id="15" name="stat value 차이"/>
          <p:cNvSpPr txBox="1"/>
          <p:nvPr/>
        </p:nvSpPr>
        <p:spPr>
          <a:xfrm>
            <a:off x="786384" y="3895344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>
                <a:solidFill>
                  <a:schemeClr val="tx2"/>
                </a:solidFill>
              </a:rPr>
              <a:t>78</a:t>
            </a:r>
            <a:r>
              <a:rPr lang="ko-KR" altLang="en-US" sz="1100" b="1" dirty="0">
                <a:solidFill>
                  <a:schemeClr val="accent4"/>
                </a:solidFill>
              </a:rPr>
              <a:t> 배</a:t>
            </a:r>
          </a:p>
        </p:txBody>
      </p:sp>
      <p:sp>
        <p:nvSpPr>
          <p:cNvPr id="16" name="stat sub 차이"/>
          <p:cNvSpPr txBox="1"/>
          <p:nvPr/>
        </p:nvSpPr>
        <p:spPr>
          <a:xfrm>
            <a:off x="786384" y="4352544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1.54 m² 더미: 18 g vs 0.3~17 kg</a:t>
            </a:r>
          </a:p>
        </p:txBody>
      </p:sp>
      <p:sp>
        <p:nvSpPr>
          <p:cNvPr id="17" name="stat label 마대 계획 (20 kg 기준)"/>
          <p:cNvSpPr txBox="1"/>
          <p:nvPr/>
        </p:nvSpPr>
        <p:spPr>
          <a:xfrm>
            <a:off x="2377440" y="363931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마대 계획 (20 kg 기준)</a:t>
            </a:r>
          </a:p>
        </p:txBody>
      </p:sp>
      <p:sp>
        <p:nvSpPr>
          <p:cNvPr id="18" name="stat value 마대 계획 (20 kg 기준)"/>
          <p:cNvSpPr txBox="1"/>
          <p:nvPr/>
        </p:nvSpPr>
        <p:spPr>
          <a:xfrm>
            <a:off x="2377440" y="3895344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chemeClr val="tx2"/>
                </a:solidFill>
              </a:rPr>
              <a:t>1 → 6</a:t>
            </a:r>
            <a:r>
              <a:rPr lang="ko-KR" altLang="en-US" sz="1100" b="1" dirty="0">
                <a:solidFill>
                  <a:schemeClr val="accent4"/>
                </a:solidFill>
              </a:rPr>
              <a:t> 장</a:t>
            </a:r>
          </a:p>
        </p:txBody>
      </p:sp>
      <p:sp>
        <p:nvSpPr>
          <p:cNvPr id="19" name="stat sub 마대 계획 (20 kg 기준)"/>
          <p:cNvSpPr txBox="1"/>
          <p:nvPr/>
        </p:nvSpPr>
        <p:spPr>
          <a:xfrm>
            <a:off x="2377440" y="4352544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트럭·인원 계획이 통째로 틀어짐</a:t>
            </a:r>
          </a:p>
        </p:txBody>
      </p:sp>
      <p:sp>
        <p:nvSpPr>
          <p:cNvPr id="20" name="header 1"/>
          <p:cNvSpPr txBox="1"/>
          <p:nvPr/>
        </p:nvSpPr>
        <p:spPr>
          <a:xfrm>
            <a:off x="4489704" y="20116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②  </a:t>
            </a:r>
            <a:r>
              <a:rPr lang="ko-KR" altLang="en-US" sz="1200" b="1" dirty="0">
                <a:solidFill>
                  <a:schemeClr val="tx1"/>
                </a:solidFill>
              </a:rPr>
              <a:t>공공 발주 규모: 수거량 5년간 +19.8%</a:t>
            </a:r>
          </a:p>
        </p:txBody>
      </p:sp>
      <p:sp>
        <p:nvSpPr>
          <p:cNvPr id="21" name="chart caption"/>
          <p:cNvSpPr txBox="1"/>
          <p:nvPr/>
        </p:nvSpPr>
        <p:spPr>
          <a:xfrm>
            <a:off x="4489704" y="2286000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연도별 수거량 (톤) · 이 중 76%가 해안쓰레기</a:t>
            </a:r>
          </a:p>
        </p:txBody>
      </p:sp>
      <p:graphicFrame>
        <p:nvGraphicFramePr>
          <p:cNvPr id="22" name="수거량 차트"/>
          <p:cNvGraphicFramePr/>
          <p:nvPr/>
        </p:nvGraphicFramePr>
        <p:xfrm>
          <a:off x="4379976" y="2523744"/>
          <a:ext cx="3429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tat label 연간 발생량 추정 (2018)"/>
          <p:cNvSpPr txBox="1"/>
          <p:nvPr/>
        </p:nvSpPr>
        <p:spPr>
          <a:xfrm>
            <a:off x="4489704" y="393192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연간 발생량 추정 (2018)</a:t>
            </a:r>
          </a:p>
        </p:txBody>
      </p:sp>
      <p:sp>
        <p:nvSpPr>
          <p:cNvPr id="24" name="stat value 연간 발생량 추정 (2018)"/>
          <p:cNvSpPr txBox="1"/>
          <p:nvPr/>
        </p:nvSpPr>
        <p:spPr>
          <a:xfrm>
            <a:off x="4489704" y="41879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chemeClr val="tx2"/>
                </a:solidFill>
              </a:rPr>
              <a:t>14.5만</a:t>
            </a:r>
            <a:r>
              <a:rPr lang="ko-KR" altLang="en-US" sz="1100" b="1" dirty="0">
                <a:solidFill>
                  <a:schemeClr val="accent4"/>
                </a:solidFill>
              </a:rPr>
              <a:t> t / 년</a:t>
            </a:r>
          </a:p>
        </p:txBody>
      </p:sp>
      <p:sp>
        <p:nvSpPr>
          <p:cNvPr id="25" name="stat sub 연간 발생량 추정 (2018)"/>
          <p:cNvSpPr txBox="1"/>
          <p:nvPr/>
        </p:nvSpPr>
        <p:spPr>
          <a:xfrm>
            <a:off x="4489704" y="46451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KMI 추정 · 치우는 만큼 다시 들어온다</a:t>
            </a:r>
          </a:p>
        </p:txBody>
      </p:sp>
      <p:sp>
        <p:nvSpPr>
          <p:cNvPr id="26" name="stat label 2026년 처리 예산"/>
          <p:cNvSpPr txBox="1"/>
          <p:nvPr/>
        </p:nvSpPr>
        <p:spPr>
          <a:xfrm>
            <a:off x="6163056" y="393192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2026년 처리 예산</a:t>
            </a:r>
          </a:p>
        </p:txBody>
      </p:sp>
      <p:sp>
        <p:nvSpPr>
          <p:cNvPr id="27" name="stat value 2026년 처리 예산"/>
          <p:cNvSpPr txBox="1"/>
          <p:nvPr/>
        </p:nvSpPr>
        <p:spPr>
          <a:xfrm>
            <a:off x="6163056" y="418795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chemeClr val="accent2"/>
                </a:solidFill>
              </a:rPr>
              <a:t>1,114</a:t>
            </a:r>
            <a:r>
              <a:rPr lang="ko-KR" altLang="en-US" sz="1100" b="1" dirty="0">
                <a:solidFill>
                  <a:schemeClr val="accent4"/>
                </a:solidFill>
              </a:rPr>
              <a:t> 억 원</a:t>
            </a:r>
          </a:p>
        </p:txBody>
      </p:sp>
      <p:sp>
        <p:nvSpPr>
          <p:cNvPr id="28" name="stat sub 2026년 처리 예산"/>
          <p:cNvSpPr txBox="1"/>
          <p:nvPr/>
        </p:nvSpPr>
        <p:spPr>
          <a:xfrm>
            <a:off x="6163056" y="46451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2021년 대비 +47.7%</a:t>
            </a:r>
          </a:p>
        </p:txBody>
      </p:sp>
      <p:sp>
        <p:nvSpPr>
          <p:cNvPr id="29" name="header 2"/>
          <p:cNvSpPr txBox="1"/>
          <p:nvPr/>
        </p:nvSpPr>
        <p:spPr>
          <a:xfrm>
            <a:off x="8357616" y="201168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③  </a:t>
            </a:r>
            <a:r>
              <a:rPr lang="ko-KR" altLang="en-US" sz="1200" b="1" dirty="0">
                <a:solidFill>
                  <a:schemeClr val="tx1"/>
                </a:solidFill>
              </a:rPr>
              <a:t>비용 구조: 지자체 몫, 추정이 곧 예산</a:t>
            </a:r>
          </a:p>
        </p:txBody>
      </p:sp>
      <p:sp>
        <p:nvSpPr>
          <p:cNvPr id="30" name="stat label 지자체 등 수거 비중"/>
          <p:cNvSpPr txBox="1"/>
          <p:nvPr/>
        </p:nvSpPr>
        <p:spPr>
          <a:xfrm>
            <a:off x="8357616" y="243230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지자체 등 수거 비중</a:t>
            </a:r>
          </a:p>
        </p:txBody>
      </p:sp>
      <p:sp>
        <p:nvSpPr>
          <p:cNvPr id="31" name="stat value 지자체 등 수거 비중"/>
          <p:cNvSpPr txBox="1"/>
          <p:nvPr/>
        </p:nvSpPr>
        <p:spPr>
          <a:xfrm>
            <a:off x="8357616" y="2688336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>
                <a:solidFill>
                  <a:schemeClr val="accent2"/>
                </a:solidFill>
              </a:rPr>
              <a:t>87</a:t>
            </a:r>
            <a:r>
              <a:rPr lang="ko-KR" altLang="en-US" sz="1100" b="1" dirty="0">
                <a:solidFill>
                  <a:schemeClr val="accent4"/>
                </a:solidFill>
              </a:rPr>
              <a:t> %</a:t>
            </a:r>
          </a:p>
        </p:txBody>
      </p:sp>
      <p:sp>
        <p:nvSpPr>
          <p:cNvPr id="32" name="stat sub 지자체 등 수거 비중"/>
          <p:cNvSpPr txBox="1"/>
          <p:nvPr/>
        </p:nvSpPr>
        <p:spPr>
          <a:xfrm>
            <a:off x="8357616" y="3145536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해수부 직할기관 13.0% 제외</a:t>
            </a:r>
          </a:p>
        </p:txBody>
      </p:sp>
      <p:sp>
        <p:nvSpPr>
          <p:cNvPr id="33" name="stat label 지자체 수거예산 누계"/>
          <p:cNvSpPr txBox="1"/>
          <p:nvPr/>
        </p:nvSpPr>
        <p:spPr>
          <a:xfrm>
            <a:off x="9948672" y="243230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지자체 수거예산 누계</a:t>
            </a:r>
          </a:p>
        </p:txBody>
      </p:sp>
      <p:sp>
        <p:nvSpPr>
          <p:cNvPr id="34" name="stat value 지자체 수거예산 누계"/>
          <p:cNvSpPr txBox="1"/>
          <p:nvPr/>
        </p:nvSpPr>
        <p:spPr>
          <a:xfrm>
            <a:off x="9948672" y="2688336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>
                <a:solidFill>
                  <a:schemeClr val="tx2"/>
                </a:solidFill>
              </a:rPr>
              <a:t>3,654</a:t>
            </a:r>
            <a:r>
              <a:rPr lang="ko-KR" altLang="en-US" sz="1100" b="1" dirty="0">
                <a:solidFill>
                  <a:schemeClr val="accent4"/>
                </a:solidFill>
              </a:rPr>
              <a:t> 억 원</a:t>
            </a:r>
          </a:p>
        </p:txBody>
      </p:sp>
      <p:sp>
        <p:nvSpPr>
          <p:cNvPr id="35" name="stat sub 지자체 수거예산 누계"/>
          <p:cNvSpPr txBox="1"/>
          <p:nvPr/>
        </p:nvSpPr>
        <p:spPr>
          <a:xfrm>
            <a:off x="9948672" y="3145536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2017~22 · 같은 기간 3.5배 증가</a:t>
            </a:r>
          </a:p>
        </p:txBody>
      </p:sp>
      <p:sp>
        <p:nvSpPr>
          <p:cNvPr id="36" name="stat label 국비 : 지방비"/>
          <p:cNvSpPr txBox="1"/>
          <p:nvPr/>
        </p:nvSpPr>
        <p:spPr>
          <a:xfrm>
            <a:off x="8357616" y="363931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국비 : 지방비</a:t>
            </a:r>
          </a:p>
        </p:txBody>
      </p:sp>
      <p:sp>
        <p:nvSpPr>
          <p:cNvPr id="37" name="stat value 국비 : 지방비"/>
          <p:cNvSpPr txBox="1"/>
          <p:nvPr/>
        </p:nvSpPr>
        <p:spPr>
          <a:xfrm>
            <a:off x="8357616" y="3895344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chemeClr val="tx2"/>
                </a:solidFill>
              </a:rPr>
              <a:t>50 : 50</a:t>
            </a:r>
            <a:r>
              <a:rPr lang="ko-KR" altLang="en-US" sz="1100" b="1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38" name="stat sub 국비 : 지방비"/>
          <p:cNvSpPr txBox="1"/>
          <p:nvPr/>
        </p:nvSpPr>
        <p:spPr>
          <a:xfrm>
            <a:off x="8357616" y="4352544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2018 보도 · 사업별로 다름</a:t>
            </a:r>
          </a:p>
        </p:txBody>
      </p:sp>
      <p:sp>
        <p:nvSpPr>
          <p:cNvPr id="39" name="stat label 처리 단가 (전남)"/>
          <p:cNvSpPr txBox="1"/>
          <p:nvPr/>
        </p:nvSpPr>
        <p:spPr>
          <a:xfrm>
            <a:off x="9948672" y="363931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ko-KR" altLang="en-US" sz="1000" b="0" dirty="0">
                <a:solidFill>
                  <a:schemeClr val="accent4"/>
                </a:solidFill>
              </a:rPr>
              <a:t>처리 단가 (전남)</a:t>
            </a:r>
          </a:p>
        </p:txBody>
      </p:sp>
      <p:sp>
        <p:nvSpPr>
          <p:cNvPr id="40" name="stat value 처리 단가 (전남)"/>
          <p:cNvSpPr txBox="1"/>
          <p:nvPr/>
        </p:nvSpPr>
        <p:spPr>
          <a:xfrm>
            <a:off x="9948672" y="3895344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chemeClr val="tx2"/>
                </a:solidFill>
              </a:rPr>
              <a:t>50만</a:t>
            </a:r>
            <a:r>
              <a:rPr lang="ko-KR" altLang="en-US" sz="1100" b="1" dirty="0">
                <a:solidFill>
                  <a:schemeClr val="accent4"/>
                </a:solidFill>
              </a:rPr>
              <a:t> 원/t</a:t>
            </a:r>
          </a:p>
        </p:txBody>
      </p:sp>
      <p:sp>
        <p:nvSpPr>
          <p:cNvPr id="41" name="stat sub 처리 단가 (전남)"/>
          <p:cNvSpPr txBox="1"/>
          <p:nvPr/>
        </p:nvSpPr>
        <p:spPr>
          <a:xfrm>
            <a:off x="9948672" y="4352544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b="0" dirty="0">
                <a:solidFill>
                  <a:schemeClr val="accent4"/>
                </a:solidFill>
              </a:rPr>
              <a:t>100 t 오차 = 5천만 원</a:t>
            </a:r>
          </a:p>
        </p:txBody>
      </p:sp>
      <p:sp>
        <p:nvSpPr>
          <p:cNvPr id="42" name="money band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4000"/>
            </a:avLst>
          </a:prstGeom>
          <a:solidFill>
            <a:srgbClr val="0B3C5D"/>
          </a:solidFill>
          <a:ln w="12700">
            <a:solidFill>
              <a:srgbClr val="0B3C5D"/>
            </a:solidFill>
          </a:ln>
          <a:effectLst/>
        </p:spPr>
        <p:txBody>
          <a:bodyPr/>
          <a:lstStyle/>
          <a:p>
            <a:endParaRPr lang="ko-KR" altLang="en-US"/>
          </a:p>
        </p:txBody>
      </p:sp>
      <p:pic>
        <p:nvPicPr>
          <p:cNvPr id="43" name="icon coins" descr="icon coi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349240"/>
            <a:ext cx="365760" cy="365760"/>
          </a:xfrm>
          <a:prstGeom prst="rect">
            <a:avLst/>
          </a:prstGeom>
        </p:spPr>
      </p:pic>
      <p:sp>
        <p:nvSpPr>
          <p:cNvPr id="44" name="money title"/>
          <p:cNvSpPr txBox="1"/>
          <p:nvPr/>
        </p:nvSpPr>
        <p:spPr>
          <a:xfrm>
            <a:off x="1371600" y="5257800"/>
            <a:ext cx="9997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50" b="1" dirty="0">
                <a:solidFill>
                  <a:srgbClr val="FFFFFF"/>
                </a:solidFill>
              </a:rPr>
              <a:t>돈으로 환산하면</a:t>
            </a:r>
          </a:p>
        </p:txBody>
      </p:sp>
      <p:sp>
        <p:nvSpPr>
          <p:cNvPr id="45" name="money text"/>
          <p:cNvSpPr txBox="1"/>
          <p:nvPr/>
        </p:nvSpPr>
        <p:spPr>
          <a:xfrm>
            <a:off x="1371600" y="550468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b="0" dirty="0">
                <a:solidFill>
                  <a:srgbClr val="D5DEE4"/>
                </a:solidFill>
              </a:rPr>
              <a:t>처리 단가 약 50만 원/t(전남)이므로 무게를 100 t 잘못 잡으면 5천만 원이고, 트럭 한 대를 더 부르면 하루 인력·장비가 추가됩니다. 지금 기록 방식의 오차는 수십~수백 배 단위라, 발주처도 업체도 "미리 재는 것"이 예산 그 자체입니다.</a:t>
            </a:r>
          </a:p>
        </p:txBody>
      </p:sp>
      <p:sp>
        <p:nvSpPr>
          <p:cNvPr id="46" name="source"/>
          <p:cNvSpPr txBox="1"/>
          <p:nvPr/>
        </p:nvSpPr>
        <p:spPr>
          <a:xfrm>
            <a:off x="548640" y="59893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850" b="0" dirty="0">
                <a:solidFill>
                  <a:schemeClr val="accent4"/>
                </a:solidFill>
              </a:rPr>
              <a:t>출처: 업체 라벨 42개(문갑도 MGD)와 팀 분석, 101 kg은 부피 추정 × 가정 겉보기밀도 산출(실측 없음) · 연도별·유형별 수거량, 직할기관 비중, 2026년 처리 예산 1,114억 원: 해양수산부(2026.09) · 발생량 14.5만 t: 정책브리핑(KMI 2018 연구) · 지자체 수거예산: 에너지데일리(국회 자료, 2017~2022) · 국비 분담·처리 단가: 한국일보(2018·2019, 전남)</a:t>
            </a:r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ngbungi Ocean">
  <a:themeElements>
    <a:clrScheme name="Bungbungi Ocean">
      <a:dk1>
        <a:srgbClr val="10212E"/>
      </a:dk1>
      <a:lt1>
        <a:srgbClr val="FFFFFF"/>
      </a:lt1>
      <a:dk2>
        <a:srgbClr val="0B3C5D"/>
      </a:dk2>
      <a:lt2>
        <a:srgbClr val="EEF3F6"/>
      </a:lt2>
      <a:accent1>
        <a:srgbClr val="0B3C5D"/>
      </a:accent1>
      <a:accent2>
        <a:srgbClr val="F26B21"/>
      </a:accent2>
      <a:accent3>
        <a:srgbClr val="1C7293"/>
      </a:accent3>
      <a:accent4>
        <a:srgbClr val="6F8794"/>
      </a:accent4>
      <a:accent5>
        <a:srgbClr val="D5DEE4"/>
      </a:accent5>
      <a:accent6>
        <a:srgbClr val="FFD9C2"/>
      </a:accent6>
      <a:hlink>
        <a:srgbClr val="1C7293"/>
      </a:hlink>
      <a:folHlink>
        <a:srgbClr val="6F8794"/>
      </a:folHlink>
    </a:clrScheme>
    <a:fontScheme name="Bungbungi Ocea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8542</Words>
  <Application>Microsoft Office PowerPoint</Application>
  <PresentationFormat>와이드스크린</PresentationFormat>
  <Paragraphs>755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Malgun Gothic</vt:lpstr>
      <vt:lpstr>Malgun Gothic</vt:lpstr>
      <vt:lpstr>Arial</vt:lpstr>
      <vt:lpstr>Bungbungi Ocean</vt:lpstr>
      <vt:lpstr>정확한 해양쓰레기 측정을 통한 경제적 쓰레기 수거</vt:lpstr>
      <vt:lpstr>목차</vt:lpstr>
      <vt:lpstr>기업이 겪는 문제</vt:lpstr>
      <vt:lpstr>우리의 주제: </vt:lpstr>
      <vt:lpstr>드론대장 붕붕이, 그 노력의 과정</vt:lpstr>
      <vt:lpstr>기업이 제시한 문제점: 같은 42개가 기록으로는 1.3 kg, 3D로 재면 101 kg</vt:lpstr>
      <vt:lpstr>왜 공공이 돈을 쓰는 일인가: 수거량은 5년간 19.8% 늘었다</vt:lpstr>
      <vt:lpstr>수거 비용은 지자체 몫이고, 추정이 곧 예산이다</vt:lpstr>
      <vt:lpstr>지금 일하는 방식: 눈으로 찾고, 면적에 계수를 곱하고, 경험으로 배차한다</vt:lpstr>
      <vt:lpstr>한 번의 폭우가 1,180 t을 보낸다: 경남, 2026년 8월</vt:lpstr>
      <vt:lpstr>드론대장 붕붕이의 솔루션</vt:lpstr>
      <vt:lpstr>전체 파이프라인</vt:lpstr>
      <vt:lpstr>위성 분석: 해안 형상 점수로 어디를 날지 고른다</vt:lpstr>
      <vt:lpstr>해류 분석: 조석·표류 모델로 어느 면에 쌓이는지 본다</vt:lpstr>
      <vt:lpstr>쓰레기 이미지 인식 ①: 촬영 거리는 물체 크기에서 역산했다</vt:lpstr>
      <vt:lpstr>쓰레기 이미지 인식 ②: 탐지와 3D 위치, 영상 한 편에서 핀을 찍는다</vt:lpstr>
      <vt:lpstr>쓰레기 이미지 인식 ③: 정확도를 올린 방법, 오탐을 줄이는 다섯 겹</vt:lpstr>
      <vt:lpstr>쓰레기 부피 및 무게 추정: 점구름에서 물체 점만 남겨 높이를 잰다</vt:lpstr>
      <vt:lpstr>경로계획과 수거계획: 비행은 조종자, 나머지는 소프트웨어</vt:lpstr>
      <vt:lpstr>검증</vt:lpstr>
      <vt:lpstr>검증 맵: 파이프라인의 어디를 무엇으로 확인했나</vt:lpstr>
      <vt:lpstr>검증 데이터: 실제로 날려서 찍었다. 송도 선회 7 m · 골목 왕복 2 m · 야간 10분</vt:lpstr>
      <vt:lpstr>검증 ① 어디를 날지: 상위 30% 구간에 쓰레기의 62~67%가 있었다</vt:lpstr>
      <vt:lpstr>검증 ② 탐지와 위치: 재현율 0.72, 위치 잔차 1 m대</vt:lpstr>
      <vt:lpstr>검증 ③ 오탐: 확정 핀 10개 중 8개가 진짜, 야간 30개 중 오탐 1개</vt:lpstr>
      <vt:lpstr>검증 ④ 부피와 무게: 크기 아는 상자 3개가 ±20% 안에 들었다</vt:lpstr>
      <vt:lpstr>검증 ⑤ 재방문과 수거계획: 재현율 0.86, 섬 하나의 작업카드</vt:lpstr>
      <vt:lpstr>검증 요약: 가설 · 설계 · 결과</vt:lpstr>
      <vt:lpstr>기대효과</vt:lpstr>
      <vt:lpstr>기업이 아끼는 것: 비행시간 63%, 재방문·재배차, 현장에서 헤매는 시간</vt:lpstr>
      <vt:lpstr>포인트 기술의 의의: 정합이 '위치 엔진'이 되고, 3D가 '무게'를 만든다</vt:lpstr>
      <vt:lpstr>위성이 넓게 보고, 드론이 자세히 재고, 지자체가 배차한다</vt:lpstr>
      <vt:lpstr>지금 못 한 것과, 지원이 있으면 바로 되는 것</vt:lpstr>
      <vt:lpstr>한눈에: 이 기술 → 이 기술 → 이 결과</vt:lpstr>
      <vt:lpstr>다시 한 장으로</vt:lpstr>
      <vt:lpstr>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DroneSweep — 드론 영상 하나로 끝내는 해안쓰레기 측정·수거계획</dc:title>
  <dc:subject>PptxGenJS Presentation</dc:subject>
  <dc:creator>드론대장 붕붕이</dc:creator>
  <cp:lastModifiedBy>홍수림</cp:lastModifiedBy>
  <cp:revision>4</cp:revision>
  <dcterms:created xsi:type="dcterms:W3CDTF">2026-10-02T02:12:45Z</dcterms:created>
  <dcterms:modified xsi:type="dcterms:W3CDTF">2026-10-02T03:09:34Z</dcterms:modified>
</cp:coreProperties>
</file>