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BB58D5F-2662-C6A6-9F53-EAF9D6D8368A}">
          <p14:sldIdLst>
            <p14:sldId id="256"/>
            <p14:sldId id="257"/>
          </p14:sldIdLst>
        </p14:section>
        <p14:section name="01 기업이 겪는 문제" id="{D4D3417C-5AB8-947E-289B-CED1B3AC4ADD}">
          <p14:sldIdLst>
            <p14:sldId id="258"/>
            <p14:sldId id="259"/>
            <p14:sldId id="260"/>
            <p14:sldId id="262"/>
            <p14:sldId id="263"/>
            <p14:sldId id="264"/>
            <p14:sldId id="261"/>
            <p14:sldId id="265"/>
          </p14:sldIdLst>
        </p14:section>
        <p14:section name="02 솔루션" id="{F7B2757D-8CEE-FA10-ADFA-B77219C1BECE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03 검증" id="{298E781A-C576-69D4-68FD-67A961D9C76E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04 기대효과와 제안" id="{D256D76B-B4DC-24C5-EC9E-24C8D52F4AD4}">
          <p14:sldIdLst>
            <p14:sldId id="284"/>
            <p14:sldId id="285"/>
            <p14:sldId id="286"/>
            <p14:sldId id="287"/>
            <p14:sldId id="288"/>
          </p14:sldIdLst>
        </p14:section>
        <p14:section name="요약" id="{183CD6FD-94D3-AD04-D9EE-34DECED0A034}">
          <p14:sldIdLst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68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4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수거량(t)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0212E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120736</c:v>
                </c:pt>
                <c:pt idx="1">
                  <c:v>126035</c:v>
                </c:pt>
                <c:pt idx="2">
                  <c:v>131931</c:v>
                </c:pt>
                <c:pt idx="3">
                  <c:v>132686</c:v>
                </c:pt>
                <c:pt idx="4">
                  <c:v>144615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50-4F99-A487-2A91F19BC4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879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00"/>
          <c:min val="0"/>
        </c:scaling>
        <c:delete val="0"/>
        <c:axPos val="l"/>
        <c:majorGridlines>
          <c:spPr>
            <a:ln w="6350" cap="flat">
              <a:solidFill>
                <a:srgbClr val="DDE3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879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891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7~9쪽 통합 요약. ① 수거량 증가는 수거사업 확대 영향일 수 있으니 "쓰레기가 늘었다"고 말하지 않는다. ② 100 t 오차 = 5천만 원은 단가 50만 원/t 가정 계산. ③ 세 단계 모두 "어디에 얼마나"라는 같은 숫자를 쓰는데 그 숫자가 눈과 곱셈에서 나온다. 위치가 틀리면 동선이, 무게가 틀리면 트럭이 틀린다.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83080"/>
            <a:ext cx="66751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840480"/>
            <a:ext cx="6492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02336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T2"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공공 예산으로 치우는 수거, 그 숫자는 아직 눈과 곱셈에서 나온다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50" b="0" dirty="0">
                <a:solidFill>
                  <a:schemeClr val="accent4"/>
                </a:solidFill>
              </a:rPr>
              <a:t>해양쓰레기 수거는 매년 늘어나는 공공 발주 사업이고, 약 87%를 지자체가 수행해 100 t 추정 오차가 곧 5천만 원입니다. 그런데 현장의 위치·무게·배차는 아직 사람의 눈과 곱셈 하나로 정해집니다.</a:t>
            </a:r>
          </a:p>
        </p:txBody>
      </p:sp>
      <p:sp>
        <p:nvSpPr>
          <p:cNvPr id="4" name="card 공공 발주 규모"/>
          <p:cNvSpPr/>
          <p:nvPr/>
        </p:nvSpPr>
        <p:spPr>
          <a:xfrm>
            <a:off x="548640" y="1783080"/>
            <a:ext cx="55778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B3C5D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card 비용 구조"/>
          <p:cNvSpPr/>
          <p:nvPr/>
        </p:nvSpPr>
        <p:spPr>
          <a:xfrm>
            <a:off x="6309360" y="1783080"/>
            <a:ext cx="5333695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B3C5D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header 1"/>
          <p:cNvSpPr txBox="1"/>
          <p:nvPr/>
        </p:nvSpPr>
        <p:spPr>
          <a:xfrm>
            <a:off x="786384" y="1965960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①  </a:t>
            </a:r>
            <a:r>
              <a:rPr lang="ko-KR" altLang="en-US" sz="1200" b="1" dirty="0">
                <a:solidFill>
                  <a:schemeClr val="tx1"/>
                </a:solidFill>
              </a:rPr>
              <a:t>공공 발주 규모: 수거량 5년간 +19.8%</a:t>
            </a:r>
          </a:p>
        </p:txBody>
      </p:sp>
      <p:sp>
        <p:nvSpPr>
          <p:cNvPr id="7" name="chart caption"/>
          <p:cNvSpPr txBox="1"/>
          <p:nvPr/>
        </p:nvSpPr>
        <p:spPr>
          <a:xfrm>
            <a:off x="786384" y="225856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연도별 수거량 (톤) · 76%가 해안쓰레기</a:t>
            </a:r>
          </a:p>
        </p:txBody>
      </p:sp>
      <p:graphicFrame>
        <p:nvGraphicFramePr>
          <p:cNvPr id="8" name="수거량 차트"/>
          <p:cNvGraphicFramePr/>
          <p:nvPr/>
        </p:nvGraphicFramePr>
        <p:xfrm>
          <a:off x="676656" y="2496312"/>
          <a:ext cx="30632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tat label 연간 발생량 추정 (2018)"/>
          <p:cNvSpPr txBox="1"/>
          <p:nvPr/>
        </p:nvSpPr>
        <p:spPr>
          <a:xfrm>
            <a:off x="3941064" y="225856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연간 발생량 추정 (2018)</a:t>
            </a:r>
          </a:p>
        </p:txBody>
      </p:sp>
      <p:sp>
        <p:nvSpPr>
          <p:cNvPr id="10" name="stat value 연간 발생량 추정 (2018)"/>
          <p:cNvSpPr txBox="1"/>
          <p:nvPr/>
        </p:nvSpPr>
        <p:spPr>
          <a:xfrm>
            <a:off x="3941064" y="248716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chemeClr val="tx2"/>
                </a:solidFill>
              </a:rPr>
              <a:t>14.5만</a:t>
            </a:r>
            <a:r>
              <a:rPr lang="ko-KR" altLang="en-US" sz="1100" b="1" dirty="0">
                <a:solidFill>
                  <a:schemeClr val="accent4"/>
                </a:solidFill>
              </a:rPr>
              <a:t> t / 년</a:t>
            </a:r>
          </a:p>
        </p:txBody>
      </p:sp>
      <p:sp>
        <p:nvSpPr>
          <p:cNvPr id="11" name="stat sub 연간 발생량 추정 (2018)"/>
          <p:cNvSpPr txBox="1"/>
          <p:nvPr/>
        </p:nvSpPr>
        <p:spPr>
          <a:xfrm>
            <a:off x="3941064" y="288036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KMI · 치우는 만큼 다시 들어온다</a:t>
            </a:r>
          </a:p>
        </p:txBody>
      </p:sp>
      <p:sp>
        <p:nvSpPr>
          <p:cNvPr id="12" name="stat label 2026년 처리 예산"/>
          <p:cNvSpPr txBox="1"/>
          <p:nvPr/>
        </p:nvSpPr>
        <p:spPr>
          <a:xfrm>
            <a:off x="3941064" y="315468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2026년 처리 예산</a:t>
            </a:r>
          </a:p>
        </p:txBody>
      </p:sp>
      <p:sp>
        <p:nvSpPr>
          <p:cNvPr id="13" name="stat value 2026년 처리 예산"/>
          <p:cNvSpPr txBox="1"/>
          <p:nvPr/>
        </p:nvSpPr>
        <p:spPr>
          <a:xfrm>
            <a:off x="3941064" y="338328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1,114</a:t>
            </a:r>
            <a:r>
              <a:rPr lang="ko-KR" altLang="en-US" sz="1100" b="1" dirty="0">
                <a:solidFill>
                  <a:schemeClr val="accent4"/>
                </a:solidFill>
              </a:rPr>
              <a:t> 억 원</a:t>
            </a:r>
          </a:p>
        </p:txBody>
      </p:sp>
      <p:sp>
        <p:nvSpPr>
          <p:cNvPr id="14" name="stat sub 2026년 처리 예산"/>
          <p:cNvSpPr txBox="1"/>
          <p:nvPr/>
        </p:nvSpPr>
        <p:spPr>
          <a:xfrm>
            <a:off x="3941064" y="377647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2021년 대비 +47.7%</a:t>
            </a:r>
          </a:p>
        </p:txBody>
      </p:sp>
      <p:sp>
        <p:nvSpPr>
          <p:cNvPr id="15" name="header 2"/>
          <p:cNvSpPr txBox="1"/>
          <p:nvPr/>
        </p:nvSpPr>
        <p:spPr>
          <a:xfrm>
            <a:off x="6547104" y="1965960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②  </a:t>
            </a:r>
            <a:r>
              <a:rPr lang="ko-KR" altLang="en-US" sz="1200" b="1" dirty="0">
                <a:solidFill>
                  <a:schemeClr val="tx1"/>
                </a:solidFill>
              </a:rPr>
              <a:t>비용 구조: 지자체 몫, 추정이 곧 예산</a:t>
            </a:r>
          </a:p>
        </p:txBody>
      </p:sp>
      <p:sp>
        <p:nvSpPr>
          <p:cNvPr id="16" name="stat label 지자체 등 수거 비중"/>
          <p:cNvSpPr txBox="1"/>
          <p:nvPr/>
        </p:nvSpPr>
        <p:spPr>
          <a:xfrm>
            <a:off x="6547104" y="2258568"/>
            <a:ext cx="2360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지자체 등 수거 비중</a:t>
            </a:r>
          </a:p>
        </p:txBody>
      </p:sp>
      <p:sp>
        <p:nvSpPr>
          <p:cNvPr id="17" name="stat value 지자체 등 수거 비중"/>
          <p:cNvSpPr txBox="1"/>
          <p:nvPr/>
        </p:nvSpPr>
        <p:spPr>
          <a:xfrm>
            <a:off x="6547104" y="2487168"/>
            <a:ext cx="2360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87</a:t>
            </a:r>
            <a:r>
              <a:rPr lang="ko-KR" altLang="en-US" sz="1100" b="1" dirty="0">
                <a:solidFill>
                  <a:schemeClr val="accent4"/>
                </a:solidFill>
              </a:rPr>
              <a:t> %</a:t>
            </a:r>
          </a:p>
        </p:txBody>
      </p:sp>
      <p:sp>
        <p:nvSpPr>
          <p:cNvPr id="18" name="stat sub 지자체 등 수거 비중"/>
          <p:cNvSpPr txBox="1"/>
          <p:nvPr/>
        </p:nvSpPr>
        <p:spPr>
          <a:xfrm>
            <a:off x="6547104" y="2880360"/>
            <a:ext cx="2360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해수부 직할기관 13.0% 제외</a:t>
            </a:r>
          </a:p>
        </p:txBody>
      </p:sp>
      <p:sp>
        <p:nvSpPr>
          <p:cNvPr id="19" name="stat label 지자체 수거예산 누계"/>
          <p:cNvSpPr txBox="1"/>
          <p:nvPr/>
        </p:nvSpPr>
        <p:spPr>
          <a:xfrm>
            <a:off x="9044788" y="2258568"/>
            <a:ext cx="2360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지자체 수거예산 누계</a:t>
            </a:r>
          </a:p>
        </p:txBody>
      </p:sp>
      <p:sp>
        <p:nvSpPr>
          <p:cNvPr id="20" name="stat value 지자체 수거예산 누계"/>
          <p:cNvSpPr txBox="1"/>
          <p:nvPr/>
        </p:nvSpPr>
        <p:spPr>
          <a:xfrm>
            <a:off x="9044788" y="2487168"/>
            <a:ext cx="2360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chemeClr val="tx2"/>
                </a:solidFill>
              </a:rPr>
              <a:t>3,654</a:t>
            </a:r>
            <a:r>
              <a:rPr lang="ko-KR" altLang="en-US" sz="1100" b="1" dirty="0">
                <a:solidFill>
                  <a:schemeClr val="accent4"/>
                </a:solidFill>
              </a:rPr>
              <a:t> 억 원</a:t>
            </a:r>
          </a:p>
        </p:txBody>
      </p:sp>
      <p:sp>
        <p:nvSpPr>
          <p:cNvPr id="21" name="stat sub 지자체 수거예산 누계"/>
          <p:cNvSpPr txBox="1"/>
          <p:nvPr/>
        </p:nvSpPr>
        <p:spPr>
          <a:xfrm>
            <a:off x="9044788" y="2880360"/>
            <a:ext cx="2360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2017~22 · 같은 기간 3.5배 증가</a:t>
            </a:r>
          </a:p>
        </p:txBody>
      </p:sp>
      <p:sp>
        <p:nvSpPr>
          <p:cNvPr id="22" name="stat label 국비 : 지방비"/>
          <p:cNvSpPr txBox="1"/>
          <p:nvPr/>
        </p:nvSpPr>
        <p:spPr>
          <a:xfrm>
            <a:off x="6547104" y="3154680"/>
            <a:ext cx="2360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국비 : 지방비</a:t>
            </a:r>
          </a:p>
        </p:txBody>
      </p:sp>
      <p:sp>
        <p:nvSpPr>
          <p:cNvPr id="23" name="stat value 국비 : 지방비"/>
          <p:cNvSpPr txBox="1"/>
          <p:nvPr/>
        </p:nvSpPr>
        <p:spPr>
          <a:xfrm>
            <a:off x="6547104" y="3383280"/>
            <a:ext cx="2360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chemeClr val="tx2"/>
                </a:solidFill>
              </a:rPr>
              <a:t>50 : 50</a:t>
            </a:r>
            <a:r>
              <a:rPr lang="ko-KR" altLang="en-US" sz="1100" b="1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24" name="stat sub 국비 : 지방비"/>
          <p:cNvSpPr txBox="1"/>
          <p:nvPr/>
        </p:nvSpPr>
        <p:spPr>
          <a:xfrm>
            <a:off x="6547104" y="3776472"/>
            <a:ext cx="2360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2018 보도 · 사업별로 다름</a:t>
            </a:r>
          </a:p>
        </p:txBody>
      </p:sp>
      <p:sp>
        <p:nvSpPr>
          <p:cNvPr id="25" name="stat label 처리 단가 (전남)"/>
          <p:cNvSpPr txBox="1"/>
          <p:nvPr/>
        </p:nvSpPr>
        <p:spPr>
          <a:xfrm>
            <a:off x="9044788" y="3154680"/>
            <a:ext cx="2360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처리 단가 (전남)</a:t>
            </a:r>
          </a:p>
        </p:txBody>
      </p:sp>
      <p:sp>
        <p:nvSpPr>
          <p:cNvPr id="26" name="stat value 처리 단가 (전남)"/>
          <p:cNvSpPr txBox="1"/>
          <p:nvPr/>
        </p:nvSpPr>
        <p:spPr>
          <a:xfrm>
            <a:off x="9044788" y="3383280"/>
            <a:ext cx="2360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chemeClr val="tx2"/>
                </a:solidFill>
              </a:rPr>
              <a:t>50만</a:t>
            </a:r>
            <a:r>
              <a:rPr lang="ko-KR" altLang="en-US" sz="1100" b="1" dirty="0">
                <a:solidFill>
                  <a:schemeClr val="accent4"/>
                </a:solidFill>
              </a:rPr>
              <a:t> 원/t</a:t>
            </a:r>
          </a:p>
        </p:txBody>
      </p:sp>
      <p:sp>
        <p:nvSpPr>
          <p:cNvPr id="27" name="stat sub 처리 단가 (전남)"/>
          <p:cNvSpPr txBox="1"/>
          <p:nvPr/>
        </p:nvSpPr>
        <p:spPr>
          <a:xfrm>
            <a:off x="9044788" y="3776472"/>
            <a:ext cx="2360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100 t 오차 = 5천만 원</a:t>
            </a:r>
          </a:p>
        </p:txBody>
      </p:sp>
      <p:sp>
        <p:nvSpPr>
          <p:cNvPr id="28" name="card 지금 일하는 방식"/>
          <p:cNvSpPr/>
          <p:nvPr/>
        </p:nvSpPr>
        <p:spPr>
          <a:xfrm>
            <a:off x="548640" y="4270248"/>
            <a:ext cx="11094415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B3C5D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3"/>
          <p:cNvSpPr txBox="1"/>
          <p:nvPr/>
        </p:nvSpPr>
        <p:spPr>
          <a:xfrm>
            <a:off x="786384" y="4453128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③  </a:t>
            </a:r>
            <a:r>
              <a:rPr lang="ko-KR" altLang="en-US" sz="1200" b="1" dirty="0">
                <a:solidFill>
                  <a:schemeClr val="tx1"/>
                </a:solidFill>
              </a:rPr>
              <a:t>지금 일하는 방식: 눈으로 찾고, 면적에 계수를 곱하고, 경험으로 배차한다</a:t>
            </a:r>
          </a:p>
        </p:txBody>
      </p:sp>
      <p:sp>
        <p:nvSpPr>
          <p:cNvPr id="30" name="icon circle 1"/>
          <p:cNvSpPr/>
          <p:nvPr/>
        </p:nvSpPr>
        <p:spPr>
          <a:xfrm>
            <a:off x="786384" y="4818888"/>
            <a:ext cx="420624" cy="420624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아이콘 눈" descr="아이콘 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924044"/>
            <a:ext cx="210312" cy="210312"/>
          </a:xfrm>
          <a:prstGeom prst="rect">
            <a:avLst/>
          </a:prstGeom>
        </p:spPr>
      </p:pic>
      <p:sp>
        <p:nvSpPr>
          <p:cNvPr id="32" name="step title 1"/>
          <p:cNvSpPr txBox="1"/>
          <p:nvPr/>
        </p:nvSpPr>
        <p:spPr>
          <a:xfrm>
            <a:off x="1344168" y="4800600"/>
            <a:ext cx="2829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찾기: 드론 GPS가 곧 쓰레기 위치</a:t>
            </a:r>
          </a:p>
        </p:txBody>
      </p:sp>
      <p:sp>
        <p:nvSpPr>
          <p:cNvPr id="33" name="step desc 1"/>
          <p:cNvSpPr txBox="1"/>
          <p:nvPr/>
        </p:nvSpPr>
        <p:spPr>
          <a:xfrm>
            <a:off x="1344168" y="5065776"/>
            <a:ext cx="2829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비스듬히 찍은 사진은 수십 m 앞을 가리켜 현장에서 50 m씩 어긋나 수거자가 헤맵니다.</a:t>
            </a:r>
          </a:p>
        </p:txBody>
      </p:sp>
      <p:sp>
        <p:nvSpPr>
          <p:cNvPr id="34" name="tag 1"/>
          <p:cNvSpPr/>
          <p:nvPr/>
        </p:nvSpPr>
        <p:spPr>
          <a:xfrm>
            <a:off x="1344168" y="555040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26B2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altLang="en-US" sz="950" b="1" dirty="0">
                <a:solidFill>
                  <a:srgbClr val="FFFFFF"/>
                </a:solidFill>
              </a:rPr>
              <a:t>50 m 오차</a:t>
            </a:r>
          </a:p>
        </p:txBody>
      </p:sp>
      <p:sp>
        <p:nvSpPr>
          <p:cNvPr id="35" name="icon circle 2"/>
          <p:cNvSpPr/>
          <p:nvPr/>
        </p:nvSpPr>
        <p:spPr>
          <a:xfrm>
            <a:off x="4402226" y="4818888"/>
            <a:ext cx="420624" cy="420624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아이콘 계산기" descr="아이콘 계산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382" y="4924044"/>
            <a:ext cx="210312" cy="210312"/>
          </a:xfrm>
          <a:prstGeom prst="rect">
            <a:avLst/>
          </a:prstGeom>
        </p:spPr>
      </p:pic>
      <p:sp>
        <p:nvSpPr>
          <p:cNvPr id="37" name="step title 2"/>
          <p:cNvSpPr txBox="1"/>
          <p:nvPr/>
        </p:nvSpPr>
        <p:spPr>
          <a:xfrm>
            <a:off x="4960010" y="4800600"/>
            <a:ext cx="2829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무게: 라벨 면적 × 재질 계수</a:t>
            </a:r>
          </a:p>
        </p:txBody>
      </p:sp>
      <p:sp>
        <p:nvSpPr>
          <p:cNvPr id="38" name="step desc 2"/>
          <p:cNvSpPr txBox="1"/>
          <p:nvPr/>
        </p:nvSpPr>
        <p:spPr>
          <a:xfrm>
            <a:off x="4960010" y="5065776"/>
            <a:ext cx="2829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스티로폼 0.012, 로프·어망 0.024, 플라스틱 0.020 kg/m². 높이가 없어 1.54 m² 더미가 18 g으로 기록됩니다.</a:t>
            </a:r>
          </a:p>
        </p:txBody>
      </p:sp>
      <p:sp>
        <p:nvSpPr>
          <p:cNvPr id="39" name="tag 2"/>
          <p:cNvSpPr/>
          <p:nvPr/>
        </p:nvSpPr>
        <p:spPr>
          <a:xfrm>
            <a:off x="4960010" y="555040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26B2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altLang="en-US" sz="950" b="1" dirty="0">
                <a:solidFill>
                  <a:srgbClr val="FFFFFF"/>
                </a:solidFill>
              </a:rPr>
              <a:t>42개 합계 1.3 kg</a:t>
            </a:r>
          </a:p>
        </p:txBody>
      </p:sp>
      <p:sp>
        <p:nvSpPr>
          <p:cNvPr id="40" name="icon circle 3"/>
          <p:cNvSpPr/>
          <p:nvPr/>
        </p:nvSpPr>
        <p:spPr>
          <a:xfrm>
            <a:off x="8018069" y="4818888"/>
            <a:ext cx="420624" cy="420624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아이콘 트럭" descr="아이콘 트럭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3225" y="4924044"/>
            <a:ext cx="210312" cy="210312"/>
          </a:xfrm>
          <a:prstGeom prst="rect">
            <a:avLst/>
          </a:prstGeom>
        </p:spPr>
      </p:pic>
      <p:sp>
        <p:nvSpPr>
          <p:cNvPr id="42" name="step title 3"/>
          <p:cNvSpPr txBox="1"/>
          <p:nvPr/>
        </p:nvSpPr>
        <p:spPr>
          <a:xfrm>
            <a:off x="8575853" y="4800600"/>
            <a:ext cx="2829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배차: 경험으로 트럭·마대·인원</a:t>
            </a:r>
          </a:p>
        </p:txBody>
      </p:sp>
      <p:sp>
        <p:nvSpPr>
          <p:cNvPr id="43" name="step desc 3"/>
          <p:cNvSpPr txBox="1"/>
          <p:nvPr/>
        </p:nvSpPr>
        <p:spPr>
          <a:xfrm>
            <a:off x="8575853" y="5065776"/>
            <a:ext cx="2829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많으면 트럭을 다시 부르고, 적으면 장비가 놀고, 못 찾으면 다시 옵니다. 폭우 뒤에도 추정 그대로 투입합니다.</a:t>
            </a:r>
          </a:p>
        </p:txBody>
      </p:sp>
      <p:sp>
        <p:nvSpPr>
          <p:cNvPr id="44" name="tag 3"/>
          <p:cNvSpPr/>
          <p:nvPr/>
        </p:nvSpPr>
        <p:spPr>
          <a:xfrm>
            <a:off x="8575853" y="555040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26B2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altLang="en-US" sz="950" b="1" dirty="0">
                <a:solidFill>
                  <a:srgbClr val="FFFFFF"/>
                </a:solidFill>
              </a:rPr>
              <a:t>재방문 · 재배차</a:t>
            </a:r>
          </a:p>
        </p:txBody>
      </p:sp>
      <p:sp>
        <p:nvSpPr>
          <p:cNvPr id="45" name="source"/>
          <p:cNvSpPr txBox="1"/>
          <p:nvPr/>
        </p:nvSpPr>
        <p:spPr>
          <a:xfrm>
            <a:off x="548640" y="59893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850" b="0" dirty="0">
                <a:solidFill>
                  <a:schemeClr val="accent4"/>
                </a:solidFill>
              </a:rPr>
              <a:t>출처: 연도별·유형별 수거량, 직할기관 비중, 2026년 처리 예산 1,114억 원: 해양수산부(2026.09) · 발생량 14.5만 t: 정책브리핑(KMI 2018 연구) · 지자체 수거예산: 에너지데일리(국회 자료, 2017~2022) · 국비 분담·처리 단가: 한국일보(2018·2019, 전남) · 작업 방식: 업체 제보(방향정리 문서 0절, 2026-09-30), 업체 라벨 자료(문갑도 MGD, 42개), 경남도 2026년 8월 집중호우 대응 보도</a:t>
            </a: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ngbungi Ocean">
  <a:themeElements>
    <a:clrScheme name="Bungbungi Ocean">
      <a:dk1>
        <a:srgbClr val="10212E"/>
      </a:dk1>
      <a:lt1>
        <a:srgbClr val="FFFFFF"/>
      </a:lt1>
      <a:dk2>
        <a:srgbClr val="0B3C5D"/>
      </a:dk2>
      <a:lt2>
        <a:srgbClr val="EEF3F6"/>
      </a:lt2>
      <a:accent1>
        <a:srgbClr val="0B3C5D"/>
      </a:accent1>
      <a:accent2>
        <a:srgbClr val="F26B21"/>
      </a:accent2>
      <a:accent3>
        <a:srgbClr val="1C7293"/>
      </a:accent3>
      <a:accent4>
        <a:srgbClr val="6F8794"/>
      </a:accent4>
      <a:accent5>
        <a:srgbClr val="D5DEE4"/>
      </a:accent5>
      <a:accent6>
        <a:srgbClr val="FFD9C2"/>
      </a:accent6>
      <a:hlink>
        <a:srgbClr val="1C7293"/>
      </a:hlink>
      <a:folHlink>
        <a:srgbClr val="6F8794"/>
      </a:folHlink>
    </a:clrScheme>
    <a:fontScheme name="Bungbungi Ocea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8542</Words>
  <Application>Microsoft Office PowerPoint</Application>
  <PresentationFormat>와이드스크린</PresentationFormat>
  <Paragraphs>755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0" baseType="lpstr">
      <vt:lpstr>Malgun Gothic</vt:lpstr>
      <vt:lpstr>Malgun Gothic</vt:lpstr>
      <vt:lpstr>Arial</vt:lpstr>
      <vt:lpstr>Bungbungi Ocean</vt:lpstr>
      <vt:lpstr>정확한 해양쓰레기 측정을 통한 경제적 쓰레기 수거</vt:lpstr>
      <vt:lpstr>목차</vt:lpstr>
      <vt:lpstr>기업이 겪는 문제</vt:lpstr>
      <vt:lpstr>우리의 주제: </vt:lpstr>
      <vt:lpstr>드론대장 붕붕이, 그 노력의 과정</vt:lpstr>
      <vt:lpstr>기업이 제시한 문제점: 같은 42개가 기록으로는 1.3 kg, 3D로 재면 101 kg</vt:lpstr>
      <vt:lpstr>왜 공공이 돈을 쓰는 일인가: 수거량은 5년간 19.8% 늘었다</vt:lpstr>
      <vt:lpstr>수거 비용은 지자체 몫이고, 추정이 곧 예산이다</vt:lpstr>
      <vt:lpstr>지금 일하는 방식: 눈으로 찾고, 면적에 계수를 곱하고, 경험으로 배차한다</vt:lpstr>
      <vt:lpstr>한 번의 폭우가 1,180 t을 보낸다: 경남, 2026년 8월</vt:lpstr>
      <vt:lpstr>드론대장 붕붕이의 솔루션</vt:lpstr>
      <vt:lpstr>전체 파이프라인</vt:lpstr>
      <vt:lpstr>위성 분석: 해안 형상 점수로 어디를 날지 고른다</vt:lpstr>
      <vt:lpstr>해류 분석: 조석·표류 모델로 어느 면에 쌓이는지 본다</vt:lpstr>
      <vt:lpstr>쓰레기 이미지 인식 ①: 촬영 거리는 물체 크기에서 역산했다</vt:lpstr>
      <vt:lpstr>쓰레기 이미지 인식 ②: 탐지와 3D 위치, 영상 한 편에서 핀을 찍는다</vt:lpstr>
      <vt:lpstr>쓰레기 이미지 인식 ③: 정확도를 올린 방법, 오탐을 줄이는 다섯 겹</vt:lpstr>
      <vt:lpstr>쓰레기 부피 및 무게 추정: 점구름에서 물체 점만 남겨 높이를 잰다</vt:lpstr>
      <vt:lpstr>경로계획과 수거계획: 비행은 조종자, 나머지는 소프트웨어</vt:lpstr>
      <vt:lpstr>검증</vt:lpstr>
      <vt:lpstr>검증 맵: 파이프라인의 어디를 무엇으로 확인했나</vt:lpstr>
      <vt:lpstr>검증 데이터: 실제로 날려서 찍었다. 송도 선회 7 m · 골목 왕복 2 m · 야간 10분</vt:lpstr>
      <vt:lpstr>검증 ① 어디를 날지: 상위 30% 구간에 쓰레기의 62~67%가 있었다</vt:lpstr>
      <vt:lpstr>검증 ② 탐지와 위치: 재현율 0.72, 위치 잔차 1 m대</vt:lpstr>
      <vt:lpstr>검증 ③ 오탐: 확정 핀 10개 중 8개가 진짜, 야간 30개 중 오탐 1개</vt:lpstr>
      <vt:lpstr>검증 ④ 부피와 무게: 크기 아는 상자 3개가 ±20% 안에 들었다</vt:lpstr>
      <vt:lpstr>검증 ⑤ 재방문과 수거계획: 재현율 0.86, 섬 하나의 작업카드</vt:lpstr>
      <vt:lpstr>검증 요약: 가설 · 설계 · 결과</vt:lpstr>
      <vt:lpstr>기대효과</vt:lpstr>
      <vt:lpstr>기업이 아끼는 것: 비행시간 63%, 재방문·재배차, 현장에서 헤매는 시간</vt:lpstr>
      <vt:lpstr>포인트 기술의 의의: 정합이 '위치 엔진'이 되고, 3D가 '무게'를 만든다</vt:lpstr>
      <vt:lpstr>위성이 넓게 보고, 드론이 자세히 재고, 지자체가 배차한다</vt:lpstr>
      <vt:lpstr>지금 못 한 것과, 지원이 있으면 바로 되는 것</vt:lpstr>
      <vt:lpstr>한눈에: 이 기술 → 이 기술 → 이 결과</vt:lpstr>
      <vt:lpstr>다시 한 장으로</vt:lpstr>
      <vt:lpstr>Q&amp;A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DroneSweep — 드론 영상 하나로 끝내는 해안쓰레기 측정·수거계획</dc:title>
  <dc:subject>PptxGenJS Presentation</dc:subject>
  <dc:creator>드론대장 붕붕이</dc:creator>
  <cp:lastModifiedBy>홍수림</cp:lastModifiedBy>
  <cp:revision>4</cp:revision>
  <dcterms:created xsi:type="dcterms:W3CDTF">2026-10-02T02:12:45Z</dcterms:created>
  <dcterms:modified xsi:type="dcterms:W3CDTF">2026-10-02T03:09:34Z</dcterms:modified>
</cp:coreProperties>
</file>