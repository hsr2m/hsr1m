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9589cb3-b6ae-4174-725e-d8dbff68029e}">
          <p14:sldIdLst>
            <p14:sldId id="256"/>
            <p14:sldId id="257"/>
          </p14:sldIdLst>
        </p14:section>
        <p14:section name="01 현황과 문제" id="{1bae2c37-456c-274f-ba35-a2a3a8c11bfb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02 솔루션" id="{c1bd738f-602f-83ba-75d6-94fc8fe30d0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3 검증" id="{139922cc-216a-b01a-583e-bd442128c6a0}">
          <p14:sldIdLst>
            <p14:sldId id="274"/>
            <p14:sldId id="275"/>
            <p14:sldId id="276"/>
          </p14:sldIdLst>
        </p14:section>
        <p14:section name="04 제안" id="{06ff3184-0356-7944-7ebc-245d6fb70150}">
          <p14:sldIdLst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수거량(t)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120736</c:v>
                </c:pt>
                <c:pt idx="1">
                  <c:v>126035</c:v>
                </c:pt>
                <c:pt idx="2">
                  <c:v>131931</c:v>
                </c:pt>
                <c:pt idx="3">
                  <c:v>132686</c:v>
                </c:pt>
                <c:pt idx="4">
                  <c:v>144615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0"/>
          <c:min val="0"/>
        </c:scaling>
        <c:delete val="0"/>
        <c:axPos val="l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수거량(t)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해안쓰레기</c:v>
                  </c:pt>
                  <c:pt idx="1">
                    <c:v>침적쓰레기</c:v>
                  </c:pt>
                  <c:pt idx="2">
                    <c:v>부유쓰레기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499934</c:v>
                </c:pt>
                <c:pt idx="1">
                  <c:v>119521</c:v>
                </c:pt>
                <c:pt idx="2">
                  <c:v>36548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0"/>
          <c:min val="0"/>
        </c:scaling>
        <c:delete val="0"/>
        <c:axPos val="b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점수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서안</c:v>
                  </c:pt>
                  <c:pt idx="1">
                    <c:v>북서안</c:v>
                  </c:pt>
                  <c:pt idx="2">
                    <c:v>북안</c:v>
                  </c:pt>
                  <c:pt idx="3">
                    <c:v>북동안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28.6</c:v>
                </c:pt>
                <c:pt idx="1">
                  <c:v>24.5</c:v>
                </c:pt>
                <c:pt idx="2">
                  <c:v>8.7</c:v>
                </c:pt>
                <c:pt idx="3">
                  <c:v>5.4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커버리지만</c:v>
                  </c:pt>
                  <c:pt idx="1">
                    <c:v>커버리지 + 재방문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0.71</c:v>
                </c:pt>
                <c:pt idx="1">
                  <c:v>0.86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공개 UAVVaste 모델</c:v>
                  </c:pt>
                  <c:pt idx="1">
                    <c:v>AI Hub 거리별 학습 모델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0.28</c:v>
                </c:pt>
                <c:pt idx="1">
                  <c:v>0.72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부피 오차(%)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+0;-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1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0007 작은 상자 (7 m 선회)</c:v>
                  </c:pt>
                  <c:pt idx="1">
                    <c:v>0007 큰 상자 (7 m 선회)</c:v>
                  </c:pt>
                  <c:pt idx="2">
                    <c:v>0010 키 큰 상자 (2 m 왕복)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</c:v>
                </c:pt>
                <c:pt idx="1">
                  <c:v>20</c:v>
                </c:pt>
                <c:pt idx="2">
                  <c:v>-10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b="0" i="0" strike="noStrike" sz="1000" u="none">
                  <a:solidFill>
                    <a:srgbClr val="1021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-30"/>
        </c:scaling>
        <c:delete val="0"/>
        <c:axPos val="l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F879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한 문장: 수거계획의 입력(무게·위치)이 지금은 수십~수백 배 틀리고, 우리는 그 입력을 3D 부피와 예측구간으로 제공한다.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4블록으로 전체 흐름. 각 블록은 뒤에서 한 장 이상으로 풀린다.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수거량 증가는 문제가 커지는 신호이자 시장 신호. 2025년 수거량이 연간 발생량과 같아져 현존량은 제자리.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작은 지자체일수록 '미리 재는 것'이 예산 그 자체. 수거 전 측정의 가치를 돈으로 환산하는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사례 한 장. 숫자 네 개만 크게. 2011·2026년 반복 사례로 '일회성 아님'을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눈의 공통 결함: 무게를 못 본다. 위성은 3DLabs의 강점이므로 '넓게 보는 역할'로 존중하며 한계를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업체 데이터로 문제를 숫자로 고정. 결론: 높이가 없으면 무게가 없다. 더 정확한 점 추정이 아니라 '3D 부피 + 얼마나 믿을 수 있는지'가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파이프라인. 우리 기여는 5→7: 영상 하나로 3D 부피까지 가고, 수거계획을 바꾸는 불확실성만 줄인다.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'왜 그 거리에서 찍나'에 대한 답. 탐지 권고 GSD와 3D 복원 조건을 동시에 만족하는 고도 두 단계. 숫자는 4K 24 mm 기준 계산값이며 실제 기체 스펙으로 확정 예정.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핫스팟 우선의 세 근거(몰린다·다시 쌓인다·과거로 짠 경로가 통한다)와 드론 규모 시연. 모두 미국 공개 데이터이며 한국 검증은 로드맵 1단계.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한국 적용의 사전값: 조류 모델 + 해안 형태. 만입 해안 가설은 문헌 근거가 있으나 단일 변수로 쓰지 않고 이력으로 보정한다.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IPP는 지도 전체의 불확실성을 줄이지만 우리는 수거계획이 바뀌는 불확실성만 줄인다. 재방문 25회 중 22회가 '한 프레임 우연 탐지' 기각.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운용 고도 GSD에 맞춘 학습셋이 차별점(0.28→0.72). 위치는 1장의 50 m가 GPS 자체 수준(1 m대)으로.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부피→무게→구간. 무게 실측은 아직 없어 기준값이 '정답 부피 × 가정 밀도'임을 질문 받으면 솔직히: 저울 실측이 로드맵 1단계.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출력의 실제 모습. 2D만으로도 계획이 나오지만 구간 폭이 4배(7.9~33.6 t)라 '그래서 3D가 필요하다'로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plan.py·report.py는 구현됨. 접근로 마스킹과 팀 대시보드 연결은 설계 단계로 정직하게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표로 신뢰성. 결과 없는 항목을 숨기지 않는 것이 이 장의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 각 항목에 대응책이 붙어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상대의 강점(위성·ARD·B2G 채널)을 앞에 두고 우리를 계층으로 끼운다. 시장 신호 세 개는 모두 2026년.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제안이며 상대의 위성 ARD 제공 시점에 맞춰 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 3개를 명확히. 마지막 문장은 표지 문장의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9476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T2">
    <p:bg>
      <p:bgPr>
        <a:solidFill>
          <a:srgbClr val="EE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4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5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16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교동도 집적 예상 지도" descr="/tmp/claude-0/-home-user-hsr1m/6022f0b4-b8f8-52b0-8810-837ebd6bfbe9/scratchpad/deck/img/hotspot_map_gyodo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0"/>
            <a:ext cx="4785055" cy="6858000"/>
          </a:xfrm>
          <a:prstGeom prst="rect">
            <a:avLst/>
          </a:prstGeom>
        </p:spPr>
      </p:pic>
      <p:sp>
        <p:nvSpPr>
          <p:cNvPr id="3" name="image tint"/>
          <p:cNvSpPr/>
          <p:nvPr/>
        </p:nvSpPr>
        <p:spPr>
          <a:xfrm>
            <a:off x="7406640" y="0"/>
            <a:ext cx="4785055" cy="6858000"/>
          </a:xfrm>
          <a:prstGeom prst="rect">
            <a:avLst/>
          </a:prstGeom>
          <a:solidFill>
            <a:srgbClr val="0B3C5D">
              <a:alpha val="65000"/>
            </a:srgbClr>
          </a:solidFill>
          <a:ln w="12700">
            <a:solidFill>
              <a:srgbClr val="0B3C5D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0972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드론 기반 해안쓰레기 측정 · 수거계획 플랫폼 제안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92024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추정이 틀리면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배차가 틀린다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37947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드론 영상 하나로 쓰레기를 찾고, 3D로 부피를 재고, 무게를 구간으로 내고,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수거계획을 바꾸는 물체만 다시 날아 마대·트럭·인원을 확정합니다.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9436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드론대장 붕붕이  ·  3DLabs 제안  ·  2026.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장 요약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문제 → 해법 → 검증 → 제안. 새로 발명한 알고리즘은 없고, 검증된 방법을 수거계획 하나로 이었습니다.</a:t>
            </a:r>
            <a:endParaRPr lang="en-US" sz="1400" dirty="0"/>
          </a:p>
        </p:txBody>
      </p:sp>
      <p:sp>
        <p:nvSpPr>
          <p:cNvPr id="4" name="card 문제: 추정이 곧 예산이다"/>
          <p:cNvSpPr/>
          <p:nvPr/>
        </p:nvSpPr>
        <p:spPr>
          <a:xfrm>
            <a:off x="54864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ExclamationTriang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문제: 추정이 곧 예산이다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해양쓰레기 수거량은 5년간 19.8% 늘었고 90%를 지자체가 치웁니다. 업체 라벨 42개의 기록 무게는 합계 1.3 kg, 현실적 범위는 115~1,355 kg. 탐지 위치는 50 m씩 빗나갑니다.</a:t>
            </a:r>
            <a:endParaRPr lang="en-US" sz="1250" dirty="0"/>
          </a:p>
        </p:txBody>
      </p:sp>
      <p:sp>
        <p:nvSpPr>
          <p:cNvPr id="9" name="card 해법: 비행 한 번 = 수거계획서 한 부"/>
          <p:cNvSpPr/>
          <p:nvPr/>
        </p:nvSpPr>
        <p:spPr>
          <a:xfrm>
            <a:off x="336042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347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Rou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1762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해법: 비행 한 번 = 수거계획서 한 부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핫스팟 우선 경로 → 커버리지 비행 → 탐지 → 3D 위치 → SfM 부피 × 겉보기밀도 → 무게 예측구간 → 경계에 걸린 물체만 2차 선회 → 마대·트럭·인원·경로 작업카드.</a:t>
            </a:r>
            <a:endParaRPr lang="en-US" sz="1250" dirty="0"/>
          </a:p>
        </p:txBody>
      </p:sp>
      <p:sp>
        <p:nvSpPr>
          <p:cNvPr id="14" name="card 검증: 상자 3개, 영상 3편, 해안 1개"/>
          <p:cNvSpPr/>
          <p:nvPr/>
        </p:nvSpPr>
        <p:spPr>
          <a:xfrm>
            <a:off x="617220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4652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6" name="icon FaFlas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762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4652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검증: 상자 3개, 영상 3편, 해안 1개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44652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크기 아는 상자 3개에서 부피 오차 −10~+20% (업체 방식은 1/112·1/180). 3D↔GPS 잔차 1.16 m. 재방문으로 재현율 0.71→0.86. 하와이 니하우 섬 5,476개·7.9~33.6 t 수거계획.</a:t>
            </a:r>
            <a:endParaRPr lang="en-US" sz="1250" dirty="0"/>
          </a:p>
        </p:txBody>
      </p:sp>
      <p:sp>
        <p:nvSpPr>
          <p:cNvPr id="19" name="card 제안: 위성이 넓게, 드론이 자세히"/>
          <p:cNvSpPr/>
          <p:nvPr/>
        </p:nvSpPr>
        <p:spPr>
          <a:xfrm>
            <a:off x="898398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2583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1" name="icon FaHandshak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460" y="217627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5830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제안: 위성이 넓게, 드론이 자세히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25830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3DLabs의 위성 ARD로 광역 집적 패치·변화를 잡고, 드론이 재질·부피·위치를 확정해 지자체 수거계획으로 연결하는 B2G 공동 실증.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현황과 문제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수거량은 늘고 비용은 지자체 몫인데, 그 계획의 입력값은 믿을 수 없는 점 추정입니다.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해양쓰레기 수거량은 5년간 19.8% 늘었다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2021~2025년 전국 해양폐기물 수거량 (톤). 2025년 14.5만 톤은 연간 발생량 추정치(14.5만 톤)와 같은 규모입니다.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69494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연도별 해양폐기물 수거량 (톤)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2286000"/>
          <a:ext cx="65836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tat 연간 해양쓰레기 발생량 추정"/>
          <p:cNvSpPr/>
          <p:nvPr/>
        </p:nvSpPr>
        <p:spPr>
          <a:xfrm>
            <a:off x="7772400" y="1783080"/>
            <a:ext cx="386791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28432" y="19842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연간 해양쓰레기 발생량 추정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2286000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14.5만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t / 년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028432" y="2990088"/>
            <a:ext cx="341071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육상 기인 65.3% · 해상 기인 34.7%</a:t>
            </a:r>
            <a:endParaRPr lang="en-US" sz="1050" dirty="0"/>
          </a:p>
        </p:txBody>
      </p:sp>
      <p:sp>
        <p:nvSpPr>
          <p:cNvPr id="11" name="stat 해양에 남아 있는 현존량"/>
          <p:cNvSpPr/>
          <p:nvPr/>
        </p:nvSpPr>
        <p:spPr>
          <a:xfrm>
            <a:off x="7772400" y="3200400"/>
            <a:ext cx="386791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28432" y="340156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해양에 남아 있는 현존량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28432" y="3703320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15.2만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t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028432" y="4407408"/>
            <a:ext cx="341071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침적 13.8만 · 해변 1.2만 · 부유 0.2만 t</a:t>
            </a:r>
            <a:endParaRPr lang="en-US" sz="1050" dirty="0"/>
          </a:p>
        </p:txBody>
      </p:sp>
      <p:sp>
        <p:nvSpPr>
          <p:cNvPr id="15" name="stat 2026년 해양폐기물 처리 예산"/>
          <p:cNvSpPr/>
          <p:nvPr/>
        </p:nvSpPr>
        <p:spPr>
          <a:xfrm>
            <a:off x="7772400" y="4617720"/>
            <a:ext cx="386791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028432" y="481888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2026년 해양폐기물 처리 예산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28432" y="5120640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1,114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억 원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8028432" y="5824728"/>
            <a:ext cx="3410712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수거해도 현존량이 줄지 않는 구조</a:t>
            </a:r>
            <a:endParaRPr lang="en-US" sz="1050" dirty="0"/>
          </a:p>
        </p:txBody>
      </p:sp>
      <p:sp>
        <p:nvSpPr>
          <p:cNvPr id="19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해양수산부 자료(김선교 의원실, 2026.09) 연도별 수거량 · 해양수산부 「해양폐기물 저감 대책」 발생량·현존량 추정 · 2026년 처리 예산 1,114억 원(해양수산부, 2026.09)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수거 비용은 지자체 몫이고, 추정이 곧 예산이다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해안쓰레기가 수거량의 76%를 차지하고, 그 수거의 90%를 지자체가 수행합니다. 톤 단위 추정 오차가 곧 수천만 원입니다.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56692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유형별 수거량, 2021~2025 누계 (톤)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22860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tat 지자체 수거예산 2017~2022 누계"/>
          <p:cNvSpPr/>
          <p:nvPr/>
        </p:nvSpPr>
        <p:spPr>
          <a:xfrm>
            <a:off x="6492240" y="178308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748272" y="19842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지자체 수거예산 2017~2022 누계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748272" y="22860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3,654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억 원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6748272" y="299008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같은 기간 3.5배 증가</a:t>
            </a:r>
            <a:endParaRPr lang="en-US" sz="1050" dirty="0"/>
          </a:p>
        </p:txBody>
      </p:sp>
      <p:sp>
        <p:nvSpPr>
          <p:cNvPr id="11" name="stat 수거비 국비 : 지방비"/>
          <p:cNvSpPr/>
          <p:nvPr/>
        </p:nvSpPr>
        <p:spPr>
          <a:xfrm>
            <a:off x="9171432" y="178308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9427464" y="19842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수거비 국비 : 지방비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27464" y="22860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50 : 50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427464" y="299008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지방비는 다시 도비·시군비로 나뉨</a:t>
            </a:r>
            <a:endParaRPr lang="en-US" sz="1050" dirty="0"/>
          </a:p>
        </p:txBody>
      </p:sp>
      <p:sp>
        <p:nvSpPr>
          <p:cNvPr id="15" name="stat 지자체가 처리하는 수거량 비중"/>
          <p:cNvSpPr/>
          <p:nvPr/>
        </p:nvSpPr>
        <p:spPr>
          <a:xfrm>
            <a:off x="6492240" y="393192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748272" y="41330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지자체가 처리하는 수거량 비중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748272" y="4434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90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%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748272" y="51389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공공기관 처리는 10%</a:t>
            </a:r>
            <a:endParaRPr lang="en-US" sz="1050" dirty="0"/>
          </a:p>
        </p:txBody>
      </p:sp>
      <p:sp>
        <p:nvSpPr>
          <p:cNvPr id="19" name="stat 처리 단가 (전남, 약)"/>
          <p:cNvSpPr/>
          <p:nvPr/>
        </p:nvSpPr>
        <p:spPr>
          <a:xfrm>
            <a:off x="9171432" y="3931920"/>
            <a:ext cx="24688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27464" y="41330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처리 단가 (전남, 약)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27464" y="4434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50만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원/t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9427464" y="51389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100 t 오차 = 5천만 원</a:t>
            </a:r>
            <a:endParaRPr lang="en-US" sz="1050" dirty="0"/>
          </a:p>
        </p:txBody>
      </p:sp>
      <p:sp>
        <p:nvSpPr>
          <p:cNvPr id="23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유형별 수거량 해양수산부(2026.09) · 지자체 수거예산·국비 분담·처리 비중 에너지데일리(국회 자료, 2017~2022) · 처리 단가 한국일보(2018·2019, 전남 톤당 50만 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추정이 틀리면 생기는 일: 거제, 2023년 7월 집중호우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유입량을 437 t으로 추정하고 굴삭기·차량을 투입했지만, 1주일 넘게 걸려 272 t만 수거했습니다. 처리비는 8천만 원 이상.</a:t>
            </a:r>
            <a:endParaRPr lang="en-US" sz="1400" dirty="0"/>
          </a:p>
        </p:txBody>
      </p:sp>
      <p:sp>
        <p:nvSpPr>
          <p:cNvPr id="4" name="stat 추정 유입량"/>
          <p:cNvSpPr/>
          <p:nvPr/>
        </p:nvSpPr>
        <p:spPr>
          <a:xfrm>
            <a:off x="548640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추정 유입량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437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 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358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육안·경험 기반</a:t>
            </a:r>
            <a:endParaRPr lang="en-US" sz="1050" dirty="0"/>
          </a:p>
        </p:txBody>
      </p:sp>
      <p:sp>
        <p:nvSpPr>
          <p:cNvPr id="8" name="stat 실제 수거량"/>
          <p:cNvSpPr/>
          <p:nvPr/>
        </p:nvSpPr>
        <p:spPr>
          <a:xfrm>
            <a:off x="3383280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실제 수거량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272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 t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30358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추정의 62%</a:t>
            </a:r>
            <a:endParaRPr lang="en-US" sz="1050" dirty="0"/>
          </a:p>
        </p:txBody>
      </p:sp>
      <p:sp>
        <p:nvSpPr>
          <p:cNvPr id="12" name="stat 소요 기간"/>
          <p:cNvSpPr/>
          <p:nvPr/>
        </p:nvSpPr>
        <p:spPr>
          <a:xfrm>
            <a:off x="6217920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소요 기간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1주+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0358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장비·인력 상시 대기</a:t>
            </a:r>
            <a:endParaRPr lang="en-US" sz="1050" dirty="0"/>
          </a:p>
        </p:txBody>
      </p:sp>
      <p:sp>
        <p:nvSpPr>
          <p:cNvPr id="16" name="stat 처리 비용"/>
          <p:cNvSpPr/>
          <p:nvPr/>
        </p:nvSpPr>
        <p:spPr>
          <a:xfrm>
            <a:off x="9052560" y="1828800"/>
            <a:ext cx="2587752" cy="1828800"/>
          </a:xfrm>
          <a:prstGeom prst="roundRect">
            <a:avLst>
              <a:gd name="adj" fmla="val 6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029968"/>
            <a:ext cx="2130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처리 비용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308592" y="2331720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8천만+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 원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308592" y="3035808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국비 지원 요청</a:t>
            </a:r>
            <a:endParaRPr lang="en-US" sz="1050" dirty="0"/>
          </a:p>
        </p:txBody>
      </p:sp>
      <p:sp>
        <p:nvSpPr>
          <p:cNvPr id="20" name="insight card"/>
          <p:cNvSpPr/>
          <p:nvPr/>
        </p:nvSpPr>
        <p:spPr>
          <a:xfrm>
            <a:off x="548640" y="388620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21" name="icon circle"/>
          <p:cNvSpPr/>
          <p:nvPr/>
        </p:nvSpPr>
        <p:spPr>
          <a:xfrm>
            <a:off x="868680" y="4206240"/>
            <a:ext cx="640080" cy="640080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22" name="icon tru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361688"/>
            <a:ext cx="329184" cy="32918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783080" y="41605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남는 트럭과 모자라는 트럭이 동시에 생긴다. 거제는 반복된다.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783080" y="4617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무게가 틀리면 마대·트럭 수가 틀리고, 위치가 틀리면 동선·인원이 틀립니다. 2011년 7월 낙동강 유입 쓰레기로 거제의 관광수입 손실은 2,900만~3,700만 달러로 추정됐고(Jang et al. 2014), 2026년 8월 폭우로도 경남 연안에 1,180 t이 유입돼 통영·거제가 80%를 차지했습니다. 작은 지자체일수록 수거 전에 재는 것이 예산 그 자체입니다.</a:t>
            </a:r>
            <a:endParaRPr lang="en-US" sz="1250" dirty="0"/>
          </a:p>
        </p:txBody>
      </p:sp>
      <p:sp>
        <p:nvSpPr>
          <p:cNvPr id="25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출처: 뉴시스 2023.07.25 「거제 해양쓰레기 437t 추정·272t 수거」 · Jang, Hong, Lee, Lee &amp; Shim (2014) Marine Pollution Bulletin 81:49–54 · 서울신문 2026.09.09 「광복절 연휴 폭우 해양쓰레기, 경남 연안 96% 수거」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쓰는 세 가지 눈, 모두 무게를 못 본다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신고·순찰은 느리고, 위성은 패치만 보고, 2D 정사영상은 높이가 없어 무게를 못 냅니다.</a:t>
            </a:r>
            <a:endParaRPr lang="en-US" sz="1400" dirty="0"/>
          </a:p>
        </p:txBody>
      </p:sp>
      <p:sp>
        <p:nvSpPr>
          <p:cNvPr id="4" name="card 사람 신고 · 순찰"/>
          <p:cNvSpPr/>
          <p:nvPr/>
        </p:nvSpPr>
        <p:spPr>
          <a:xfrm>
            <a:off x="548640" y="1783080"/>
            <a:ext cx="3566160" cy="36576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Ey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사람 신고 · 순찰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현존량의 90%가 침적·해변에 흩어져 있는데 탐지는 신고와 순찰에 의존합니다. 국가 해안쓰레기 모니터링은 2개월에 1회, 정점 40~60곳만 조사합니다.</a:t>
            </a:r>
            <a:endParaRPr lang="en-US" sz="1250" dirty="0"/>
          </a:p>
        </p:txBody>
      </p:sp>
      <p:sp>
        <p:nvSpPr>
          <p:cNvPr id="9" name="tag"/>
          <p:cNvSpPr/>
          <p:nvPr/>
        </p:nvSpPr>
        <p:spPr>
          <a:xfrm>
            <a:off x="822960" y="502920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029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느리고 범위가 좁다</a:t>
            </a:r>
            <a:endParaRPr lang="en-US" sz="950" dirty="0"/>
          </a:p>
        </p:txBody>
      </p:sp>
      <p:sp>
        <p:nvSpPr>
          <p:cNvPr id="11" name="card 위성 영상"/>
          <p:cNvSpPr/>
          <p:nvPr/>
        </p:nvSpPr>
        <p:spPr>
          <a:xfrm>
            <a:off x="4297680" y="1783080"/>
            <a:ext cx="3566160" cy="36576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icon circle"/>
          <p:cNvSpPr/>
          <p:nvPr/>
        </p:nvSpPr>
        <p:spPr>
          <a:xfrm>
            <a:off x="45720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3" name="icon FaSatelli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76272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위성 영상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09544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집적 패치의 위치와 변화는 잡지만 재질·부피는 확정하지 못합니다. 해상도 때문에 수십 cm 물체 하나하나의 무게로 내려가지 않습니다.</a:t>
            </a:r>
            <a:endParaRPr lang="en-US" sz="1250" dirty="0"/>
          </a:p>
        </p:txBody>
      </p:sp>
      <p:sp>
        <p:nvSpPr>
          <p:cNvPr id="16" name="tag"/>
          <p:cNvSpPr/>
          <p:nvPr/>
        </p:nvSpPr>
        <p:spPr>
          <a:xfrm>
            <a:off x="4572000" y="502920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572000" y="5029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넓게 보지만 재질·부피 불가</a:t>
            </a:r>
            <a:endParaRPr lang="en-US" sz="950" dirty="0"/>
          </a:p>
        </p:txBody>
      </p:sp>
      <p:sp>
        <p:nvSpPr>
          <p:cNvPr id="18" name="card 드론 2D 정사영상"/>
          <p:cNvSpPr/>
          <p:nvPr/>
        </p:nvSpPr>
        <p:spPr>
          <a:xfrm>
            <a:off x="8046720" y="1783080"/>
            <a:ext cx="3566160" cy="36576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83210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0" name="icon FaCamer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76272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드론 2D 정사영상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09544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</a:rPr>
              <a:t>업체 자료는 3 cm/px 정사영상뿐이라 높이(DSM)가 없습니다. 그래서 무게를 '라벨 면적 × 고정 계수'로 계산하고, 위치는 드론 GPS 그대로 찍혀 50 m씩 빗나갑니다.</a:t>
            </a:r>
            <a:endParaRPr lang="en-US" sz="1250" dirty="0"/>
          </a:p>
        </p:txBody>
      </p:sp>
      <p:sp>
        <p:nvSpPr>
          <p:cNvPr id="23" name="tag"/>
          <p:cNvSpPr/>
          <p:nvPr/>
        </p:nvSpPr>
        <p:spPr>
          <a:xfrm>
            <a:off x="8321040" y="502920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21040" y="5029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가까이 보지만 높이가 없다</a:t>
            </a:r>
            <a:endParaRPr lang="en-US" sz="950" dirty="0"/>
          </a:p>
        </p:txBody>
      </p:sp>
      <p:sp>
        <p:nvSpPr>
          <p:cNvPr id="25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해양수산부 「해양폐기물 저감 대책」 현존량 구성 · 해양환경공단 국가 해안쓰레기 모니터링(2008~, 2개월 주기) · 업체 제보 및 라벨 자료(문갑도, 2026.09)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업체 라벨 42개: 기록 1.3 kg, 현실은 115~1,355 kg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문갑도 업체 라벨의 weight_kg는 실측이 아니라 '라벨 면적 × 재질 계수'입니다. 같은 면적에 현실적인 두께와 밀도를 주면 수십~수백 배 커집니다.</a:t>
            </a:r>
            <a:endParaRPr lang="en-US" sz="1400" dirty="0"/>
          </a:p>
        </p:txBody>
      </p:sp>
      <p:pic>
        <p:nvPicPr>
          <p:cNvPr id="4" name="업체 라벨 기록 무게 vs 현실 범위" descr="/tmp/claude-0/-home-user-hsr1m/6022f0b4-b8f8-52b0-8810-837ebd6bfbe9/scratchpad/deck/img/fig_12_업체라벨_기록무게_vs_현실범위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2788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59943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왼쪽: 업체 라벨 42개의 기록 무게 분포(합계 1.32 kg, 최대 0.25 kg). 오른쪽: 같은 면적의 현실적 범위(두께 2~35 cm × 재질 밀도, 로그 눈금).</a:t>
            </a:r>
            <a:endParaRPr lang="en-US" sz="950" dirty="0"/>
          </a:p>
        </p:txBody>
      </p:sp>
      <p:sp>
        <p:nvSpPr>
          <p:cNvPr id="6" name="card 원인은 하나: 높이(두께)가 없다"/>
          <p:cNvSpPr/>
          <p:nvPr/>
        </p:nvSpPr>
        <p:spPr>
          <a:xfrm>
            <a:off x="548640" y="5074920"/>
            <a:ext cx="72237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533095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원인은 하나: 높이(두께)가 없다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769864"/>
            <a:ext cx="667512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3 cm/px 정사영상에는 DSM이 없어 부피를 잴 수 없습니다. 그래서 우리는 영상에서 3D를 만들어 높이를 직접 잽니다.</a:t>
            </a:r>
            <a:endParaRPr lang="en-US" sz="1100" dirty="0"/>
          </a:p>
        </p:txBody>
      </p:sp>
      <p:sp>
        <p:nvSpPr>
          <p:cNvPr id="9" name="stat 1.54 m² 스티로폼 더미의 기록 무게"/>
          <p:cNvSpPr/>
          <p:nvPr/>
        </p:nvSpPr>
        <p:spPr>
          <a:xfrm>
            <a:off x="8046720" y="1783080"/>
            <a:ext cx="359359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302752" y="1984248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1.54 m² 스티로폼 더미의 기록 무게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302752" y="228600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0.018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kg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302752" y="2990088"/>
            <a:ext cx="3136392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현실적으로는 0.3~17 kg</a:t>
            </a:r>
            <a:endParaRPr lang="en-US" sz="1050" dirty="0"/>
          </a:p>
        </p:txBody>
      </p:sp>
      <p:sp>
        <p:nvSpPr>
          <p:cNvPr id="13" name="stat 탐지 위치 오차 (업체 제보)"/>
          <p:cNvSpPr/>
          <p:nvPr/>
        </p:nvSpPr>
        <p:spPr>
          <a:xfrm>
            <a:off x="8046720" y="3291840"/>
            <a:ext cx="359359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02752" y="3493008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탐지 위치 오차 (업체 제보)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02752" y="379476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50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m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02752" y="4498848"/>
            <a:ext cx="3136392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드론 GPS를 쓰레기 위치로 기록 + 비스듬한 촬영</a:t>
            </a:r>
            <a:endParaRPr lang="en-US" sz="1050" dirty="0"/>
          </a:p>
        </p:txBody>
      </p:sp>
      <p:sp>
        <p:nvSpPr>
          <p:cNvPr id="17" name="card 업체 계수표 (kg/m²)"/>
          <p:cNvSpPr/>
          <p:nvPr/>
        </p:nvSpPr>
        <p:spPr>
          <a:xfrm>
            <a:off x="8046720" y="4800600"/>
            <a:ext cx="359359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321040" y="5056632"/>
            <a:ext cx="3044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업체 계수표 (kg/m²)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5495544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accent4"/>
                </a:solidFill>
              </a:rPr>
              <a:t>스티로폼 0.012 · 로프·어망 0.024 · 플라스틱 0.020. 품목 수 × 평균무게 방식은 문헌에서도 약 40% 과대추정(Andriolo et al. 2024).</a:t>
            </a:r>
            <a:endParaRPr lang="en-US" sz="1050" dirty="0"/>
          </a:p>
        </p:txBody>
      </p:sp>
      <p:sp>
        <p:nvSpPr>
          <p:cNvPr id="20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출처: 업체 라벨 자료(문갑도 MGD, 42개)와 팀 분석(2026.09~10) · Andriolo et al. (2024) Marine Pollution Bulletin 202:116405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솔루션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어디부터 날릴지, 어떤 거리에서 찍을지, 무엇이 어디에 얼마나 있는지, 그래서 트럭이 몇 대인지.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비행 한 번이 수거계획서 한 부가 된다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입력은 드론 영상(MP4)과 비행기록(SRT)뿐입니다. 비행은 사람이 하고, 나머지 7단계는 노트북 한 대가 자동으로 수행합니다.</a:t>
            </a:r>
            <a:endParaRPr lang="en-US" sz="1400" dirty="0"/>
          </a:p>
        </p:txBody>
      </p:sp>
      <p:sp>
        <p:nvSpPr>
          <p:cNvPr id="4" name="step 핫스팟 경로"/>
          <p:cNvSpPr/>
          <p:nvPr/>
        </p:nvSpPr>
        <p:spPr>
          <a:xfrm>
            <a:off x="548640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033272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MapMarkedAl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1488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 핫스팟 경로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과거 조사·집적 예측으로 배터리 안에서 많이 보는 경로</a:t>
            </a:r>
            <a:endParaRPr lang="en-US" sz="1000" dirty="0"/>
          </a:p>
        </p:txBody>
      </p:sp>
      <p:sp>
        <p:nvSpPr>
          <p:cNvPr id="9" name="step 커버리지 비행"/>
          <p:cNvSpPr/>
          <p:nvPr/>
        </p:nvSpPr>
        <p:spPr>
          <a:xfrm>
            <a:off x="2135124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2619756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16" y="2148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26564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 커버리지 비행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244852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고도 20 m 지그재그, 애매한 곳은 8 m 재방문</a:t>
            </a:r>
            <a:endParaRPr lang="en-US" sz="1000" dirty="0"/>
          </a:p>
        </p:txBody>
      </p:sp>
      <p:sp>
        <p:nvSpPr>
          <p:cNvPr id="14" name="step 탐지"/>
          <p:cNvSpPr/>
          <p:nvPr/>
        </p:nvSpPr>
        <p:spPr>
          <a:xfrm>
            <a:off x="3721608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4206240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6" name="icon FaSearchLoc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488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813048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3. 탐지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3831336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YOLO11-s, AI Hub 해안쓰레기 2~4 cm/px 학습</a:t>
            </a:r>
            <a:endParaRPr lang="en-US" sz="1000" dirty="0"/>
          </a:p>
        </p:txBody>
      </p:sp>
      <p:sp>
        <p:nvSpPr>
          <p:cNvPr id="19" name="step 위치"/>
          <p:cNvSpPr/>
          <p:nvPr/>
        </p:nvSpPr>
        <p:spPr>
          <a:xfrm>
            <a:off x="5308092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5792724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1" name="icon FaCrosshair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884" y="214884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99532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4. 위치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417820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3D 카메라 자세로 광선 교차 → GPS 정렬</a:t>
            </a:r>
            <a:endParaRPr lang="en-US" sz="1000" dirty="0"/>
          </a:p>
        </p:txBody>
      </p:sp>
      <p:sp>
        <p:nvSpPr>
          <p:cNvPr id="24" name="step 부피"/>
          <p:cNvSpPr/>
          <p:nvPr/>
        </p:nvSpPr>
        <p:spPr>
          <a:xfrm>
            <a:off x="6894576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379208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6" name="icon FaCube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6368" y="214884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986016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5. 부피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004304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SfM+MVS 점구름, SAM 2 마스크 투표, 높이지도</a:t>
            </a:r>
            <a:endParaRPr lang="en-US" sz="1000" dirty="0"/>
          </a:p>
        </p:txBody>
      </p:sp>
      <p:sp>
        <p:nvSpPr>
          <p:cNvPr id="29" name="step 무게 구간"/>
          <p:cNvSpPr/>
          <p:nvPr/>
        </p:nvSpPr>
        <p:spPr>
          <a:xfrm>
            <a:off x="8481060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30" name="icon circle"/>
          <p:cNvSpPr/>
          <p:nvPr/>
        </p:nvSpPr>
        <p:spPr>
          <a:xfrm>
            <a:off x="8965692" y="2011680"/>
            <a:ext cx="548640" cy="5486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31" name="icon FaRulerCombine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2852" y="214884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572500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6. 무게 구간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8590788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겉보기밀도 × 젖음·압축 계수, conformal 구간</a:t>
            </a:r>
            <a:endParaRPr lang="en-US" sz="1000" dirty="0"/>
          </a:p>
        </p:txBody>
      </p:sp>
      <p:sp>
        <p:nvSpPr>
          <p:cNvPr id="34" name="step 수거계획"/>
          <p:cNvSpPr/>
          <p:nvPr/>
        </p:nvSpPr>
        <p:spPr>
          <a:xfrm>
            <a:off x="10067544" y="1828800"/>
            <a:ext cx="1517904" cy="2331720"/>
          </a:xfrm>
          <a:prstGeom prst="roundRect">
            <a:avLst>
              <a:gd name="adj" fmla="val 602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35" name="icon circle"/>
          <p:cNvSpPr/>
          <p:nvPr/>
        </p:nvSpPr>
        <p:spPr>
          <a:xfrm>
            <a:off x="10552176" y="2011680"/>
            <a:ext cx="548640" cy="548640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36" name="icon FaTruc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89336" y="2148840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158984" y="265176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 수거계획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10177272" y="2999232"/>
            <a:ext cx="1298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정거장·마대·트럭·인력·경로 작업카드</a:t>
            </a:r>
            <a:endParaRPr lang="en-US" sz="1000" dirty="0"/>
          </a:p>
        </p:txBody>
      </p:sp>
      <p:sp>
        <p:nvSpPr>
          <p:cNvPr id="39" name="satellite input"/>
          <p:cNvSpPr/>
          <p:nvPr/>
        </p:nvSpPr>
        <p:spPr>
          <a:xfrm>
            <a:off x="548640" y="4343400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pic>
        <p:nvPicPr>
          <p:cNvPr id="40" name="icon satellit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462272"/>
            <a:ext cx="274320" cy="2743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078992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3DLabs 위성 ARD가 들어가는 자리: 집적 패치·변화 → 1단계 우선순위</a:t>
            </a:r>
            <a:endParaRPr lang="en-US" sz="950" dirty="0"/>
          </a:p>
        </p:txBody>
      </p:sp>
      <p:sp>
        <p:nvSpPr>
          <p:cNvPr id="42" name="card 입력"/>
          <p:cNvSpPr/>
          <p:nvPr/>
        </p:nvSpPr>
        <p:spPr>
          <a:xfrm>
            <a:off x="548640" y="5029200"/>
            <a:ext cx="54864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822960" y="52852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입력</a:t>
            </a:r>
            <a:endParaRPr lang="en-US" sz="1200" dirty="0"/>
          </a:p>
        </p:txBody>
      </p:sp>
      <p:sp>
        <p:nvSpPr>
          <p:cNvPr id="44" name="Text 34"/>
          <p:cNvSpPr txBox="1"/>
          <p:nvPr/>
        </p:nvSpPr>
        <p:spPr>
          <a:xfrm>
            <a:off x="822960" y="5724144"/>
            <a:ext cx="4937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비행 영상(MP4) + 비행기록(SRT: 시각·GPS·고도). DJI 기본 기체. 1차 커버리지 1회 + 경계 물체만 2차 선회.</a:t>
            </a:r>
            <a:endParaRPr lang="en-US" sz="1100" dirty="0"/>
          </a:p>
        </p:txBody>
      </p:sp>
      <p:sp>
        <p:nvSpPr>
          <p:cNvPr id="45" name="card 출력"/>
          <p:cNvSpPr/>
          <p:nvPr/>
        </p:nvSpPr>
        <p:spPr>
          <a:xfrm>
            <a:off x="6153912" y="5029200"/>
            <a:ext cx="54864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46" name="Text 36"/>
          <p:cNvSpPr txBox="1"/>
          <p:nvPr/>
        </p:nvSpPr>
        <p:spPr>
          <a:xfrm>
            <a:off x="6428232" y="52852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출력</a:t>
            </a:r>
            <a:endParaRPr lang="en-US" sz="1200" dirty="0"/>
          </a:p>
        </p:txBody>
      </p:sp>
      <p:sp>
        <p:nvSpPr>
          <p:cNvPr id="47" name="Text 37"/>
          <p:cNvSpPr txBox="1"/>
          <p:nvPr/>
        </p:nvSpPr>
        <p:spPr>
          <a:xfrm>
            <a:off x="6428232" y="5724144"/>
            <a:ext cx="4937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지도 핀(위치·오차반경) · 물체 목록(부피·무게 구간 CSV/GeoJSON) · 정거장별 작업카드(인력·마대·트럭·경로) · 2차 비행 경로(KMZ)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촬영 거리는 물체 크기에서 역산했다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계획을 바꾸는 물체(어망·부표·스티로폼 더미, 수십 cm)는 20 m에서 잡히고, 부피를 재야 하는 물체는 3~8 m 선회에서 3D가 선다. 두 고도가 한 비행 안에 있습니다.</a:t>
            </a:r>
            <a:endParaRPr lang="en-US" sz="1400" dirty="0"/>
          </a:p>
        </p:txBody>
      </p:sp>
      <p:sp>
        <p:nvSpPr>
          <p:cNvPr id="4" name="gsd card"/>
          <p:cNvSpPr/>
          <p:nvPr/>
        </p:nvSpPr>
        <p:spPr>
          <a:xfrm>
            <a:off x="548640" y="1783080"/>
            <a:ext cx="667512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고도별 지상 해상도와 물체 크기 (4K 3840 px, 24 mm 상당 화각 73.7° 기준 계산값)</a:t>
            </a:r>
            <a:endParaRPr lang="en-US" sz="1150" dirty="0"/>
          </a:p>
        </p:txBody>
      </p:sp>
      <p:graphicFrame>
        <p:nvGraphicFramePr>
          <p:cNvPr id="12" name="gs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62179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005840"/>
                <a:gridCol w="914400"/>
                <a:gridCol w="914400"/>
                <a:gridCol w="96012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고도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GSD (cm/px)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2.5 cm 물체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10 cm 물체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40 cm 물체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용도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20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0.78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3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13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51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1차 커버리지: 큰 물체 탐지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8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0.31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8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32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128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애매한 후보 재방문 확정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3~4 m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0.12~0.16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16~21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64~85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250~340 px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212E"/>
                          </a:solidFill>
                        </a:rPr>
                        <a:t>선회 3D 부피·무게</a:t>
                      </a:r>
                      <a:endParaRPr lang="en-US" sz="10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7240" y="38862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문헌 권고 GSD 0.5~1.25 cm/px 안에 1차 비행(0.78)이 들어가고, 선회 비행은 그보다 4~6배 촘촘합니다. 매크로쓰레기 정의는 2.5 cm 이상, 해변 플라스틱 조각 중앙값은 약 9.7 cm입니다.</a:t>
            </a:r>
            <a:endParaRPr lang="en-US" sz="1050" dirty="0"/>
          </a:p>
        </p:txBody>
      </p:sp>
      <p:sp>
        <p:nvSpPr>
          <p:cNvPr id="8" name="card 탐지: 권고 GSD 0.5~1.25 cm/px"/>
          <p:cNvSpPr/>
          <p:nvPr/>
        </p:nvSpPr>
        <p:spPr>
          <a:xfrm>
            <a:off x="7498080" y="1783080"/>
            <a:ext cx="414223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772400" y="203911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탐지: 권고 GSD 0.5~1.25 cm/px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78024"/>
            <a:ext cx="3593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accent4"/>
                </a:solidFill>
              </a:rPr>
              <a:t>15개 드론 해안쓰레기 연구의 평균 고도 약 20 m. 10 m에서 5 cm 이상 물체 탐지 90% 초과, 2.5 cm는 73~81%.</a:t>
            </a:r>
            <a:endParaRPr lang="en-US" sz="1050" dirty="0"/>
          </a:p>
        </p:txBody>
      </p:sp>
      <p:sp>
        <p:nvSpPr>
          <p:cNvPr id="11" name="card 3D 부피: 17 m·5 mm/px로 충분 (Kako 2020)"/>
          <p:cNvSpPr/>
          <p:nvPr/>
        </p:nvSpPr>
        <p:spPr>
          <a:xfrm>
            <a:off x="7498080" y="3291840"/>
            <a:ext cx="414223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0" y="354787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3D 부피: 17 m·5 mm/px로 충분 (Kako 2020)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3986784"/>
            <a:ext cx="3593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accent4"/>
                </a:solidFill>
              </a:rPr>
              <a:t>우리는 더 가까운 3~8 m 선회. 1초 간격 3프레임 시차가 10 m에서 약 53°, 20 m에서 28°라 삼각측량·SfM이 안정적.</a:t>
            </a:r>
            <a:endParaRPr lang="en-US" sz="1050" dirty="0"/>
          </a:p>
        </p:txBody>
      </p:sp>
      <p:sp>
        <p:nvSpPr>
          <p:cNvPr id="14" name="guide card"/>
          <p:cNvSpPr/>
          <p:nvPr/>
        </p:nvSpPr>
        <p:spPr>
          <a:xfrm>
            <a:off x="548640" y="484632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5" name="icon camer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512064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54480" y="49560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선회 촬영 가이드 (실험으로 고정)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554480" y="528523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고도 3~4 m · 반경 3 m · 짐벌 45° 한 바퀴 + 수직 1장 · SRT 켜기 · 기준 물체 1개. 7 m 선회(0007)에서 무늬 없는 상자 윗면이 1.5~3.5 cm 높게 복원된 편향이 2 m(0010)에서는 −10%로 줄었습니다. 1차 커버리지는 20 m 통과 비행으로 충분합니다(야간 10분 비행에서 상자 30개 탐지·지도화).</a:t>
            </a:r>
            <a:endParaRPr lang="en-US" sz="1050" dirty="0"/>
          </a:p>
        </p:txBody>
      </p:sp>
      <p:sp>
        <p:nvSpPr>
          <p:cNvPr id="18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Andriolo, Topouzelis, van Emmerik et al. (2023) Marine Pollution Bulletin 195:115521 · Andriolo &amp; Gonçalves (2022) Environmental Pollution 315:120370 · Kako, Morita &amp; Taneda (2020) MPB 155:111127 · 팀 실험 0007·0010·0015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어디부터 날릴까: 몰리고, 다시 쌓이고, 과거로 짠 경로가 통한다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해안 전체를 매번 다 날 수 없습니다. 쓰레기는 소수 구간에 몰리고 치워도 다시 쌓이므로, 과거 조사로 '많고 중요한 곳'을 배터리 안에서 최대로 보는 경로를 짭니다.</a:t>
            </a:r>
            <a:endParaRPr lang="en-US" sz="1400" dirty="0"/>
          </a:p>
        </p:txBody>
      </p:sp>
      <p:pic>
        <p:nvPicPr>
          <p:cNvPr id="4" name="하와이·MDMAP 집적 검증" descr="/tmp/claude-0/-home-user-hsr1m/6022f0b4-b8f8-52b0-8810-837ebd6bfbe9/scratchpad/deck/img/fig_hotspot_resul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577840" cy="4087368"/>
          </a:xfrm>
          <a:prstGeom prst="rect">
            <a:avLst/>
          </a:prstGeom>
        </p:spPr>
      </p:pic>
      <p:sp>
        <p:nvSpPr>
          <p:cNvPr id="5" name="stat 상위 10% 칸이 차지하는 비율"/>
          <p:cNvSpPr/>
          <p:nvPr/>
        </p:nvSpPr>
        <p:spPr>
          <a:xfrm>
            <a:off x="6355080" y="178308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583680" y="19293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상위 10% 칸이 차지하는 비율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21671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697480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하와이 2015 항공조사, 라벨 10,703개</a:t>
            </a:r>
            <a:endParaRPr lang="en-US" sz="950" dirty="0"/>
          </a:p>
        </p:txBody>
      </p:sp>
      <p:sp>
        <p:nvSpPr>
          <p:cNvPr id="9" name="stat 앞/뒤 기간 순위상관"/>
          <p:cNvSpPr/>
          <p:nvPr/>
        </p:nvSpPr>
        <p:spPr>
          <a:xfrm>
            <a:off x="9079992" y="178308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308592" y="19293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앞/뒤 기간 순위상관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308592" y="21671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0.88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9308592" y="2697480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NOAA MDMAP 134곳 반복조사, 상위 20% 유지 74%</a:t>
            </a:r>
            <a:endParaRPr lang="en-US" sz="950" dirty="0"/>
          </a:p>
        </p:txBody>
      </p:sp>
      <p:sp>
        <p:nvSpPr>
          <p:cNvPr id="13" name="stat 예산 20%에서 다음 조사 쓰레기 커버"/>
          <p:cNvSpPr/>
          <p:nvPr/>
        </p:nvSpPr>
        <p:spPr>
          <a:xfrm>
            <a:off x="6355080" y="3218688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83680" y="33649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예산 20%에서 다음 조사 쓰레기 커버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60273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61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% vs 36%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413308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텍사스 33곳, 앞 기간으로 계획 → 뒤 기간 채점</a:t>
            </a:r>
            <a:endParaRPr lang="en-US" sz="950" dirty="0"/>
          </a:p>
        </p:txBody>
      </p:sp>
      <p:sp>
        <p:nvSpPr>
          <p:cNvPr id="17" name="stat 배터리 1개로 보는 비율"/>
          <p:cNvSpPr/>
          <p:nvPr/>
        </p:nvSpPr>
        <p:spPr>
          <a:xfrm>
            <a:off x="9079992" y="3218688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308592" y="33649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배터리 1개로 보는 비율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308592" y="360273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%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9308592" y="413308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몰로카이, 이륙 지점까지 알고리즘이 선택</a:t>
            </a:r>
            <a:endParaRPr lang="en-US" sz="950" dirty="0"/>
          </a:p>
        </p:txBody>
      </p:sp>
      <p:sp>
        <p:nvSpPr>
          <p:cNvPr id="21" name="card 알고리즘: 오리엔티어링 문제"/>
          <p:cNvSpPr/>
          <p:nvPr/>
        </p:nvSpPr>
        <p:spPr>
          <a:xfrm>
            <a:off x="6355080" y="4663440"/>
            <a:ext cx="5285232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629400" y="4919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알고리즘: 오리엔티어링 문제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629400" y="535838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accent4"/>
                </a:solidFill>
              </a:rPr>
              <a:t>구간 가치 = 기대 쓰레기량 × 중요도(어망·부표 5 … 조각 1) + 탐색 보너스. 삽입 휴리스틱 → 2-opt → 이륙 지점 선택 → 배터리별 반복. 미래를 안다고 가정한 상한과의 차이 최대 3.2%p.</a:t>
            </a:r>
            <a:endParaRPr lang="en-US" sz="1050" dirty="0"/>
          </a:p>
        </p:txBody>
      </p:sp>
      <p:sp>
        <p:nvSpPr>
          <p:cNvPr id="24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자료: 하와이 항공 정사영상 칩 1,587장(Zenodo 8381113) · NOAA MDMAP 반복조사 · 팀 분석(hotspot/). 한국 검증은 국가 해안쓰레기 모니터링 정점 시계열로 같은 절차 적용 예정(1단계 로드맵).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한국 해안에 옮기기: 조류 집적 예측과 만입 해안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첫 조사 이력이 없는 해안은 조류·바람·하천 입자추적과 해안 형태(만입·풍향 노출)를 약한 사전값으로 쓰고, 조사 결과가 쌓이면 이력이 사전값을 대체합니다.</a:t>
            </a:r>
            <a:endParaRPr lang="en-US" sz="1400" dirty="0"/>
          </a:p>
        </p:txBody>
      </p:sp>
      <p:pic>
        <p:nvPicPr>
          <p:cNvPr id="4" name="교동도 집적 예상 지도" descr="/tmp/claude-0/-home-user-hsr1m/6022f0b4-b8f8-52b0-8810-837ebd6bfbe9/scratchpad/deck/img/hotspot_map_gyodo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4937760" cy="3886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875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교동도 집적 예상 구간(빨간 라인). 조석 연속방정식 조류 + 풍압 + 좌초·재부유, 100 m 격자 · 200,000 입자 · 30일.</a:t>
            </a:r>
            <a:endParaRPr lang="en-US" sz="900" dirty="0"/>
          </a:p>
        </p:txBody>
      </p:sp>
      <p:sp>
        <p:nvSpPr>
          <p:cNvPr id="6" name="chart card"/>
          <p:cNvSpPr/>
          <p:nvPr/>
        </p:nvSpPr>
        <p:spPr>
          <a:xfrm>
            <a:off x="5760720" y="1783080"/>
            <a:ext cx="587959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98932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교동도 8방위 구간 좌초 밀도 점수 (섬 해안선 기준 상위 30%)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852160" y="214884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card 만입 해안이 더 모은다는 근거와 한계"/>
          <p:cNvSpPr/>
          <p:nvPr/>
        </p:nvSpPr>
        <p:spPr>
          <a:xfrm>
            <a:off x="5760720" y="4023360"/>
            <a:ext cx="58795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035040" y="427939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Wat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41655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5010912"/>
            <a:ext cx="5330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만입 해안이 더 모은다는 근거와 한계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035040" y="544982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4"/>
                </a:solidFill>
              </a:rPr>
              <a:t>반폐쇄 하구만이 집적 핫스팟(Maiti et al. 2026), 헤드랜드로 막힌 포켓비치가 개방 해안보다 높은 집적(북사르데냐), 해안선 형태·바람이 집적을 지배(Critchell &amp; Lambrechts 2016; Brabo et al. 2022). 단, 하와이에서는 무역풍 정면 1.6배도 섬마다 달라 조사 이력이 꼭 필요했습니다.</a:t>
            </a:r>
            <a:endParaRPr lang="en-US" sz="1000" dirty="0"/>
          </a:p>
        </p:txBody>
      </p:sp>
      <p:sp>
        <p:nvSpPr>
          <p:cNvPr id="14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Maiti et al. (2026) MPB 232:120031 · Critchell &amp; Lambrechts (2016) Estuar. Coast. Shelf Sci. 171:111–122 · Brabo et al. (2022) MPB 174 · Dagestad et al. (2018) GMD 11:1405 · Onink et al. (2021) ERL 16:064053. 모식 조류·실측 검증 전.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어떻게 날릴까: 비행은 사람, 나머지는 AI + 시뮬레이터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실기체(DJI Mini 5 Pro)는 SDK가 없어 자동비행이 안 됩니다. 그래서 업체 문갑도 정사영상을 가상 세계로 써서 커버리지·실시간 탐지·능동 재방문을 검증했습니다.</a:t>
            </a:r>
            <a:endParaRPr lang="en-US" sz="1400" dirty="0"/>
          </a:p>
        </p:txBody>
      </p:sp>
      <p:pic>
        <p:nvPicPr>
          <p:cNvPr id="4" name="월미도 비행 시뮬레이션 지도" descr="/tmp/claude-0/-home-user-hsr1m/6022f0b4-b8f8-52b0-8810-837ebd6bfbe9/scratchpad/deck/img/wolmido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291840" cy="4023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338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실제 DEM 위 비행 시뮬(PyBullet), 경로 오차 ≤ 2.8 m</a:t>
            </a:r>
            <a:endParaRPr lang="en-US" sz="900" dirty="0"/>
          </a:p>
        </p:txBody>
      </p:sp>
      <p:sp>
        <p:nvSpPr>
          <p:cNvPr id="6" name="chart card"/>
          <p:cNvSpPr/>
          <p:nvPr/>
        </p:nvSpPr>
        <p:spPr>
          <a:xfrm>
            <a:off x="4114800" y="17830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34340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능동 재방문 효과: 재현율 (문갑도 100×100 m, 라벨 7개)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206240" y="2194560"/>
          <a:ext cx="34747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tat 재방문으로 늘어난 비행거리"/>
          <p:cNvSpPr/>
          <p:nvPr/>
        </p:nvSpPr>
        <p:spPr>
          <a:xfrm>
            <a:off x="7982712" y="178308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8238744" y="19842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재방문으로 늘어난 비행거리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38744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+697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 m</a:t>
            </a:r>
            <a:endParaRPr lang="en-US" sz="3400" dirty="0"/>
          </a:p>
        </p:txBody>
      </p:sp>
      <p:sp>
        <p:nvSpPr>
          <p:cNvPr id="12" name="Text 8"/>
          <p:cNvSpPr txBox="1"/>
          <p:nvPr/>
        </p:nvSpPr>
        <p:spPr>
          <a:xfrm>
            <a:off x="8238744" y="299008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20 m 커버리지 679 m → 8 m 재방문 25회 포함 1,718 m. 애매한 후보 25개 중 22개 기각·3개 확정.</a:t>
            </a:r>
            <a:endParaRPr lang="en-US" sz="1050" dirty="0"/>
          </a:p>
        </p:txBody>
      </p:sp>
      <p:sp>
        <p:nvSpPr>
          <p:cNvPr id="13" name="card 운용 구조"/>
          <p:cNvSpPr/>
          <p:nvPr/>
        </p:nvSpPr>
        <p:spPr>
          <a:xfrm>
            <a:off x="4114800" y="4343400"/>
            <a:ext cx="7525512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389120" y="4599432"/>
            <a:ext cx="6976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운용 구조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5038344"/>
            <a:ext cx="697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핫스팟 경로를 KMZ 웨이포인트로 내보내 DJI Fly로 비행(실기체 확인 필요) → 영상+SRT 입력 → 노트북 한 대(RTX 4060 8 GB·RAM 16 GB)에서 탐지·3D·작업카드. 조밀 복원은 45분에서 3분 24초로 단축. 시뮬레이터는 월드·카메라·비행·탐지·지도·계획을 분리해 ROS 2/PX4로 이식 설계.</a:t>
            </a:r>
            <a:endParaRPr lang="en-US" sz="1100" dirty="0"/>
          </a:p>
        </p:txBody>
      </p:sp>
      <p:sp>
        <p:nvSpPr>
          <p:cNvPr id="16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Galceran &amp; Carreras (2013) 커버리지 경로계획, Robot. Auton. Syst. 61(12):1258–1276 · Popović et al. (2020) 정보 경로계획(IPP), Auton. Robots 44:889–911 · 팀 sim_ortho 결과(figures/sim_aihub_*_summary.json)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무엇이 어디에: 운용 고도에 맞춘 탐지와 3D 위치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AI Hub 해안쓰레기 사진 1.2만 장을 운용 고도의 해상도(2~4 cm/px)로 축소해 학습했고, 위치는 3D 카메라 자세로 광선을 쏴서 GPS에 정렬합니다.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51206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탐지 재현율, 문갑도 업체 칩 48장 (정답 47)</a:t>
            </a:r>
            <a:endParaRPr lang="en-US" sz="11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194560"/>
          <a:ext cx="49377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 같은 모델이 다른 해안에서도"/>
          <p:cNvSpPr/>
          <p:nvPr/>
        </p:nvSpPr>
        <p:spPr>
          <a:xfrm>
            <a:off x="548640" y="406908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432511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같은 모델이 다른 해안에서도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764024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하와이 항공 정사영상 420칩: 재학습 없이 0.24 → 현지 사진 10분 미세조정 0.58 → 8클래스·1024 px 0.69(AP50 0.62). 야간 10분 영상의 종이상자 30개는 개방형 탐지(YOLO-World)에 이름만 추가해 잡았습니다.</a:t>
            </a:r>
            <a:endParaRPr lang="en-US" sz="1100" dirty="0"/>
          </a:p>
        </p:txBody>
      </p:sp>
      <p:pic>
        <p:nvPicPr>
          <p:cNvPr id="10" name="0015 야간 상자 30개 지도" descr="/tmp/claude-0/-home-user-hsr1m/6022f0b4-b8f8-52b0-8810-837ebd6bfbe9/scratchpad/deck/img/fig_16_0015_야간_상자30개_지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83080"/>
            <a:ext cx="233172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0" y="4480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야간 10분 통과 비행(0015): 상자 30개 자동 지도화, 3D 뼈대 25/25 구간 성공</a:t>
            </a:r>
            <a:endParaRPr lang="en-US" sz="900" dirty="0"/>
          </a:p>
        </p:txBody>
      </p:sp>
      <p:sp>
        <p:nvSpPr>
          <p:cNvPr id="12" name="table card"/>
          <p:cNvSpPr/>
          <p:nvPr/>
        </p:nvSpPr>
        <p:spPr>
          <a:xfrm>
            <a:off x="8503920" y="1783080"/>
            <a:ext cx="3136392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7325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위치 정확도 (실기체)</a:t>
            </a:r>
            <a:endParaRPr lang="en-US" sz="1150" dirty="0"/>
          </a:p>
        </p:txBody>
      </p:sp>
      <p:graphicFrame>
        <p:nvGraphicFramePr>
          <p:cNvPr id="16" name="position accurac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32520" y="2194560"/>
          <a:ext cx="2697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430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영상</a:t>
                      </a:r>
                      <a:endParaRPr lang="en-US" sz="100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3D ↔ GPS 잔차</a:t>
                      </a:r>
                      <a:endParaRPr lang="en-US" sz="100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0007 송도 선회 7 m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1.16 m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0010 골목 왕복 2 m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8.07 → 0.51 m*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합성 7개 시나리오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0.01~0.11 m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r95 (GPS 1σ 2.5 m)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5.2 m</a:t>
                      </a:r>
                      <a:endParaRPr lang="en-US" sz="950" dirty="0"/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8732520" y="37673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* SRT 고도가 틀린 경우 GPS 경로로 축척을 자동 선택</a:t>
            </a:r>
            <a:endParaRPr lang="en-US" sz="900" dirty="0"/>
          </a:p>
        </p:txBody>
      </p:sp>
      <p:sp>
        <p:nvSpPr>
          <p:cNvPr id="16" name="card 위치 50 m 오차는 이렇게 사라진다"/>
          <p:cNvSpPr/>
          <p:nvPr/>
        </p:nvSpPr>
        <p:spPr>
          <a:xfrm>
            <a:off x="5943600" y="4937760"/>
            <a:ext cx="56967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217920" y="5193792"/>
            <a:ext cx="5148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위치 50 m 오차는 이렇게 사라진다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5632704"/>
            <a:ext cx="5148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4"/>
                </a:solidFill>
              </a:rPr>
              <a:t>드론 GPS 대신 3D 카메라 자세로 탐지 박스 → 광선 → 지면 교차. 호버링(시차 5° 미만)은 평면 교차로 자동 복귀, 물체마다 오차반경(r95) 기록.</a:t>
            </a:r>
            <a:endParaRPr lang="en-US" sz="1000" dirty="0"/>
          </a:p>
        </p:txBody>
      </p:sp>
      <p:sp>
        <p:nvSpPr>
          <p:cNvPr id="19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Martin et al. (2018) MPB 131:662–673 · Fallati et al. (2019) STOTEN 693:133581 · Hartley &amp; Sturm (1997) CVIU 68(2):146–157 · 팀 교차평가(figures/cross_eval.json), 삼각측량 패치 docs/삼각측량_위치보정.md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얼마나 무거운가: 3D 부피 × 겉보기밀도, 그리고 구간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핵심 차별점. SAM 2 마스크를 여러 프레임에서 투표해 점구름에서 물체 점만 남기고, 지역 바닥 평면 기준 높이지도로 부피를 냅니다. 영상 하나로 정사영상·DSM 없이 끝납니다.</a:t>
            </a:r>
            <a:endParaRPr lang="en-US" sz="1400" dirty="0"/>
          </a:p>
        </p:txBody>
      </p:sp>
      <p:sp>
        <p:nvSpPr>
          <p:cNvPr id="4" name="chart card"/>
          <p:cNvSpPr/>
          <p:nvPr/>
        </p:nvSpPr>
        <p:spPr>
          <a:xfrm>
            <a:off x="548640" y="1783080"/>
            <a:ext cx="49377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크기 아는 상자 3개의 부피 오차 (실측 대비)</a:t>
            </a:r>
            <a:endParaRPr lang="en-US" sz="11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194560"/>
          <a:ext cx="47548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7" name="0007 큰 상자 SAM 마스크 투표" descr="/tmp/claude-0/-home-user-hsr1m/6022f0b4-b8f8-52b0-8810-837ebd6bfbe9/scratchpad/deck/img/fig_13_0007_조밀_큰상자_마스크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72000"/>
            <a:ext cx="4480560" cy="11155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5687568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0007 큰 상자 32.4 L → 3D 38.8 L. 업체 방식은 같은 상자에서 기준의 1/112·1/180.</a:t>
            </a:r>
            <a:endParaRPr lang="en-US" sz="850" dirty="0"/>
          </a:p>
        </p:txBody>
      </p:sp>
      <p:sp>
        <p:nvSpPr>
          <p:cNvPr id="9" name="card 부피: SAM 2 투표 + 지역 바닥 평면 + 높이지도"/>
          <p:cNvSpPr/>
          <p:nvPr/>
        </p:nvSpPr>
        <p:spPr>
          <a:xfrm>
            <a:off x="5760720" y="1783080"/>
            <a:ext cx="5879592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035040" y="2039112"/>
            <a:ext cx="5330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부피: SAM 2 투표 + 지역 바닥 평면 + 높이지도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2478024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accent4"/>
                </a:solidFill>
              </a:rPr>
              <a:t>조밀 점 243만 개 중 24프레임 마스크 일치율 70% 이상인 점만. 바닥점(&lt;3 cm)·뒤집힌 카메라 포즈 자동 제외. 볼록껍질은 +60% 과대라 폐기.</a:t>
            </a:r>
            <a:endParaRPr lang="en-US" sz="1050" dirty="0"/>
          </a:p>
        </p:txBody>
      </p:sp>
      <p:sp>
        <p:nvSpPr>
          <p:cNvPr id="12" name="card 무게: 겉보기밀도 × 젖음·압축 계수 → 구간"/>
          <p:cNvSpPr/>
          <p:nvPr/>
        </p:nvSpPr>
        <p:spPr>
          <a:xfrm>
            <a:off x="5760720" y="3246120"/>
            <a:ext cx="5879592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035040" y="3502152"/>
            <a:ext cx="5330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무게: 겉보기밀도 × 젖음·압축 계수 → 구간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3941064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accent4"/>
                </a:solidFill>
              </a:rPr>
              <a:t>스티로폼 20~25, 플라스틱 60, 어망·로프 100~400 kg/m³에 젖음·마대 압축 계수. 실측 30개가 모이면 conformal 예측구간으로 교체(코드 완료), 지금은 ×/÷2 구간.</a:t>
            </a:r>
            <a:endParaRPr lang="en-US" sz="1050" dirty="0"/>
          </a:p>
        </p:txBody>
      </p:sp>
      <p:sp>
        <p:nvSpPr>
          <p:cNvPr id="15" name="card 재방문 규칙: 계획을 바꾸는 불확실성만"/>
          <p:cNvSpPr/>
          <p:nvPr/>
        </p:nvSpPr>
        <p:spPr>
          <a:xfrm>
            <a:off x="5760720" y="4709160"/>
            <a:ext cx="587959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6035040" y="4965192"/>
            <a:ext cx="5330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재방문 규칙: 계획을 바꾸는 불확실성만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6035040" y="540410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accent4"/>
                </a:solidFill>
              </a:rPr>
              <a:t>구간 상한이 1인 운반 한계 23 kg(NIOSH)·마대·트럭 적재 경계를 넘나드는 물체만 2차 선회. 묻힘 의심(면적 넓고 높이 없음) 태그.</a:t>
            </a:r>
            <a:endParaRPr lang="en-US" sz="1050" dirty="0"/>
          </a:p>
        </p:txBody>
      </p:sp>
      <p:sp>
        <p:nvSpPr>
          <p:cNvPr id="18" name="refs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근거: Westoby et al. (2012) SfM, Geomorphology 179:300–314 · Kako, Morita &amp; Taneda (2020) MPB 155:111127 · Angelopoulos &amp; Bates (2023) Found. Trends ML 16(4):494–591 · 팀 결과 figures/0007_objvol_v2.json, 11_업체방식_vs_3D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수거계획: 니하우 섬 해안 전체에서 나온 실제 산출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하와이 니하우 섬 항공 정사영상 칩 553장(2 cm/px)에 같은 파이프라인을 돌린 결과. 2D라 무게는 면적 × 두께 범위의 구간입니다.</a:t>
            </a:r>
            <a:endParaRPr lang="en-US" sz="1400" dirty="0"/>
          </a:p>
        </p:txBody>
      </p:sp>
      <p:pic>
        <p:nvPicPr>
          <p:cNvPr id="4" name="니하우 지도·수거계획" descr="/tmp/claude-0/-home-user-hsr1m/6022f0b4-b8f8-52b0-8810-837ebd6bfbe9/scratchpad/deck/img/fig_18_하와이_niihau_지도_수거계획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675120" cy="29443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7548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왼쪽: 섬 해안 물체 5,476개와 수거 경로 71.9 km. 오른쪽: 가장 밀집한 120×120 m 구간(423개), 점 색 = 재질.</a:t>
            </a:r>
            <a:endParaRPr lang="en-US" sz="900" dirty="0"/>
          </a:p>
        </p:txBody>
      </p:sp>
      <p:sp>
        <p:nvSpPr>
          <p:cNvPr id="6" name="kpi 탐지 물체"/>
          <p:cNvSpPr/>
          <p:nvPr/>
        </p:nvSpPr>
        <p:spPr>
          <a:xfrm>
            <a:off x="7498080" y="1783080"/>
            <a:ext cx="41422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699248" y="1856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탐지 물체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99248" y="20574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5,476</a:t>
            </a:r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 개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699248" y="24414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플라스틱 3,966 · 부표 477 · 페트병 439 · 어망 214</a:t>
            </a:r>
            <a:endParaRPr lang="en-US" sz="900" dirty="0"/>
          </a:p>
        </p:txBody>
      </p:sp>
      <p:sp>
        <p:nvSpPr>
          <p:cNvPr id="10" name="kpi 무게 예측구간"/>
          <p:cNvSpPr/>
          <p:nvPr/>
        </p:nvSpPr>
        <p:spPr>
          <a:xfrm>
            <a:off x="7498080" y="2788920"/>
            <a:ext cx="41422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699248" y="286207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무게 예측구간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699248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7.9–33.6</a:t>
            </a:r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 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699248" y="344728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추정 13.7 t · 업체 방식이면 69 kg</a:t>
            </a:r>
            <a:endParaRPr lang="en-US" sz="900" dirty="0"/>
          </a:p>
        </p:txBody>
      </p:sp>
      <p:sp>
        <p:nvSpPr>
          <p:cNvPr id="14" name="kpi 정거장 · 경로"/>
          <p:cNvSpPr/>
          <p:nvPr/>
        </p:nvSpPr>
        <p:spPr>
          <a:xfrm>
            <a:off x="7498080" y="3794760"/>
            <a:ext cx="414223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699248" y="386791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정거장 · 경로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699248" y="406908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331 · 71.9</a:t>
            </a:r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 km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699248" y="44531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정거장 반경 기반 클러스터, 2-opt</a:t>
            </a:r>
            <a:endParaRPr lang="en-US" sz="900" dirty="0"/>
          </a:p>
        </p:txBody>
      </p:sp>
      <p:sp>
        <p:nvSpPr>
          <p:cNvPr id="18" name="output 마대"/>
          <p:cNvSpPr/>
          <p:nvPr/>
        </p:nvSpPr>
        <p:spPr>
          <a:xfrm>
            <a:off x="548640" y="5120640"/>
            <a:ext cx="35661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31520" y="5166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마대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5376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1,082 장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56875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압축 후 부피 기준(무게 기준 687)</a:t>
            </a:r>
            <a:endParaRPr lang="en-US" sz="850" dirty="0"/>
          </a:p>
        </p:txBody>
      </p:sp>
      <p:sp>
        <p:nvSpPr>
          <p:cNvPr id="22" name="output 1톤 트럭"/>
          <p:cNvSpPr/>
          <p:nvPr/>
        </p:nvSpPr>
        <p:spPr>
          <a:xfrm>
            <a:off x="4297680" y="5120640"/>
            <a:ext cx="35661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480560" y="5166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1톤 트럭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480560" y="5376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37 대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480560" y="56875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부피 기준(무게 기준 14)</a:t>
            </a:r>
            <a:endParaRPr lang="en-US" sz="850" dirty="0"/>
          </a:p>
        </p:txBody>
      </p:sp>
      <p:sp>
        <p:nvSpPr>
          <p:cNvPr id="26" name="output 인력 구분"/>
          <p:cNvSpPr/>
          <p:nvPr/>
        </p:nvSpPr>
        <p:spPr>
          <a:xfrm>
            <a:off x="8046720" y="5120640"/>
            <a:ext cx="35661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229600" y="5166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인력 구분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0" y="5376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1인 5,294 · 2인 138 · 장비 44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0" y="56875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23 kg 규칙 · 묻힘 의심</a:t>
            </a:r>
            <a:endParaRPr lang="en-US" sz="850" dirty="0"/>
          </a:p>
        </p:txBody>
      </p:sp>
      <p:sp>
        <p:nvSpPr>
          <p:cNvPr id="30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자료: 하와이 항공 정사영상(Zenodo 8381113, CC-BY) · 팀 결과 figures/hawaii_niihau_ft_summary.json · 송도 0007 작업카드: 정거장 1, 0.83 kg(상한 1.67), 1인×2, 마대 1, 트럭 1, 경로 20 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수거 경로: 사람이 갈 수 있는 길로, 지자체 조건에 맞춰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정거장별 인력·마대·트럭을 계산한 뒤 집하장에서 출발하는 순회 경로(최근접 이웃 + 2-opt)를 냅니다. 접근로·로드뷰 반영은 설계 단계입니다.</a:t>
            </a:r>
            <a:endParaRPr lang="en-US" sz="1400" dirty="0"/>
          </a:p>
        </p:txBody>
      </p:sp>
      <p:sp>
        <p:nvSpPr>
          <p:cNvPr id="4" name="tag"/>
          <p:cNvSpPr/>
          <p:nvPr/>
        </p:nvSpPr>
        <p:spPr>
          <a:xfrm>
            <a:off x="10222992" y="128016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22992" y="1280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일부 설계 중</a:t>
            </a:r>
            <a:endParaRPr lang="en-US" sz="950" dirty="0"/>
          </a:p>
        </p:txBody>
      </p:sp>
      <p:sp>
        <p:nvSpPr>
          <p:cNvPr id="6" name="card 지자체 조건 입력"/>
          <p:cNvSpPr/>
          <p:nvPr/>
        </p:nvSpPr>
        <p:spPr>
          <a:xfrm>
            <a:off x="54864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8" name="icon FaCit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지자체 조건 입력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인원·차량(트럭 적재량)·작업 시간·마대 규격. 지자체마다 다르므로 설정값으로 둡니다.</a:t>
            </a:r>
            <a:endParaRPr lang="en-US" sz="1150" dirty="0"/>
          </a:p>
        </p:txBody>
      </p:sp>
      <p:sp>
        <p:nvSpPr>
          <p:cNvPr id="11" name="card 통행 가능 구역 마스킹"/>
          <p:cNvSpPr/>
          <p:nvPr/>
        </p:nvSpPr>
        <p:spPr>
          <a:xfrm>
            <a:off x="336042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2" name="icon circle"/>
          <p:cNvSpPr/>
          <p:nvPr/>
        </p:nvSpPr>
        <p:spPr>
          <a:xfrm>
            <a:off x="36347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3" name="icon FaWalki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176272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3474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통행 가능 구역 마스킹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363474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해안 접근로·로드뷰 기반 진입 지점. 해변은 차량 진입이 제한되므로 하역 지점을 따로 둡니다. (설계 중)</a:t>
            </a:r>
            <a:endParaRPr lang="en-US" sz="1150" dirty="0"/>
          </a:p>
        </p:txBody>
      </p:sp>
      <p:sp>
        <p:nvSpPr>
          <p:cNvPr id="16" name="card 정거장 순회 경로"/>
          <p:cNvSpPr/>
          <p:nvPr/>
        </p:nvSpPr>
        <p:spPr>
          <a:xfrm>
            <a:off x="617220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644652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8" name="icon FaRou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76272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4652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정거장 순회 경로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물체 위치·무게 구간·집하장을 넣어 정거장별 동선과 왕복 횟수를 계산합니다. 니하우 331 정거장·71.9 km. (구현)</a:t>
            </a:r>
            <a:endParaRPr lang="en-US" sz="1150" dirty="0"/>
          </a:p>
        </p:txBody>
      </p:sp>
      <p:sp>
        <p:nvSpPr>
          <p:cNvPr id="21" name="card 작업카드 · 대시보드"/>
          <p:cNvSpPr/>
          <p:nvPr/>
        </p:nvSpPr>
        <p:spPr>
          <a:xfrm>
            <a:off x="8983980" y="178308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92583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3" name="icon FaClipboardLi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460" y="2176272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5830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작업카드 · 대시보드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9258300" y="3209544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4"/>
                </a:solidFill>
              </a:rPr>
              <a:t>정거장별 HTML 카드(썸네일·위경도·추정/최대 kg·인력·휴대폰 길찾기). 현장 '못 찾음·수거 완료' 체크로 다음 비행을 보정합니다.</a:t>
            </a:r>
            <a:endParaRPr lang="en-US" sz="1150" dirty="0"/>
          </a:p>
        </p:txBody>
      </p:sp>
      <p:sp>
        <p:nvSpPr>
          <p:cNvPr id="26" name="card 왜 드론 단계와 분리하는가"/>
          <p:cNvSpPr/>
          <p:nvPr/>
        </p:nvSpPr>
        <p:spPr>
          <a:xfrm>
            <a:off x="548640" y="498348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822960" y="5239512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왜 드론 단계와 분리하는가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822960" y="5678424"/>
            <a:ext cx="10543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4"/>
                </a:solidFill>
              </a:rPr>
              <a:t>드론은 공중에서 '어디에 얼마나'를 재고, 수거 동선은 지상의 제약(접근로·적재·인원)을 받습니다. 두 마스킹이 다르므로 같은 지도 위에서 계층을 나눠 둡니다.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검증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상자 3개, 영상 3편, 공개 해안 데이터 2종. 결과가 없는 항목은 '진행 중', 가정은 '가정'이라고 썼습니다.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요약: 가설 · 설계 · 결과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완료 7건, 진행 중 3건. 수치는 모두 저장소의 로그·JSON에서 재현됩니다.</a:t>
            </a:r>
            <a:endParaRPr lang="en-US" sz="1400" dirty="0"/>
          </a:p>
        </p:txBody>
      </p:sp>
      <p:graphicFrame>
        <p:nvGraphicFramePr>
          <p:cNvPr id="21" name="validation summar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017520"/>
                <a:gridCol w="3017520"/>
                <a:gridCol w="3063240"/>
                <a:gridCol w="850392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실험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가설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설계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3C5D"/>
                          </a:solidFill>
                        </a:rPr>
                        <a:t>상태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E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A 부피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영상 3D로 잰 부피가 실측과 ±20% 안에 든다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크기 아는 상자 3개, 7 m 선회(0007)·2 m 왕복(0010)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+19% / +20% / −10%. 업체 방식은 1/112·1/180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B 위치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3D 자세로 계산한 위치가 GPS와 수 m 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0007·0010 실기체 + 합성 7개 시나리오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1.16 m · 8.07→0.51 m(축척 자동) · 합성 0.01~0.11 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C 탐지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운용 고도 GSD로 학습하면 현장 재현율이 오른다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문갑도 칩 48·하와이 420칩·튀니지 179장 교차평가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문갑도 0.28→0.72 · 하와이 0.24→0.69(미세조정)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D 재방문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애매한 후보만 재방문하면 짧은 추가 비행으로 재현율↑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문갑도 정사영상 가상비행 100×100 m, 라벨 7개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0.71→0.86, +697 m (25회 중 22회 기각)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E 야간 통과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통과 비행만으로 탐지·지도·3D 뼈대가 된다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0015 야간 10분, 4K 60 fps, 상자 ~28개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탐지 30개 · 3D 뼈대 25/25 · 부피는 선회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F 핫스팟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몰리고, 다시 쌓이고, 과거로 짠 경로가 통한다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하와이 2015 항공조사 · NOAA MDMAP 134곳 · 텍사스 33곳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상위 10% 칸 75% · 순위상관 0.88 · 61% vs 36%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G 해안 적용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같은 파이프라인이 다른 해안에서 수거계획을 낸다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니하우 섬 칩 553장, 10분 미세조정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5,476개 · 7.9~33.6 t · 마대 1,082 · 트럭 37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7A2F"/>
                          </a:solidFill>
                        </a:rPr>
                        <a:t>완료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무게 실측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부피 × 밀도 무게가 저울 무게와 맞는다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상자 3개 + 문갑도 실측 30개 저울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기준값 교체 전 (지금은 정답 부피 × 가정 밀도)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5A00"/>
                          </a:solidFill>
                        </a:rPr>
                        <a:t>진행 중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한국 핫스팟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국내 정점 시계열에서도 순위상관·커버율이 재현된다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국가 해안쓰레기 모니터링 정점(2008~) 앞/뒤 기간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자료 요청 단계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5A00"/>
                          </a:solidFill>
                        </a:rPr>
                        <a:t>진행 중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예측구간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종류별 밀도 분포로 포함확률 90% 구간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실측 쌍 30개 이상, split-conformal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0212E"/>
                          </a:solidFill>
                        </a:rPr>
                        <a:t>코드 완료, 데이터 대기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5A00"/>
                          </a:solidFill>
                        </a:rPr>
                        <a:t>진행 중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저장소: dohun415/aerodrone_hackathon (docs/파이프라인_결과정리.md, figures/*.json, hotspot/) · HSR2M/hsr1m (island_drone_sim, 삼각측량 패치, incheon_debris_sim)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정직한 한계와 대응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질문 받을 것을 먼저 적었습니다. 각각 어떻게 줄이는지까지.</a:t>
            </a:r>
            <a:endParaRPr lang="en-US" sz="1400" dirty="0"/>
          </a:p>
        </p:txBody>
      </p:sp>
      <p:sp>
        <p:nvSpPr>
          <p:cNvPr id="4" name="card 무게 실측이 아직 없다"/>
          <p:cNvSpPr/>
          <p:nvPr/>
        </p:nvSpPr>
        <p:spPr>
          <a:xfrm>
            <a:off x="54864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6" name="icon FaWeightHangi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무게 실측이 아직 없다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부피는 검증됐지만 무게 기준값은 '정답 부피 × 가정 밀도'입니다. 상자 3개 저울 실측(1분)과 문갑도 실측 30개로 밀도·구간을 교체합니다.</a:t>
            </a:r>
            <a:endParaRPr lang="en-US" sz="1200" dirty="0"/>
          </a:p>
        </p:txBody>
      </p:sp>
      <p:sp>
        <p:nvSpPr>
          <p:cNvPr id="9" name="card 절대 위치의 바닥은 GPS"/>
          <p:cNvSpPr/>
          <p:nvPr/>
        </p:nvSpPr>
        <p:spPr>
          <a:xfrm>
            <a:off x="336042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3474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1" name="icon FaMapMarkerAl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1762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절대 위치의 바닥은 GPS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드론 GPS가 2 m 밀리면 모든 광선이 같이 밀립니다(r95 ≈ 5 m). RTK, 좌표를 아는 기준 표식, 또는 정사영상↔위성(SkySat) 정합(인라이어 85%, 5~8 m)으로 보정합니다.</a:t>
            </a:r>
            <a:endParaRPr lang="en-US" sz="1200" dirty="0"/>
          </a:p>
        </p:txBody>
      </p:sp>
      <p:sp>
        <p:nvSpPr>
          <p:cNvPr id="14" name="card 7 m 선회의 윗면 편향"/>
          <p:cNvSpPr/>
          <p:nvPr/>
        </p:nvSpPr>
        <p:spPr>
          <a:xfrm>
            <a:off x="617220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4652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6" name="icon FaCamer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762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4652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 m 선회의 윗면 편향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4652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무늬 없는 상자 윗면이 1.5~3.5 cm 높게 복원되고 마스크가 그림자를 포함해 +13~28%. 3~4 m 선회 + 수직 1장 가이드로 줄이며, 3·5·7 m 통제 실험이 남았습니다.</a:t>
            </a:r>
            <a:endParaRPr lang="en-US" sz="1200" dirty="0"/>
          </a:p>
        </p:txBody>
      </p:sp>
      <p:sp>
        <p:nvSpPr>
          <p:cNvPr id="19" name="card 핫스팟·조류는 한국 미검증"/>
          <p:cNvSpPr/>
          <p:nvPr/>
        </p:nvSpPr>
        <p:spPr>
          <a:xfrm>
            <a:off x="8983980" y="1783080"/>
            <a:ext cx="2651760" cy="36576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258300" y="2039112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21" name="icon FaWat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460" y="217627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58300" y="2770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핫스팟·조류는 한국 미검증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9258300" y="320954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핫스팟 수치는 미국 공개 데이터, 조류는 조석 연속방정식 모델입니다. 국가 해안쓰레기 모니터링 정점 시계열과 KHOA·KOOS 실측 해류로 같은 절차를 돌립니다.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3DLabs와의 결합 제안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위성이 넓게 보고, 드론이 자세히 재고, 지자체가 배차합니다.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위성이 넓게 보고, 드론이 자세히 재고, 지자체가 배차한다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3DLabs의 위성 지상국·ARD 플랫폼 위에 드론 측정 계층을 얹어, 활용 분야(도시·산림·항만·수체변화)에 '해안쓰레기 수거계획'을 추가합니다.</a:t>
            </a:r>
            <a:endParaRPr lang="en-US" sz="1400" dirty="0"/>
          </a:p>
        </p:txBody>
      </p:sp>
      <p:sp>
        <p:nvSpPr>
          <p:cNvPr id="4" name="role 3DLabs · 위성 계층"/>
          <p:cNvSpPr/>
          <p:nvPr/>
        </p:nvSpPr>
        <p:spPr>
          <a:xfrm>
            <a:off x="548640" y="178308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6" name="icon FaSatelli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3DLabs · 위성 계층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위성 지상국 운영, 1:5,000 도엽 정사영상·ARD(Analysis Ready Data) 생산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광역 집적 패치 탐지와 시계열 변화 → 핫스팟 경로의 사전값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B2G 공급 채널(공공 활용 플랫폼)</a:t>
            </a:r>
            <a:endParaRPr lang="en-US" sz="1100" dirty="0"/>
          </a:p>
        </p:txBody>
      </p:sp>
      <p:sp>
        <p:nvSpPr>
          <p:cNvPr id="9" name="arrow"/>
          <p:cNvSpPr/>
          <p:nvPr/>
        </p:nvSpPr>
        <p:spPr>
          <a:xfrm>
            <a:off x="4133088" y="3063240"/>
            <a:ext cx="155448" cy="365760"/>
          </a:xfrm>
          <a:prstGeom prst="rightArrow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10" name="role 붕붕이 · 드론 계층"/>
          <p:cNvSpPr/>
          <p:nvPr/>
        </p:nvSpPr>
        <p:spPr>
          <a:xfrm>
            <a:off x="4297680" y="178308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4572000" y="2057400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12" name="icon Fa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9456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붕붕이 · 드론 계층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핫스팟 경로, 커버리지·재방문 비행, 탐지·3D 위치·SfM 부피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무게 예측구간과 23 kg·마대·트럭 경계 재방문 규칙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정거장별 작업카드(인력·마대·트럭·경로), 대시보드</a:t>
            </a:r>
            <a:endParaRPr lang="en-US" sz="1100" dirty="0"/>
          </a:p>
        </p:txBody>
      </p:sp>
      <p:sp>
        <p:nvSpPr>
          <p:cNvPr id="15" name="arrow"/>
          <p:cNvSpPr/>
          <p:nvPr/>
        </p:nvSpPr>
        <p:spPr>
          <a:xfrm>
            <a:off x="7882128" y="3063240"/>
            <a:ext cx="155448" cy="365760"/>
          </a:xfrm>
          <a:prstGeom prst="rightArrow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16" name="role 고객 · 지자체 계층"/>
          <p:cNvSpPr/>
          <p:nvPr/>
        </p:nvSpPr>
        <p:spPr>
          <a:xfrm>
            <a:off x="8046720" y="178308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8321040" y="2057400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pic>
        <p:nvPicPr>
          <p:cNvPr id="18" name="icon FaUs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94560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1040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고객 · 지자체 계층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시군 해양수산 부서: 예산·배차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수거 용역업체: 동선·인원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해양환경공단: 반복 모니터링 데이터(핫스팟 이력)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시장 신호</a:t>
            </a:r>
            <a:endParaRPr lang="en-US" sz="1150" dirty="0"/>
          </a:p>
        </p:txBody>
      </p:sp>
      <p:sp>
        <p:nvSpPr>
          <p:cNvPr id="22" name="signal 0"/>
          <p:cNvSpPr/>
          <p:nvPr/>
        </p:nvSpPr>
        <p:spPr>
          <a:xfrm>
            <a:off x="548640" y="5349240"/>
            <a:ext cx="3566160" cy="658368"/>
          </a:xfrm>
          <a:prstGeom prst="roundRect">
            <a:avLst>
              <a:gd name="adj" fmla="val 13889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13232" y="53949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전남도 2026년 해양쓰레기 저감 441억 원, AI·드론 관리 강화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713232" y="578815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뉴스핌 2026.03</a:t>
            </a:r>
            <a:endParaRPr lang="en-US" sz="800" dirty="0"/>
          </a:p>
        </p:txBody>
      </p:sp>
      <p:sp>
        <p:nvSpPr>
          <p:cNvPr id="25" name="signal 1"/>
          <p:cNvSpPr/>
          <p:nvPr/>
        </p:nvSpPr>
        <p:spPr>
          <a:xfrm>
            <a:off x="4297680" y="5349240"/>
            <a:ext cx="3566160" cy="658368"/>
          </a:xfrm>
          <a:prstGeom prst="roundRect">
            <a:avLst>
              <a:gd name="adj" fmla="val 13889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462272" y="53949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해양환경공단 8개 무역항 드론 모니터링, 드론 탐지+AI 판독+수상로봇 'KOEM-ARK' 현장 운용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462272" y="578815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이투데이 · 뉴스핌 2026.07</a:t>
            </a:r>
            <a:endParaRPr lang="en-US" sz="800" dirty="0"/>
          </a:p>
        </p:txBody>
      </p:sp>
      <p:sp>
        <p:nvSpPr>
          <p:cNvPr id="28" name="signal 2"/>
          <p:cNvSpPr/>
          <p:nvPr/>
        </p:nvSpPr>
        <p:spPr>
          <a:xfrm>
            <a:off x="8046720" y="5349240"/>
            <a:ext cx="3566160" cy="658368"/>
          </a:xfrm>
          <a:prstGeom prst="roundRect">
            <a:avLst>
              <a:gd name="adj" fmla="val 13889"/>
            </a:avLst>
          </a:prstGeom>
          <a:solidFill>
            <a:srgbClr val="FFD9C2"/>
          </a:solidFill>
          <a:ln w="12700">
            <a:solidFill>
              <a:srgbClr val="FFD9C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11312" y="53949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전국 해양폐기물 처리 예산 1,114억 원(2026), 5년 수거량 65.6만 t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211312" y="578815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해양수산부 2026.09</a:t>
            </a:r>
            <a:endParaRPr lang="en-US" sz="800" dirty="0"/>
          </a:p>
        </p:txBody>
      </p:sp>
      <p:sp>
        <p:nvSpPr>
          <p:cNvPr id="31" name="source"/>
          <p:cNvSpPr txBox="1"/>
          <p:nvPr/>
        </p:nvSpPr>
        <p:spPr>
          <a:xfrm>
            <a:off x="548640" y="605332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3DLabs 소개: 인하대 공간정보공학 스핀오프(2011), 위성 지상국·전처리·ARD·드론 영상처리(회사 소개) · 전남도 441억(뉴스핌 2026.03.22) · KOEM 드론·KOEM-ARK(이투데이, 뉴스핌 2026.07.07)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공동 실증 로드맵 (제안)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세 단계, 각 단계의 끝에 숫자로 확인할 수 있는 결과를 두었습니다.</a:t>
            </a:r>
            <a:endParaRPr lang="en-US" sz="1400" dirty="0"/>
          </a:p>
        </p:txBody>
      </p:sp>
      <p:sp>
        <p:nvSpPr>
          <p:cNvPr id="4" name="phase 1"/>
          <p:cNvSpPr/>
          <p:nvPr/>
        </p:nvSpPr>
        <p:spPr>
          <a:xfrm>
            <a:off x="548640" y="1783080"/>
            <a:ext cx="3566160" cy="4069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5" name="phase circle"/>
          <p:cNvSpPr/>
          <p:nvPr/>
        </p:nvSpPr>
        <p:spPr>
          <a:xfrm>
            <a:off x="822960" y="2057400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75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2026 4분기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데이터 보정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상자 3개 + 문갑도 실측 30개 저울 → 밀도·예측구간(포함확률 90%) 교체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국가 해안쓰레기 모니터링 정점 시계열로 핫스팟 순위상관·커버율 재현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위성 ARD 샘플 2~3개 해안으로 집적 사전값 vs 실제 패치 비교</a:t>
            </a:r>
            <a:endParaRPr lang="en-US" sz="1100" dirty="0"/>
          </a:p>
        </p:txBody>
      </p:sp>
      <p:sp>
        <p:nvSpPr>
          <p:cNvPr id="10" name="phase output"/>
          <p:cNvSpPr/>
          <p:nvPr/>
        </p:nvSpPr>
        <p:spPr>
          <a:xfrm>
            <a:off x="822960" y="4983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983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산출: 실측 기반 무게 구간, 한국 핫스팟 검증 보고</a:t>
            </a:r>
            <a:endParaRPr lang="en-US" sz="1000" dirty="0"/>
          </a:p>
        </p:txBody>
      </p:sp>
      <p:sp>
        <p:nvSpPr>
          <p:cNvPr id="12" name="phase 2"/>
          <p:cNvSpPr/>
          <p:nvPr/>
        </p:nvSpPr>
        <p:spPr>
          <a:xfrm>
            <a:off x="4297680" y="1783080"/>
            <a:ext cx="3566160" cy="4069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13" name="phase circle"/>
          <p:cNvSpPr/>
          <p:nvPr/>
        </p:nvSpPr>
        <p:spPr>
          <a:xfrm>
            <a:off x="4572000" y="2057400"/>
            <a:ext cx="566928" cy="566928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075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2027 상반기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지자체 시범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8803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시군 1곳(인천 옹진 또는 전남 도서) 해안 3구간, 2회 이상 반복 비행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실측 해류(KHOA·KOOS) 교체, RTK 또는 기준 표식 도입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비행 1회 → 작업카드 → 실제 수거량·마대·트럭과 대조</a:t>
            </a:r>
            <a:endParaRPr lang="en-US" sz="1100" dirty="0"/>
          </a:p>
        </p:txBody>
      </p:sp>
      <p:sp>
        <p:nvSpPr>
          <p:cNvPr id="18" name="phase output"/>
          <p:cNvSpPr/>
          <p:nvPr/>
        </p:nvSpPr>
        <p:spPr>
          <a:xfrm>
            <a:off x="4572000" y="4983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09160" y="4983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산출: 추정 vs 실제 수거량 오차, 마대·트럭 적중률</a:t>
            </a:r>
            <a:endParaRPr lang="en-US" sz="1000" dirty="0"/>
          </a:p>
        </p:txBody>
      </p:sp>
      <p:sp>
        <p:nvSpPr>
          <p:cNvPr id="20" name="phase 3"/>
          <p:cNvSpPr/>
          <p:nvPr/>
        </p:nvSpPr>
        <p:spPr>
          <a:xfrm>
            <a:off x="8046720" y="1783080"/>
            <a:ext cx="3566160" cy="4069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5D">
                <a:alpha val="10000"/>
              </a:srgbClr>
            </a:outerShdw>
          </a:effectLst>
        </p:spPr>
      </p:sp>
      <p:sp>
        <p:nvSpPr>
          <p:cNvPr id="21" name="phase circle"/>
          <p:cNvSpPr/>
          <p:nvPr/>
        </p:nvSpPr>
        <p:spPr>
          <a:xfrm>
            <a:off x="8321040" y="2057400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20756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2027 하반기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위성 결합 · 상용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8803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위성 변화 탐지로 비행 시점·구간 자동 추천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KOEM 2개월 모니터링과 연동한 반복 조사 상품(이력 갱신)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B2G 플랫폼 활용 분야에 '해안쓰레기' 추가</a:t>
            </a:r>
            <a:endParaRPr lang="en-US" sz="1100" dirty="0"/>
          </a:p>
        </p:txBody>
      </p:sp>
      <p:sp>
        <p:nvSpPr>
          <p:cNvPr id="26" name="phase output"/>
          <p:cNvSpPr/>
          <p:nvPr/>
        </p:nvSpPr>
        <p:spPr>
          <a:xfrm>
            <a:off x="8321040" y="4983480"/>
            <a:ext cx="3017520" cy="685800"/>
          </a:xfrm>
          <a:prstGeom prst="roundRect">
            <a:avLst>
              <a:gd name="adj" fmla="val 10667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4983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산출: 구독형 수거계획 서비스, 레퍼런스 1곳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함께 검증하고 싶은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070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세 가지를 요청드립니다. 모두 1단계(2026 4분기) 안에 결과를 숫자로 돌려드릴 수 있는 범위입니다.</a:t>
            </a:r>
            <a:endParaRPr lang="en-US" sz="1400" dirty="0"/>
          </a:p>
        </p:txBody>
      </p:sp>
      <p:sp>
        <p:nvSpPr>
          <p:cNvPr id="4" name="card 위성 ARD 샘플"/>
          <p:cNvSpPr/>
          <p:nvPr/>
        </p:nvSpPr>
        <p:spPr>
          <a:xfrm>
            <a:off x="548640" y="178308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822960" y="2039112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6" name="icon FaDatab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위성 ARD 샘플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954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대상 해안 2~3곳(인천·강화 도서 또는 전남 도서)의 정사영상·시계열. 집적 사전값과 실제 패치를 대조하고 핫스팟 경로의 입력으로 씁니다.</a:t>
            </a:r>
            <a:endParaRPr lang="en-US" sz="1200" dirty="0"/>
          </a:p>
        </p:txBody>
      </p:sp>
      <p:sp>
        <p:nvSpPr>
          <p:cNvPr id="9" name="card 시범 지자체 소개"/>
          <p:cNvSpPr/>
          <p:nvPr/>
        </p:nvSpPr>
        <p:spPr>
          <a:xfrm>
            <a:off x="4297680" y="178308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4572000" y="2039112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11" name="icon FaHandshak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762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시범 지자체 소개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0954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B2G 채널로 연결된 시군 1곳. 비행 1회로 작업카드를 내고 실제 수거량·마대·트럭과 대조합니다.</a:t>
            </a:r>
            <a:endParaRPr lang="en-US" sz="1200" dirty="0"/>
          </a:p>
        </p:txBody>
      </p:sp>
      <p:sp>
        <p:nvSpPr>
          <p:cNvPr id="14" name="card 데이터 연동 규격 협의"/>
          <p:cNvSpPr/>
          <p:nvPr/>
        </p:nvSpPr>
        <p:spPr>
          <a:xfrm>
            <a:off x="8046720" y="178308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24A6E"/>
          </a:solidFill>
          <a:ln w="12700">
            <a:solidFill>
              <a:srgbClr val="124A6E"/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8321040" y="2039112"/>
            <a:ext cx="566928" cy="566928"/>
          </a:xfrm>
          <a:prstGeom prst="ellipse">
            <a:avLst/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pic>
        <p:nvPicPr>
          <p:cNvPr id="16" name="icon FaLayerGro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7627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77063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데이터 연동 규격 협의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20954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ARD → 핫스팟 사전값 입력, 드론 결과(GeoJSON·CSV·작업카드) → 플랫폼 활용 분야 등록. 양방향 포맷을 먼저 맞춥니다.</a:t>
            </a:r>
            <a:endParaRPr lang="en-US" sz="1200" dirty="0"/>
          </a:p>
        </p:txBody>
      </p:sp>
      <p:sp>
        <p:nvSpPr>
          <p:cNvPr id="19" name="closing"/>
          <p:cNvSpPr/>
          <p:nvPr/>
        </p:nvSpPr>
        <p:spPr>
          <a:xfrm>
            <a:off x="548640" y="475488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F26B21"/>
          </a:solidFill>
          <a:ln w="12700">
            <a:solidFill>
              <a:srgbClr val="F26B2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754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추정이 틀리면 배차가 틀린다.  위성이 넓게 보고, 드론이 자세히 재면, 지자체는 맞게 배차할 수 있습니다.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5440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드론대장 붕붕이 · 저장소 dohun415/aerodrone_hackathon, HSR2M/hsr1m · 발표 사이트: 한 페이지 스크롤 버전 별도 제공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ngbungi Ocean">
  <a:themeElements>
    <a:clrScheme name="Bungbungi Ocean">
      <a:dk1>
        <a:srgbClr val="10212E"/>
      </a:dk1>
      <a:lt1>
        <a:srgbClr val="FFFFFF"/>
      </a:lt1>
      <a:dk2>
        <a:srgbClr val="0B3C5D"/>
      </a:dk2>
      <a:lt2>
        <a:srgbClr val="EEF3F6"/>
      </a:lt2>
      <a:accent1>
        <a:srgbClr val="0B3C5D"/>
      </a:accent1>
      <a:accent2>
        <a:srgbClr val="F26B21"/>
      </a:accent2>
      <a:accent3>
        <a:srgbClr val="1C7293"/>
      </a:accent3>
      <a:accent4>
        <a:srgbClr val="6F8794"/>
      </a:accent4>
      <a:accent5>
        <a:srgbClr val="D5DEE4"/>
      </a:accent5>
      <a:accent6>
        <a:srgbClr val="FFD9C2"/>
      </a:accent6>
      <a:hlink>
        <a:srgbClr val="1C7293"/>
      </a:hlink>
      <a:folHlink>
        <a:srgbClr val="6F8794"/>
      </a:folHlink>
    </a:clrScheme>
    <a:fontScheme name="Bungbungi Ocea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추정이 틀리면 배차가 틀린다 — 드론 기반 해안쓰레기 측정·수거계획 플랫폼</dc:title>
  <dc:subject>PptxGenJS Presentation</dc:subject>
  <dc:creator>드론대장 붕붕이</dc:creator>
  <cp:lastModifiedBy>드론대장 붕붕이</cp:lastModifiedBy>
  <cp:revision>1</cp:revision>
  <dcterms:created xsi:type="dcterms:W3CDTF">2026-10-01T22:53:29Z</dcterms:created>
  <dcterms:modified xsi:type="dcterms:W3CDTF">2026-10-01T22:53:29Z</dcterms:modified>
</cp:coreProperties>
</file>