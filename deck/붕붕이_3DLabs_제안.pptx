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1c973852-c7d8-e9d3-4278-9210fe1ae565}">
          <p14:sldIdLst>
            <p14:sldId id="256"/>
            <p14:sldId id="257"/>
          </p14:sldIdLst>
        </p14:section>
        <p14:section name="01 현황과 문제" id="{bb1bc4e7-5516-aa68-1e54-d9054baa307e}">
          <p14:sldIdLst>
            <p14:sldId id="258"/>
            <p14:sldId id="259"/>
            <p14:sldId id="260"/>
            <p14:sldId id="261"/>
            <p14:sldId id="262"/>
            <p14:sldId id="263"/>
          </p14:sldIdLst>
        </p14:section>
        <p14:section name="02 솔루션" id="{0d25b275-946f-6985-1a57-2dad34d207e4}">
          <p14:sldIdLst>
            <p14:sldId id="264"/>
            <p14:sldId id="265"/>
            <p14:sldId id="266"/>
            <p14:sldId id="267"/>
            <p14:sldId id="268"/>
            <p14:sldId id="269"/>
            <p14:sldId id="270"/>
            <p14:sldId id="271"/>
            <p14:sldId id="272"/>
            <p14:sldId id="273"/>
            <p14:sldId id="274"/>
          </p14:sldIdLst>
        </p14:section>
        <p14:section name="03 검증" id="{e98e48b4-a422-593f-d265-ea9c80506859}">
          <p14:sldIdLst>
            <p14:sldId id="275"/>
            <p14:sldId id="276"/>
            <p14:sldId id="277"/>
          </p14:sldIdLst>
        </p14:section>
        <p14:section name="04 제안" id="{b069b2f6-881a-a9f4-aee8-0f7b80644d54}">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수거량(t)</c:v>
                </c:pt>
              </c:strCache>
            </c:strRef>
          </c:tx>
          <c:spPr>
            <a:solidFill>
              <a:srgbClr val="0B3C5D"/>
            </a:solidFill>
            <a:effectLst/>
          </c:spPr>
          <c:invertIfNegative val="0"/>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120736</c:v>
                </c:pt>
                <c:pt idx="1">
                  <c:v>126035</c:v>
                </c:pt>
                <c:pt idx="2">
                  <c:v>131931</c:v>
                </c:pt>
                <c:pt idx="3">
                  <c:v>132686</c:v>
                </c:pt>
                <c:pt idx="4">
                  <c:v>144615</c:v>
                </c:pt>
              </c:numCache>
            </c:numRef>
          </c:val>
        </c:ser>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DDE3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수거량(t)</c:v>
                </c:pt>
              </c:strCache>
            </c:strRef>
          </c:tx>
          <c:spPr>
            <a:solidFill>
              <a:srgbClr val="0B3C5D"/>
            </a:solidFill>
            <a:effectLst/>
          </c:spPr>
          <c:invertIfNegative val="0"/>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해안쓰레기</c:v>
                  </c:pt>
                  <c:pt idx="1">
                    <c:v>침적쓰레기</c:v>
                  </c:pt>
                  <c:pt idx="2">
                    <c:v>부유쓰레기</c:v>
                  </c:pt>
                </c:lvl>
              </c:multiLvlStrCache>
            </c:multiLvlStrRef>
          </c:cat>
          <c:val>
            <c:numRef>
              <c:f>Sheet1!$B$2:$B$4</c:f>
              <c:numCache>
                <c:formatCode>General</c:formatCode>
                <c:ptCount val="3"/>
                <c:pt idx="0">
                  <c:v>499934</c:v>
                </c:pt>
                <c:pt idx="1">
                  <c:v>119521</c:v>
                </c:pt>
                <c:pt idx="2">
                  <c:v>36548</c:v>
                </c:pt>
              </c:numCache>
            </c:numRef>
          </c:val>
        </c:ser>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600000"/>
          <c:min val="0"/>
        </c:scaling>
        <c:delete val="0"/>
        <c:axPos val="b"/>
        <c:majorGridlines>
          <c:spPr>
            <a:ln w="6350" cap="flat">
              <a:solidFill>
                <a:srgbClr val="DDE3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재현율</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Sheet1!$A$2:$A$3</c:f>
              <c:multiLvlStrCache>
                <c:ptCount val="2"/>
                <c:lvl>
                  <c:pt idx="0">
                    <c:v>커버리지만</c:v>
                  </c:pt>
                  <c:pt idx="1">
                    <c:v>커버리지 + 재방문</c:v>
                  </c:pt>
                </c:lvl>
              </c:multiLvlStrCache>
            </c:multiLvlStrRef>
          </c:cat>
          <c:val>
            <c:numRef>
              <c:f>Sheet1!$B$2:$B$3</c:f>
              <c:numCache>
                <c:formatCode>General</c:formatCode>
                <c:ptCount val="2"/>
                <c:pt idx="0">
                  <c:v>0.71</c:v>
                </c:pt>
                <c:pt idx="1">
                  <c:v>0.86</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 Hub 단일 모델</c:v>
                </c:pt>
              </c:strCache>
            </c:strRef>
          </c:tx>
          <c:spPr>
            <a:solidFill>
              <a:srgbClr val="6F8794"/>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문갑도 칩 48</c:v>
                  </c:pt>
                  <c:pt idx="1">
                    <c:v>튀니지 179장</c:v>
                  </c:pt>
                  <c:pt idx="2">
                    <c:v>하와이 420칩</c:v>
                  </c:pt>
                </c:lvl>
              </c:multiLvlStrCache>
            </c:multiLvlStrRef>
          </c:cat>
          <c:val>
            <c:numRef>
              <c:f>Sheet1!$B$2:$B$4</c:f>
              <c:numCache>
                <c:formatCode>General</c:formatCode>
                <c:ptCount val="3"/>
                <c:pt idx="0">
                  <c:v>0.74</c:v>
                </c:pt>
                <c:pt idx="1">
                  <c:v>0.14</c:v>
                </c:pt>
                <c:pt idx="2">
                  <c:v>0.1</c:v>
                </c:pt>
              </c:numCache>
            </c:numRef>
          </c:val>
        </c:ser>
        <c:ser>
          <c:idx val="1"/>
          <c:order val="1"/>
          <c:tx>
            <c:strRef>
              <c:f>Sheet1!$C$1</c:f>
              <c:strCache>
                <c:ptCount val="1"/>
                <c:pt idx="0">
                  <c:v>다중 현장 통합 모델</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문갑도 칩 48</c:v>
                  </c:pt>
                  <c:pt idx="1">
                    <c:v>튀니지 179장</c:v>
                  </c:pt>
                  <c:pt idx="2">
                    <c:v>하와이 420칩</c:v>
                  </c:pt>
                </c:lvl>
              </c:multiLvlStrCache>
            </c:multiLvlStrRef>
          </c:cat>
          <c:val>
            <c:numRef>
              <c:f>Sheet1!$C$2:$C$4</c:f>
              <c:numCache>
                <c:formatCode>General</c:formatCode>
                <c:ptCount val="3"/>
                <c:pt idx="0">
                  <c:v>0.53</c:v>
                </c:pt>
                <c:pt idx="1">
                  <c:v>0.52</c:v>
                </c:pt>
                <c:pt idx="2">
                  <c:v>0.36</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6F879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부피 오차(%)</c:v>
                </c:pt>
              </c:strCache>
            </c:strRef>
          </c:tx>
          <c:spPr>
            <a:solidFill>
              <a:srgbClr val="0B3C5D"/>
            </a:solidFill>
            <a:effectLst/>
          </c:spPr>
          <c:invertIfNegative val="0"/>
          <c:dLbls>
            <c:numFmt formatCode="+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0007 작은 상자 (7 m 선회)</c:v>
                  </c:pt>
                  <c:pt idx="1">
                    <c:v>0007 큰 상자 (7 m 선회)</c:v>
                  </c:pt>
                  <c:pt idx="2">
                    <c:v>0010 키 큰 상자 (2 m 왕복)</c:v>
                  </c:pt>
                </c:lvl>
              </c:multiLvlStrCache>
            </c:multiLvlStrRef>
          </c:cat>
          <c:val>
            <c:numRef>
              <c:f>Sheet1!$B$2:$B$4</c:f>
              <c:numCache>
                <c:formatCode>General</c:formatCode>
                <c:ptCount val="3"/>
                <c:pt idx="0">
                  <c:v>19</c:v>
                </c:pt>
                <c:pt idx="1">
                  <c:v>20</c:v>
                </c:pt>
                <c:pt idx="2">
                  <c:v>-10</c:v>
                </c:pt>
              </c:numCache>
            </c:numRef>
          </c:val>
        </c:ser>
        <c:dLbls>
          <c:numFmt formatCode="+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30"/>
          <c:min val="-30"/>
        </c:scaling>
        <c:delete val="0"/>
        <c:axPos val="l"/>
        <c:majorGridlines>
          <c:spPr>
            <a:ln w="6350" cap="flat">
              <a:solidFill>
                <a:srgbClr val="DDE3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한 문장: 수거계획의 입력(무게·위치)이 지금은 수십~수백 배 틀리고, 우리는 그 입력을 3D 부피와 예측구간으로 제공한다.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4블록으로 전체 흐름. 각 블록은 뒤에서 한 장 이상으로 풀린다.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수거량 증가는 문제가 커지는 신호이자 시장 신호. 2025년 수거량이 연간 발생량과 같아져 현존량은 제자리.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작은 지자체일수록 '미리 재는 것'이 예산 그 자체. 수거 전 측정의 가치를 돈으로 환산하는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사례 한 장. 2023년 거제 437→272 t 수치는 원문 확인이 안 돼 뺐다. 2026년 8월 경남 수치와 2011년 거제 관광손실(논문)만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눈의 공통 결함: 무게를 못 본다. 위성은 3DLabs의 강점이므로 '넓게 보는 역할'로 존중하며 한계를 짚는다.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업체 데이터로 문제를 숫자로 고정. 101 kg도 가정 밀도 계산값이라 저울 실측이 로드맵 1단계. 결론: 높이가 없으면 무게가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7단계 파이프라인. 어디를 날지는 위성이, 무엇이 얼마나 무거운지는 드론 3D가 정한다. 자동비행은 제품 전제에서 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그 거리에서 찍나'에 대한 답. 탐지 권고 GSD와 3D 복원 조건을 동시에 만족하는 고도 두 단계. 숫자는 4K 24 mm 기준 계산값이며 실제 기체 스펙으로 확정 예정.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핫스팟 우선의 세 근거(몰린다·다시 쌓인다·과거로 짠 경로가 통한다)와 드론 규모 시연. 모두 미국 공개 데이터이며 한국 검증은 로드맵 1단계.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자원으로 2배'. 피할 표현: '그쪽만 날린다'(선택 안 된 70%는 관측 없음), '확률이 높다'(무작위 대비 2배 농축일 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층 규칙: 광역(조석·해류 통계)이 어느 섬·어느 면, 국지(위성 형상)가 그 면 안의 어느 200 m. 피할 표현: '주기적으로 생긴다'(반복을 직접 본 적 없음).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자동비행 아님을 분명히. 재방문은 신뢰도 기반(시뮬)이며 무게 경계 기반 2차 선회(설계)와는 다른 규칙.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단일 통합 모델 노선(10-02 결정). 현장별 엇갈림을 숨기지 않는다. 위치는 1장의 50 m가 GPS 자체 수준(1 m대)으로.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부피→무게→구간. 무게 실측은 아직 없어 기준값이 '정답 부피 × 가정 밀도'임을 질문 받으면 솔직히: 저울 실측이 로드맵 1단계.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제품 출력의 실제 모습. 2D만으로도 계획이 나오지만 구간 폭이 4배(7.9~33.6 t)라 '그래서 3D가 필요하다'로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plan.py·report.py는 구현됨. 접근로 마스킹과 팀 대시보드 연결은 설계 단계로 정직하게 표시.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표로 신뢰성. 결과 없는 항목을 숨기지 않는 것이 이 장의 메시지.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한계를 먼저 말하면 질문이 줄어든다. 각 항목에 대응책이 붙어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상대의 강점(위성·ARD·B2G 채널)을 앞에 두고 우리를 계층으로 끼운다. 시장 신호 세 개는 모두 2026년.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일정은 제안이며 상대의 위성 ARD 제공 시점에 맞춰 조정.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3개를 명확히. 마지막 문장은 표지 문장의 반복.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65836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794760"/>
            <a:ext cx="6400800" cy="128016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1051560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4023360"/>
            <a:ext cx="10058400" cy="109728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
        <p:nvSpPr>
          <p:cNvPr id="4" name="Text 0"/>
          <p:cNvSpPr/>
          <p:nvPr/>
        </p:nvSpPr>
        <p:spPr>
          <a:xfrm>
            <a:off x="0" y="0"/>
            <a:ext cx="9144000" cy="0"/>
          </a:xfrm>
          <a:prstGeom prst="rect">
            <a:avLst/>
          </a:prstGeom>
          <a:noFill/>
          <a:ln/>
        </p:spPr>
        <p:txBody>
          <a:bodyPr wrap="square" rtlCol="0" anchor="ctr"/>
          <a:lstStyle/>
          <a:p>
            <a:pPr indent="0" marL="0">
              <a:buNone/>
            </a:pP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LT2">
    <p:bg>
      <p:bgPr>
        <a:solidFill>
          <a:srgbClr val="EEF3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4.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6-1.jp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7-1.jp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5.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6.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교동도 집적 예상 지도" descr="/tmp/claude-0/-home-user-hsr1m/6022f0b4-b8f8-52b0-8810-837ebd6bfbe9/scratchpad/deck/img/hotspot_map_gyodong.jpg">    </p:cNvPr>
          <p:cNvPicPr>
            <a:picLocks noChangeAspect="1"/>
          </p:cNvPicPr>
          <p:nvPr/>
        </p:nvPicPr>
        <p:blipFill>
          <a:blip r:embed="rId1"/>
          <a:srcRect l="0" r="0" t="0" b="0"/>
          <a:stretch/>
        </p:blipFill>
        <p:spPr>
          <a:xfrm>
            <a:off x="7406640" y="0"/>
            <a:ext cx="4785055" cy="6858000"/>
          </a:xfrm>
          <a:prstGeom prst="rect">
            <a:avLst/>
          </a:prstGeom>
        </p:spPr>
      </p:pic>
      <p:sp>
        <p:nvSpPr>
          <p:cNvPr id="3" name="image tint"/>
          <p:cNvSpPr/>
          <p:nvPr/>
        </p:nvSpPr>
        <p:spPr>
          <a:xfrm>
            <a:off x="7406640" y="0"/>
            <a:ext cx="4785055" cy="6858000"/>
          </a:xfrm>
          <a:prstGeom prst="rect">
            <a:avLst/>
          </a:prstGeom>
          <a:solidFill>
            <a:srgbClr val="0B3C5D">
              <a:alpha val="65000"/>
            </a:srgbClr>
          </a:solidFill>
          <a:ln w="12700">
            <a:solidFill>
              <a:srgbClr val="0B3C5D">
                <a:alpha val="0"/>
              </a:srgbClr>
            </a:solidFill>
            <a:prstDash val="solid"/>
          </a:ln>
        </p:spPr>
      </p:sp>
      <p:sp>
        <p:nvSpPr>
          <p:cNvPr id="4" name="Text 1"/>
          <p:cNvSpPr txBox="1"/>
          <p:nvPr/>
        </p:nvSpPr>
        <p:spPr>
          <a:xfrm>
            <a:off x="640080" y="1097280"/>
            <a:ext cx="6583680" cy="365760"/>
          </a:xfrm>
          <a:prstGeom prst="rect">
            <a:avLst/>
          </a:prstGeom>
          <a:noFill/>
          <a:ln/>
        </p:spPr>
        <p:txBody>
          <a:bodyPr wrap="square" lIns="0" tIns="0" rIns="0" bIns="0" rtlCol="0" anchor="ctr"/>
          <a:lstStyle/>
          <a:p>
            <a:pPr indent="0" marL="0">
              <a:buNone/>
            </a:pPr>
            <a:r>
              <a:rPr lang="en-US" sz="1300" b="1" spc="100" kern="0" dirty="0">
                <a:solidFill>
                  <a:schemeClr val="accent2"/>
                </a:solidFill>
              </a:rPr>
              <a:t>드론 기반 해안쓰레기 측정 · 수거계획 플랫폼 제안</a:t>
            </a:r>
            <a:endParaRPr lang="en-US" sz="1300" dirty="0"/>
          </a:p>
        </p:txBody>
      </p:sp>
      <p:sp>
        <p:nvSpPr>
          <p:cNvPr id="5" name="Text 0"/>
          <p:cNvSpPr/>
          <p:nvPr>
            <p:ph idx="100" type="title" hasCustomPrompt="1"/>
          </p:nvPr>
        </p:nvSpPr>
        <p:spPr>
          <a:xfrm>
            <a:off x="640080" y="1920240"/>
            <a:ext cx="6583680" cy="1737360"/>
          </a:xfrm>
          <a:prstGeom prst="rect">
            <a:avLst/>
          </a:prstGeom>
          <a:noFill/>
          <a:ln/>
        </p:spPr>
        <p:txBody>
          <a:bodyPr wrap="square" lIns="0" tIns="0" rIns="0" bIns="0" rtlCol="0" anchor="b"/>
          <a:lstStyle/>
          <a:p>
            <a:pPr algn="l" indent="0" marL="0">
              <a:buNone/>
            </a:pPr>
            <a:r>
              <a:rPr lang="en-US" sz="4000" b="1" dirty="0">
                <a:solidFill>
                  <a:schemeClr val="bg1"/>
                </a:solidFill>
              </a:rPr>
              <a:t>추정이 틀리면</a:t>
            </a:r>
            <a:endParaRPr lang="en-US" sz="4000" dirty="0"/>
          </a:p>
          <a:p>
            <a:pPr algn="l" indent="0" marL="0">
              <a:buNone/>
            </a:pPr>
            <a:r>
              <a:rPr lang="en-US" sz="4000" b="1" dirty="0">
                <a:solidFill>
                  <a:schemeClr val="bg1"/>
                </a:solidFill>
              </a:rPr>
              <a:t>배차가 틀린다</a:t>
            </a:r>
            <a:endParaRPr lang="en-US" sz="4000" dirty="0"/>
          </a:p>
        </p:txBody>
      </p:sp>
      <p:sp>
        <p:nvSpPr>
          <p:cNvPr id="6" name="Text 0"/>
          <p:cNvSpPr/>
          <p:nvPr>
            <p:ph idx="101" type="body" hasCustomPrompt="1"/>
          </p:nvPr>
        </p:nvSpPr>
        <p:spPr>
          <a:xfrm>
            <a:off x="640080" y="3794760"/>
            <a:ext cx="6400800" cy="1280160"/>
          </a:xfrm>
          <a:prstGeom prst="rect">
            <a:avLst/>
          </a:prstGeom>
          <a:noFill/>
          <a:ln/>
        </p:spPr>
        <p:txBody>
          <a:bodyPr wrap="square" lIns="0" tIns="0" rIns="0" bIns="0" rtlCol="0" anchor="t"/>
          <a:lstStyle/>
          <a:p>
            <a:pPr algn="l" indent="0" marL="0">
              <a:buNone/>
            </a:pPr>
            <a:r>
              <a:rPr lang="en-US" sz="1600" dirty="0">
                <a:solidFill>
                  <a:schemeClr val="accent5"/>
                </a:solidFill>
              </a:rPr>
              <a:t>위성 형상과 조석으로 어디를 날지 고르고, 드론 영상 하나로 3D 부피와 무게 구간을 내고,</a:t>
            </a:r>
            <a:endParaRPr lang="en-US" sz="1600" dirty="0"/>
          </a:p>
          <a:p>
            <a:pPr algn="l" indent="0" marL="0">
              <a:buNone/>
            </a:pPr>
            <a:r>
              <a:rPr lang="en-US" sz="1600" dirty="0">
                <a:solidFill>
                  <a:schemeClr val="accent5"/>
                </a:solidFill>
              </a:rPr>
              <a:t>수거계획을 바꾸는 물체만 다시 날아 마대·트럭·인원을 확정합니다.</a:t>
            </a:r>
            <a:endParaRPr lang="en-US" sz="1600" dirty="0"/>
          </a:p>
        </p:txBody>
      </p:sp>
      <p:sp>
        <p:nvSpPr>
          <p:cNvPr id="7" name="Text 4"/>
          <p:cNvSpPr txBox="1"/>
          <p:nvPr/>
        </p:nvSpPr>
        <p:spPr>
          <a:xfrm>
            <a:off x="640080" y="5943600"/>
            <a:ext cx="6583680" cy="365760"/>
          </a:xfrm>
          <a:prstGeom prst="rect">
            <a:avLst/>
          </a:prstGeom>
          <a:noFill/>
          <a:ln/>
        </p:spPr>
        <p:txBody>
          <a:bodyPr wrap="square" lIns="0" tIns="0" rIns="0" bIns="0" rtlCol="0" anchor="ctr"/>
          <a:lstStyle/>
          <a:p>
            <a:pPr indent="0" marL="0">
              <a:buNone/>
            </a:pPr>
            <a:r>
              <a:rPr lang="en-US" sz="1100" dirty="0">
                <a:solidFill>
                  <a:schemeClr val="accent5"/>
                </a:solidFill>
              </a:rPr>
              <a:t>드론대장 붕붕이  ·  3DLabs 제안  ·  2026. 10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한 장 요약</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문제 → 해법 → 검증 → 제안. 새로 발명한 알고리즘은 없고, 검증된 방법을 수거계획 하나로 이었습니다.</a:t>
            </a:r>
            <a:endParaRPr lang="en-US" sz="1400" dirty="0"/>
          </a:p>
        </p:txBody>
      </p:sp>
      <p:sp>
        <p:nvSpPr>
          <p:cNvPr id="4" name="card 문제: 추정이 곧 예산이다"/>
          <p:cNvSpPr/>
          <p:nvPr/>
        </p:nvSpPr>
        <p:spPr>
          <a:xfrm>
            <a:off x="54864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ExclamationTriangl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2103120" cy="384048"/>
          </a:xfrm>
          <a:prstGeom prst="rect">
            <a:avLst/>
          </a:prstGeom>
          <a:noFill/>
          <a:ln/>
        </p:spPr>
        <p:txBody>
          <a:bodyPr wrap="square" lIns="0" tIns="0" rIns="0" bIns="0" rtlCol="0" anchor="t"/>
          <a:lstStyle/>
          <a:p>
            <a:pPr indent="0" marL="0">
              <a:buNone/>
            </a:pPr>
            <a:r>
              <a:rPr lang="en-US" sz="1500" b="1" dirty="0">
                <a:solidFill>
                  <a:schemeClr val="tx1"/>
                </a:solidFill>
              </a:rPr>
              <a:t>문제: 추정이 곧 예산이다</a:t>
            </a:r>
            <a:endParaRPr lang="en-US" sz="1500" dirty="0"/>
          </a:p>
        </p:txBody>
      </p:sp>
      <p:sp>
        <p:nvSpPr>
          <p:cNvPr id="8" name="Text 5"/>
          <p:cNvSpPr txBox="1"/>
          <p:nvPr/>
        </p:nvSpPr>
        <p:spPr>
          <a:xfrm>
            <a:off x="822960" y="3209544"/>
            <a:ext cx="21031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해양쓰레기 수거량은 5년간 19.8% 늘었고 90%를 지자체가 치웁니다. 업체 라벨 42개의 기록 무게는 합계 1.3 kg, 3D 부피로 다시 재면 101 kg(가정 밀도). 탐지 위치는 50 m씩 빗나갑니다.</a:t>
            </a:r>
            <a:endParaRPr lang="en-US" sz="1250" dirty="0"/>
          </a:p>
        </p:txBody>
      </p:sp>
      <p:sp>
        <p:nvSpPr>
          <p:cNvPr id="9" name="card 해법: 비행 한 번 = 수거계획서 한 부"/>
          <p:cNvSpPr/>
          <p:nvPr/>
        </p:nvSpPr>
        <p:spPr>
          <a:xfrm>
            <a:off x="336042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3634740" y="2039112"/>
            <a:ext cx="566928" cy="566928"/>
          </a:xfrm>
          <a:prstGeom prst="ellipse">
            <a:avLst/>
          </a:prstGeom>
          <a:solidFill>
            <a:srgbClr val="0B3C5D"/>
          </a:solidFill>
          <a:ln w="12700">
            <a:solidFill>
              <a:srgbClr val="0B3C5D"/>
            </a:solidFill>
            <a:prstDash val="solid"/>
          </a:ln>
        </p:spPr>
      </p:sp>
      <p:pic>
        <p:nvPicPr>
          <p:cNvPr id="11" name="icon FaRoute" descr="preencoded.png">    </p:cNvPr>
          <p:cNvPicPr>
            <a:picLocks noChangeAspect="1"/>
          </p:cNvPicPr>
          <p:nvPr/>
        </p:nvPicPr>
        <p:blipFill>
          <a:blip r:embed="rId2"/>
          <a:stretch>
            <a:fillRect/>
          </a:stretch>
        </p:blipFill>
        <p:spPr>
          <a:xfrm>
            <a:off x="3771900" y="2176272"/>
            <a:ext cx="292608" cy="292608"/>
          </a:xfrm>
          <a:prstGeom prst="rect">
            <a:avLst/>
          </a:prstGeom>
        </p:spPr>
      </p:pic>
      <p:sp>
        <p:nvSpPr>
          <p:cNvPr id="12" name="Text 8"/>
          <p:cNvSpPr txBox="1"/>
          <p:nvPr/>
        </p:nvSpPr>
        <p:spPr>
          <a:xfrm>
            <a:off x="3634740" y="2770632"/>
            <a:ext cx="2103120" cy="384048"/>
          </a:xfrm>
          <a:prstGeom prst="rect">
            <a:avLst/>
          </a:prstGeom>
          <a:noFill/>
          <a:ln/>
        </p:spPr>
        <p:txBody>
          <a:bodyPr wrap="square" lIns="0" tIns="0" rIns="0" bIns="0" rtlCol="0" anchor="t"/>
          <a:lstStyle/>
          <a:p>
            <a:pPr indent="0" marL="0">
              <a:buNone/>
            </a:pPr>
            <a:r>
              <a:rPr lang="en-US" sz="1500" b="1" dirty="0">
                <a:solidFill>
                  <a:schemeClr val="tx1"/>
                </a:solidFill>
              </a:rPr>
              <a:t>해법: 비행 한 번 = 수거계획서 한 부</a:t>
            </a:r>
            <a:endParaRPr lang="en-US" sz="1500" dirty="0"/>
          </a:p>
        </p:txBody>
      </p:sp>
      <p:sp>
        <p:nvSpPr>
          <p:cNvPr id="13" name="Text 9"/>
          <p:cNvSpPr txBox="1"/>
          <p:nvPr/>
        </p:nvSpPr>
        <p:spPr>
          <a:xfrm>
            <a:off x="3634740" y="3209544"/>
            <a:ext cx="21031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위성 형상 점수·조석 모델로 어디를 날지 고르고(상위 30% 구간에 쓰레기 절반 이상) → 조종자 비행(KML) → 탐지 → 3D 위치 → SfM 부피 × 겉보기밀도 → 무게 구간 → 마대·트럭·인원·경로 작업카드.</a:t>
            </a:r>
            <a:endParaRPr lang="en-US" sz="1250" dirty="0"/>
          </a:p>
        </p:txBody>
      </p:sp>
      <p:sp>
        <p:nvSpPr>
          <p:cNvPr id="14" name="card 검증: 상자 3개, 영상 3편, 해안 3곳"/>
          <p:cNvSpPr/>
          <p:nvPr/>
        </p:nvSpPr>
        <p:spPr>
          <a:xfrm>
            <a:off x="617220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6446520" y="2039112"/>
            <a:ext cx="566928" cy="566928"/>
          </a:xfrm>
          <a:prstGeom prst="ellipse">
            <a:avLst/>
          </a:prstGeom>
          <a:solidFill>
            <a:srgbClr val="0B3C5D"/>
          </a:solidFill>
          <a:ln w="12700">
            <a:solidFill>
              <a:srgbClr val="0B3C5D"/>
            </a:solidFill>
            <a:prstDash val="solid"/>
          </a:ln>
        </p:spPr>
      </p:sp>
      <p:pic>
        <p:nvPicPr>
          <p:cNvPr id="16" name="icon FaFlask" descr="preencoded.png">    </p:cNvPr>
          <p:cNvPicPr>
            <a:picLocks noChangeAspect="1"/>
          </p:cNvPicPr>
          <p:nvPr/>
        </p:nvPicPr>
        <p:blipFill>
          <a:blip r:embed="rId3"/>
          <a:stretch>
            <a:fillRect/>
          </a:stretch>
        </p:blipFill>
        <p:spPr>
          <a:xfrm>
            <a:off x="6583680" y="2176272"/>
            <a:ext cx="292608" cy="292608"/>
          </a:xfrm>
          <a:prstGeom prst="rect">
            <a:avLst/>
          </a:prstGeom>
        </p:spPr>
      </p:pic>
      <p:sp>
        <p:nvSpPr>
          <p:cNvPr id="17" name="Text 12"/>
          <p:cNvSpPr txBox="1"/>
          <p:nvPr/>
        </p:nvSpPr>
        <p:spPr>
          <a:xfrm>
            <a:off x="6446520" y="2770632"/>
            <a:ext cx="2103120" cy="384048"/>
          </a:xfrm>
          <a:prstGeom prst="rect">
            <a:avLst/>
          </a:prstGeom>
          <a:noFill/>
          <a:ln/>
        </p:spPr>
        <p:txBody>
          <a:bodyPr wrap="square" lIns="0" tIns="0" rIns="0" bIns="0" rtlCol="0" anchor="t"/>
          <a:lstStyle/>
          <a:p>
            <a:pPr indent="0" marL="0">
              <a:buNone/>
            </a:pPr>
            <a:r>
              <a:rPr lang="en-US" sz="1500" b="1" dirty="0">
                <a:solidFill>
                  <a:schemeClr val="tx1"/>
                </a:solidFill>
              </a:rPr>
              <a:t>검증: 상자 3개, 영상 3편, 해안 3곳</a:t>
            </a:r>
            <a:endParaRPr lang="en-US" sz="1500" dirty="0"/>
          </a:p>
        </p:txBody>
      </p:sp>
      <p:sp>
        <p:nvSpPr>
          <p:cNvPr id="18" name="Text 13"/>
          <p:cNvSpPr txBox="1"/>
          <p:nvPr/>
        </p:nvSpPr>
        <p:spPr>
          <a:xfrm>
            <a:off x="6446520" y="3209544"/>
            <a:ext cx="21031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상자 3개 부피 오차 −10~+20% (업체 방식은 1/112·1/180). 3D↔GPS 1.16 m. 재방문 재현율 0.71→0.86. 니하우: 핫스팟 30%가 전체 지그재그의 37% 시간으로 67% 포착. 문갑도 라벨 42개: 상위 30% 길이에 62%.</a:t>
            </a:r>
            <a:endParaRPr lang="en-US" sz="1250" dirty="0"/>
          </a:p>
        </p:txBody>
      </p:sp>
      <p:sp>
        <p:nvSpPr>
          <p:cNvPr id="19" name="card 제안: 위성이 넓게, 드론이 자세히"/>
          <p:cNvSpPr/>
          <p:nvPr/>
        </p:nvSpPr>
        <p:spPr>
          <a:xfrm>
            <a:off x="898398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9258300" y="2039112"/>
            <a:ext cx="566928" cy="566928"/>
          </a:xfrm>
          <a:prstGeom prst="ellipse">
            <a:avLst/>
          </a:prstGeom>
          <a:solidFill>
            <a:srgbClr val="0B3C5D"/>
          </a:solidFill>
          <a:ln w="12700">
            <a:solidFill>
              <a:srgbClr val="0B3C5D"/>
            </a:solidFill>
            <a:prstDash val="solid"/>
          </a:ln>
        </p:spPr>
      </p:sp>
      <p:pic>
        <p:nvPicPr>
          <p:cNvPr id="21" name="icon FaHandshake" descr="preencoded.png">    </p:cNvPr>
          <p:cNvPicPr>
            <a:picLocks noChangeAspect="1"/>
          </p:cNvPicPr>
          <p:nvPr/>
        </p:nvPicPr>
        <p:blipFill>
          <a:blip r:embed="rId4"/>
          <a:stretch>
            <a:fillRect/>
          </a:stretch>
        </p:blipFill>
        <p:spPr>
          <a:xfrm>
            <a:off x="9395460" y="2176272"/>
            <a:ext cx="292608" cy="292608"/>
          </a:xfrm>
          <a:prstGeom prst="rect">
            <a:avLst/>
          </a:prstGeom>
        </p:spPr>
      </p:pic>
      <p:sp>
        <p:nvSpPr>
          <p:cNvPr id="22" name="Text 16"/>
          <p:cNvSpPr txBox="1"/>
          <p:nvPr/>
        </p:nvSpPr>
        <p:spPr>
          <a:xfrm>
            <a:off x="9258300" y="2770632"/>
            <a:ext cx="2103120" cy="384048"/>
          </a:xfrm>
          <a:prstGeom prst="rect">
            <a:avLst/>
          </a:prstGeom>
          <a:noFill/>
          <a:ln/>
        </p:spPr>
        <p:txBody>
          <a:bodyPr wrap="square" lIns="0" tIns="0" rIns="0" bIns="0" rtlCol="0" anchor="t"/>
          <a:lstStyle/>
          <a:p>
            <a:pPr indent="0" marL="0">
              <a:buNone/>
            </a:pPr>
            <a:r>
              <a:rPr lang="en-US" sz="1500" b="1" dirty="0">
                <a:solidFill>
                  <a:schemeClr val="tx1"/>
                </a:solidFill>
              </a:rPr>
              <a:t>제안: 위성이 넓게, 드론이 자세히</a:t>
            </a:r>
            <a:endParaRPr lang="en-US" sz="1500" dirty="0"/>
          </a:p>
        </p:txBody>
      </p:sp>
      <p:sp>
        <p:nvSpPr>
          <p:cNvPr id="23" name="Text 17"/>
          <p:cNvSpPr txBox="1"/>
          <p:nvPr/>
        </p:nvSpPr>
        <p:spPr>
          <a:xfrm>
            <a:off x="9258300" y="3209544"/>
            <a:ext cx="21031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위성의 역할은 탐지가 아니라 해안선 갱신·형상 점수·선별입니다. 3DLabs의 ARD 위에 드론 측정 계층을 얹어 지자체 수거계획으로 연결하는 B2G 공동 실증.</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01</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현황과 문제</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수거량은 늘고 비용은 지자체 몫인데, 그 계획의 입력값은 믿을 수 없는 점 추정입니다.</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해양쓰레기 수거량은 5년간 19.8% 늘었다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2021~2025년 전국 해양폐기물 수거량 (톤). 2025년 14.5만 톤은 연간 발생량 추정치(14.5만 톤)와 같은 규모입니다.</a:t>
            </a:r>
            <a:endParaRPr lang="en-US" sz="1400" dirty="0"/>
          </a:p>
        </p:txBody>
      </p:sp>
      <p:sp>
        <p:nvSpPr>
          <p:cNvPr id="4" name="chart card"/>
          <p:cNvSpPr/>
          <p:nvPr/>
        </p:nvSpPr>
        <p:spPr>
          <a:xfrm>
            <a:off x="548640" y="1783080"/>
            <a:ext cx="6949440" cy="41148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1920240"/>
            <a:ext cx="6400800" cy="320040"/>
          </a:xfrm>
          <a:prstGeom prst="rect">
            <a:avLst/>
          </a:prstGeom>
          <a:noFill/>
          <a:ln/>
        </p:spPr>
        <p:txBody>
          <a:bodyPr wrap="square" lIns="0" tIns="0" rIns="0" bIns="0" rtlCol="0" anchor="ctr"/>
          <a:lstStyle/>
          <a:p>
            <a:pPr indent="0" marL="0">
              <a:buNone/>
            </a:pPr>
            <a:r>
              <a:rPr lang="en-US" sz="1200" b="1" dirty="0">
                <a:solidFill>
                  <a:schemeClr val="tx1"/>
                </a:solidFill>
              </a:rPr>
              <a:t>연도별 해양폐기물 수거량 (톤)</a:t>
            </a:r>
            <a:endParaRPr lang="en-US" sz="1200" dirty="0"/>
          </a:p>
        </p:txBody>
      </p:sp>
      <p:graphicFrame>
        <p:nvGraphicFramePr>
          <p:cNvPr id="6" name="Chart 0" descr=""/>
          <p:cNvGraphicFramePr/>
          <p:nvPr/>
        </p:nvGraphicFramePr>
        <p:xfrm>
          <a:off x="731520" y="2286000"/>
          <a:ext cx="6583680" cy="3520440"/>
        </p:xfrm>
        <a:graphic xmlns:a="http://schemas.openxmlformats.org/drawingml/2006/main">
          <a:graphicData uri="http://schemas.openxmlformats.org/drawingml/2006/chart">
            <c:chart xmlns:c="http://schemas.openxmlformats.org/drawingml/2006/chart" r:id="rId1"/>
          </a:graphicData>
        </a:graphic>
      </p:graphicFrame>
      <p:sp>
        <p:nvSpPr>
          <p:cNvPr id="7" name="stat 연간 해양쓰레기 발생량 추정"/>
          <p:cNvSpPr/>
          <p:nvPr/>
        </p:nvSpPr>
        <p:spPr>
          <a:xfrm>
            <a:off x="7772400" y="178308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028432" y="198424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연간 해양쓰레기 발생량 추정</a:t>
            </a:r>
            <a:endParaRPr lang="en-US" sz="1100" dirty="0"/>
          </a:p>
        </p:txBody>
      </p:sp>
      <p:sp>
        <p:nvSpPr>
          <p:cNvPr id="9" name="Text 6"/>
          <p:cNvSpPr txBox="1"/>
          <p:nvPr/>
        </p:nvSpPr>
        <p:spPr>
          <a:xfrm>
            <a:off x="8028432" y="2286000"/>
            <a:ext cx="3410712" cy="685800"/>
          </a:xfrm>
          <a:prstGeom prst="rect">
            <a:avLst/>
          </a:prstGeom>
          <a:noFill/>
          <a:ln/>
        </p:spPr>
        <p:txBody>
          <a:bodyPr wrap="square" lIns="0" tIns="0" rIns="0" bIns="0" rtlCol="0" anchor="ctr"/>
          <a:lstStyle/>
          <a:p>
            <a:pPr indent="0" marL="0">
              <a:buNone/>
            </a:pPr>
            <a:r>
              <a:rPr lang="en-US" sz="3400" b="1" dirty="0">
                <a:solidFill>
                  <a:schemeClr val="tx2"/>
                </a:solidFill>
              </a:rPr>
              <a:t>14.5만</a:t>
            </a:r>
            <a:pPr indent="0" marL="0">
              <a:buNone/>
            </a:pPr>
            <a:r>
              <a:rPr lang="en-US" sz="1300" b="1" dirty="0">
                <a:solidFill>
                  <a:schemeClr val="accent4"/>
                </a:solidFill>
              </a:rPr>
              <a:t> t / 년</a:t>
            </a:r>
            <a:endParaRPr lang="en-US" sz="3400" dirty="0"/>
          </a:p>
        </p:txBody>
      </p:sp>
      <p:sp>
        <p:nvSpPr>
          <p:cNvPr id="10" name="Text 7"/>
          <p:cNvSpPr txBox="1"/>
          <p:nvPr/>
        </p:nvSpPr>
        <p:spPr>
          <a:xfrm>
            <a:off x="8028432" y="2990088"/>
            <a:ext cx="3410712" cy="-45720"/>
          </a:xfrm>
          <a:prstGeom prst="rect">
            <a:avLst/>
          </a:prstGeom>
          <a:noFill/>
          <a:ln/>
        </p:spPr>
        <p:txBody>
          <a:bodyPr wrap="square" lIns="0" tIns="0" rIns="0" bIns="0" rtlCol="0" anchor="t"/>
          <a:lstStyle/>
          <a:p>
            <a:pPr indent="0" marL="0">
              <a:buNone/>
            </a:pPr>
            <a:r>
              <a:rPr lang="en-US" sz="1050" dirty="0">
                <a:solidFill>
                  <a:schemeClr val="accent4"/>
                </a:solidFill>
              </a:rPr>
              <a:t>육상 기인 65.3% · 해상 기인 34.7%</a:t>
            </a:r>
            <a:endParaRPr lang="en-US" sz="1050" dirty="0"/>
          </a:p>
        </p:txBody>
      </p:sp>
      <p:sp>
        <p:nvSpPr>
          <p:cNvPr id="11" name="stat 해양에 남아 있는 현존량"/>
          <p:cNvSpPr/>
          <p:nvPr/>
        </p:nvSpPr>
        <p:spPr>
          <a:xfrm>
            <a:off x="7772400" y="320040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8028432" y="340156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해양에 남아 있는 현존량</a:t>
            </a:r>
            <a:endParaRPr lang="en-US" sz="1100" dirty="0"/>
          </a:p>
        </p:txBody>
      </p:sp>
      <p:sp>
        <p:nvSpPr>
          <p:cNvPr id="13" name="Text 10"/>
          <p:cNvSpPr txBox="1"/>
          <p:nvPr/>
        </p:nvSpPr>
        <p:spPr>
          <a:xfrm>
            <a:off x="8028432" y="3703320"/>
            <a:ext cx="3410712" cy="685800"/>
          </a:xfrm>
          <a:prstGeom prst="rect">
            <a:avLst/>
          </a:prstGeom>
          <a:noFill/>
          <a:ln/>
        </p:spPr>
        <p:txBody>
          <a:bodyPr wrap="square" lIns="0" tIns="0" rIns="0" bIns="0" rtlCol="0" anchor="ctr"/>
          <a:lstStyle/>
          <a:p>
            <a:pPr indent="0" marL="0">
              <a:buNone/>
            </a:pPr>
            <a:r>
              <a:rPr lang="en-US" sz="3400" b="1" dirty="0">
                <a:solidFill>
                  <a:schemeClr val="tx2"/>
                </a:solidFill>
              </a:rPr>
              <a:t>15.2만</a:t>
            </a:r>
            <a:pPr indent="0" marL="0">
              <a:buNone/>
            </a:pPr>
            <a:r>
              <a:rPr lang="en-US" sz="1300" b="1" dirty="0">
                <a:solidFill>
                  <a:schemeClr val="accent4"/>
                </a:solidFill>
              </a:rPr>
              <a:t> t</a:t>
            </a:r>
            <a:endParaRPr lang="en-US" sz="3400" dirty="0"/>
          </a:p>
        </p:txBody>
      </p:sp>
      <p:sp>
        <p:nvSpPr>
          <p:cNvPr id="14" name="Text 11"/>
          <p:cNvSpPr txBox="1"/>
          <p:nvPr/>
        </p:nvSpPr>
        <p:spPr>
          <a:xfrm>
            <a:off x="8028432" y="4407408"/>
            <a:ext cx="3410712" cy="-45720"/>
          </a:xfrm>
          <a:prstGeom prst="rect">
            <a:avLst/>
          </a:prstGeom>
          <a:noFill/>
          <a:ln/>
        </p:spPr>
        <p:txBody>
          <a:bodyPr wrap="square" lIns="0" tIns="0" rIns="0" bIns="0" rtlCol="0" anchor="t"/>
          <a:lstStyle/>
          <a:p>
            <a:pPr indent="0" marL="0">
              <a:buNone/>
            </a:pPr>
            <a:r>
              <a:rPr lang="en-US" sz="1050" dirty="0">
                <a:solidFill>
                  <a:schemeClr val="accent4"/>
                </a:solidFill>
              </a:rPr>
              <a:t>침적 13.8만 · 해변 1.2만 · 부유 0.2만 t</a:t>
            </a:r>
            <a:endParaRPr lang="en-US" sz="1050" dirty="0"/>
          </a:p>
        </p:txBody>
      </p:sp>
      <p:sp>
        <p:nvSpPr>
          <p:cNvPr id="15" name="stat 2026년 해양폐기물 처리 예산"/>
          <p:cNvSpPr/>
          <p:nvPr/>
        </p:nvSpPr>
        <p:spPr>
          <a:xfrm>
            <a:off x="7772400" y="461772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3"/>
          <p:cNvSpPr txBox="1"/>
          <p:nvPr/>
        </p:nvSpPr>
        <p:spPr>
          <a:xfrm>
            <a:off x="8028432" y="481888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2026년 해양폐기물 처리 예산</a:t>
            </a:r>
            <a:endParaRPr lang="en-US" sz="1100" dirty="0"/>
          </a:p>
        </p:txBody>
      </p:sp>
      <p:sp>
        <p:nvSpPr>
          <p:cNvPr id="17" name="Text 14"/>
          <p:cNvSpPr txBox="1"/>
          <p:nvPr/>
        </p:nvSpPr>
        <p:spPr>
          <a:xfrm>
            <a:off x="8028432" y="5120640"/>
            <a:ext cx="3410712" cy="685800"/>
          </a:xfrm>
          <a:prstGeom prst="rect">
            <a:avLst/>
          </a:prstGeom>
          <a:noFill/>
          <a:ln/>
        </p:spPr>
        <p:txBody>
          <a:bodyPr wrap="square" lIns="0" tIns="0" rIns="0" bIns="0" rtlCol="0" anchor="ctr"/>
          <a:lstStyle/>
          <a:p>
            <a:pPr indent="0" marL="0">
              <a:buNone/>
            </a:pPr>
            <a:r>
              <a:rPr lang="en-US" sz="3400" b="1" dirty="0">
                <a:solidFill>
                  <a:schemeClr val="accent2"/>
                </a:solidFill>
              </a:rPr>
              <a:t>1,114</a:t>
            </a:r>
            <a:pPr indent="0" marL="0">
              <a:buNone/>
            </a:pPr>
            <a:r>
              <a:rPr lang="en-US" sz="1300" b="1" dirty="0">
                <a:solidFill>
                  <a:schemeClr val="accent4"/>
                </a:solidFill>
              </a:rPr>
              <a:t> 억 원</a:t>
            </a:r>
            <a:endParaRPr lang="en-US" sz="3400" dirty="0"/>
          </a:p>
        </p:txBody>
      </p:sp>
      <p:sp>
        <p:nvSpPr>
          <p:cNvPr id="18" name="Text 15"/>
          <p:cNvSpPr txBox="1"/>
          <p:nvPr/>
        </p:nvSpPr>
        <p:spPr>
          <a:xfrm>
            <a:off x="8028432" y="5824728"/>
            <a:ext cx="3410712" cy="-45720"/>
          </a:xfrm>
          <a:prstGeom prst="rect">
            <a:avLst/>
          </a:prstGeom>
          <a:noFill/>
          <a:ln/>
        </p:spPr>
        <p:txBody>
          <a:bodyPr wrap="square" lIns="0" tIns="0" rIns="0" bIns="0" rtlCol="0" anchor="t"/>
          <a:lstStyle/>
          <a:p>
            <a:pPr indent="0" marL="0">
              <a:buNone/>
            </a:pPr>
            <a:r>
              <a:rPr lang="en-US" sz="1050" dirty="0">
                <a:solidFill>
                  <a:schemeClr val="accent4"/>
                </a:solidFill>
              </a:rPr>
              <a:t>수거해도 현존량이 줄지 않는 구조</a:t>
            </a:r>
            <a:endParaRPr lang="en-US" sz="1050" dirty="0"/>
          </a:p>
        </p:txBody>
      </p:sp>
      <p:sp>
        <p:nvSpPr>
          <p:cNvPr id="19"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해양수산부 자료(김선교 의원실, 2026.09) 연도별 수거량 · 해양수산부 「해양폐기물 저감 대책」 발생량·현존량 추정 · 2026년 처리 예산 1,114억 원(해양수산부, 2026.09)</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수거 비용은 지자체 몫이고, 추정이 곧 예산이다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해안쓰레기가 수거량의 76%를 차지하고, 그 수거의 90%를 지자체가 수행합니다. 톤 단위 추정 오차가 곧 수천만 원입니다.</a:t>
            </a:r>
            <a:endParaRPr lang="en-US" sz="1400" dirty="0"/>
          </a:p>
        </p:txBody>
      </p:sp>
      <p:sp>
        <p:nvSpPr>
          <p:cNvPr id="4" name="chart card"/>
          <p:cNvSpPr/>
          <p:nvPr/>
        </p:nvSpPr>
        <p:spPr>
          <a:xfrm>
            <a:off x="548640" y="1783080"/>
            <a:ext cx="5669280" cy="41148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1920240"/>
            <a:ext cx="5303520" cy="320040"/>
          </a:xfrm>
          <a:prstGeom prst="rect">
            <a:avLst/>
          </a:prstGeom>
          <a:noFill/>
          <a:ln/>
        </p:spPr>
        <p:txBody>
          <a:bodyPr wrap="square" lIns="0" tIns="0" rIns="0" bIns="0" rtlCol="0" anchor="ctr"/>
          <a:lstStyle/>
          <a:p>
            <a:pPr indent="0" marL="0">
              <a:buNone/>
            </a:pPr>
            <a:r>
              <a:rPr lang="en-US" sz="1200" b="1" dirty="0">
                <a:solidFill>
                  <a:schemeClr val="tx1"/>
                </a:solidFill>
              </a:rPr>
              <a:t>유형별 수거량, 2021~2025 누계 (톤)</a:t>
            </a:r>
            <a:endParaRPr lang="en-US" sz="1200" dirty="0"/>
          </a:p>
        </p:txBody>
      </p:sp>
      <p:graphicFrame>
        <p:nvGraphicFramePr>
          <p:cNvPr id="6" name="Chart 0" descr=""/>
          <p:cNvGraphicFramePr/>
          <p:nvPr/>
        </p:nvGraphicFramePr>
        <p:xfrm>
          <a:off x="731520" y="228600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7" name="stat 지자체 수거예산 2017~2022 누계"/>
          <p:cNvSpPr/>
          <p:nvPr/>
        </p:nvSpPr>
        <p:spPr>
          <a:xfrm>
            <a:off x="6492240" y="178308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6748272" y="198424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지자체 수거예산 2017~2022 누계</a:t>
            </a:r>
            <a:endParaRPr lang="en-US" sz="1100" dirty="0"/>
          </a:p>
        </p:txBody>
      </p:sp>
      <p:sp>
        <p:nvSpPr>
          <p:cNvPr id="9" name="Text 6"/>
          <p:cNvSpPr txBox="1"/>
          <p:nvPr/>
        </p:nvSpPr>
        <p:spPr>
          <a:xfrm>
            <a:off x="6748272" y="2286000"/>
            <a:ext cx="2011680" cy="685800"/>
          </a:xfrm>
          <a:prstGeom prst="rect">
            <a:avLst/>
          </a:prstGeom>
          <a:noFill/>
          <a:ln/>
        </p:spPr>
        <p:txBody>
          <a:bodyPr wrap="square" lIns="0" tIns="0" rIns="0" bIns="0" rtlCol="0" anchor="ctr"/>
          <a:lstStyle/>
          <a:p>
            <a:pPr indent="0" marL="0">
              <a:buNone/>
            </a:pPr>
            <a:r>
              <a:rPr lang="en-US" sz="3400" b="1" dirty="0">
                <a:solidFill>
                  <a:schemeClr val="tx2"/>
                </a:solidFill>
              </a:rPr>
              <a:t>3,654</a:t>
            </a:r>
            <a:pPr indent="0" marL="0">
              <a:buNone/>
            </a:pPr>
            <a:r>
              <a:rPr lang="en-US" sz="1300" b="1" dirty="0">
                <a:solidFill>
                  <a:schemeClr val="accent4"/>
                </a:solidFill>
              </a:rPr>
              <a:t> 억 원</a:t>
            </a:r>
            <a:endParaRPr lang="en-US" sz="3400" dirty="0"/>
          </a:p>
        </p:txBody>
      </p:sp>
      <p:sp>
        <p:nvSpPr>
          <p:cNvPr id="10" name="Text 7"/>
          <p:cNvSpPr txBox="1"/>
          <p:nvPr/>
        </p:nvSpPr>
        <p:spPr>
          <a:xfrm>
            <a:off x="6748272" y="299008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같은 기간 3.5배 증가</a:t>
            </a:r>
            <a:endParaRPr lang="en-US" sz="1050" dirty="0"/>
          </a:p>
        </p:txBody>
      </p:sp>
      <p:sp>
        <p:nvSpPr>
          <p:cNvPr id="11" name="stat 수거비 국비 : 지방비"/>
          <p:cNvSpPr/>
          <p:nvPr/>
        </p:nvSpPr>
        <p:spPr>
          <a:xfrm>
            <a:off x="9171432" y="178308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9427464" y="198424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수거비 국비 : 지방비</a:t>
            </a:r>
            <a:endParaRPr lang="en-US" sz="1100" dirty="0"/>
          </a:p>
        </p:txBody>
      </p:sp>
      <p:sp>
        <p:nvSpPr>
          <p:cNvPr id="13" name="Text 10"/>
          <p:cNvSpPr txBox="1"/>
          <p:nvPr/>
        </p:nvSpPr>
        <p:spPr>
          <a:xfrm>
            <a:off x="9427464" y="2286000"/>
            <a:ext cx="2011680" cy="685800"/>
          </a:xfrm>
          <a:prstGeom prst="rect">
            <a:avLst/>
          </a:prstGeom>
          <a:noFill/>
          <a:ln/>
        </p:spPr>
        <p:txBody>
          <a:bodyPr wrap="square" lIns="0" tIns="0" rIns="0" bIns="0" rtlCol="0" anchor="ctr"/>
          <a:lstStyle/>
          <a:p>
            <a:pPr indent="0" marL="0">
              <a:buNone/>
            </a:pPr>
            <a:r>
              <a:rPr lang="en-US" sz="3400" b="1" dirty="0">
                <a:solidFill>
                  <a:schemeClr val="tx2"/>
                </a:solidFill>
              </a:rPr>
              <a:t>50 : 50</a:t>
            </a:r>
            <a:pPr indent="0" marL="0">
              <a:buNone/>
            </a:pPr>
            <a:endParaRPr lang="en-US" sz="3400" dirty="0"/>
          </a:p>
        </p:txBody>
      </p:sp>
      <p:sp>
        <p:nvSpPr>
          <p:cNvPr id="14" name="Text 11"/>
          <p:cNvSpPr txBox="1"/>
          <p:nvPr/>
        </p:nvSpPr>
        <p:spPr>
          <a:xfrm>
            <a:off x="9427464" y="299008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지방비는 다시 도비·시군비로 나뉨</a:t>
            </a:r>
            <a:endParaRPr lang="en-US" sz="1050" dirty="0"/>
          </a:p>
        </p:txBody>
      </p:sp>
      <p:sp>
        <p:nvSpPr>
          <p:cNvPr id="15" name="stat 지자체가 처리하는 수거량 비중"/>
          <p:cNvSpPr/>
          <p:nvPr/>
        </p:nvSpPr>
        <p:spPr>
          <a:xfrm>
            <a:off x="6492240" y="393192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3"/>
          <p:cNvSpPr txBox="1"/>
          <p:nvPr/>
        </p:nvSpPr>
        <p:spPr>
          <a:xfrm>
            <a:off x="6748272" y="413308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지자체가 처리하는 수거량 비중</a:t>
            </a:r>
            <a:endParaRPr lang="en-US" sz="1100" dirty="0"/>
          </a:p>
        </p:txBody>
      </p:sp>
      <p:sp>
        <p:nvSpPr>
          <p:cNvPr id="17" name="Text 14"/>
          <p:cNvSpPr txBox="1"/>
          <p:nvPr/>
        </p:nvSpPr>
        <p:spPr>
          <a:xfrm>
            <a:off x="6748272" y="4434840"/>
            <a:ext cx="2011680" cy="685800"/>
          </a:xfrm>
          <a:prstGeom prst="rect">
            <a:avLst/>
          </a:prstGeom>
          <a:noFill/>
          <a:ln/>
        </p:spPr>
        <p:txBody>
          <a:bodyPr wrap="square" lIns="0" tIns="0" rIns="0" bIns="0" rtlCol="0" anchor="ctr"/>
          <a:lstStyle/>
          <a:p>
            <a:pPr indent="0" marL="0">
              <a:buNone/>
            </a:pPr>
            <a:r>
              <a:rPr lang="en-US" sz="3400" b="1" dirty="0">
                <a:solidFill>
                  <a:schemeClr val="accent2"/>
                </a:solidFill>
              </a:rPr>
              <a:t>90</a:t>
            </a:r>
            <a:pPr indent="0" marL="0">
              <a:buNone/>
            </a:pPr>
            <a:r>
              <a:rPr lang="en-US" sz="1300" b="1" dirty="0">
                <a:solidFill>
                  <a:schemeClr val="accent4"/>
                </a:solidFill>
              </a:rPr>
              <a:t> %</a:t>
            </a:r>
            <a:endParaRPr lang="en-US" sz="3400" dirty="0"/>
          </a:p>
        </p:txBody>
      </p:sp>
      <p:sp>
        <p:nvSpPr>
          <p:cNvPr id="18" name="Text 15"/>
          <p:cNvSpPr txBox="1"/>
          <p:nvPr/>
        </p:nvSpPr>
        <p:spPr>
          <a:xfrm>
            <a:off x="6748272" y="513892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공공기관 처리는 10%</a:t>
            </a:r>
            <a:endParaRPr lang="en-US" sz="1050" dirty="0"/>
          </a:p>
        </p:txBody>
      </p:sp>
      <p:sp>
        <p:nvSpPr>
          <p:cNvPr id="19" name="stat 처리 단가 (전남, 약)"/>
          <p:cNvSpPr/>
          <p:nvPr/>
        </p:nvSpPr>
        <p:spPr>
          <a:xfrm>
            <a:off x="9171432" y="393192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Text 17"/>
          <p:cNvSpPr txBox="1"/>
          <p:nvPr/>
        </p:nvSpPr>
        <p:spPr>
          <a:xfrm>
            <a:off x="9427464" y="413308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처리 단가 (전남, 약)</a:t>
            </a:r>
            <a:endParaRPr lang="en-US" sz="1100" dirty="0"/>
          </a:p>
        </p:txBody>
      </p:sp>
      <p:sp>
        <p:nvSpPr>
          <p:cNvPr id="21" name="Text 18"/>
          <p:cNvSpPr txBox="1"/>
          <p:nvPr/>
        </p:nvSpPr>
        <p:spPr>
          <a:xfrm>
            <a:off x="9427464" y="4434840"/>
            <a:ext cx="2011680" cy="685800"/>
          </a:xfrm>
          <a:prstGeom prst="rect">
            <a:avLst/>
          </a:prstGeom>
          <a:noFill/>
          <a:ln/>
        </p:spPr>
        <p:txBody>
          <a:bodyPr wrap="square" lIns="0" tIns="0" rIns="0" bIns="0" rtlCol="0" anchor="ctr"/>
          <a:lstStyle/>
          <a:p>
            <a:pPr indent="0" marL="0">
              <a:buNone/>
            </a:pPr>
            <a:r>
              <a:rPr lang="en-US" sz="3000" b="1" dirty="0">
                <a:solidFill>
                  <a:schemeClr val="tx2"/>
                </a:solidFill>
              </a:rPr>
              <a:t>50만</a:t>
            </a:r>
            <a:pPr indent="0" marL="0">
              <a:buNone/>
            </a:pPr>
            <a:r>
              <a:rPr lang="en-US" sz="1300" b="1" dirty="0">
                <a:solidFill>
                  <a:schemeClr val="accent4"/>
                </a:solidFill>
              </a:rPr>
              <a:t> 원/t</a:t>
            </a:r>
            <a:endParaRPr lang="en-US" sz="3000" dirty="0"/>
          </a:p>
        </p:txBody>
      </p:sp>
      <p:sp>
        <p:nvSpPr>
          <p:cNvPr id="22" name="Text 19"/>
          <p:cNvSpPr txBox="1"/>
          <p:nvPr/>
        </p:nvSpPr>
        <p:spPr>
          <a:xfrm>
            <a:off x="9427464" y="513892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100 t 오차 = 5천만 원</a:t>
            </a:r>
            <a:endParaRPr lang="en-US" sz="1050" dirty="0"/>
          </a:p>
        </p:txBody>
      </p:sp>
      <p:sp>
        <p:nvSpPr>
          <p:cNvPr id="23"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유형별 수거량 해양수산부(2026.09) · 지자체 수거예산·국비 분담·처리 비중 에너지데일리(국회 자료, 2017~2022) · 처리 단가 한국일보(2018·2019, 전남 톤당 50만 원)</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한 번의 폭우가 1,180 t을 보낸다: 경남, 2026년 8월</a:t>
            </a:r>
            <a:endParaRPr lang="en-US" sz="2800" dirty="0"/>
          </a:p>
        </p:txBody>
      </p:sp>
      <p:sp>
        <p:nvSpPr>
          <p:cNvPr id="3" name="Text 1"/>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5"/>
                </a:solidFill>
              </a:rPr>
              <a:t>광복절 연휴 폭우로 경남 연안에 1,180 t이 유입됐고 거제·통영이 80%를 차지했습니다. 유입량 추정은 육안과 경험에 기대고, 그 추정이 장비·인력·마대를 정합니다.</a:t>
            </a:r>
            <a:endParaRPr lang="en-US" sz="1400" dirty="0"/>
          </a:p>
        </p:txBody>
      </p:sp>
      <p:sp>
        <p:nvSpPr>
          <p:cNvPr id="4" name="stat 유입량 추정 (경남 연안)"/>
          <p:cNvSpPr/>
          <p:nvPr/>
        </p:nvSpPr>
        <p:spPr>
          <a:xfrm>
            <a:off x="548640" y="1828800"/>
            <a:ext cx="2651760" cy="1828800"/>
          </a:xfrm>
          <a:prstGeom prst="roundRect">
            <a:avLst>
              <a:gd name="adj" fmla="val 6000"/>
            </a:avLst>
          </a:prstGeom>
          <a:solidFill>
            <a:srgbClr val="124A6E"/>
          </a:solidFill>
          <a:ln w="12700">
            <a:solidFill>
              <a:srgbClr val="124A6E"/>
            </a:solidFill>
            <a:prstDash val="solid"/>
          </a:ln>
        </p:spPr>
      </p:sp>
      <p:sp>
        <p:nvSpPr>
          <p:cNvPr id="5" name="Text 3"/>
          <p:cNvSpPr txBox="1"/>
          <p:nvPr/>
        </p:nvSpPr>
        <p:spPr>
          <a:xfrm>
            <a:off x="80467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유입량 추정 (경남 연안)</a:t>
            </a:r>
            <a:endParaRPr lang="en-US" sz="1100" dirty="0"/>
          </a:p>
        </p:txBody>
      </p:sp>
      <p:sp>
        <p:nvSpPr>
          <p:cNvPr id="6" name="Text 4"/>
          <p:cNvSpPr txBox="1"/>
          <p:nvPr/>
        </p:nvSpPr>
        <p:spPr>
          <a:xfrm>
            <a:off x="804672" y="2331720"/>
            <a:ext cx="2194560" cy="685800"/>
          </a:xfrm>
          <a:prstGeom prst="rect">
            <a:avLst/>
          </a:prstGeom>
          <a:noFill/>
          <a:ln/>
        </p:spPr>
        <p:txBody>
          <a:bodyPr wrap="square" lIns="0" tIns="0" rIns="0" bIns="0" rtlCol="0" anchor="ctr"/>
          <a:lstStyle/>
          <a:p>
            <a:pPr indent="0" marL="0">
              <a:buNone/>
            </a:pPr>
            <a:r>
              <a:rPr lang="en-US" sz="3400" b="1" dirty="0">
                <a:solidFill>
                  <a:schemeClr val="bg1"/>
                </a:solidFill>
              </a:rPr>
              <a:t>1,180</a:t>
            </a:r>
            <a:pPr indent="0" marL="0">
              <a:buNone/>
            </a:pPr>
            <a:r>
              <a:rPr lang="en-US" sz="1300" b="1" dirty="0">
                <a:solidFill>
                  <a:schemeClr val="accent5"/>
                </a:solidFill>
              </a:rPr>
              <a:t> t</a:t>
            </a:r>
            <a:endParaRPr lang="en-US" sz="3400" dirty="0"/>
          </a:p>
        </p:txBody>
      </p:sp>
      <p:sp>
        <p:nvSpPr>
          <p:cNvPr id="7" name="Text 5"/>
          <p:cNvSpPr txBox="1"/>
          <p:nvPr/>
        </p:nvSpPr>
        <p:spPr>
          <a:xfrm>
            <a:off x="80467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육안·경험 기반 집계</a:t>
            </a:r>
            <a:endParaRPr lang="en-US" sz="1050" dirty="0"/>
          </a:p>
        </p:txBody>
      </p:sp>
      <p:sp>
        <p:nvSpPr>
          <p:cNvPr id="8" name="stat 거제 (통영 190 t)"/>
          <p:cNvSpPr/>
          <p:nvPr/>
        </p:nvSpPr>
        <p:spPr>
          <a:xfrm>
            <a:off x="3383280" y="1828800"/>
            <a:ext cx="2651760" cy="1828800"/>
          </a:xfrm>
          <a:prstGeom prst="roundRect">
            <a:avLst>
              <a:gd name="adj" fmla="val 6000"/>
            </a:avLst>
          </a:prstGeom>
          <a:solidFill>
            <a:srgbClr val="124A6E"/>
          </a:solidFill>
          <a:ln w="12700">
            <a:solidFill>
              <a:srgbClr val="124A6E"/>
            </a:solidFill>
            <a:prstDash val="solid"/>
          </a:ln>
        </p:spPr>
      </p:sp>
      <p:sp>
        <p:nvSpPr>
          <p:cNvPr id="9" name="Text 7"/>
          <p:cNvSpPr txBox="1"/>
          <p:nvPr/>
        </p:nvSpPr>
        <p:spPr>
          <a:xfrm>
            <a:off x="363931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거제 (통영 190 t)</a:t>
            </a:r>
            <a:endParaRPr lang="en-US" sz="1100" dirty="0"/>
          </a:p>
        </p:txBody>
      </p:sp>
      <p:sp>
        <p:nvSpPr>
          <p:cNvPr id="10" name="Text 8"/>
          <p:cNvSpPr txBox="1"/>
          <p:nvPr/>
        </p:nvSpPr>
        <p:spPr>
          <a:xfrm>
            <a:off x="3639312" y="2331720"/>
            <a:ext cx="2194560" cy="685800"/>
          </a:xfrm>
          <a:prstGeom prst="rect">
            <a:avLst/>
          </a:prstGeom>
          <a:noFill/>
          <a:ln/>
        </p:spPr>
        <p:txBody>
          <a:bodyPr wrap="square" lIns="0" tIns="0" rIns="0" bIns="0" rtlCol="0" anchor="ctr"/>
          <a:lstStyle/>
          <a:p>
            <a:pPr indent="0" marL="0">
              <a:buNone/>
            </a:pPr>
            <a:r>
              <a:rPr lang="en-US" sz="3400" b="1" dirty="0">
                <a:solidFill>
                  <a:schemeClr val="accent2"/>
                </a:solidFill>
              </a:rPr>
              <a:t>757</a:t>
            </a:r>
            <a:pPr indent="0" marL="0">
              <a:buNone/>
            </a:pPr>
            <a:r>
              <a:rPr lang="en-US" sz="1300" b="1" dirty="0">
                <a:solidFill>
                  <a:schemeClr val="accent5"/>
                </a:solidFill>
              </a:rPr>
              <a:t> t</a:t>
            </a:r>
            <a:endParaRPr lang="en-US" sz="3400" dirty="0"/>
          </a:p>
        </p:txBody>
      </p:sp>
      <p:sp>
        <p:nvSpPr>
          <p:cNvPr id="11" name="Text 9"/>
          <p:cNvSpPr txBox="1"/>
          <p:nvPr/>
        </p:nvSpPr>
        <p:spPr>
          <a:xfrm>
            <a:off x="363931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두 시군이 전체의 80%</a:t>
            </a:r>
            <a:endParaRPr lang="en-US" sz="1050" dirty="0"/>
          </a:p>
        </p:txBody>
      </p:sp>
      <p:sp>
        <p:nvSpPr>
          <p:cNvPr id="12" name="stat 96% 수거까지 걸린 시간"/>
          <p:cNvSpPr/>
          <p:nvPr/>
        </p:nvSpPr>
        <p:spPr>
          <a:xfrm>
            <a:off x="6217920" y="1828800"/>
            <a:ext cx="2651760" cy="1828800"/>
          </a:xfrm>
          <a:prstGeom prst="roundRect">
            <a:avLst>
              <a:gd name="adj" fmla="val 6000"/>
            </a:avLst>
          </a:prstGeom>
          <a:solidFill>
            <a:srgbClr val="124A6E"/>
          </a:solidFill>
          <a:ln w="12700">
            <a:solidFill>
              <a:srgbClr val="124A6E"/>
            </a:solidFill>
            <a:prstDash val="solid"/>
          </a:ln>
        </p:spPr>
      </p:sp>
      <p:sp>
        <p:nvSpPr>
          <p:cNvPr id="13" name="Text 11"/>
          <p:cNvSpPr txBox="1"/>
          <p:nvPr/>
        </p:nvSpPr>
        <p:spPr>
          <a:xfrm>
            <a:off x="647395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96% 수거까지 걸린 시간</a:t>
            </a:r>
            <a:endParaRPr lang="en-US" sz="1100" dirty="0"/>
          </a:p>
        </p:txBody>
      </p:sp>
      <p:sp>
        <p:nvSpPr>
          <p:cNvPr id="14" name="Text 12"/>
          <p:cNvSpPr txBox="1"/>
          <p:nvPr/>
        </p:nvSpPr>
        <p:spPr>
          <a:xfrm>
            <a:off x="6473952" y="2331720"/>
            <a:ext cx="2194560" cy="685800"/>
          </a:xfrm>
          <a:prstGeom prst="rect">
            <a:avLst/>
          </a:prstGeom>
          <a:noFill/>
          <a:ln/>
        </p:spPr>
        <p:txBody>
          <a:bodyPr wrap="square" lIns="0" tIns="0" rIns="0" bIns="0" rtlCol="0" anchor="ctr"/>
          <a:lstStyle/>
          <a:p>
            <a:pPr indent="0" marL="0">
              <a:buNone/>
            </a:pPr>
            <a:r>
              <a:rPr lang="en-US" sz="3400" b="1" dirty="0">
                <a:solidFill>
                  <a:schemeClr val="bg1"/>
                </a:solidFill>
              </a:rPr>
              <a:t>3주</a:t>
            </a:r>
            <a:pPr indent="0" marL="0">
              <a:buNone/>
            </a:pPr>
            <a:endParaRPr lang="en-US" sz="3400" dirty="0"/>
          </a:p>
        </p:txBody>
      </p:sp>
      <p:sp>
        <p:nvSpPr>
          <p:cNvPr id="15" name="Text 13"/>
          <p:cNvSpPr txBox="1"/>
          <p:nvPr/>
        </p:nvSpPr>
        <p:spPr>
          <a:xfrm>
            <a:off x="647395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장비·인력 상시 투입</a:t>
            </a:r>
            <a:endParaRPr lang="en-US" sz="1050" dirty="0"/>
          </a:p>
        </p:txBody>
      </p:sp>
      <p:sp>
        <p:nvSpPr>
          <p:cNvPr id="16" name="stat 2011년 거제 관광수입 손실"/>
          <p:cNvSpPr/>
          <p:nvPr/>
        </p:nvSpPr>
        <p:spPr>
          <a:xfrm>
            <a:off x="9052560" y="1828800"/>
            <a:ext cx="2587752" cy="1828800"/>
          </a:xfrm>
          <a:prstGeom prst="roundRect">
            <a:avLst>
              <a:gd name="adj" fmla="val 6000"/>
            </a:avLst>
          </a:prstGeom>
          <a:solidFill>
            <a:srgbClr val="124A6E"/>
          </a:solidFill>
          <a:ln w="12700">
            <a:solidFill>
              <a:srgbClr val="124A6E"/>
            </a:solidFill>
            <a:prstDash val="solid"/>
          </a:ln>
        </p:spPr>
      </p:sp>
      <p:sp>
        <p:nvSpPr>
          <p:cNvPr id="17" name="Text 15"/>
          <p:cNvSpPr txBox="1"/>
          <p:nvPr/>
        </p:nvSpPr>
        <p:spPr>
          <a:xfrm>
            <a:off x="9308592" y="2029968"/>
            <a:ext cx="2130552" cy="310896"/>
          </a:xfrm>
          <a:prstGeom prst="rect">
            <a:avLst/>
          </a:prstGeom>
          <a:noFill/>
          <a:ln/>
        </p:spPr>
        <p:txBody>
          <a:bodyPr wrap="square" lIns="0" tIns="0" rIns="0" bIns="0" rtlCol="0" anchor="ctr"/>
          <a:lstStyle/>
          <a:p>
            <a:pPr indent="0" marL="0">
              <a:buNone/>
            </a:pPr>
            <a:r>
              <a:rPr lang="en-US" sz="1100" dirty="0">
                <a:solidFill>
                  <a:schemeClr val="accent5"/>
                </a:solidFill>
              </a:rPr>
              <a:t>2011년 거제 관광수입 손실</a:t>
            </a:r>
            <a:endParaRPr lang="en-US" sz="1100" dirty="0"/>
          </a:p>
        </p:txBody>
      </p:sp>
      <p:sp>
        <p:nvSpPr>
          <p:cNvPr id="18" name="Text 16"/>
          <p:cNvSpPr txBox="1"/>
          <p:nvPr/>
        </p:nvSpPr>
        <p:spPr>
          <a:xfrm>
            <a:off x="9308592" y="2331720"/>
            <a:ext cx="2130552" cy="685800"/>
          </a:xfrm>
          <a:prstGeom prst="rect">
            <a:avLst/>
          </a:prstGeom>
          <a:noFill/>
          <a:ln/>
        </p:spPr>
        <p:txBody>
          <a:bodyPr wrap="square" lIns="0" tIns="0" rIns="0" bIns="0" rtlCol="0" anchor="ctr"/>
          <a:lstStyle/>
          <a:p>
            <a:pPr indent="0" marL="0">
              <a:buNone/>
            </a:pPr>
            <a:r>
              <a:rPr lang="en-US" sz="2800" b="1" dirty="0">
                <a:solidFill>
                  <a:schemeClr val="bg1"/>
                </a:solidFill>
              </a:rPr>
              <a:t>$29~37M</a:t>
            </a:r>
            <a:pPr indent="0" marL="0">
              <a:buNone/>
            </a:pPr>
            <a:endParaRPr lang="en-US" sz="2800" dirty="0"/>
          </a:p>
        </p:txBody>
      </p:sp>
      <p:sp>
        <p:nvSpPr>
          <p:cNvPr id="19" name="Text 17"/>
          <p:cNvSpPr txBox="1"/>
          <p:nvPr/>
        </p:nvSpPr>
        <p:spPr>
          <a:xfrm>
            <a:off x="9308592" y="3035808"/>
            <a:ext cx="2130552" cy="502920"/>
          </a:xfrm>
          <a:prstGeom prst="rect">
            <a:avLst/>
          </a:prstGeom>
          <a:noFill/>
          <a:ln/>
        </p:spPr>
        <p:txBody>
          <a:bodyPr wrap="square" lIns="0" tIns="0" rIns="0" bIns="0" rtlCol="0" anchor="t"/>
          <a:lstStyle/>
          <a:p>
            <a:pPr indent="0" marL="0">
              <a:buNone/>
            </a:pPr>
            <a:r>
              <a:rPr lang="en-US" sz="1050" dirty="0">
                <a:solidFill>
                  <a:schemeClr val="accent5"/>
                </a:solidFill>
              </a:rPr>
              <a:t>낙동강 유입 쓰레기, Jang et al. 2014</a:t>
            </a:r>
            <a:endParaRPr lang="en-US" sz="1050" dirty="0"/>
          </a:p>
        </p:txBody>
      </p:sp>
      <p:sp>
        <p:nvSpPr>
          <p:cNvPr id="20" name="insight card"/>
          <p:cNvSpPr/>
          <p:nvPr/>
        </p:nvSpPr>
        <p:spPr>
          <a:xfrm>
            <a:off x="548640" y="3886200"/>
            <a:ext cx="11091672" cy="1920240"/>
          </a:xfrm>
          <a:prstGeom prst="roundRect">
            <a:avLst>
              <a:gd name="adj" fmla="val 5714"/>
            </a:avLst>
          </a:prstGeom>
          <a:solidFill>
            <a:srgbClr val="124A6E"/>
          </a:solidFill>
          <a:ln w="12700">
            <a:solidFill>
              <a:srgbClr val="124A6E"/>
            </a:solidFill>
            <a:prstDash val="solid"/>
          </a:ln>
        </p:spPr>
      </p:sp>
      <p:sp>
        <p:nvSpPr>
          <p:cNvPr id="21" name="icon circle"/>
          <p:cNvSpPr/>
          <p:nvPr/>
        </p:nvSpPr>
        <p:spPr>
          <a:xfrm>
            <a:off x="868680" y="4206240"/>
            <a:ext cx="640080" cy="640080"/>
          </a:xfrm>
          <a:prstGeom prst="ellipse">
            <a:avLst/>
          </a:prstGeom>
          <a:solidFill>
            <a:srgbClr val="F26B21"/>
          </a:solidFill>
          <a:ln w="12700">
            <a:solidFill>
              <a:srgbClr val="F26B21"/>
            </a:solidFill>
            <a:prstDash val="solid"/>
          </a:ln>
        </p:spPr>
      </p:sp>
      <p:pic>
        <p:nvPicPr>
          <p:cNvPr id="22" name="icon truck" descr="preencoded.png">    </p:cNvPr>
          <p:cNvPicPr>
            <a:picLocks noChangeAspect="1"/>
          </p:cNvPicPr>
          <p:nvPr/>
        </p:nvPicPr>
        <p:blipFill>
          <a:blip r:embed="rId1"/>
          <a:stretch>
            <a:fillRect/>
          </a:stretch>
        </p:blipFill>
        <p:spPr>
          <a:xfrm>
            <a:off x="1024128" y="4361688"/>
            <a:ext cx="329184" cy="329184"/>
          </a:xfrm>
          <a:prstGeom prst="rect">
            <a:avLst/>
          </a:prstGeom>
        </p:spPr>
      </p:pic>
      <p:sp>
        <p:nvSpPr>
          <p:cNvPr id="23" name="Text 20"/>
          <p:cNvSpPr txBox="1"/>
          <p:nvPr/>
        </p:nvSpPr>
        <p:spPr>
          <a:xfrm>
            <a:off x="1783080" y="4160520"/>
            <a:ext cx="9601200" cy="411480"/>
          </a:xfrm>
          <a:prstGeom prst="rect">
            <a:avLst/>
          </a:prstGeom>
          <a:noFill/>
          <a:ln/>
        </p:spPr>
        <p:txBody>
          <a:bodyPr wrap="square" lIns="0" tIns="0" rIns="0" bIns="0" rtlCol="0" anchor="ctr"/>
          <a:lstStyle/>
          <a:p>
            <a:pPr indent="0" marL="0">
              <a:buNone/>
            </a:pPr>
            <a:r>
              <a:rPr lang="en-US" sz="1600" b="1" dirty="0">
                <a:solidFill>
                  <a:schemeClr val="bg1"/>
                </a:solidFill>
              </a:rPr>
              <a:t>남는 트럭과 모자라는 트럭이 동시에 생긴다</a:t>
            </a:r>
            <a:endParaRPr lang="en-US" sz="1600" dirty="0"/>
          </a:p>
        </p:txBody>
      </p:sp>
      <p:sp>
        <p:nvSpPr>
          <p:cNvPr id="24" name="Text 21"/>
          <p:cNvSpPr txBox="1"/>
          <p:nvPr/>
        </p:nvSpPr>
        <p:spPr>
          <a:xfrm>
            <a:off x="1783080" y="4617720"/>
            <a:ext cx="9601200" cy="1097280"/>
          </a:xfrm>
          <a:prstGeom prst="rect">
            <a:avLst/>
          </a:prstGeom>
          <a:noFill/>
          <a:ln/>
        </p:spPr>
        <p:txBody>
          <a:bodyPr wrap="square" lIns="0" tIns="0" rIns="0" bIns="0" rtlCol="0" anchor="t"/>
          <a:lstStyle/>
          <a:p>
            <a:pPr indent="0" marL="0">
              <a:buNone/>
            </a:pPr>
            <a:r>
              <a:rPr lang="en-US" sz="1250" dirty="0">
                <a:solidFill>
                  <a:schemeClr val="accent5"/>
                </a:solidFill>
              </a:rPr>
              <a:t>무게가 틀리면 마대·트럭 수가 틀리고, 위치가 틀리면 동선·인원이 틀립니다. 유입 직후 며칠 안에 '어디에 얼마나'를 재서 배차하면 장비 대기 일수와 처리비가 줄어듭니다. 거제는 2011년에도 같은 일을 겪었고, 작은 지자체일수록 수거 전에 재는 것이 예산 그 자체입니다.</a:t>
            </a:r>
            <a:endParaRPr lang="en-US" sz="1250" dirty="0"/>
          </a:p>
        </p:txBody>
      </p:sp>
      <p:sp>
        <p:nvSpPr>
          <p:cNvPr id="2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5"/>
                </a:solidFill>
              </a:rPr>
              <a:t>출처: 서울신문 2026.09.09 「광복절 연휴 폭우 해양쓰레기, 경남 연안 96% 수거」(1,180 t 유입, 거제 757 t·통영 190 t) · Jang, Hong, Lee, Lee &amp; Shim (2014) Marine Pollution Bulletin 81:49–54</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지금 쓰는 세 가지 눈, 모두 무게를 못 본다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신고·순찰은 느리고, 위성은 패치만 보고, 2D 정사영상은 높이가 없어 무게를 못 냅니다.</a:t>
            </a:r>
            <a:endParaRPr lang="en-US" sz="1400" dirty="0"/>
          </a:p>
        </p:txBody>
      </p:sp>
      <p:sp>
        <p:nvSpPr>
          <p:cNvPr id="4" name="card 사람 신고 · 순찰"/>
          <p:cNvSpPr/>
          <p:nvPr/>
        </p:nvSpPr>
        <p:spPr>
          <a:xfrm>
            <a:off x="548640" y="1783080"/>
            <a:ext cx="3566160" cy="365760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Ey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3017520" cy="384048"/>
          </a:xfrm>
          <a:prstGeom prst="rect">
            <a:avLst/>
          </a:prstGeom>
          <a:noFill/>
          <a:ln/>
        </p:spPr>
        <p:txBody>
          <a:bodyPr wrap="square" lIns="0" tIns="0" rIns="0" bIns="0" rtlCol="0" anchor="t"/>
          <a:lstStyle/>
          <a:p>
            <a:pPr indent="0" marL="0">
              <a:buNone/>
            </a:pPr>
            <a:r>
              <a:rPr lang="en-US" sz="1500" b="1" dirty="0">
                <a:solidFill>
                  <a:schemeClr val="tx1"/>
                </a:solidFill>
              </a:rPr>
              <a:t>사람 신고 · 순찰</a:t>
            </a:r>
            <a:endParaRPr lang="en-US" sz="1500" dirty="0"/>
          </a:p>
        </p:txBody>
      </p:sp>
      <p:sp>
        <p:nvSpPr>
          <p:cNvPr id="8" name="Text 5"/>
          <p:cNvSpPr txBox="1"/>
          <p:nvPr/>
        </p:nvSpPr>
        <p:spPr>
          <a:xfrm>
            <a:off x="822960" y="3209544"/>
            <a:ext cx="30175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현존량의 90%가 침적·해변에 흩어져 있는데 탐지는 신고와 순찰에 의존합니다. 국가 해안쓰레기 모니터링은 2개월에 1회, 정점 40~60곳만 조사합니다.</a:t>
            </a:r>
            <a:endParaRPr lang="en-US" sz="1250" dirty="0"/>
          </a:p>
        </p:txBody>
      </p:sp>
      <p:sp>
        <p:nvSpPr>
          <p:cNvPr id="9" name="tag"/>
          <p:cNvSpPr/>
          <p:nvPr/>
        </p:nvSpPr>
        <p:spPr>
          <a:xfrm>
            <a:off x="822960" y="5029200"/>
            <a:ext cx="2468880" cy="274320"/>
          </a:xfrm>
          <a:prstGeom prst="roundRect">
            <a:avLst>
              <a:gd name="adj" fmla="val 50000"/>
            </a:avLst>
          </a:prstGeom>
          <a:solidFill>
            <a:srgbClr val="FFD9C2"/>
          </a:solidFill>
          <a:ln w="12700">
            <a:solidFill>
              <a:srgbClr val="FFD9C2"/>
            </a:solidFill>
            <a:prstDash val="solid"/>
          </a:ln>
        </p:spPr>
      </p:sp>
      <p:sp>
        <p:nvSpPr>
          <p:cNvPr id="10" name="Text 7"/>
          <p:cNvSpPr txBox="1"/>
          <p:nvPr/>
        </p:nvSpPr>
        <p:spPr>
          <a:xfrm>
            <a:off x="822960" y="5029200"/>
            <a:ext cx="2468880" cy="274320"/>
          </a:xfrm>
          <a:prstGeom prst="rect">
            <a:avLst/>
          </a:prstGeom>
          <a:noFill/>
          <a:ln/>
        </p:spPr>
        <p:txBody>
          <a:bodyPr wrap="square" lIns="0" tIns="0" rIns="0" bIns="0" rtlCol="0" anchor="ctr"/>
          <a:lstStyle/>
          <a:p>
            <a:pPr algn="ctr" indent="0" marL="0">
              <a:buNone/>
            </a:pPr>
            <a:r>
              <a:rPr lang="en-US" sz="950" b="1" dirty="0">
                <a:solidFill>
                  <a:schemeClr val="tx2"/>
                </a:solidFill>
              </a:rPr>
              <a:t>느리고 범위가 좁다</a:t>
            </a:r>
            <a:endParaRPr lang="en-US" sz="950" dirty="0"/>
          </a:p>
        </p:txBody>
      </p:sp>
      <p:sp>
        <p:nvSpPr>
          <p:cNvPr id="11" name="card 위성 영상"/>
          <p:cNvSpPr/>
          <p:nvPr/>
        </p:nvSpPr>
        <p:spPr>
          <a:xfrm>
            <a:off x="4297680" y="1783080"/>
            <a:ext cx="3566160" cy="365760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4572000" y="2039112"/>
            <a:ext cx="566928" cy="566928"/>
          </a:xfrm>
          <a:prstGeom prst="ellipse">
            <a:avLst/>
          </a:prstGeom>
          <a:solidFill>
            <a:srgbClr val="0B3C5D"/>
          </a:solidFill>
          <a:ln w="12700">
            <a:solidFill>
              <a:srgbClr val="0B3C5D"/>
            </a:solidFill>
            <a:prstDash val="solid"/>
          </a:ln>
        </p:spPr>
      </p:sp>
      <p:pic>
        <p:nvPicPr>
          <p:cNvPr id="13" name="icon FaSatellite" descr="preencoded.png">    </p:cNvPr>
          <p:cNvPicPr>
            <a:picLocks noChangeAspect="1"/>
          </p:cNvPicPr>
          <p:nvPr/>
        </p:nvPicPr>
        <p:blipFill>
          <a:blip r:embed="rId2"/>
          <a:stretch>
            <a:fillRect/>
          </a:stretch>
        </p:blipFill>
        <p:spPr>
          <a:xfrm>
            <a:off x="4709160" y="2176272"/>
            <a:ext cx="292608" cy="292608"/>
          </a:xfrm>
          <a:prstGeom prst="rect">
            <a:avLst/>
          </a:prstGeom>
        </p:spPr>
      </p:pic>
      <p:sp>
        <p:nvSpPr>
          <p:cNvPr id="14" name="Text 10"/>
          <p:cNvSpPr txBox="1"/>
          <p:nvPr/>
        </p:nvSpPr>
        <p:spPr>
          <a:xfrm>
            <a:off x="4572000" y="2770632"/>
            <a:ext cx="3017520" cy="384048"/>
          </a:xfrm>
          <a:prstGeom prst="rect">
            <a:avLst/>
          </a:prstGeom>
          <a:noFill/>
          <a:ln/>
        </p:spPr>
        <p:txBody>
          <a:bodyPr wrap="square" lIns="0" tIns="0" rIns="0" bIns="0" rtlCol="0" anchor="t"/>
          <a:lstStyle/>
          <a:p>
            <a:pPr indent="0" marL="0">
              <a:buNone/>
            </a:pPr>
            <a:r>
              <a:rPr lang="en-US" sz="1500" b="1" dirty="0">
                <a:solidFill>
                  <a:schemeClr val="tx1"/>
                </a:solidFill>
              </a:rPr>
              <a:t>위성 영상</a:t>
            </a:r>
            <a:endParaRPr lang="en-US" sz="1500" dirty="0"/>
          </a:p>
        </p:txBody>
      </p:sp>
      <p:sp>
        <p:nvSpPr>
          <p:cNvPr id="15" name="Text 11"/>
          <p:cNvSpPr txBox="1"/>
          <p:nvPr/>
        </p:nvSpPr>
        <p:spPr>
          <a:xfrm>
            <a:off x="4572000" y="3209544"/>
            <a:ext cx="30175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집적 패치의 위치와 변화는 잡지만 재질·부피는 확정하지 못합니다. 해상도 때문에 수십 cm 물체 하나하나의 무게로 내려가지 않습니다.</a:t>
            </a:r>
            <a:endParaRPr lang="en-US" sz="1250" dirty="0"/>
          </a:p>
        </p:txBody>
      </p:sp>
      <p:sp>
        <p:nvSpPr>
          <p:cNvPr id="16" name="tag"/>
          <p:cNvSpPr/>
          <p:nvPr/>
        </p:nvSpPr>
        <p:spPr>
          <a:xfrm>
            <a:off x="4572000" y="5029200"/>
            <a:ext cx="2468880" cy="274320"/>
          </a:xfrm>
          <a:prstGeom prst="roundRect">
            <a:avLst>
              <a:gd name="adj" fmla="val 50000"/>
            </a:avLst>
          </a:prstGeom>
          <a:solidFill>
            <a:srgbClr val="FFD9C2"/>
          </a:solidFill>
          <a:ln w="12700">
            <a:solidFill>
              <a:srgbClr val="FFD9C2"/>
            </a:solidFill>
            <a:prstDash val="solid"/>
          </a:ln>
        </p:spPr>
      </p:sp>
      <p:sp>
        <p:nvSpPr>
          <p:cNvPr id="17" name="Text 13"/>
          <p:cNvSpPr txBox="1"/>
          <p:nvPr/>
        </p:nvSpPr>
        <p:spPr>
          <a:xfrm>
            <a:off x="4572000" y="5029200"/>
            <a:ext cx="2468880" cy="274320"/>
          </a:xfrm>
          <a:prstGeom prst="rect">
            <a:avLst/>
          </a:prstGeom>
          <a:noFill/>
          <a:ln/>
        </p:spPr>
        <p:txBody>
          <a:bodyPr wrap="square" lIns="0" tIns="0" rIns="0" bIns="0" rtlCol="0" anchor="ctr"/>
          <a:lstStyle/>
          <a:p>
            <a:pPr algn="ctr" indent="0" marL="0">
              <a:buNone/>
            </a:pPr>
            <a:r>
              <a:rPr lang="en-US" sz="950" b="1" dirty="0">
                <a:solidFill>
                  <a:schemeClr val="tx2"/>
                </a:solidFill>
              </a:rPr>
              <a:t>넓게 보지만 재질·부피 불가</a:t>
            </a:r>
            <a:endParaRPr lang="en-US" sz="950" dirty="0"/>
          </a:p>
        </p:txBody>
      </p:sp>
      <p:sp>
        <p:nvSpPr>
          <p:cNvPr id="18" name="card 드론 2D 정사영상"/>
          <p:cNvSpPr/>
          <p:nvPr/>
        </p:nvSpPr>
        <p:spPr>
          <a:xfrm>
            <a:off x="8046720" y="1783080"/>
            <a:ext cx="3566160" cy="365760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icon circle"/>
          <p:cNvSpPr/>
          <p:nvPr/>
        </p:nvSpPr>
        <p:spPr>
          <a:xfrm>
            <a:off x="8321040" y="2039112"/>
            <a:ext cx="566928" cy="566928"/>
          </a:xfrm>
          <a:prstGeom prst="ellipse">
            <a:avLst/>
          </a:prstGeom>
          <a:solidFill>
            <a:srgbClr val="0B3C5D"/>
          </a:solidFill>
          <a:ln w="12700">
            <a:solidFill>
              <a:srgbClr val="0B3C5D"/>
            </a:solidFill>
            <a:prstDash val="solid"/>
          </a:ln>
        </p:spPr>
      </p:sp>
      <p:pic>
        <p:nvPicPr>
          <p:cNvPr id="20" name="icon FaCamera" descr="preencoded.png">    </p:cNvPr>
          <p:cNvPicPr>
            <a:picLocks noChangeAspect="1"/>
          </p:cNvPicPr>
          <p:nvPr/>
        </p:nvPicPr>
        <p:blipFill>
          <a:blip r:embed="rId3"/>
          <a:stretch>
            <a:fillRect/>
          </a:stretch>
        </p:blipFill>
        <p:spPr>
          <a:xfrm>
            <a:off x="8458200" y="2176272"/>
            <a:ext cx="292608" cy="292608"/>
          </a:xfrm>
          <a:prstGeom prst="rect">
            <a:avLst/>
          </a:prstGeom>
        </p:spPr>
      </p:pic>
      <p:sp>
        <p:nvSpPr>
          <p:cNvPr id="21" name="Text 16"/>
          <p:cNvSpPr txBox="1"/>
          <p:nvPr/>
        </p:nvSpPr>
        <p:spPr>
          <a:xfrm>
            <a:off x="8321040" y="2770632"/>
            <a:ext cx="3017520" cy="384048"/>
          </a:xfrm>
          <a:prstGeom prst="rect">
            <a:avLst/>
          </a:prstGeom>
          <a:noFill/>
          <a:ln/>
        </p:spPr>
        <p:txBody>
          <a:bodyPr wrap="square" lIns="0" tIns="0" rIns="0" bIns="0" rtlCol="0" anchor="t"/>
          <a:lstStyle/>
          <a:p>
            <a:pPr indent="0" marL="0">
              <a:buNone/>
            </a:pPr>
            <a:r>
              <a:rPr lang="en-US" sz="1500" b="1" dirty="0">
                <a:solidFill>
                  <a:schemeClr val="tx1"/>
                </a:solidFill>
              </a:rPr>
              <a:t>드론 2D 정사영상</a:t>
            </a:r>
            <a:endParaRPr lang="en-US" sz="1500" dirty="0"/>
          </a:p>
        </p:txBody>
      </p:sp>
      <p:sp>
        <p:nvSpPr>
          <p:cNvPr id="22" name="Text 17"/>
          <p:cNvSpPr txBox="1"/>
          <p:nvPr/>
        </p:nvSpPr>
        <p:spPr>
          <a:xfrm>
            <a:off x="8321040" y="3209544"/>
            <a:ext cx="3017520" cy="2103120"/>
          </a:xfrm>
          <a:prstGeom prst="rect">
            <a:avLst/>
          </a:prstGeom>
          <a:noFill/>
          <a:ln/>
        </p:spPr>
        <p:txBody>
          <a:bodyPr wrap="square" lIns="0" tIns="0" rIns="0" bIns="0" rtlCol="0" anchor="t"/>
          <a:lstStyle/>
          <a:p>
            <a:pPr indent="0" marL="0">
              <a:spcAft>
                <a:spcPts val="400"/>
              </a:spcAft>
              <a:buNone/>
            </a:pPr>
            <a:r>
              <a:rPr lang="en-US" sz="1250" dirty="0">
                <a:solidFill>
                  <a:schemeClr val="accent4"/>
                </a:solidFill>
              </a:rPr>
              <a:t>업체 자료는 3 cm/px 정사영상뿐이라 높이(DSM)가 없습니다. 그래서 무게를 '라벨 면적 × 고정 계수'로 계산하고, 위치는 드론 GPS 그대로 찍혀 50 m씩 빗나갑니다.</a:t>
            </a:r>
            <a:endParaRPr lang="en-US" sz="1250" dirty="0"/>
          </a:p>
        </p:txBody>
      </p:sp>
      <p:sp>
        <p:nvSpPr>
          <p:cNvPr id="23" name="tag"/>
          <p:cNvSpPr/>
          <p:nvPr/>
        </p:nvSpPr>
        <p:spPr>
          <a:xfrm>
            <a:off x="8321040" y="5029200"/>
            <a:ext cx="2468880" cy="274320"/>
          </a:xfrm>
          <a:prstGeom prst="roundRect">
            <a:avLst>
              <a:gd name="adj" fmla="val 50000"/>
            </a:avLst>
          </a:prstGeom>
          <a:solidFill>
            <a:srgbClr val="FFD9C2"/>
          </a:solidFill>
          <a:ln w="12700">
            <a:solidFill>
              <a:srgbClr val="FFD9C2"/>
            </a:solidFill>
            <a:prstDash val="solid"/>
          </a:ln>
        </p:spPr>
      </p:sp>
      <p:sp>
        <p:nvSpPr>
          <p:cNvPr id="24" name="Text 19"/>
          <p:cNvSpPr txBox="1"/>
          <p:nvPr/>
        </p:nvSpPr>
        <p:spPr>
          <a:xfrm>
            <a:off x="8321040" y="5029200"/>
            <a:ext cx="2468880" cy="274320"/>
          </a:xfrm>
          <a:prstGeom prst="rect">
            <a:avLst/>
          </a:prstGeom>
          <a:noFill/>
          <a:ln/>
        </p:spPr>
        <p:txBody>
          <a:bodyPr wrap="square" lIns="0" tIns="0" rIns="0" bIns="0" rtlCol="0" anchor="ctr"/>
          <a:lstStyle/>
          <a:p>
            <a:pPr algn="ctr" indent="0" marL="0">
              <a:buNone/>
            </a:pPr>
            <a:r>
              <a:rPr lang="en-US" sz="950" b="1" dirty="0">
                <a:solidFill>
                  <a:schemeClr val="tx2"/>
                </a:solidFill>
              </a:rPr>
              <a:t>가까이 보지만 높이가 없다</a:t>
            </a:r>
            <a:endParaRPr lang="en-US" sz="950" dirty="0"/>
          </a:p>
        </p:txBody>
      </p:sp>
      <p:sp>
        <p:nvSpPr>
          <p:cNvPr id="2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해양수산부 「해양폐기물 저감 대책」 현존량 구성 · 해양환경공단 국가 해안쓰레기 모니터링(2008~, 2개월 주기) · 업체 제보 및 라벨 자료(문갑도, 2026.09)</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업체 라벨 42개: 기록 1.3 kg, 3D 부피로 다시 재면 101 kg</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문갑도 업체 라벨의 weight_kg는 실측이 아니라 '라벨 면적 × 재질 계수'입니다. 같은 물체를 3D 부피 × 겉보기밀도로 계산하면 101 kg(가정 밀도, 범위 15~1,328 kg), 현실적 두께 범위로는 115~1,355 kg입니다.</a:t>
            </a:r>
            <a:endParaRPr lang="en-US" sz="1400" dirty="0"/>
          </a:p>
        </p:txBody>
      </p:sp>
      <p:pic>
        <p:nvPicPr>
          <p:cNvPr id="4" name="업체 라벨 기록 무게 vs 현실 범위" descr="/tmp/claude-0/-home-user-hsr1m/6022f0b4-b8f8-52b0-8810-837ebd6bfbe9/scratchpad/deck/img/fig_12_업체라벨_기록무게_vs_현실범위.jpg">    </p:cNvPr>
          <p:cNvPicPr>
            <a:picLocks noChangeAspect="1"/>
          </p:cNvPicPr>
          <p:nvPr/>
        </p:nvPicPr>
        <p:blipFill>
          <a:blip r:embed="rId1"/>
          <a:stretch>
            <a:fillRect/>
          </a:stretch>
        </p:blipFill>
        <p:spPr>
          <a:xfrm>
            <a:off x="548640" y="1783080"/>
            <a:ext cx="7223760" cy="2788920"/>
          </a:xfrm>
          <a:prstGeom prst="rect">
            <a:avLst/>
          </a:prstGeom>
        </p:spPr>
      </p:pic>
      <p:sp>
        <p:nvSpPr>
          <p:cNvPr id="5" name="Text 2"/>
          <p:cNvSpPr txBox="1"/>
          <p:nvPr/>
        </p:nvSpPr>
        <p:spPr>
          <a:xfrm>
            <a:off x="548640" y="4599432"/>
            <a:ext cx="7223760" cy="457200"/>
          </a:xfrm>
          <a:prstGeom prst="rect">
            <a:avLst/>
          </a:prstGeom>
          <a:noFill/>
          <a:ln/>
        </p:spPr>
        <p:txBody>
          <a:bodyPr wrap="square" lIns="0" tIns="0" rIns="0" bIns="0" rtlCol="0" anchor="t"/>
          <a:lstStyle/>
          <a:p>
            <a:pPr indent="0" marL="0">
              <a:buNone/>
            </a:pPr>
            <a:r>
              <a:rPr lang="en-US" sz="950" dirty="0">
                <a:solidFill>
                  <a:schemeClr val="accent4"/>
                </a:solidFill>
              </a:rPr>
              <a:t>왼쪽: 업체 라벨 42개의 기록 무게 분포(합계 1.32 kg, 최대 0.25 kg). 오른쪽: 같은 면적의 현실적 범위(두께 2~35 cm × 재질 밀도, 로그 눈금).</a:t>
            </a:r>
            <a:endParaRPr lang="en-US" sz="950" dirty="0"/>
          </a:p>
        </p:txBody>
      </p:sp>
      <p:sp>
        <p:nvSpPr>
          <p:cNvPr id="6" name="card 원인은 하나: 높이(두께)가 없다"/>
          <p:cNvSpPr/>
          <p:nvPr/>
        </p:nvSpPr>
        <p:spPr>
          <a:xfrm>
            <a:off x="548640" y="5074920"/>
            <a:ext cx="722376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822960" y="5330952"/>
            <a:ext cx="6675120" cy="384048"/>
          </a:xfrm>
          <a:prstGeom prst="rect">
            <a:avLst/>
          </a:prstGeom>
          <a:noFill/>
          <a:ln/>
        </p:spPr>
        <p:txBody>
          <a:bodyPr wrap="square" lIns="0" tIns="0" rIns="0" bIns="0" rtlCol="0" anchor="t"/>
          <a:lstStyle/>
          <a:p>
            <a:pPr indent="0" marL="0">
              <a:buNone/>
            </a:pPr>
            <a:r>
              <a:rPr lang="en-US" sz="1250" b="1" dirty="0">
                <a:solidFill>
                  <a:schemeClr val="tx1"/>
                </a:solidFill>
              </a:rPr>
              <a:t>원인은 하나: 높이(두께)가 없다</a:t>
            </a:r>
            <a:endParaRPr lang="en-US" sz="1250" dirty="0"/>
          </a:p>
        </p:txBody>
      </p:sp>
      <p:sp>
        <p:nvSpPr>
          <p:cNvPr id="8" name="Text 5"/>
          <p:cNvSpPr txBox="1"/>
          <p:nvPr/>
        </p:nvSpPr>
        <p:spPr>
          <a:xfrm>
            <a:off x="822960" y="5769864"/>
            <a:ext cx="6675120" cy="4572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업체 계수는 스티로폼 0.012 · 로프·어망 0.024 · 플라스틱 0.020 kg/m². 3 cm/px 정사영상에는 DSM이 없어 부피를 잴 수 없으므로, 영상에서 3D를 만들어 높이를 직접 잽니다.</a:t>
            </a:r>
            <a:endParaRPr lang="en-US" sz="1050" dirty="0"/>
          </a:p>
        </p:txBody>
      </p:sp>
      <p:sp>
        <p:nvSpPr>
          <p:cNvPr id="9" name="stat 1.54 m² 스티로폼 더미의 기록 무게"/>
          <p:cNvSpPr/>
          <p:nvPr/>
        </p:nvSpPr>
        <p:spPr>
          <a:xfrm>
            <a:off x="8046720" y="1783080"/>
            <a:ext cx="359359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Text 7"/>
          <p:cNvSpPr txBox="1"/>
          <p:nvPr/>
        </p:nvSpPr>
        <p:spPr>
          <a:xfrm>
            <a:off x="8302752" y="1984248"/>
            <a:ext cx="3136392" cy="310896"/>
          </a:xfrm>
          <a:prstGeom prst="rect">
            <a:avLst/>
          </a:prstGeom>
          <a:noFill/>
          <a:ln/>
        </p:spPr>
        <p:txBody>
          <a:bodyPr wrap="square" lIns="0" tIns="0" rIns="0" bIns="0" rtlCol="0" anchor="ctr"/>
          <a:lstStyle/>
          <a:p>
            <a:pPr indent="0" marL="0">
              <a:buNone/>
            </a:pPr>
            <a:r>
              <a:rPr lang="en-US" sz="1100" dirty="0">
                <a:solidFill>
                  <a:schemeClr val="accent4"/>
                </a:solidFill>
              </a:rPr>
              <a:t>1.54 m² 스티로폼 더미의 기록 무게</a:t>
            </a:r>
            <a:endParaRPr lang="en-US" sz="1100" dirty="0"/>
          </a:p>
        </p:txBody>
      </p:sp>
      <p:sp>
        <p:nvSpPr>
          <p:cNvPr id="11" name="Text 8"/>
          <p:cNvSpPr txBox="1"/>
          <p:nvPr/>
        </p:nvSpPr>
        <p:spPr>
          <a:xfrm>
            <a:off x="8302752" y="2286000"/>
            <a:ext cx="3136392" cy="685800"/>
          </a:xfrm>
          <a:prstGeom prst="rect">
            <a:avLst/>
          </a:prstGeom>
          <a:noFill/>
          <a:ln/>
        </p:spPr>
        <p:txBody>
          <a:bodyPr wrap="square" lIns="0" tIns="0" rIns="0" bIns="0" rtlCol="0" anchor="ctr"/>
          <a:lstStyle/>
          <a:p>
            <a:pPr indent="0" marL="0">
              <a:buNone/>
            </a:pPr>
            <a:r>
              <a:rPr lang="en-US" sz="2800" b="1" dirty="0">
                <a:solidFill>
                  <a:schemeClr val="accent2"/>
                </a:solidFill>
              </a:rPr>
              <a:t>0.018</a:t>
            </a:r>
            <a:pPr indent="0" marL="0">
              <a:buNone/>
            </a:pPr>
            <a:r>
              <a:rPr lang="en-US" sz="1300" b="1" dirty="0">
                <a:solidFill>
                  <a:schemeClr val="accent4"/>
                </a:solidFill>
              </a:rPr>
              <a:t> kg</a:t>
            </a:r>
            <a:endParaRPr lang="en-US" sz="2800" dirty="0"/>
          </a:p>
        </p:txBody>
      </p:sp>
      <p:sp>
        <p:nvSpPr>
          <p:cNvPr id="12" name="Text 9"/>
          <p:cNvSpPr txBox="1"/>
          <p:nvPr/>
        </p:nvSpPr>
        <p:spPr>
          <a:xfrm>
            <a:off x="8302752" y="2990088"/>
            <a:ext cx="3136392" cy="-45720"/>
          </a:xfrm>
          <a:prstGeom prst="rect">
            <a:avLst/>
          </a:prstGeom>
          <a:noFill/>
          <a:ln/>
        </p:spPr>
        <p:txBody>
          <a:bodyPr wrap="square" lIns="0" tIns="0" rIns="0" bIns="0" rtlCol="0" anchor="t"/>
          <a:lstStyle/>
          <a:p>
            <a:pPr indent="0" marL="0">
              <a:buNone/>
            </a:pPr>
            <a:r>
              <a:rPr lang="en-US" sz="1050" dirty="0">
                <a:solidFill>
                  <a:schemeClr val="accent4"/>
                </a:solidFill>
              </a:rPr>
              <a:t>현실적으로는 0.3~17 kg</a:t>
            </a:r>
            <a:endParaRPr lang="en-US" sz="1050" dirty="0"/>
          </a:p>
        </p:txBody>
      </p:sp>
      <p:sp>
        <p:nvSpPr>
          <p:cNvPr id="13" name="stat 같은 42개, 3D 부피 × 겉보기밀도"/>
          <p:cNvSpPr/>
          <p:nvPr/>
        </p:nvSpPr>
        <p:spPr>
          <a:xfrm>
            <a:off x="8046720" y="3200400"/>
            <a:ext cx="359359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4" name="Text 11"/>
          <p:cNvSpPr txBox="1"/>
          <p:nvPr/>
        </p:nvSpPr>
        <p:spPr>
          <a:xfrm>
            <a:off x="8302752" y="3401568"/>
            <a:ext cx="3136392" cy="310896"/>
          </a:xfrm>
          <a:prstGeom prst="rect">
            <a:avLst/>
          </a:prstGeom>
          <a:noFill/>
          <a:ln/>
        </p:spPr>
        <p:txBody>
          <a:bodyPr wrap="square" lIns="0" tIns="0" rIns="0" bIns="0" rtlCol="0" anchor="ctr"/>
          <a:lstStyle/>
          <a:p>
            <a:pPr indent="0" marL="0">
              <a:buNone/>
            </a:pPr>
            <a:r>
              <a:rPr lang="en-US" sz="1100" dirty="0">
                <a:solidFill>
                  <a:schemeClr val="accent4"/>
                </a:solidFill>
              </a:rPr>
              <a:t>같은 42개, 3D 부피 × 겉보기밀도</a:t>
            </a:r>
            <a:endParaRPr lang="en-US" sz="1100" dirty="0"/>
          </a:p>
        </p:txBody>
      </p:sp>
      <p:sp>
        <p:nvSpPr>
          <p:cNvPr id="15" name="Text 12"/>
          <p:cNvSpPr txBox="1"/>
          <p:nvPr/>
        </p:nvSpPr>
        <p:spPr>
          <a:xfrm>
            <a:off x="8302752" y="3703320"/>
            <a:ext cx="3136392" cy="685800"/>
          </a:xfrm>
          <a:prstGeom prst="rect">
            <a:avLst/>
          </a:prstGeom>
          <a:noFill/>
          <a:ln/>
        </p:spPr>
        <p:txBody>
          <a:bodyPr wrap="square" lIns="0" tIns="0" rIns="0" bIns="0" rtlCol="0" anchor="ctr"/>
          <a:lstStyle/>
          <a:p>
            <a:pPr indent="0" marL="0">
              <a:buNone/>
            </a:pPr>
            <a:r>
              <a:rPr lang="en-US" sz="2800" b="1" dirty="0">
                <a:solidFill>
                  <a:schemeClr val="tx2"/>
                </a:solidFill>
              </a:rPr>
              <a:t>101</a:t>
            </a:r>
            <a:pPr indent="0" marL="0">
              <a:buNone/>
            </a:pPr>
            <a:r>
              <a:rPr lang="en-US" sz="1300" b="1" dirty="0">
                <a:solidFill>
                  <a:schemeClr val="accent4"/>
                </a:solidFill>
              </a:rPr>
              <a:t> kg</a:t>
            </a:r>
            <a:endParaRPr lang="en-US" sz="2800" dirty="0"/>
          </a:p>
        </p:txBody>
      </p:sp>
      <p:sp>
        <p:nvSpPr>
          <p:cNvPr id="16" name="Text 13"/>
          <p:cNvSpPr txBox="1"/>
          <p:nvPr/>
        </p:nvSpPr>
        <p:spPr>
          <a:xfrm>
            <a:off x="8302752" y="4407408"/>
            <a:ext cx="3136392" cy="-45720"/>
          </a:xfrm>
          <a:prstGeom prst="rect">
            <a:avLst/>
          </a:prstGeom>
          <a:noFill/>
          <a:ln/>
        </p:spPr>
        <p:txBody>
          <a:bodyPr wrap="square" lIns="0" tIns="0" rIns="0" bIns="0" rtlCol="0" anchor="t"/>
          <a:lstStyle/>
          <a:p>
            <a:pPr indent="0" marL="0">
              <a:buNone/>
            </a:pPr>
            <a:r>
              <a:rPr lang="en-US" sz="1050" dirty="0">
                <a:solidFill>
                  <a:schemeClr val="accent4"/>
                </a:solidFill>
              </a:rPr>
              <a:t>범위 15~1,328 kg · 가정 밀도 · 실측 전</a:t>
            </a:r>
            <a:endParaRPr lang="en-US" sz="1050" dirty="0"/>
          </a:p>
        </p:txBody>
      </p:sp>
      <p:sp>
        <p:nvSpPr>
          <p:cNvPr id="17" name="stat 탐지 위치 오차 (업체 제보)"/>
          <p:cNvSpPr/>
          <p:nvPr/>
        </p:nvSpPr>
        <p:spPr>
          <a:xfrm>
            <a:off x="8046720" y="4617720"/>
            <a:ext cx="359359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8" name="Text 15"/>
          <p:cNvSpPr txBox="1"/>
          <p:nvPr/>
        </p:nvSpPr>
        <p:spPr>
          <a:xfrm>
            <a:off x="8302752" y="4818888"/>
            <a:ext cx="3136392" cy="310896"/>
          </a:xfrm>
          <a:prstGeom prst="rect">
            <a:avLst/>
          </a:prstGeom>
          <a:noFill/>
          <a:ln/>
        </p:spPr>
        <p:txBody>
          <a:bodyPr wrap="square" lIns="0" tIns="0" rIns="0" bIns="0" rtlCol="0" anchor="ctr"/>
          <a:lstStyle/>
          <a:p>
            <a:pPr indent="0" marL="0">
              <a:buNone/>
            </a:pPr>
            <a:r>
              <a:rPr lang="en-US" sz="1100" dirty="0">
                <a:solidFill>
                  <a:schemeClr val="accent4"/>
                </a:solidFill>
              </a:rPr>
              <a:t>탐지 위치 오차 (업체 제보)</a:t>
            </a:r>
            <a:endParaRPr lang="en-US" sz="1100" dirty="0"/>
          </a:p>
        </p:txBody>
      </p:sp>
      <p:sp>
        <p:nvSpPr>
          <p:cNvPr id="19" name="Text 16"/>
          <p:cNvSpPr txBox="1"/>
          <p:nvPr/>
        </p:nvSpPr>
        <p:spPr>
          <a:xfrm>
            <a:off x="8302752" y="5120640"/>
            <a:ext cx="3136392" cy="685800"/>
          </a:xfrm>
          <a:prstGeom prst="rect">
            <a:avLst/>
          </a:prstGeom>
          <a:noFill/>
          <a:ln/>
        </p:spPr>
        <p:txBody>
          <a:bodyPr wrap="square" lIns="0" tIns="0" rIns="0" bIns="0" rtlCol="0" anchor="ctr"/>
          <a:lstStyle/>
          <a:p>
            <a:pPr indent="0" marL="0">
              <a:buNone/>
            </a:pPr>
            <a:r>
              <a:rPr lang="en-US" sz="2800" b="1" dirty="0">
                <a:solidFill>
                  <a:schemeClr val="tx2"/>
                </a:solidFill>
              </a:rPr>
              <a:t>50</a:t>
            </a:r>
            <a:pPr indent="0" marL="0">
              <a:buNone/>
            </a:pPr>
            <a:r>
              <a:rPr lang="en-US" sz="1300" b="1" dirty="0">
                <a:solidFill>
                  <a:schemeClr val="accent4"/>
                </a:solidFill>
              </a:rPr>
              <a:t> m</a:t>
            </a:r>
            <a:endParaRPr lang="en-US" sz="2800" dirty="0"/>
          </a:p>
        </p:txBody>
      </p:sp>
      <p:sp>
        <p:nvSpPr>
          <p:cNvPr id="20" name="Text 17"/>
          <p:cNvSpPr txBox="1"/>
          <p:nvPr/>
        </p:nvSpPr>
        <p:spPr>
          <a:xfrm>
            <a:off x="8302752" y="5824728"/>
            <a:ext cx="3136392" cy="0"/>
          </a:xfrm>
          <a:prstGeom prst="rect">
            <a:avLst/>
          </a:prstGeom>
          <a:noFill/>
          <a:ln/>
        </p:spPr>
        <p:txBody>
          <a:bodyPr wrap="square" lIns="0" tIns="0" rIns="0" bIns="0" rtlCol="0" anchor="t"/>
          <a:lstStyle/>
          <a:p>
            <a:pPr indent="0" marL="0">
              <a:buNone/>
            </a:pPr>
            <a:r>
              <a:rPr lang="en-US" sz="1050" dirty="0">
                <a:solidFill>
                  <a:schemeClr val="accent4"/>
                </a:solidFill>
              </a:rPr>
              <a:t>드론 GPS를 쓰레기 위치로 기록 + 비스듬한 촬영</a:t>
            </a:r>
            <a:endParaRPr lang="en-US" sz="1050" dirty="0"/>
          </a:p>
        </p:txBody>
      </p:sp>
      <p:sp>
        <p:nvSpPr>
          <p:cNvPr id="21"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업체 라벨 자료(문갑도 MGD, 42개) · 서비스 수거계획 산출(demo-mungap, 가정 밀도) · 팀 분석(2026.09~10) · 계수 방식의 약 40% 과대추정: Andriolo et al. (2024) MPB 202:116405</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02</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솔루션</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어디부터 날릴지, 어떤 거리에서 찍을지, 무엇이 어디에 얼마나 있는지, 그래서 트럭이 몇 대인지.</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비행 한 번이 수거계획서 한 부가 된다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입력은 드론 영상(MP4)과 비행기록(SRT)뿐입니다. 비행은 사람이 하고, 나머지 7단계는 노트북 한 대가 자동으로 수행합니다.</a:t>
            </a:r>
            <a:endParaRPr lang="en-US" sz="1400" dirty="0"/>
          </a:p>
        </p:txBody>
      </p:sp>
      <p:sp>
        <p:nvSpPr>
          <p:cNvPr id="4" name="step 어디를 날지"/>
          <p:cNvSpPr/>
          <p:nvPr/>
        </p:nvSpPr>
        <p:spPr>
          <a:xfrm>
            <a:off x="548640" y="1828800"/>
            <a:ext cx="1517904" cy="2331720"/>
          </a:xfrm>
          <a:prstGeom prst="roundRect">
            <a:avLst>
              <a:gd name="adj" fmla="val 6024"/>
            </a:avLst>
          </a:prstGeom>
          <a:solidFill>
            <a:srgbClr val="EEF3F6"/>
          </a:solidFill>
          <a:ln w="12700">
            <a:solidFill>
              <a:srgbClr val="EEF3F6"/>
            </a:solidFill>
            <a:prstDash val="solid"/>
          </a:ln>
        </p:spPr>
      </p:sp>
      <p:sp>
        <p:nvSpPr>
          <p:cNvPr id="5" name="icon circle"/>
          <p:cNvSpPr/>
          <p:nvPr/>
        </p:nvSpPr>
        <p:spPr>
          <a:xfrm>
            <a:off x="1033272" y="2011680"/>
            <a:ext cx="548640" cy="548640"/>
          </a:xfrm>
          <a:prstGeom prst="ellipse">
            <a:avLst/>
          </a:prstGeom>
          <a:solidFill>
            <a:srgbClr val="0B3C5D"/>
          </a:solidFill>
          <a:ln w="12700">
            <a:solidFill>
              <a:srgbClr val="0B3C5D"/>
            </a:solidFill>
            <a:prstDash val="solid"/>
          </a:ln>
        </p:spPr>
      </p:sp>
      <p:pic>
        <p:nvPicPr>
          <p:cNvPr id="6" name="icon FaSatellite" descr="preencoded.png">    </p:cNvPr>
          <p:cNvPicPr>
            <a:picLocks noChangeAspect="1"/>
          </p:cNvPicPr>
          <p:nvPr/>
        </p:nvPicPr>
        <p:blipFill>
          <a:blip r:embed="rId1"/>
          <a:stretch>
            <a:fillRect/>
          </a:stretch>
        </p:blipFill>
        <p:spPr>
          <a:xfrm>
            <a:off x="1170432" y="2148840"/>
            <a:ext cx="274320" cy="274320"/>
          </a:xfrm>
          <a:prstGeom prst="rect">
            <a:avLst/>
          </a:prstGeom>
        </p:spPr>
      </p:pic>
      <p:sp>
        <p:nvSpPr>
          <p:cNvPr id="7" name="Text 4"/>
          <p:cNvSpPr txBox="1"/>
          <p:nvPr/>
        </p:nvSpPr>
        <p:spPr>
          <a:xfrm>
            <a:off x="640080" y="2651760"/>
            <a:ext cx="1335024" cy="320040"/>
          </a:xfrm>
          <a:prstGeom prst="rect">
            <a:avLst/>
          </a:prstGeom>
          <a:noFill/>
          <a:ln/>
        </p:spPr>
        <p:txBody>
          <a:bodyPr wrap="square" lIns="0" tIns="0" rIns="0" bIns="0" rtlCol="0" anchor="ctr"/>
          <a:lstStyle/>
          <a:p>
            <a:pPr algn="ctr" indent="0" marL="0">
              <a:buNone/>
            </a:pPr>
            <a:r>
              <a:rPr lang="en-US" sz="1200" b="1" dirty="0">
                <a:solidFill>
                  <a:schemeClr val="tx1"/>
                </a:solidFill>
              </a:rPr>
              <a:t>1. 어디를 날지</a:t>
            </a:r>
            <a:endParaRPr lang="en-US" sz="1200" dirty="0"/>
          </a:p>
        </p:txBody>
      </p:sp>
      <p:sp>
        <p:nvSpPr>
          <p:cNvPr id="8" name="Text 5"/>
          <p:cNvSpPr txBox="1"/>
          <p:nvPr/>
        </p:nvSpPr>
        <p:spPr>
          <a:xfrm>
            <a:off x="658368" y="2999232"/>
            <a:ext cx="1298448" cy="1097280"/>
          </a:xfrm>
          <a:prstGeom prst="rect">
            <a:avLst/>
          </a:prstGeom>
          <a:noFill/>
          <a:ln/>
        </p:spPr>
        <p:txBody>
          <a:bodyPr wrap="square" lIns="0" tIns="0" rIns="0" bIns="0" rtlCol="0" anchor="t"/>
          <a:lstStyle/>
          <a:p>
            <a:pPr algn="ctr" indent="0" marL="0">
              <a:buNone/>
            </a:pPr>
            <a:r>
              <a:rPr lang="en-US" sz="1000" dirty="0">
                <a:solidFill>
                  <a:schemeClr val="accent4"/>
                </a:solidFill>
              </a:rPr>
              <a:t>위성 형상 점수(만입도·풍향 노출·띠 폭) + 조석·해류 방향</a:t>
            </a:r>
            <a:endParaRPr lang="en-US" sz="1000" dirty="0"/>
          </a:p>
        </p:txBody>
      </p:sp>
      <p:sp>
        <p:nvSpPr>
          <p:cNvPr id="9" name="step 조종자 비행"/>
          <p:cNvSpPr/>
          <p:nvPr/>
        </p:nvSpPr>
        <p:spPr>
          <a:xfrm>
            <a:off x="2135124" y="1828800"/>
            <a:ext cx="1517904" cy="2331720"/>
          </a:xfrm>
          <a:prstGeom prst="roundRect">
            <a:avLst>
              <a:gd name="adj" fmla="val 6024"/>
            </a:avLst>
          </a:prstGeom>
          <a:solidFill>
            <a:srgbClr val="EEF3F6"/>
          </a:solidFill>
          <a:ln w="12700">
            <a:solidFill>
              <a:srgbClr val="EEF3F6"/>
            </a:solidFill>
            <a:prstDash val="solid"/>
          </a:ln>
        </p:spPr>
      </p:sp>
      <p:sp>
        <p:nvSpPr>
          <p:cNvPr id="10" name="icon circle"/>
          <p:cNvSpPr/>
          <p:nvPr/>
        </p:nvSpPr>
        <p:spPr>
          <a:xfrm>
            <a:off x="2619756" y="2011680"/>
            <a:ext cx="548640" cy="548640"/>
          </a:xfrm>
          <a:prstGeom prst="ellipse">
            <a:avLst/>
          </a:prstGeom>
          <a:solidFill>
            <a:srgbClr val="0B3C5D"/>
          </a:solidFill>
          <a:ln w="12700">
            <a:solidFill>
              <a:srgbClr val="0B3C5D"/>
            </a:solidFill>
            <a:prstDash val="solid"/>
          </a:ln>
        </p:spPr>
      </p:sp>
      <p:pic>
        <p:nvPicPr>
          <p:cNvPr id="11" name="icon FaPlane" descr="preencoded.png">    </p:cNvPr>
          <p:cNvPicPr>
            <a:picLocks noChangeAspect="1"/>
          </p:cNvPicPr>
          <p:nvPr/>
        </p:nvPicPr>
        <p:blipFill>
          <a:blip r:embed="rId2"/>
          <a:stretch>
            <a:fillRect/>
          </a:stretch>
        </p:blipFill>
        <p:spPr>
          <a:xfrm>
            <a:off x="2756916" y="2148840"/>
            <a:ext cx="274320" cy="274320"/>
          </a:xfrm>
          <a:prstGeom prst="rect">
            <a:avLst/>
          </a:prstGeom>
        </p:spPr>
      </p:pic>
      <p:sp>
        <p:nvSpPr>
          <p:cNvPr id="12" name="Text 8"/>
          <p:cNvSpPr txBox="1"/>
          <p:nvPr/>
        </p:nvSpPr>
        <p:spPr>
          <a:xfrm>
            <a:off x="2226564" y="2651760"/>
            <a:ext cx="1335024" cy="320040"/>
          </a:xfrm>
          <a:prstGeom prst="rect">
            <a:avLst/>
          </a:prstGeom>
          <a:noFill/>
          <a:ln/>
        </p:spPr>
        <p:txBody>
          <a:bodyPr wrap="square" lIns="0" tIns="0" rIns="0" bIns="0" rtlCol="0" anchor="ctr"/>
          <a:lstStyle/>
          <a:p>
            <a:pPr algn="ctr" indent="0" marL="0">
              <a:buNone/>
            </a:pPr>
            <a:r>
              <a:rPr lang="en-US" sz="1200" b="1" dirty="0">
                <a:solidFill>
                  <a:schemeClr val="tx1"/>
                </a:solidFill>
              </a:rPr>
              <a:t>2. 조종자 비행</a:t>
            </a:r>
            <a:endParaRPr lang="en-US" sz="1200" dirty="0"/>
          </a:p>
        </p:txBody>
      </p:sp>
      <p:sp>
        <p:nvSpPr>
          <p:cNvPr id="13" name="Text 9"/>
          <p:cNvSpPr txBox="1"/>
          <p:nvPr/>
        </p:nvSpPr>
        <p:spPr>
          <a:xfrm>
            <a:off x="2244852" y="2999232"/>
            <a:ext cx="1298448" cy="1097280"/>
          </a:xfrm>
          <a:prstGeom prst="rect">
            <a:avLst/>
          </a:prstGeom>
          <a:noFill/>
          <a:ln/>
        </p:spPr>
        <p:txBody>
          <a:bodyPr wrap="square" lIns="0" tIns="0" rIns="0" bIns="0" rtlCol="0" anchor="t"/>
          <a:lstStyle/>
          <a:p>
            <a:pPr algn="ctr" indent="0" marL="0">
              <a:buNone/>
            </a:pPr>
            <a:r>
              <a:rPr lang="en-US" sz="1000" dirty="0">
                <a:solidFill>
                  <a:schemeClr val="accent4"/>
                </a:solidFill>
              </a:rPr>
              <a:t>경로 KML 내보내기, 고도 20 m, 애매한 곳 8 m 재방문</a:t>
            </a:r>
            <a:endParaRPr lang="en-US" sz="1000" dirty="0"/>
          </a:p>
        </p:txBody>
      </p:sp>
      <p:sp>
        <p:nvSpPr>
          <p:cNvPr id="14" name="step 탐지"/>
          <p:cNvSpPr/>
          <p:nvPr/>
        </p:nvSpPr>
        <p:spPr>
          <a:xfrm>
            <a:off x="3721608" y="1828800"/>
            <a:ext cx="1517904" cy="2331720"/>
          </a:xfrm>
          <a:prstGeom prst="roundRect">
            <a:avLst>
              <a:gd name="adj" fmla="val 6024"/>
            </a:avLst>
          </a:prstGeom>
          <a:solidFill>
            <a:srgbClr val="EEF3F6"/>
          </a:solidFill>
          <a:ln w="12700">
            <a:solidFill>
              <a:srgbClr val="EEF3F6"/>
            </a:solidFill>
            <a:prstDash val="solid"/>
          </a:ln>
        </p:spPr>
      </p:sp>
      <p:sp>
        <p:nvSpPr>
          <p:cNvPr id="15" name="icon circle"/>
          <p:cNvSpPr/>
          <p:nvPr/>
        </p:nvSpPr>
        <p:spPr>
          <a:xfrm>
            <a:off x="4206240" y="2011680"/>
            <a:ext cx="548640" cy="548640"/>
          </a:xfrm>
          <a:prstGeom prst="ellipse">
            <a:avLst/>
          </a:prstGeom>
          <a:solidFill>
            <a:srgbClr val="0B3C5D"/>
          </a:solidFill>
          <a:ln w="12700">
            <a:solidFill>
              <a:srgbClr val="0B3C5D"/>
            </a:solidFill>
            <a:prstDash val="solid"/>
          </a:ln>
        </p:spPr>
      </p:sp>
      <p:pic>
        <p:nvPicPr>
          <p:cNvPr id="16" name="icon FaSearchLocation" descr="preencoded.png">    </p:cNvPr>
          <p:cNvPicPr>
            <a:picLocks noChangeAspect="1"/>
          </p:cNvPicPr>
          <p:nvPr/>
        </p:nvPicPr>
        <p:blipFill>
          <a:blip r:embed="rId3"/>
          <a:stretch>
            <a:fillRect/>
          </a:stretch>
        </p:blipFill>
        <p:spPr>
          <a:xfrm>
            <a:off x="4343400" y="2148840"/>
            <a:ext cx="274320" cy="274320"/>
          </a:xfrm>
          <a:prstGeom prst="rect">
            <a:avLst/>
          </a:prstGeom>
        </p:spPr>
      </p:pic>
      <p:sp>
        <p:nvSpPr>
          <p:cNvPr id="17" name="Text 12"/>
          <p:cNvSpPr txBox="1"/>
          <p:nvPr/>
        </p:nvSpPr>
        <p:spPr>
          <a:xfrm>
            <a:off x="3813048" y="2651760"/>
            <a:ext cx="1335024" cy="320040"/>
          </a:xfrm>
          <a:prstGeom prst="rect">
            <a:avLst/>
          </a:prstGeom>
          <a:noFill/>
          <a:ln/>
        </p:spPr>
        <p:txBody>
          <a:bodyPr wrap="square" lIns="0" tIns="0" rIns="0" bIns="0" rtlCol="0" anchor="ctr"/>
          <a:lstStyle/>
          <a:p>
            <a:pPr algn="ctr" indent="0" marL="0">
              <a:buNone/>
            </a:pPr>
            <a:r>
              <a:rPr lang="en-US" sz="1200" b="1" dirty="0">
                <a:solidFill>
                  <a:schemeClr val="tx1"/>
                </a:solidFill>
              </a:rPr>
              <a:t>3. 탐지</a:t>
            </a:r>
            <a:endParaRPr lang="en-US" sz="1200" dirty="0"/>
          </a:p>
        </p:txBody>
      </p:sp>
      <p:sp>
        <p:nvSpPr>
          <p:cNvPr id="18" name="Text 13"/>
          <p:cNvSpPr txBox="1"/>
          <p:nvPr/>
        </p:nvSpPr>
        <p:spPr>
          <a:xfrm>
            <a:off x="3831336" y="2999232"/>
            <a:ext cx="1298448" cy="1097280"/>
          </a:xfrm>
          <a:prstGeom prst="rect">
            <a:avLst/>
          </a:prstGeom>
          <a:noFill/>
          <a:ln/>
        </p:spPr>
        <p:txBody>
          <a:bodyPr wrap="square" lIns="0" tIns="0" rIns="0" bIns="0" rtlCol="0" anchor="t"/>
          <a:lstStyle/>
          <a:p>
            <a:pPr algn="ctr" indent="0" marL="0">
              <a:buNone/>
            </a:pPr>
            <a:r>
              <a:rPr lang="en-US" sz="1000" dirty="0">
                <a:solidFill>
                  <a:schemeClr val="accent4"/>
                </a:solidFill>
              </a:rPr>
              <a:t>YOLO11-s, AI Hub 해안쓰레기 2~4 cm/px 학습</a:t>
            </a:r>
            <a:endParaRPr lang="en-US" sz="1000" dirty="0"/>
          </a:p>
        </p:txBody>
      </p:sp>
      <p:sp>
        <p:nvSpPr>
          <p:cNvPr id="19" name="step 위치"/>
          <p:cNvSpPr/>
          <p:nvPr/>
        </p:nvSpPr>
        <p:spPr>
          <a:xfrm>
            <a:off x="5308092" y="1828800"/>
            <a:ext cx="1517904" cy="2331720"/>
          </a:xfrm>
          <a:prstGeom prst="roundRect">
            <a:avLst>
              <a:gd name="adj" fmla="val 6024"/>
            </a:avLst>
          </a:prstGeom>
          <a:solidFill>
            <a:srgbClr val="EEF3F6"/>
          </a:solidFill>
          <a:ln w="12700">
            <a:solidFill>
              <a:srgbClr val="EEF3F6"/>
            </a:solidFill>
            <a:prstDash val="solid"/>
          </a:ln>
        </p:spPr>
      </p:sp>
      <p:sp>
        <p:nvSpPr>
          <p:cNvPr id="20" name="icon circle"/>
          <p:cNvSpPr/>
          <p:nvPr/>
        </p:nvSpPr>
        <p:spPr>
          <a:xfrm>
            <a:off x="5792724" y="2011680"/>
            <a:ext cx="548640" cy="548640"/>
          </a:xfrm>
          <a:prstGeom prst="ellipse">
            <a:avLst/>
          </a:prstGeom>
          <a:solidFill>
            <a:srgbClr val="0B3C5D"/>
          </a:solidFill>
          <a:ln w="12700">
            <a:solidFill>
              <a:srgbClr val="0B3C5D"/>
            </a:solidFill>
            <a:prstDash val="solid"/>
          </a:ln>
        </p:spPr>
      </p:sp>
      <p:pic>
        <p:nvPicPr>
          <p:cNvPr id="21" name="icon FaCrosshairs" descr="preencoded.png">    </p:cNvPr>
          <p:cNvPicPr>
            <a:picLocks noChangeAspect="1"/>
          </p:cNvPicPr>
          <p:nvPr/>
        </p:nvPicPr>
        <p:blipFill>
          <a:blip r:embed="rId4"/>
          <a:stretch>
            <a:fillRect/>
          </a:stretch>
        </p:blipFill>
        <p:spPr>
          <a:xfrm>
            <a:off x="5929884" y="2148840"/>
            <a:ext cx="274320" cy="274320"/>
          </a:xfrm>
          <a:prstGeom prst="rect">
            <a:avLst/>
          </a:prstGeom>
        </p:spPr>
      </p:pic>
      <p:sp>
        <p:nvSpPr>
          <p:cNvPr id="22" name="Text 16"/>
          <p:cNvSpPr txBox="1"/>
          <p:nvPr/>
        </p:nvSpPr>
        <p:spPr>
          <a:xfrm>
            <a:off x="5399532" y="2651760"/>
            <a:ext cx="1335024" cy="320040"/>
          </a:xfrm>
          <a:prstGeom prst="rect">
            <a:avLst/>
          </a:prstGeom>
          <a:noFill/>
          <a:ln/>
        </p:spPr>
        <p:txBody>
          <a:bodyPr wrap="square" lIns="0" tIns="0" rIns="0" bIns="0" rtlCol="0" anchor="ctr"/>
          <a:lstStyle/>
          <a:p>
            <a:pPr algn="ctr" indent="0" marL="0">
              <a:buNone/>
            </a:pPr>
            <a:r>
              <a:rPr lang="en-US" sz="1200" b="1" dirty="0">
                <a:solidFill>
                  <a:schemeClr val="tx1"/>
                </a:solidFill>
              </a:rPr>
              <a:t>4. 위치</a:t>
            </a:r>
            <a:endParaRPr lang="en-US" sz="1200" dirty="0"/>
          </a:p>
        </p:txBody>
      </p:sp>
      <p:sp>
        <p:nvSpPr>
          <p:cNvPr id="23" name="Text 17"/>
          <p:cNvSpPr txBox="1"/>
          <p:nvPr/>
        </p:nvSpPr>
        <p:spPr>
          <a:xfrm>
            <a:off x="5417820" y="2999232"/>
            <a:ext cx="1298448" cy="1097280"/>
          </a:xfrm>
          <a:prstGeom prst="rect">
            <a:avLst/>
          </a:prstGeom>
          <a:noFill/>
          <a:ln/>
        </p:spPr>
        <p:txBody>
          <a:bodyPr wrap="square" lIns="0" tIns="0" rIns="0" bIns="0" rtlCol="0" anchor="t"/>
          <a:lstStyle/>
          <a:p>
            <a:pPr algn="ctr" indent="0" marL="0">
              <a:buNone/>
            </a:pPr>
            <a:r>
              <a:rPr lang="en-US" sz="1000" dirty="0">
                <a:solidFill>
                  <a:schemeClr val="accent4"/>
                </a:solidFill>
              </a:rPr>
              <a:t>3D 카메라 자세로 광선 교차 → GPS 정렬</a:t>
            </a:r>
            <a:endParaRPr lang="en-US" sz="1000" dirty="0"/>
          </a:p>
        </p:txBody>
      </p:sp>
      <p:sp>
        <p:nvSpPr>
          <p:cNvPr id="24" name="step 부피"/>
          <p:cNvSpPr/>
          <p:nvPr/>
        </p:nvSpPr>
        <p:spPr>
          <a:xfrm>
            <a:off x="6894576" y="1828800"/>
            <a:ext cx="1517904" cy="2331720"/>
          </a:xfrm>
          <a:prstGeom prst="roundRect">
            <a:avLst>
              <a:gd name="adj" fmla="val 6024"/>
            </a:avLst>
          </a:prstGeom>
          <a:solidFill>
            <a:srgbClr val="EEF3F6"/>
          </a:solidFill>
          <a:ln w="12700">
            <a:solidFill>
              <a:srgbClr val="EEF3F6"/>
            </a:solidFill>
            <a:prstDash val="solid"/>
          </a:ln>
        </p:spPr>
      </p:sp>
      <p:sp>
        <p:nvSpPr>
          <p:cNvPr id="25" name="icon circle"/>
          <p:cNvSpPr/>
          <p:nvPr/>
        </p:nvSpPr>
        <p:spPr>
          <a:xfrm>
            <a:off x="7379208" y="2011680"/>
            <a:ext cx="548640" cy="548640"/>
          </a:xfrm>
          <a:prstGeom prst="ellipse">
            <a:avLst/>
          </a:prstGeom>
          <a:solidFill>
            <a:srgbClr val="0B3C5D"/>
          </a:solidFill>
          <a:ln w="12700">
            <a:solidFill>
              <a:srgbClr val="0B3C5D"/>
            </a:solidFill>
            <a:prstDash val="solid"/>
          </a:ln>
        </p:spPr>
      </p:sp>
      <p:pic>
        <p:nvPicPr>
          <p:cNvPr id="26" name="icon FaCubes" descr="preencoded.png">    </p:cNvPr>
          <p:cNvPicPr>
            <a:picLocks noChangeAspect="1"/>
          </p:cNvPicPr>
          <p:nvPr/>
        </p:nvPicPr>
        <p:blipFill>
          <a:blip r:embed="rId5"/>
          <a:stretch>
            <a:fillRect/>
          </a:stretch>
        </p:blipFill>
        <p:spPr>
          <a:xfrm>
            <a:off x="7516368" y="2148840"/>
            <a:ext cx="274320" cy="274320"/>
          </a:xfrm>
          <a:prstGeom prst="rect">
            <a:avLst/>
          </a:prstGeom>
        </p:spPr>
      </p:pic>
      <p:sp>
        <p:nvSpPr>
          <p:cNvPr id="27" name="Text 20"/>
          <p:cNvSpPr txBox="1"/>
          <p:nvPr/>
        </p:nvSpPr>
        <p:spPr>
          <a:xfrm>
            <a:off x="6986016" y="2651760"/>
            <a:ext cx="1335024" cy="320040"/>
          </a:xfrm>
          <a:prstGeom prst="rect">
            <a:avLst/>
          </a:prstGeom>
          <a:noFill/>
          <a:ln/>
        </p:spPr>
        <p:txBody>
          <a:bodyPr wrap="square" lIns="0" tIns="0" rIns="0" bIns="0" rtlCol="0" anchor="ctr"/>
          <a:lstStyle/>
          <a:p>
            <a:pPr algn="ctr" indent="0" marL="0">
              <a:buNone/>
            </a:pPr>
            <a:r>
              <a:rPr lang="en-US" sz="1200" b="1" dirty="0">
                <a:solidFill>
                  <a:schemeClr val="tx1"/>
                </a:solidFill>
              </a:rPr>
              <a:t>5. 부피</a:t>
            </a:r>
            <a:endParaRPr lang="en-US" sz="1200" dirty="0"/>
          </a:p>
        </p:txBody>
      </p:sp>
      <p:sp>
        <p:nvSpPr>
          <p:cNvPr id="28" name="Text 21"/>
          <p:cNvSpPr txBox="1"/>
          <p:nvPr/>
        </p:nvSpPr>
        <p:spPr>
          <a:xfrm>
            <a:off x="7004304" y="2999232"/>
            <a:ext cx="1298448" cy="1097280"/>
          </a:xfrm>
          <a:prstGeom prst="rect">
            <a:avLst/>
          </a:prstGeom>
          <a:noFill/>
          <a:ln/>
        </p:spPr>
        <p:txBody>
          <a:bodyPr wrap="square" lIns="0" tIns="0" rIns="0" bIns="0" rtlCol="0" anchor="t"/>
          <a:lstStyle/>
          <a:p>
            <a:pPr algn="ctr" indent="0" marL="0">
              <a:buNone/>
            </a:pPr>
            <a:r>
              <a:rPr lang="en-US" sz="1000" dirty="0">
                <a:solidFill>
                  <a:schemeClr val="accent4"/>
                </a:solidFill>
              </a:rPr>
              <a:t>SfM+MVS 점구름, SAM 2 마스크 투표, 높이지도</a:t>
            </a:r>
            <a:endParaRPr lang="en-US" sz="1000" dirty="0"/>
          </a:p>
        </p:txBody>
      </p:sp>
      <p:sp>
        <p:nvSpPr>
          <p:cNvPr id="29" name="step 무게 구간"/>
          <p:cNvSpPr/>
          <p:nvPr/>
        </p:nvSpPr>
        <p:spPr>
          <a:xfrm>
            <a:off x="8481060" y="1828800"/>
            <a:ext cx="1517904" cy="2331720"/>
          </a:xfrm>
          <a:prstGeom prst="roundRect">
            <a:avLst>
              <a:gd name="adj" fmla="val 6024"/>
            </a:avLst>
          </a:prstGeom>
          <a:solidFill>
            <a:srgbClr val="EEF3F6"/>
          </a:solidFill>
          <a:ln w="12700">
            <a:solidFill>
              <a:srgbClr val="EEF3F6"/>
            </a:solidFill>
            <a:prstDash val="solid"/>
          </a:ln>
        </p:spPr>
      </p:sp>
      <p:sp>
        <p:nvSpPr>
          <p:cNvPr id="30" name="icon circle"/>
          <p:cNvSpPr/>
          <p:nvPr/>
        </p:nvSpPr>
        <p:spPr>
          <a:xfrm>
            <a:off x="8965692" y="2011680"/>
            <a:ext cx="548640" cy="548640"/>
          </a:xfrm>
          <a:prstGeom prst="ellipse">
            <a:avLst/>
          </a:prstGeom>
          <a:solidFill>
            <a:srgbClr val="0B3C5D"/>
          </a:solidFill>
          <a:ln w="12700">
            <a:solidFill>
              <a:srgbClr val="0B3C5D"/>
            </a:solidFill>
            <a:prstDash val="solid"/>
          </a:ln>
        </p:spPr>
      </p:sp>
      <p:pic>
        <p:nvPicPr>
          <p:cNvPr id="31" name="icon FaRulerCombined" descr="preencoded.png">    </p:cNvPr>
          <p:cNvPicPr>
            <a:picLocks noChangeAspect="1"/>
          </p:cNvPicPr>
          <p:nvPr/>
        </p:nvPicPr>
        <p:blipFill>
          <a:blip r:embed="rId6"/>
          <a:stretch>
            <a:fillRect/>
          </a:stretch>
        </p:blipFill>
        <p:spPr>
          <a:xfrm>
            <a:off x="9102852" y="2148840"/>
            <a:ext cx="274320" cy="274320"/>
          </a:xfrm>
          <a:prstGeom prst="rect">
            <a:avLst/>
          </a:prstGeom>
        </p:spPr>
      </p:pic>
      <p:sp>
        <p:nvSpPr>
          <p:cNvPr id="32" name="Text 24"/>
          <p:cNvSpPr txBox="1"/>
          <p:nvPr/>
        </p:nvSpPr>
        <p:spPr>
          <a:xfrm>
            <a:off x="8572500" y="2651760"/>
            <a:ext cx="1335024" cy="320040"/>
          </a:xfrm>
          <a:prstGeom prst="rect">
            <a:avLst/>
          </a:prstGeom>
          <a:noFill/>
          <a:ln/>
        </p:spPr>
        <p:txBody>
          <a:bodyPr wrap="square" lIns="0" tIns="0" rIns="0" bIns="0" rtlCol="0" anchor="ctr"/>
          <a:lstStyle/>
          <a:p>
            <a:pPr algn="ctr" indent="0" marL="0">
              <a:buNone/>
            </a:pPr>
            <a:r>
              <a:rPr lang="en-US" sz="1200" b="1" dirty="0">
                <a:solidFill>
                  <a:schemeClr val="tx1"/>
                </a:solidFill>
              </a:rPr>
              <a:t>6. 무게 구간</a:t>
            </a:r>
            <a:endParaRPr lang="en-US" sz="1200" dirty="0"/>
          </a:p>
        </p:txBody>
      </p:sp>
      <p:sp>
        <p:nvSpPr>
          <p:cNvPr id="33" name="Text 25"/>
          <p:cNvSpPr txBox="1"/>
          <p:nvPr/>
        </p:nvSpPr>
        <p:spPr>
          <a:xfrm>
            <a:off x="8590788" y="2999232"/>
            <a:ext cx="1298448" cy="1097280"/>
          </a:xfrm>
          <a:prstGeom prst="rect">
            <a:avLst/>
          </a:prstGeom>
          <a:noFill/>
          <a:ln/>
        </p:spPr>
        <p:txBody>
          <a:bodyPr wrap="square" lIns="0" tIns="0" rIns="0" bIns="0" rtlCol="0" anchor="t"/>
          <a:lstStyle/>
          <a:p>
            <a:pPr algn="ctr" indent="0" marL="0">
              <a:buNone/>
            </a:pPr>
            <a:r>
              <a:rPr lang="en-US" sz="1000" dirty="0">
                <a:solidFill>
                  <a:schemeClr val="accent4"/>
                </a:solidFill>
              </a:rPr>
              <a:t>겉보기밀도 × 젖음·압축 계수, conformal 구간</a:t>
            </a:r>
            <a:endParaRPr lang="en-US" sz="1000" dirty="0"/>
          </a:p>
        </p:txBody>
      </p:sp>
      <p:sp>
        <p:nvSpPr>
          <p:cNvPr id="34" name="step 수거계획"/>
          <p:cNvSpPr/>
          <p:nvPr/>
        </p:nvSpPr>
        <p:spPr>
          <a:xfrm>
            <a:off x="10067544" y="1828800"/>
            <a:ext cx="1517904" cy="2331720"/>
          </a:xfrm>
          <a:prstGeom prst="roundRect">
            <a:avLst>
              <a:gd name="adj" fmla="val 6024"/>
            </a:avLst>
          </a:prstGeom>
          <a:solidFill>
            <a:srgbClr val="0B3C5D"/>
          </a:solidFill>
          <a:ln w="12700">
            <a:solidFill>
              <a:srgbClr val="0B3C5D"/>
            </a:solidFill>
            <a:prstDash val="solid"/>
          </a:ln>
        </p:spPr>
      </p:sp>
      <p:sp>
        <p:nvSpPr>
          <p:cNvPr id="35" name="icon circle"/>
          <p:cNvSpPr/>
          <p:nvPr/>
        </p:nvSpPr>
        <p:spPr>
          <a:xfrm>
            <a:off x="10552176" y="2011680"/>
            <a:ext cx="548640" cy="548640"/>
          </a:xfrm>
          <a:prstGeom prst="ellipse">
            <a:avLst/>
          </a:prstGeom>
          <a:solidFill>
            <a:srgbClr val="F26B21"/>
          </a:solidFill>
          <a:ln w="12700">
            <a:solidFill>
              <a:srgbClr val="F26B21"/>
            </a:solidFill>
            <a:prstDash val="solid"/>
          </a:ln>
        </p:spPr>
      </p:sp>
      <p:pic>
        <p:nvPicPr>
          <p:cNvPr id="36" name="icon FaTruck" descr="preencoded.png">    </p:cNvPr>
          <p:cNvPicPr>
            <a:picLocks noChangeAspect="1"/>
          </p:cNvPicPr>
          <p:nvPr/>
        </p:nvPicPr>
        <p:blipFill>
          <a:blip r:embed="rId7"/>
          <a:stretch>
            <a:fillRect/>
          </a:stretch>
        </p:blipFill>
        <p:spPr>
          <a:xfrm>
            <a:off x="10689336" y="2148840"/>
            <a:ext cx="274320" cy="274320"/>
          </a:xfrm>
          <a:prstGeom prst="rect">
            <a:avLst/>
          </a:prstGeom>
        </p:spPr>
      </p:pic>
      <p:sp>
        <p:nvSpPr>
          <p:cNvPr id="37" name="Text 28"/>
          <p:cNvSpPr txBox="1"/>
          <p:nvPr/>
        </p:nvSpPr>
        <p:spPr>
          <a:xfrm>
            <a:off x="10158984" y="2651760"/>
            <a:ext cx="1335024" cy="320040"/>
          </a:xfrm>
          <a:prstGeom prst="rect">
            <a:avLst/>
          </a:prstGeom>
          <a:noFill/>
          <a:ln/>
        </p:spPr>
        <p:txBody>
          <a:bodyPr wrap="square" lIns="0" tIns="0" rIns="0" bIns="0" rtlCol="0" anchor="ctr"/>
          <a:lstStyle/>
          <a:p>
            <a:pPr algn="ctr" indent="0" marL="0">
              <a:buNone/>
            </a:pPr>
            <a:r>
              <a:rPr lang="en-US" sz="1200" b="1" dirty="0">
                <a:solidFill>
                  <a:schemeClr val="bg1"/>
                </a:solidFill>
              </a:rPr>
              <a:t>7. 수거계획</a:t>
            </a:r>
            <a:endParaRPr lang="en-US" sz="1200" dirty="0"/>
          </a:p>
        </p:txBody>
      </p:sp>
      <p:sp>
        <p:nvSpPr>
          <p:cNvPr id="38" name="Text 29"/>
          <p:cNvSpPr txBox="1"/>
          <p:nvPr/>
        </p:nvSpPr>
        <p:spPr>
          <a:xfrm>
            <a:off x="10177272" y="2999232"/>
            <a:ext cx="1298448" cy="1097280"/>
          </a:xfrm>
          <a:prstGeom prst="rect">
            <a:avLst/>
          </a:prstGeom>
          <a:noFill/>
          <a:ln/>
        </p:spPr>
        <p:txBody>
          <a:bodyPr wrap="square" lIns="0" tIns="0" rIns="0" bIns="0" rtlCol="0" anchor="t"/>
          <a:lstStyle/>
          <a:p>
            <a:pPr algn="ctr" indent="0" marL="0">
              <a:buNone/>
            </a:pPr>
            <a:r>
              <a:rPr lang="en-US" sz="1000" dirty="0">
                <a:solidFill>
                  <a:schemeClr val="accent5"/>
                </a:solidFill>
              </a:rPr>
              <a:t>정거장·마대·트럭·인력·경로 작업카드</a:t>
            </a:r>
            <a:endParaRPr lang="en-US" sz="1000" dirty="0"/>
          </a:p>
        </p:txBody>
      </p:sp>
      <p:sp>
        <p:nvSpPr>
          <p:cNvPr id="39" name="satellite input"/>
          <p:cNvSpPr/>
          <p:nvPr/>
        </p:nvSpPr>
        <p:spPr>
          <a:xfrm>
            <a:off x="548640" y="4343400"/>
            <a:ext cx="3108960" cy="502920"/>
          </a:xfrm>
          <a:prstGeom prst="roundRect">
            <a:avLst>
              <a:gd name="adj" fmla="val 18182"/>
            </a:avLst>
          </a:prstGeom>
          <a:solidFill>
            <a:srgbClr val="FFD9C2"/>
          </a:solidFill>
          <a:ln w="12700">
            <a:solidFill>
              <a:srgbClr val="FFD9C2"/>
            </a:solidFill>
            <a:prstDash val="solid"/>
          </a:ln>
        </p:spPr>
      </p:sp>
      <p:pic>
        <p:nvPicPr>
          <p:cNvPr id="40" name="icon satellite" descr="preencoded.png">    </p:cNvPr>
          <p:cNvPicPr>
            <a:picLocks noChangeAspect="1"/>
          </p:cNvPicPr>
          <p:nvPr/>
        </p:nvPicPr>
        <p:blipFill>
          <a:blip r:embed="rId8"/>
          <a:stretch>
            <a:fillRect/>
          </a:stretch>
        </p:blipFill>
        <p:spPr>
          <a:xfrm>
            <a:off x="713232" y="4462272"/>
            <a:ext cx="274320" cy="274320"/>
          </a:xfrm>
          <a:prstGeom prst="rect">
            <a:avLst/>
          </a:prstGeom>
        </p:spPr>
      </p:pic>
      <p:sp>
        <p:nvSpPr>
          <p:cNvPr id="41" name="Text 31"/>
          <p:cNvSpPr txBox="1"/>
          <p:nvPr/>
        </p:nvSpPr>
        <p:spPr>
          <a:xfrm>
            <a:off x="1078992" y="4343400"/>
            <a:ext cx="2560320" cy="502920"/>
          </a:xfrm>
          <a:prstGeom prst="rect">
            <a:avLst/>
          </a:prstGeom>
          <a:noFill/>
          <a:ln/>
        </p:spPr>
        <p:txBody>
          <a:bodyPr wrap="square" lIns="0" tIns="0" rIns="0" bIns="0" rtlCol="0" anchor="ctr"/>
          <a:lstStyle/>
          <a:p>
            <a:pPr indent="0" marL="0">
              <a:buNone/>
            </a:pPr>
            <a:r>
              <a:rPr lang="en-US" sz="950" b="1" dirty="0">
                <a:solidFill>
                  <a:schemeClr val="tx2"/>
                </a:solidFill>
              </a:rPr>
              <a:t>3DLabs 위성 ARD가 들어가는 자리: 해안선 갱신 · 형상 점수 · 선별</a:t>
            </a:r>
            <a:endParaRPr lang="en-US" sz="950" dirty="0"/>
          </a:p>
        </p:txBody>
      </p:sp>
      <p:sp>
        <p:nvSpPr>
          <p:cNvPr id="42" name="card 입력"/>
          <p:cNvSpPr/>
          <p:nvPr/>
        </p:nvSpPr>
        <p:spPr>
          <a:xfrm>
            <a:off x="548640" y="5029200"/>
            <a:ext cx="548640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43" name="Text 33"/>
          <p:cNvSpPr txBox="1"/>
          <p:nvPr/>
        </p:nvSpPr>
        <p:spPr>
          <a:xfrm>
            <a:off x="822960" y="5285232"/>
            <a:ext cx="4937760" cy="384048"/>
          </a:xfrm>
          <a:prstGeom prst="rect">
            <a:avLst/>
          </a:prstGeom>
          <a:noFill/>
          <a:ln/>
        </p:spPr>
        <p:txBody>
          <a:bodyPr wrap="square" lIns="0" tIns="0" rIns="0" bIns="0" rtlCol="0" anchor="t"/>
          <a:lstStyle/>
          <a:p>
            <a:pPr indent="0" marL="0">
              <a:buNone/>
            </a:pPr>
            <a:r>
              <a:rPr lang="en-US" sz="1200" b="1" dirty="0">
                <a:solidFill>
                  <a:schemeClr val="tx1"/>
                </a:solidFill>
              </a:rPr>
              <a:t>입력</a:t>
            </a:r>
            <a:endParaRPr lang="en-US" sz="1200" dirty="0"/>
          </a:p>
        </p:txBody>
      </p:sp>
      <p:sp>
        <p:nvSpPr>
          <p:cNvPr id="44" name="Text 34"/>
          <p:cNvSpPr txBox="1"/>
          <p:nvPr/>
        </p:nvSpPr>
        <p:spPr>
          <a:xfrm>
            <a:off x="822960" y="5724144"/>
            <a:ext cx="4937760" cy="13716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비행 영상(MP4) + 비행기록(SRT: 시각·GPS·고도). DJI 기본 기체, 조종자가 KML 경로를 보고 비행(자동비행 아님). 1차 커버리지 + 경계 물체만 2차 선회.</a:t>
            </a:r>
            <a:endParaRPr lang="en-US" sz="1050" dirty="0"/>
          </a:p>
        </p:txBody>
      </p:sp>
      <p:sp>
        <p:nvSpPr>
          <p:cNvPr id="45" name="card 출력"/>
          <p:cNvSpPr/>
          <p:nvPr/>
        </p:nvSpPr>
        <p:spPr>
          <a:xfrm>
            <a:off x="6153912" y="5029200"/>
            <a:ext cx="548640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46" name="Text 36"/>
          <p:cNvSpPr txBox="1"/>
          <p:nvPr/>
        </p:nvSpPr>
        <p:spPr>
          <a:xfrm>
            <a:off x="6428232" y="5285232"/>
            <a:ext cx="4937760" cy="384048"/>
          </a:xfrm>
          <a:prstGeom prst="rect">
            <a:avLst/>
          </a:prstGeom>
          <a:noFill/>
          <a:ln/>
        </p:spPr>
        <p:txBody>
          <a:bodyPr wrap="square" lIns="0" tIns="0" rIns="0" bIns="0" rtlCol="0" anchor="t"/>
          <a:lstStyle/>
          <a:p>
            <a:pPr indent="0" marL="0">
              <a:buNone/>
            </a:pPr>
            <a:r>
              <a:rPr lang="en-US" sz="1200" b="1" dirty="0">
                <a:solidFill>
                  <a:schemeClr val="tx1"/>
                </a:solidFill>
              </a:rPr>
              <a:t>출력</a:t>
            </a:r>
            <a:endParaRPr lang="en-US" sz="1200" dirty="0"/>
          </a:p>
        </p:txBody>
      </p:sp>
      <p:sp>
        <p:nvSpPr>
          <p:cNvPr id="47" name="Text 37"/>
          <p:cNvSpPr txBox="1"/>
          <p:nvPr/>
        </p:nvSpPr>
        <p:spPr>
          <a:xfrm>
            <a:off x="6428232" y="5724144"/>
            <a:ext cx="4937760" cy="13716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지도 핀(위치·오차반경) · 물체 목록(부피·무게 구간 CSV/GeoJSON) · 정거장별 작업카드(인력·마대·트럭·경로) · 경로 KML(Google Earth·Litchi; DJI Fly용 KMZ는 확인 전)</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촬영 거리는 물체 크기에서 역산했다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계획을 바꾸는 물체(어망·부표·스티로폼 더미, 수십 cm)는 20 m에서 잡히고, 부피를 재야 하는 물체는 3~8 m 선회에서 3D가 선다. 두 고도가 한 비행 안에 있습니다.</a:t>
            </a:r>
            <a:endParaRPr lang="en-US" sz="1400" dirty="0"/>
          </a:p>
        </p:txBody>
      </p:sp>
      <p:sp>
        <p:nvSpPr>
          <p:cNvPr id="4" name="gsd card"/>
          <p:cNvSpPr/>
          <p:nvPr/>
        </p:nvSpPr>
        <p:spPr>
          <a:xfrm>
            <a:off x="548640" y="1783080"/>
            <a:ext cx="667512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6309360" cy="274320"/>
          </a:xfrm>
          <a:prstGeom prst="rect">
            <a:avLst/>
          </a:prstGeom>
          <a:noFill/>
          <a:ln/>
        </p:spPr>
        <p:txBody>
          <a:bodyPr wrap="square" lIns="0" tIns="0" rIns="0" bIns="0" rtlCol="0" anchor="ctr"/>
          <a:lstStyle/>
          <a:p>
            <a:pPr indent="0" marL="0">
              <a:buNone/>
            </a:pPr>
            <a:r>
              <a:rPr lang="en-US" sz="1150" b="1" dirty="0">
                <a:solidFill>
                  <a:schemeClr val="tx1"/>
                </a:solidFill>
              </a:rPr>
              <a:t>고도별 지상 해상도와 물체 크기 (4K 3840 px, 24 mm 상당 화각 73.7° 기준 계산값)</a:t>
            </a:r>
            <a:endParaRPr lang="en-US" sz="1150" dirty="0"/>
          </a:p>
        </p:txBody>
      </p:sp>
      <p:graphicFrame>
        <p:nvGraphicFramePr>
          <p:cNvPr id="12" name="gsd table"/>
          <p:cNvGraphicFramePr>
            <a:graphicFrameLocks noGrp="1"/>
          </p:cNvGraphicFramePr>
          <p:nvPr>
            <p:extLst>
              <p:ext uri="{D42A27DB-BD31-4B8C-83A1-F6EECF244321}">
                <p14:modId xmlns:p14="http://schemas.microsoft.com/office/powerpoint/2010/main" val="1579011935"/>
              </p:ext>
            </p:extLst>
          </p:nvPr>
        </p:nvGraphicFramePr>
        <p:xfrm>
          <a:off x="777240" y="2194560"/>
          <a:ext cx="6217920" cy="914400"/>
        </p:xfrm>
        <a:graphic>
          <a:graphicData uri="http://schemas.openxmlformats.org/drawingml/2006/table">
            <a:tbl>
              <a:tblPr/>
              <a:tblGrid>
                <a:gridCol w="685800"/>
                <a:gridCol w="1005840"/>
                <a:gridCol w="914400"/>
                <a:gridCol w="914400"/>
                <a:gridCol w="960120"/>
                <a:gridCol w="1737360"/>
              </a:tblGrid>
              <a:tr h="329184">
                <a:tc>
                  <a:txBody>
                    <a:bodyPr/>
                    <a:lstStyle/>
                    <a:p>
                      <a:pPr indent="0" marL="0">
                        <a:buNone/>
                      </a:pPr>
                      <a:r>
                        <a:rPr lang="en-US" sz="1000" b="1" dirty="0">
                          <a:solidFill>
                            <a:srgbClr val="0B3C5D"/>
                          </a:solidFill>
                        </a:rPr>
                        <a:t>고도</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GSD (cm/px)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2.5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10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40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용도</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29184">
                <a:tc>
                  <a:txBody>
                    <a:bodyPr/>
                    <a:lstStyle/>
                    <a:p>
                      <a:pPr indent="0" marL="0">
                        <a:buNone/>
                      </a:pPr>
                      <a:r>
                        <a:rPr lang="en-US" sz="1000" dirty="0">
                          <a:solidFill>
                            <a:srgbClr val="10212E"/>
                          </a:solidFill>
                        </a:rPr>
                        <a:t>20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0.78</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13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51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1차 커버리지: 큰 물체 탐지</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212E"/>
                          </a:solidFill>
                        </a:rPr>
                        <a:t>8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0.31</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8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32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128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애매한 후보 재방문 확정</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212E"/>
                          </a:solidFill>
                        </a:rPr>
                        <a:t>3~4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0.12~0.16</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16~21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64~85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250~340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선회 3D 부피·무게</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886200"/>
            <a:ext cx="6217920" cy="731520"/>
          </a:xfrm>
          <a:prstGeom prst="rect">
            <a:avLst/>
          </a:prstGeom>
          <a:noFill/>
          <a:ln/>
        </p:spPr>
        <p:txBody>
          <a:bodyPr wrap="square" lIns="0" tIns="0" rIns="0" bIns="0" rtlCol="0" anchor="t"/>
          <a:lstStyle/>
          <a:p>
            <a:pPr indent="0" marL="0">
              <a:buNone/>
            </a:pPr>
            <a:r>
              <a:rPr lang="en-US" sz="1050" dirty="0">
                <a:solidFill>
                  <a:schemeClr val="accent4"/>
                </a:solidFill>
              </a:rPr>
              <a:t>문헌 권고 GSD 0.5~1.25 cm/px 안에 1차 비행(0.78)이 들어가고, 선회 비행은 그보다 4~6배 촘촘합니다. 매크로쓰레기 정의는 2.5 cm 이상, 해변 플라스틱 조각 중앙값은 약 9.7 cm입니다.</a:t>
            </a:r>
            <a:endParaRPr lang="en-US" sz="1050" dirty="0"/>
          </a:p>
        </p:txBody>
      </p:sp>
      <p:sp>
        <p:nvSpPr>
          <p:cNvPr id="8" name="card 탐지: 권고 GSD 0.5~1.25 cm/px"/>
          <p:cNvSpPr/>
          <p:nvPr/>
        </p:nvSpPr>
        <p:spPr>
          <a:xfrm>
            <a:off x="7498080" y="1783080"/>
            <a:ext cx="414223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Text 6"/>
          <p:cNvSpPr txBox="1"/>
          <p:nvPr/>
        </p:nvSpPr>
        <p:spPr>
          <a:xfrm>
            <a:off x="7772400" y="2039112"/>
            <a:ext cx="3593592" cy="384048"/>
          </a:xfrm>
          <a:prstGeom prst="rect">
            <a:avLst/>
          </a:prstGeom>
          <a:noFill/>
          <a:ln/>
        </p:spPr>
        <p:txBody>
          <a:bodyPr wrap="square" lIns="0" tIns="0" rIns="0" bIns="0" rtlCol="0" anchor="t"/>
          <a:lstStyle/>
          <a:p>
            <a:pPr indent="0" marL="0">
              <a:buNone/>
            </a:pPr>
            <a:r>
              <a:rPr lang="en-US" sz="1250" b="1" dirty="0">
                <a:solidFill>
                  <a:schemeClr val="tx1"/>
                </a:solidFill>
              </a:rPr>
              <a:t>탐지: 권고 GSD 0.5~1.25 cm/px</a:t>
            </a:r>
            <a:endParaRPr lang="en-US" sz="1250" dirty="0"/>
          </a:p>
        </p:txBody>
      </p:sp>
      <p:sp>
        <p:nvSpPr>
          <p:cNvPr id="10" name="Text 7"/>
          <p:cNvSpPr txBox="1"/>
          <p:nvPr/>
        </p:nvSpPr>
        <p:spPr>
          <a:xfrm>
            <a:off x="7772400" y="2478024"/>
            <a:ext cx="3593592" cy="5486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15개 드론 해안쓰레기 연구의 평균 고도 약 20 m. 10 m에서 5 cm 이상 물체 탐지 90% 초과, 2.5 cm는 73~81%.</a:t>
            </a:r>
            <a:endParaRPr lang="en-US" sz="1050" dirty="0"/>
          </a:p>
        </p:txBody>
      </p:sp>
      <p:sp>
        <p:nvSpPr>
          <p:cNvPr id="11" name="card 3D 부피: 17 m·5 mm/px로 충분 (Kako 2020)"/>
          <p:cNvSpPr/>
          <p:nvPr/>
        </p:nvSpPr>
        <p:spPr>
          <a:xfrm>
            <a:off x="7498080" y="3291840"/>
            <a:ext cx="414223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7772400" y="3547872"/>
            <a:ext cx="3593592" cy="384048"/>
          </a:xfrm>
          <a:prstGeom prst="rect">
            <a:avLst/>
          </a:prstGeom>
          <a:noFill/>
          <a:ln/>
        </p:spPr>
        <p:txBody>
          <a:bodyPr wrap="square" lIns="0" tIns="0" rIns="0" bIns="0" rtlCol="0" anchor="t"/>
          <a:lstStyle/>
          <a:p>
            <a:pPr indent="0" marL="0">
              <a:buNone/>
            </a:pPr>
            <a:r>
              <a:rPr lang="en-US" sz="1250" b="1" dirty="0">
                <a:solidFill>
                  <a:schemeClr val="tx1"/>
                </a:solidFill>
              </a:rPr>
              <a:t>3D 부피: 17 m·5 mm/px로 충분 (Kako 2020)</a:t>
            </a:r>
            <a:endParaRPr lang="en-US" sz="1250" dirty="0"/>
          </a:p>
        </p:txBody>
      </p:sp>
      <p:sp>
        <p:nvSpPr>
          <p:cNvPr id="13" name="Text 10"/>
          <p:cNvSpPr txBox="1"/>
          <p:nvPr/>
        </p:nvSpPr>
        <p:spPr>
          <a:xfrm>
            <a:off x="7772400" y="3986784"/>
            <a:ext cx="3593592" cy="5486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우리는 더 가까운 3~8 m 선회. 1초 간격 3프레임 시차가 10 m에서 약 53°, 20 m에서 28°라 삼각측량·SfM이 안정적.</a:t>
            </a:r>
            <a:endParaRPr lang="en-US" sz="1050" dirty="0"/>
          </a:p>
        </p:txBody>
      </p:sp>
      <p:sp>
        <p:nvSpPr>
          <p:cNvPr id="14" name="guide card"/>
          <p:cNvSpPr/>
          <p:nvPr/>
        </p:nvSpPr>
        <p:spPr>
          <a:xfrm>
            <a:off x="548640" y="4846320"/>
            <a:ext cx="11091672" cy="1097280"/>
          </a:xfrm>
          <a:prstGeom prst="roundRect">
            <a:avLst>
              <a:gd name="adj" fmla="val 10000"/>
            </a:avLst>
          </a:prstGeom>
          <a:solidFill>
            <a:srgbClr val="0B3C5D"/>
          </a:solidFill>
          <a:ln w="12700">
            <a:solidFill>
              <a:srgbClr val="0B3C5D"/>
            </a:solidFill>
            <a:prstDash val="solid"/>
          </a:ln>
        </p:spPr>
      </p:sp>
      <p:pic>
        <p:nvPicPr>
          <p:cNvPr id="15" name="icon camera" descr="preencoded.png">    </p:cNvPr>
          <p:cNvPicPr>
            <a:picLocks noChangeAspect="1"/>
          </p:cNvPicPr>
          <p:nvPr/>
        </p:nvPicPr>
        <p:blipFill>
          <a:blip r:embed="rId1"/>
          <a:stretch>
            <a:fillRect/>
          </a:stretch>
        </p:blipFill>
        <p:spPr>
          <a:xfrm>
            <a:off x="868680" y="5120640"/>
            <a:ext cx="457200" cy="457200"/>
          </a:xfrm>
          <a:prstGeom prst="rect">
            <a:avLst/>
          </a:prstGeom>
        </p:spPr>
      </p:pic>
      <p:sp>
        <p:nvSpPr>
          <p:cNvPr id="16" name="Text 12"/>
          <p:cNvSpPr txBox="1"/>
          <p:nvPr/>
        </p:nvSpPr>
        <p:spPr>
          <a:xfrm>
            <a:off x="1554480" y="4956048"/>
            <a:ext cx="9601200" cy="320040"/>
          </a:xfrm>
          <a:prstGeom prst="rect">
            <a:avLst/>
          </a:prstGeom>
          <a:noFill/>
          <a:ln/>
        </p:spPr>
        <p:txBody>
          <a:bodyPr wrap="square" lIns="0" tIns="0" rIns="0" bIns="0" rtlCol="0" anchor="ctr"/>
          <a:lstStyle/>
          <a:p>
            <a:pPr indent="0" marL="0">
              <a:buNone/>
            </a:pPr>
            <a:r>
              <a:rPr lang="en-US" sz="1300" b="1" dirty="0">
                <a:solidFill>
                  <a:schemeClr val="bg1"/>
                </a:solidFill>
              </a:rPr>
              <a:t>선회 촬영 가이드 (실험으로 고정)</a:t>
            </a:r>
            <a:endParaRPr lang="en-US" sz="1300" dirty="0"/>
          </a:p>
        </p:txBody>
      </p:sp>
      <p:sp>
        <p:nvSpPr>
          <p:cNvPr id="17" name="Text 13"/>
          <p:cNvSpPr txBox="1"/>
          <p:nvPr/>
        </p:nvSpPr>
        <p:spPr>
          <a:xfrm>
            <a:off x="1554480" y="5285232"/>
            <a:ext cx="9875520" cy="640080"/>
          </a:xfrm>
          <a:prstGeom prst="rect">
            <a:avLst/>
          </a:prstGeom>
          <a:noFill/>
          <a:ln/>
        </p:spPr>
        <p:txBody>
          <a:bodyPr wrap="square" lIns="0" tIns="0" rIns="0" bIns="0" rtlCol="0" anchor="t"/>
          <a:lstStyle/>
          <a:p>
            <a:pPr indent="0" marL="0">
              <a:buNone/>
            </a:pPr>
            <a:r>
              <a:rPr lang="en-US" sz="1050" dirty="0">
                <a:solidFill>
                  <a:schemeClr val="accent5"/>
                </a:solidFill>
              </a:rPr>
              <a:t>고도 3~4 m · 반경 3 m · 짐벌 45° 한 바퀴 + 수직 1장 · SRT 켜기 · 기준 물체 1개. 7 m 선회(0007)의 윗면 편향(1.5~3.5 cm 높게 복원)이 2 m(0010)에서는 −10%로 줄어, 3·5·7 m 선회 통제 실험을 예정했습니다. 1차 커버리지는 20 m 통과 비행으로 충분합니다(야간 10분 비행에서 상자 30개 탐지·지도화).</a:t>
            </a:r>
            <a:endParaRPr lang="en-US" sz="1050" dirty="0"/>
          </a:p>
        </p:txBody>
      </p:sp>
      <p:sp>
        <p:nvSpPr>
          <p:cNvPr id="1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Andriolo, Topouzelis, van Emmerik et al. (2023) Marine Pollution Bulletin 195:115521 · Andriolo &amp; Gonçalves (2022) Environmental Pollution 315:120370 · Kako, Morita &amp; Taneda (2020) MPB 155:111127 · 팀 실험 0007·0010·0015</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어디부터 날릴까: 몰리고, 다시 쌓이고, 과거로 짠 경로가 통한다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해안 전체를 매번 다 날 수 없습니다. 쓰레기는 소수 구간에 몰리고 치워도 다시 쌓이므로, 과거 조사로 '많고 중요한 곳'을 배터리 안에서 최대로 보는 경로를 짭니다.</a:t>
            </a:r>
            <a:endParaRPr lang="en-US" sz="1400" dirty="0"/>
          </a:p>
        </p:txBody>
      </p:sp>
      <p:pic>
        <p:nvPicPr>
          <p:cNvPr id="4" name="하와이·MDMAP 집적 검증" descr="/tmp/claude-0/-home-user-hsr1m/6022f0b4-b8f8-52b0-8810-837ebd6bfbe9/scratchpad/deck/img/fig_hotspot_results.jpg">    </p:cNvPr>
          <p:cNvPicPr>
            <a:picLocks noChangeAspect="1"/>
          </p:cNvPicPr>
          <p:nvPr/>
        </p:nvPicPr>
        <p:blipFill>
          <a:blip r:embed="rId1"/>
          <a:stretch>
            <a:fillRect/>
          </a:stretch>
        </p:blipFill>
        <p:spPr>
          <a:xfrm>
            <a:off x="548640" y="1783080"/>
            <a:ext cx="5577840" cy="4087368"/>
          </a:xfrm>
          <a:prstGeom prst="rect">
            <a:avLst/>
          </a:prstGeom>
        </p:spPr>
      </p:pic>
      <p:sp>
        <p:nvSpPr>
          <p:cNvPr id="5" name="stat 상위 10% 칸이 차지하는 비율"/>
          <p:cNvSpPr/>
          <p:nvPr/>
        </p:nvSpPr>
        <p:spPr>
          <a:xfrm>
            <a:off x="6355080"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Text 3"/>
          <p:cNvSpPr txBox="1"/>
          <p:nvPr/>
        </p:nvSpPr>
        <p:spPr>
          <a:xfrm>
            <a:off x="6583680"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상위 10% 칸이 차지하는 비율</a:t>
            </a:r>
            <a:endParaRPr lang="en-US" sz="1000" dirty="0"/>
          </a:p>
        </p:txBody>
      </p:sp>
      <p:sp>
        <p:nvSpPr>
          <p:cNvPr id="7" name="Text 4"/>
          <p:cNvSpPr txBox="1"/>
          <p:nvPr/>
        </p:nvSpPr>
        <p:spPr>
          <a:xfrm>
            <a:off x="6583680" y="2167128"/>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75</a:t>
            </a:r>
            <a:pPr indent="0" marL="0">
              <a:buNone/>
            </a:pPr>
            <a:r>
              <a:rPr lang="en-US" sz="1200" b="1" dirty="0">
                <a:solidFill>
                  <a:schemeClr val="accent4"/>
                </a:solidFill>
              </a:rPr>
              <a:t> %</a:t>
            </a:r>
            <a:endParaRPr lang="en-US" sz="2800" dirty="0"/>
          </a:p>
        </p:txBody>
      </p:sp>
      <p:sp>
        <p:nvSpPr>
          <p:cNvPr id="8" name="Text 5"/>
          <p:cNvSpPr txBox="1"/>
          <p:nvPr/>
        </p:nvSpPr>
        <p:spPr>
          <a:xfrm>
            <a:off x="6583680"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하와이 2015 항공조사, 라벨 10,703개</a:t>
            </a:r>
            <a:endParaRPr lang="en-US" sz="950" dirty="0"/>
          </a:p>
        </p:txBody>
      </p:sp>
      <p:sp>
        <p:nvSpPr>
          <p:cNvPr id="9" name="stat 앞/뒤 기간 순위상관"/>
          <p:cNvSpPr/>
          <p:nvPr/>
        </p:nvSpPr>
        <p:spPr>
          <a:xfrm>
            <a:off x="9079992"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Text 7"/>
          <p:cNvSpPr txBox="1"/>
          <p:nvPr/>
        </p:nvSpPr>
        <p:spPr>
          <a:xfrm>
            <a:off x="9308592"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앞/뒤 기간 순위상관</a:t>
            </a:r>
            <a:endParaRPr lang="en-US" sz="1000" dirty="0"/>
          </a:p>
        </p:txBody>
      </p:sp>
      <p:sp>
        <p:nvSpPr>
          <p:cNvPr id="11" name="Text 8"/>
          <p:cNvSpPr txBox="1"/>
          <p:nvPr/>
        </p:nvSpPr>
        <p:spPr>
          <a:xfrm>
            <a:off x="9308592" y="2167128"/>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0.88</a:t>
            </a:r>
            <a:pPr indent="0" marL="0">
              <a:buNone/>
            </a:pPr>
            <a:endParaRPr lang="en-US" sz="2800" dirty="0"/>
          </a:p>
        </p:txBody>
      </p:sp>
      <p:sp>
        <p:nvSpPr>
          <p:cNvPr id="12" name="Text 9"/>
          <p:cNvSpPr txBox="1"/>
          <p:nvPr/>
        </p:nvSpPr>
        <p:spPr>
          <a:xfrm>
            <a:off x="9308592"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NOAA MDMAP 134곳 반복조사, 상위 20% 유지 74%</a:t>
            </a:r>
            <a:endParaRPr lang="en-US" sz="950" dirty="0"/>
          </a:p>
        </p:txBody>
      </p:sp>
      <p:sp>
        <p:nvSpPr>
          <p:cNvPr id="13" name="stat 예산 20%에서 다음 조사 쓰레기 커버"/>
          <p:cNvSpPr/>
          <p:nvPr/>
        </p:nvSpPr>
        <p:spPr>
          <a:xfrm>
            <a:off x="6355080"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4" name="Text 11"/>
          <p:cNvSpPr txBox="1"/>
          <p:nvPr/>
        </p:nvSpPr>
        <p:spPr>
          <a:xfrm>
            <a:off x="6583680"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예산 20%에서 다음 조사 쓰레기 커버</a:t>
            </a:r>
            <a:endParaRPr lang="en-US" sz="1000" dirty="0"/>
          </a:p>
        </p:txBody>
      </p:sp>
      <p:sp>
        <p:nvSpPr>
          <p:cNvPr id="15" name="Text 12"/>
          <p:cNvSpPr txBox="1"/>
          <p:nvPr/>
        </p:nvSpPr>
        <p:spPr>
          <a:xfrm>
            <a:off x="6583680" y="3602736"/>
            <a:ext cx="2148840" cy="548640"/>
          </a:xfrm>
          <a:prstGeom prst="rect">
            <a:avLst/>
          </a:prstGeom>
          <a:noFill/>
          <a:ln/>
        </p:spPr>
        <p:txBody>
          <a:bodyPr wrap="square" lIns="0" tIns="0" rIns="0" bIns="0" rtlCol="0" anchor="ctr"/>
          <a:lstStyle/>
          <a:p>
            <a:pPr indent="0" marL="0">
              <a:buNone/>
            </a:pPr>
            <a:r>
              <a:rPr lang="en-US" sz="2800" b="1" dirty="0">
                <a:solidFill>
                  <a:schemeClr val="accent2"/>
                </a:solidFill>
              </a:rPr>
              <a:t>61</a:t>
            </a:r>
            <a:pPr indent="0" marL="0">
              <a:buNone/>
            </a:pPr>
            <a:r>
              <a:rPr lang="en-US" sz="1200" b="1" dirty="0">
                <a:solidFill>
                  <a:schemeClr val="accent4"/>
                </a:solidFill>
              </a:rPr>
              <a:t> % vs 36%</a:t>
            </a:r>
            <a:endParaRPr lang="en-US" sz="2800" dirty="0"/>
          </a:p>
        </p:txBody>
      </p:sp>
      <p:sp>
        <p:nvSpPr>
          <p:cNvPr id="16" name="Text 13"/>
          <p:cNvSpPr txBox="1"/>
          <p:nvPr/>
        </p:nvSpPr>
        <p:spPr>
          <a:xfrm>
            <a:off x="6583680"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텍사스 33곳, 앞 기간으로 계획 → 뒤 기간 채점</a:t>
            </a:r>
            <a:endParaRPr lang="en-US" sz="950" dirty="0"/>
          </a:p>
        </p:txBody>
      </p:sp>
      <p:sp>
        <p:nvSpPr>
          <p:cNvPr id="17" name="stat 배터리 1개로 보는 비율"/>
          <p:cNvSpPr/>
          <p:nvPr/>
        </p:nvSpPr>
        <p:spPr>
          <a:xfrm>
            <a:off x="9079992"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8" name="Text 15"/>
          <p:cNvSpPr txBox="1"/>
          <p:nvPr/>
        </p:nvSpPr>
        <p:spPr>
          <a:xfrm>
            <a:off x="9308592"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배터리 1개로 보는 비율</a:t>
            </a:r>
            <a:endParaRPr lang="en-US" sz="1000" dirty="0"/>
          </a:p>
        </p:txBody>
      </p:sp>
      <p:sp>
        <p:nvSpPr>
          <p:cNvPr id="19" name="Text 16"/>
          <p:cNvSpPr txBox="1"/>
          <p:nvPr/>
        </p:nvSpPr>
        <p:spPr>
          <a:xfrm>
            <a:off x="9308592"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69</a:t>
            </a:r>
            <a:pPr indent="0" marL="0">
              <a:buNone/>
            </a:pPr>
            <a:r>
              <a:rPr lang="en-US" sz="1200" b="1" dirty="0">
                <a:solidFill>
                  <a:schemeClr val="accent4"/>
                </a:solidFill>
              </a:rPr>
              <a:t> %</a:t>
            </a:r>
            <a:endParaRPr lang="en-US" sz="2800" dirty="0"/>
          </a:p>
        </p:txBody>
      </p:sp>
      <p:sp>
        <p:nvSpPr>
          <p:cNvPr id="20" name="Text 17"/>
          <p:cNvSpPr txBox="1"/>
          <p:nvPr/>
        </p:nvSpPr>
        <p:spPr>
          <a:xfrm>
            <a:off x="9308592"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몰로카이, 이륙 지점까지 알고리즘이 선택</a:t>
            </a:r>
            <a:endParaRPr lang="en-US" sz="950" dirty="0"/>
          </a:p>
        </p:txBody>
      </p:sp>
      <p:sp>
        <p:nvSpPr>
          <p:cNvPr id="21" name="card 알고리즘: 오리엔티어링 문제"/>
          <p:cNvSpPr/>
          <p:nvPr/>
        </p:nvSpPr>
        <p:spPr>
          <a:xfrm>
            <a:off x="6355080" y="4663440"/>
            <a:ext cx="5285232" cy="1207008"/>
          </a:xfrm>
          <a:prstGeom prst="roundRect">
            <a:avLst>
              <a:gd name="adj" fmla="val 909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2" name="Text 19"/>
          <p:cNvSpPr txBox="1"/>
          <p:nvPr/>
        </p:nvSpPr>
        <p:spPr>
          <a:xfrm>
            <a:off x="6629400" y="4919472"/>
            <a:ext cx="4736592" cy="384048"/>
          </a:xfrm>
          <a:prstGeom prst="rect">
            <a:avLst/>
          </a:prstGeom>
          <a:noFill/>
          <a:ln/>
        </p:spPr>
        <p:txBody>
          <a:bodyPr wrap="square" lIns="0" tIns="0" rIns="0" bIns="0" rtlCol="0" anchor="t"/>
          <a:lstStyle/>
          <a:p>
            <a:pPr indent="0" marL="0">
              <a:buNone/>
            </a:pPr>
            <a:r>
              <a:rPr lang="en-US" sz="1250" b="1" dirty="0">
                <a:solidFill>
                  <a:schemeClr val="tx1"/>
                </a:solidFill>
              </a:rPr>
              <a:t>알고리즘: 오리엔티어링 문제</a:t>
            </a:r>
            <a:endParaRPr lang="en-US" sz="1250" dirty="0"/>
          </a:p>
        </p:txBody>
      </p:sp>
      <p:sp>
        <p:nvSpPr>
          <p:cNvPr id="23" name="Text 20"/>
          <p:cNvSpPr txBox="1"/>
          <p:nvPr/>
        </p:nvSpPr>
        <p:spPr>
          <a:xfrm>
            <a:off x="6629400" y="5358384"/>
            <a:ext cx="4736592" cy="38404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구간 가치 = 기대 쓰레기량 × 중요도(어망·부표 5 … 조각 1) + 탐색 보너스. 삽입 휴리스틱 → 2-opt → 이륙 지점 선택 → 소티당 비행거리 예산(기본 5 km, 가정값)별 반복. 미래를 안다고 가정한 상한과의 차이 최대 3.2%p.</a:t>
            </a:r>
            <a:endParaRPr lang="en-US" sz="1050" dirty="0"/>
          </a:p>
        </p:txBody>
      </p:sp>
      <p:sp>
        <p:nvSpPr>
          <p:cNvPr id="24"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하와이 항공 정사영상 칩 1,587장(Zenodo 8381113) · NOAA MDMAP 반복조사 · 팀 분석(hotspot/). 한국 검증은 국가 해안쓰레기 모니터링 정점 시계열로 같은 절차 적용 예정(1단계 로드맵).</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같은 자원으로 2배: 핫스팟 30% vs 전체 지그재그 (니하우)</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같은 카메라(20 m, GSD 2.9 cm)·같은 띠 폭(−20~+100 m, 8패스)·같은 배터리. 위성 형상 점수 상위 30% 구간만 날면 비행시간 41.3 h → 15.4 h로 탐지 무게의 67%를 잡습니다.</a:t>
            </a:r>
            <a:endParaRPr lang="en-US" sz="1400" dirty="0"/>
          </a:p>
        </p:txBody>
      </p:sp>
      <p:pic>
        <p:nvPicPr>
          <p:cNvPr id="4" name="니하우 시간 대비 포착" descr="/tmp/claude-0/-home-user-hsr1m/6022f0b4-b8f8-52b0-8810-837ebd6bfbe9/scratchpad/deck/img/fig_22_시간대비포착_핫스팟_vs_지그재그.jpg">    </p:cNvPr>
          <p:cNvPicPr>
            <a:picLocks noChangeAspect="1"/>
          </p:cNvPicPr>
          <p:nvPr/>
        </p:nvPicPr>
        <p:blipFill>
          <a:blip r:embed="rId1"/>
          <a:stretch>
            <a:fillRect/>
          </a:stretch>
        </p:blipFill>
        <p:spPr>
          <a:xfrm>
            <a:off x="548640" y="1783080"/>
            <a:ext cx="5577840" cy="3630168"/>
          </a:xfrm>
          <a:prstGeom prst="rect">
            <a:avLst/>
          </a:prstGeom>
        </p:spPr>
      </p:pic>
      <p:sp>
        <p:nvSpPr>
          <p:cNvPr id="5" name="Text 2"/>
          <p:cNvSpPr txBox="1"/>
          <p:nvPr/>
        </p:nvSpPr>
        <p:spPr>
          <a:xfrm>
            <a:off x="548640" y="5440680"/>
            <a:ext cx="5577840" cy="502920"/>
          </a:xfrm>
          <a:prstGeom prst="rect">
            <a:avLst/>
          </a:prstGeom>
          <a:noFill/>
          <a:ln/>
        </p:spPr>
        <p:txBody>
          <a:bodyPr wrap="square" lIns="0" tIns="0" rIns="0" bIns="0" rtlCol="0" anchor="t"/>
          <a:lstStyle/>
          <a:p>
            <a:pPr indent="0" marL="0">
              <a:buNone/>
            </a:pPr>
            <a:r>
              <a:rPr lang="en-US" sz="900" dirty="0">
                <a:solidFill>
                  <a:schemeClr val="accent4"/>
                </a:solidFill>
              </a:rPr>
              <a:t>니하우 해안 98.8 km. 검증 밀도는 하와이 탐지 격자 5,476개·13.7 t(라벨이 아닌 탐지, 재현율 0.58)이라 '순위와 비율'까지만 해석합니다.</a:t>
            </a:r>
            <a:endParaRPr lang="en-US" sz="900" dirty="0"/>
          </a:p>
        </p:txBody>
      </p:sp>
      <p:sp>
        <p:nvSpPr>
          <p:cNvPr id="6" name="stat 비행시간 (−63%)"/>
          <p:cNvSpPr/>
          <p:nvPr/>
        </p:nvSpPr>
        <p:spPr>
          <a:xfrm>
            <a:off x="6355080"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6583680"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비행시간 (−63%)</a:t>
            </a:r>
            <a:endParaRPr lang="en-US" sz="1000" dirty="0"/>
          </a:p>
        </p:txBody>
      </p:sp>
      <p:sp>
        <p:nvSpPr>
          <p:cNvPr id="8" name="Text 5"/>
          <p:cNvSpPr txBox="1"/>
          <p:nvPr/>
        </p:nvSpPr>
        <p:spPr>
          <a:xfrm>
            <a:off x="6583680" y="2167128"/>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15.4</a:t>
            </a:r>
            <a:pPr indent="0" marL="0">
              <a:buNone/>
            </a:pPr>
            <a:r>
              <a:rPr lang="en-US" sz="1200" b="1" dirty="0">
                <a:solidFill>
                  <a:schemeClr val="accent4"/>
                </a:solidFill>
              </a:rPr>
              <a:t> h vs 41.3 h</a:t>
            </a:r>
            <a:endParaRPr lang="en-US" sz="2800" dirty="0"/>
          </a:p>
        </p:txBody>
      </p:sp>
      <p:sp>
        <p:nvSpPr>
          <p:cNvPr id="9" name="Text 6"/>
          <p:cNvSpPr txBox="1"/>
          <p:nvPr/>
        </p:nvSpPr>
        <p:spPr>
          <a:xfrm>
            <a:off x="6583680"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소티 119 → 51, 프레임·탐지 CPU −65%</a:t>
            </a:r>
            <a:endParaRPr lang="en-US" sz="950" dirty="0"/>
          </a:p>
        </p:txBody>
      </p:sp>
      <p:sp>
        <p:nvSpPr>
          <p:cNvPr id="10" name="stat 같은 시간에 포착한 무게"/>
          <p:cNvSpPr/>
          <p:nvPr/>
        </p:nvSpPr>
        <p:spPr>
          <a:xfrm>
            <a:off x="9079992"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9308592"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같은 시간에 포착한 무게</a:t>
            </a:r>
            <a:endParaRPr lang="en-US" sz="1000" dirty="0"/>
          </a:p>
        </p:txBody>
      </p:sp>
      <p:sp>
        <p:nvSpPr>
          <p:cNvPr id="12" name="Text 9"/>
          <p:cNvSpPr txBox="1"/>
          <p:nvPr/>
        </p:nvSpPr>
        <p:spPr>
          <a:xfrm>
            <a:off x="9308592" y="2167128"/>
            <a:ext cx="2148840" cy="548640"/>
          </a:xfrm>
          <a:prstGeom prst="rect">
            <a:avLst/>
          </a:prstGeom>
          <a:noFill/>
          <a:ln/>
        </p:spPr>
        <p:txBody>
          <a:bodyPr wrap="square" lIns="0" tIns="0" rIns="0" bIns="0" rtlCol="0" anchor="ctr"/>
          <a:lstStyle/>
          <a:p>
            <a:pPr indent="0" marL="0">
              <a:buNone/>
            </a:pPr>
            <a:r>
              <a:rPr lang="en-US" sz="2800" b="1" dirty="0">
                <a:solidFill>
                  <a:schemeClr val="accent2"/>
                </a:solidFill>
              </a:rPr>
              <a:t>67</a:t>
            </a:r>
            <a:pPr indent="0" marL="0">
              <a:buNone/>
            </a:pPr>
            <a:r>
              <a:rPr lang="en-US" sz="1200" b="1" dirty="0">
                <a:solidFill>
                  <a:schemeClr val="accent4"/>
                </a:solidFill>
              </a:rPr>
              <a:t> %</a:t>
            </a:r>
            <a:endParaRPr lang="en-US" sz="2800" dirty="0"/>
          </a:p>
        </p:txBody>
      </p:sp>
      <p:sp>
        <p:nvSpPr>
          <p:cNvPr id="13" name="Text 10"/>
          <p:cNvSpPr txBox="1"/>
          <p:nvPr/>
        </p:nvSpPr>
        <p:spPr>
          <a:xfrm>
            <a:off x="9308592"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위성 없이 같은 시간: 지리 순서 25%, 무작위 29%</a:t>
            </a:r>
            <a:endParaRPr lang="en-US" sz="950" dirty="0"/>
          </a:p>
        </p:txBody>
      </p:sp>
      <p:sp>
        <p:nvSpPr>
          <p:cNvPr id="14" name="stat 설계상 못 보는 몫"/>
          <p:cNvSpPr/>
          <p:nvPr/>
        </p:nvSpPr>
        <p:spPr>
          <a:xfrm>
            <a:off x="6355080"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6583680"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설계상 못 보는 몫</a:t>
            </a:r>
            <a:endParaRPr lang="en-US" sz="1000" dirty="0"/>
          </a:p>
        </p:txBody>
      </p:sp>
      <p:sp>
        <p:nvSpPr>
          <p:cNvPr id="16" name="Text 13"/>
          <p:cNvSpPr txBox="1"/>
          <p:nvPr/>
        </p:nvSpPr>
        <p:spPr>
          <a:xfrm>
            <a:off x="6583680"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33</a:t>
            </a:r>
            <a:pPr indent="0" marL="0">
              <a:buNone/>
            </a:pPr>
            <a:r>
              <a:rPr lang="en-US" sz="1200" b="1" dirty="0">
                <a:solidFill>
                  <a:schemeClr val="accent4"/>
                </a:solidFill>
              </a:rPr>
              <a:t> %</a:t>
            </a:r>
            <a:endParaRPr lang="en-US" sz="2800" dirty="0"/>
          </a:p>
        </p:txBody>
      </p:sp>
      <p:sp>
        <p:nvSpPr>
          <p:cNvPr id="17" name="Text 14"/>
          <p:cNvSpPr txBox="1"/>
          <p:nvPr/>
        </p:nvSpPr>
        <p:spPr>
          <a:xfrm>
            <a:off x="6583680"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간격 메움 +1.3 h로 75%. 90% 이상 목표면 절감 23%</a:t>
            </a:r>
            <a:endParaRPr lang="en-US" sz="950" dirty="0"/>
          </a:p>
        </p:txBody>
      </p:sp>
      <p:sp>
        <p:nvSpPr>
          <p:cNvPr id="18" name="stat 풍향을 반대로 넣으면"/>
          <p:cNvSpPr/>
          <p:nvPr/>
        </p:nvSpPr>
        <p:spPr>
          <a:xfrm>
            <a:off x="9079992"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Text 16"/>
          <p:cNvSpPr txBox="1"/>
          <p:nvPr/>
        </p:nvSpPr>
        <p:spPr>
          <a:xfrm>
            <a:off x="9308592"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풍향을 반대로 넣으면</a:t>
            </a:r>
            <a:endParaRPr lang="en-US" sz="1000" dirty="0"/>
          </a:p>
        </p:txBody>
      </p:sp>
      <p:sp>
        <p:nvSpPr>
          <p:cNvPr id="20" name="Text 17"/>
          <p:cNvSpPr txBox="1"/>
          <p:nvPr/>
        </p:nvSpPr>
        <p:spPr>
          <a:xfrm>
            <a:off x="9308592"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38</a:t>
            </a:r>
            <a:pPr indent="0" marL="0">
              <a:buNone/>
            </a:pPr>
            <a:r>
              <a:rPr lang="en-US" sz="1200" b="1" dirty="0">
                <a:solidFill>
                  <a:schemeClr val="accent4"/>
                </a:solidFill>
              </a:rPr>
              <a:t> %</a:t>
            </a:r>
            <a:endParaRPr lang="en-US" sz="2800" dirty="0"/>
          </a:p>
        </p:txBody>
      </p:sp>
      <p:sp>
        <p:nvSpPr>
          <p:cNvPr id="21" name="Text 18"/>
          <p:cNvSpPr txBox="1"/>
          <p:nvPr/>
        </p:nvSpPr>
        <p:spPr>
          <a:xfrm>
            <a:off x="9308592"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점수 오류 민감도. 만입도(계절 무관)를 주 가중치로</a:t>
            </a:r>
            <a:endParaRPr lang="en-US" sz="950" dirty="0"/>
          </a:p>
        </p:txBody>
      </p:sp>
      <p:sp>
        <p:nvSpPr>
          <p:cNvPr id="22" name="card 운용 규칙: 집중하되, 전체는 가끔 확인한다"/>
          <p:cNvSpPr/>
          <p:nvPr/>
        </p:nvSpPr>
        <p:spPr>
          <a:xfrm>
            <a:off x="6355080" y="4663440"/>
            <a:ext cx="528523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3" name="Text 20"/>
          <p:cNvSpPr txBox="1"/>
          <p:nvPr/>
        </p:nvSpPr>
        <p:spPr>
          <a:xfrm>
            <a:off x="6629400" y="4919472"/>
            <a:ext cx="4736592" cy="384048"/>
          </a:xfrm>
          <a:prstGeom prst="rect">
            <a:avLst/>
          </a:prstGeom>
          <a:noFill/>
          <a:ln/>
        </p:spPr>
        <p:txBody>
          <a:bodyPr wrap="square" lIns="0" tIns="0" rIns="0" bIns="0" rtlCol="0" anchor="t"/>
          <a:lstStyle/>
          <a:p>
            <a:pPr indent="0" marL="0">
              <a:buNone/>
            </a:pPr>
            <a:r>
              <a:rPr lang="en-US" sz="1250" b="1" dirty="0">
                <a:solidFill>
                  <a:schemeClr val="tx1"/>
                </a:solidFill>
              </a:rPr>
              <a:t>운용 규칙: 집중하되, 전체는 가끔 확인한다</a:t>
            </a:r>
            <a:endParaRPr lang="en-US" sz="1250" dirty="0"/>
          </a:p>
        </p:txBody>
      </p:sp>
      <p:sp>
        <p:nvSpPr>
          <p:cNvPr id="24" name="Text 21"/>
          <p:cNvSpPr txBox="1"/>
          <p:nvPr/>
        </p:nvSpPr>
        <p:spPr>
          <a:xfrm>
            <a:off x="6629400" y="5358384"/>
            <a:ext cx="4736592" cy="45720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핫스팟 정기 비행 + N회에 1번 전수 + 예산 20% 무작위 표본. 핫스팟 전략은 '같은 자원으로 가장 많이'에 강하고 전수 조사의 대체재가 아닙니다. 선택 안 된 70% 해안은 관측이 없습니다.</a:t>
            </a:r>
            <a:endParaRPr lang="en-US" sz="1050" dirty="0"/>
          </a:p>
        </p:txBody>
      </p:sp>
      <p:sp>
        <p:nvSpPr>
          <p:cNvPr id="25"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Sentinel-2 10 m 해안선(NDWI), 형상 점수 = z(만입도) + 0.5 z(풍향 노출) + 0.5 z(log 띠 폭) · 비교 모델은 sim_ortho 카메라와 동일 · route_optimization/docs/전략비교_핫스팟_vs_전체커버리지.md</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한국 해안: 문갑도 라벨 42개와 인천 하구에서 확인한 것</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외해 섬은 위성 만입도가 맞고(문갑도 상위 30% 길이에 라벨 62%), 하구·항만은 조석 모델이 맞습니다(인천 13% 길이로 집적 예상 해안 99%). 광역 층이 어느 면을, 국지 층이 그 면의 어느 200 m를 정합니다.</a:t>
            </a:r>
            <a:endParaRPr lang="en-US" sz="1400" dirty="0"/>
          </a:p>
        </p:txBody>
      </p:sp>
      <p:pic>
        <p:nvPicPr>
          <p:cNvPr id="4" name="문갑도 우선 구간 비행경로" descr="/tmp/claude-0/-home-user-hsr1m/6022f0b4-b8f8-52b0-8810-837ebd6bfbe9/scratchpad/deck/img/fig_26_문갑도_우선구간_비행경로.jpg">    </p:cNvPr>
          <p:cNvPicPr>
            <a:picLocks noChangeAspect="1"/>
          </p:cNvPicPr>
          <p:nvPr/>
        </p:nvPicPr>
        <p:blipFill>
          <a:blip r:embed="rId1"/>
          <a:stretch>
            <a:fillRect/>
          </a:stretch>
        </p:blipFill>
        <p:spPr>
          <a:xfrm>
            <a:off x="548640" y="1783080"/>
            <a:ext cx="3611880" cy="3995928"/>
          </a:xfrm>
          <a:prstGeom prst="rect">
            <a:avLst/>
          </a:prstGeom>
        </p:spPr>
      </p:pic>
      <p:sp>
        <p:nvSpPr>
          <p:cNvPr id="5" name="Text 2"/>
          <p:cNvSpPr txBox="1"/>
          <p:nvPr/>
        </p:nvSpPr>
        <p:spPr>
          <a:xfrm>
            <a:off x="548640" y="5788152"/>
            <a:ext cx="3611880" cy="274320"/>
          </a:xfrm>
          <a:prstGeom prst="rect">
            <a:avLst/>
          </a:prstGeom>
          <a:noFill/>
          <a:ln/>
        </p:spPr>
        <p:txBody>
          <a:bodyPr wrap="square" lIns="0" tIns="0" rIns="0" bIns="0" rtlCol="0" anchor="ctr"/>
          <a:lstStyle/>
          <a:p>
            <a:pPr indent="0" marL="0">
              <a:buNone/>
            </a:pPr>
            <a:r>
              <a:rPr lang="en-US" sz="900" dirty="0">
                <a:solidFill>
                  <a:schemeClr val="accent4"/>
                </a:solidFill>
              </a:rPr>
              <a:t>문갑도: 위성 형상 점수 상위 30%(주황)와 소티별 경로. 라벨 42개(2026-07-29) 대비.</a:t>
            </a:r>
            <a:endParaRPr lang="en-US" sz="900" dirty="0"/>
          </a:p>
        </p:txBody>
      </p:sp>
      <p:pic>
        <p:nvPicPr>
          <p:cNvPr id="6" name="문갑도 예산 대비 포착률" descr="/tmp/claude-0/-home-user-hsr1m/6022f0b4-b8f8-52b0-8810-837ebd6bfbe9/scratchpad/deck/img/fig_25_문갑도_예산대비포착률.jpg">    </p:cNvPr>
          <p:cNvPicPr>
            <a:picLocks noChangeAspect="1"/>
          </p:cNvPicPr>
          <p:nvPr/>
        </p:nvPicPr>
        <p:blipFill>
          <a:blip r:embed="rId2"/>
          <a:stretch>
            <a:fillRect/>
          </a:stretch>
        </p:blipFill>
        <p:spPr>
          <a:xfrm>
            <a:off x="4389120" y="1783080"/>
            <a:ext cx="3840480" cy="2532888"/>
          </a:xfrm>
          <a:prstGeom prst="rect">
            <a:avLst/>
          </a:prstGeom>
        </p:spPr>
      </p:pic>
      <p:sp>
        <p:nvSpPr>
          <p:cNvPr id="7" name="card 문갑도 (서해, 해안 12.3 km, 상위 30% 길이)"/>
          <p:cNvSpPr/>
          <p:nvPr/>
        </p:nvSpPr>
        <p:spPr>
          <a:xfrm>
            <a:off x="4389120" y="4434840"/>
            <a:ext cx="3840480"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4"/>
          <p:cNvSpPr txBox="1"/>
          <p:nvPr/>
        </p:nvSpPr>
        <p:spPr>
          <a:xfrm>
            <a:off x="4663440" y="4690872"/>
            <a:ext cx="3291840" cy="384048"/>
          </a:xfrm>
          <a:prstGeom prst="rect">
            <a:avLst/>
          </a:prstGeom>
          <a:noFill/>
          <a:ln/>
        </p:spPr>
        <p:txBody>
          <a:bodyPr wrap="square" lIns="0" tIns="0" rIns="0" bIns="0" rtlCol="0" anchor="t"/>
          <a:lstStyle/>
          <a:p>
            <a:pPr indent="0" marL="0">
              <a:buNone/>
            </a:pPr>
            <a:r>
              <a:rPr lang="en-US" sz="1150" b="1" dirty="0">
                <a:solidFill>
                  <a:schemeClr val="tx1"/>
                </a:solidFill>
              </a:rPr>
              <a:t>문갑도 (서해, 해안 12.3 km, 상위 30% 길이)</a:t>
            </a:r>
            <a:endParaRPr lang="en-US" sz="1150" dirty="0"/>
          </a:p>
        </p:txBody>
      </p:sp>
      <p:sp>
        <p:nvSpPr>
          <p:cNvPr id="9" name="Text 5"/>
          <p:cNvSpPr txBox="1"/>
          <p:nvPr/>
        </p:nvSpPr>
        <p:spPr>
          <a:xfrm>
            <a:off x="4663440" y="5129784"/>
            <a:ext cx="3291840" cy="685800"/>
          </a:xfrm>
          <a:prstGeom prst="rect">
            <a:avLst/>
          </a:prstGeom>
          <a:noFill/>
          <a:ln/>
        </p:spPr>
        <p:txBody>
          <a:bodyPr wrap="square" lIns="0" tIns="0" rIns="0" bIns="0" rtlCol="0" anchor="t"/>
          <a:lstStyle/>
          <a:p>
            <a:pPr indent="0" marL="0">
              <a:spcAft>
                <a:spcPts val="400"/>
              </a:spcAft>
              <a:buNone/>
            </a:pPr>
            <a:r>
              <a:rPr lang="en-US" sz="950" dirty="0">
                <a:solidFill>
                  <a:schemeClr val="accent4"/>
                </a:solidFill>
              </a:rPr>
              <a:t>만입도만 62% · 만입도+잔차류+풍향 67% · 노출만 52% · OpenDrift 8 km 해류 21%(KHOA 보정 후 40%) · 무작위 30%. 비행: 전체 5.0 h·15소티 → 상위 30% 2.2 h·7소티.</a:t>
            </a:r>
            <a:endParaRPr lang="en-US" sz="950" dirty="0"/>
          </a:p>
        </p:txBody>
      </p:sp>
      <p:pic>
        <p:nvPicPr>
          <p:cNvPr id="10" name="인천 시간 대비 포착" descr="/tmp/claude-0/-home-user-hsr1m/6022f0b4-b8f8-52b0-8810-837ebd6bfbe9/scratchpad/deck/img/fig_32_시간대비포착_인천.jpg">    </p:cNvPr>
          <p:cNvPicPr>
            <a:picLocks noChangeAspect="1"/>
          </p:cNvPicPr>
          <p:nvPr/>
        </p:nvPicPr>
        <p:blipFill>
          <a:blip r:embed="rId3"/>
          <a:stretch>
            <a:fillRect/>
          </a:stretch>
        </p:blipFill>
        <p:spPr>
          <a:xfrm>
            <a:off x="8458200" y="1783080"/>
            <a:ext cx="3182112" cy="2075688"/>
          </a:xfrm>
          <a:prstGeom prst="rect">
            <a:avLst/>
          </a:prstGeom>
        </p:spPr>
      </p:pic>
      <p:sp>
        <p:nvSpPr>
          <p:cNvPr id="11" name="card 인천·강화 하구 (조석 모델)"/>
          <p:cNvSpPr/>
          <p:nvPr/>
        </p:nvSpPr>
        <p:spPr>
          <a:xfrm>
            <a:off x="8458200" y="3977640"/>
            <a:ext cx="3182112"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7"/>
          <p:cNvSpPr txBox="1"/>
          <p:nvPr/>
        </p:nvSpPr>
        <p:spPr>
          <a:xfrm>
            <a:off x="8732520" y="4233672"/>
            <a:ext cx="2633472" cy="384048"/>
          </a:xfrm>
          <a:prstGeom prst="rect">
            <a:avLst/>
          </a:prstGeom>
          <a:noFill/>
          <a:ln/>
        </p:spPr>
        <p:txBody>
          <a:bodyPr wrap="square" lIns="0" tIns="0" rIns="0" bIns="0" rtlCol="0" anchor="t"/>
          <a:lstStyle/>
          <a:p>
            <a:pPr indent="0" marL="0">
              <a:buNone/>
            </a:pPr>
            <a:r>
              <a:rPr lang="en-US" sz="1150" b="1" dirty="0">
                <a:solidFill>
                  <a:schemeClr val="tx1"/>
                </a:solidFill>
              </a:rPr>
              <a:t>인천·강화 하구 (조석 모델)</a:t>
            </a:r>
            <a:endParaRPr lang="en-US" sz="1150" dirty="0"/>
          </a:p>
        </p:txBody>
      </p:sp>
      <p:sp>
        <p:nvSpPr>
          <p:cNvPr id="13" name="Text 8"/>
          <p:cNvSpPr txBox="1"/>
          <p:nvPr/>
        </p:nvSpPr>
        <p:spPr>
          <a:xfrm>
            <a:off x="8732520" y="4672584"/>
            <a:ext cx="2633472" cy="1143000"/>
          </a:xfrm>
          <a:prstGeom prst="rect">
            <a:avLst/>
          </a:prstGeom>
          <a:noFill/>
          <a:ln/>
        </p:spPr>
        <p:txBody>
          <a:bodyPr wrap="square" lIns="0" tIns="0" rIns="0" bIns="0" rtlCol="0" anchor="t"/>
          <a:lstStyle/>
          <a:p>
            <a:pPr indent="0" marL="0">
              <a:spcAft>
                <a:spcPts val="400"/>
              </a:spcAft>
              <a:buNone/>
            </a:pPr>
            <a:r>
              <a:rPr lang="en-US" sz="950" dirty="0">
                <a:solidFill>
                  <a:schemeClr val="accent4"/>
                </a:solidFill>
              </a:rPr>
              <a:t>집적 예상 해안 140 km(전체의 13%)만 날면 448 h·1,333소티 → 57 h·178소티, 포착 99%. 위성 형상 점수는 하구 수로형 핫스팟과 안 겹쳐 무작위 이하(3%) → 조석 모델이 1차 선별, 위성은 해안선 정합·갱신.</a:t>
            </a:r>
            <a:endParaRPr lang="en-US" sz="950" dirty="0"/>
          </a:p>
        </p:txBody>
      </p:sp>
      <p:sp>
        <p:nvSpPr>
          <p:cNvPr id="14"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범위: 공간 군집은 자료로(니하우 만 244 vs 곶 40 kg/km, 문갑도 만 6.4 vs 곶 0.5 개/km), 시간 반복은 문헌·물리 추론(국내 반복 조사 예정). 만입 해안 문헌: Maiti et al. 2026 MPB 232:120031 · Critchell &amp; Lambrechts 2016 ECSS 171 · Brabo et al. 2022 MPB 174. 조석 모델 incheon_debris_sim · OpenDrift(Open-Meteo SMOC 1/12°)</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어떻게 날릴까: 비행은 조종자, 나머지는 소프트웨어</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자동비행은 제품 전제에서 뺐습니다. 경로를 KML로 내보내 조종자가 날고, 비행 구역은 위성 타일로 자동 마스킹하며, 탐지·재방문은 업체 정사영상 가상비행으로 검증했습니다.</a:t>
            </a:r>
            <a:endParaRPr lang="en-US" sz="1400" dirty="0"/>
          </a:p>
        </p:txBody>
      </p:sp>
      <p:sp>
        <p:nvSpPr>
          <p:cNvPr id="4" name="card 비행 구역 자동 마스킹 (구현)"/>
          <p:cNvSpPr/>
          <p:nvPr/>
        </p:nvSpPr>
        <p:spPr>
          <a:xfrm>
            <a:off x="548640" y="1783080"/>
            <a:ext cx="3429000" cy="416052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2039112"/>
            <a:ext cx="2880360" cy="384048"/>
          </a:xfrm>
          <a:prstGeom prst="rect">
            <a:avLst/>
          </a:prstGeom>
          <a:noFill/>
          <a:ln/>
        </p:spPr>
        <p:txBody>
          <a:bodyPr wrap="square" lIns="0" tIns="0" rIns="0" bIns="0" rtlCol="0" anchor="t"/>
          <a:lstStyle/>
          <a:p>
            <a:pPr indent="0" marL="0">
              <a:buNone/>
            </a:pPr>
            <a:r>
              <a:rPr lang="en-US" sz="1300" b="1" dirty="0">
                <a:solidFill>
                  <a:schemeClr val="tx1"/>
                </a:solidFill>
              </a:rPr>
              <a:t>비행 구역 자동 마스킹 (구현)</a:t>
            </a:r>
            <a:endParaRPr lang="en-US" sz="1300" dirty="0"/>
          </a:p>
        </p:txBody>
      </p:sp>
      <p:sp>
        <p:nvSpPr>
          <p:cNvPr id="6" name="Text 4"/>
          <p:cNvSpPr txBox="1"/>
          <p:nvPr/>
        </p:nvSpPr>
        <p:spPr>
          <a:xfrm>
            <a:off x="822960" y="2478024"/>
            <a:ext cx="2880360" cy="333756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Esri 위성 타일(약 1 m/px) RGB 지형분류(물·맨땅·식생, 8 m 격자)와 탁한 하구·갯벌 질감 보정으로 바다·갯벌·숲을 빼고, 물에 닿은 땅의 외곽선만 해안선(100 m 구간)으로 뽑습니다. 마스크·정사영상·조석 지도는 EPSG:3857로 재투영해 위성 지도에 정확히 겹칩니다(이전 모서리 60 m 어긋남 해결). 해안선이 없는 구역은 전체 커버리지 경로로 전환.</a:t>
            </a:r>
            <a:endParaRPr lang="en-US" sz="1050" dirty="0"/>
          </a:p>
          <a:p>
            <a:pPr indent="0" marL="0">
              <a:spcAft>
                <a:spcPts val="400"/>
              </a:spcAft>
              <a:buNone/>
            </a:pPr>
            <a:endParaRPr lang="en-US" sz="1050" dirty="0"/>
          </a:p>
          <a:p>
            <a:pPr indent="0" marL="0">
              <a:spcAft>
                <a:spcPts val="400"/>
              </a:spcAft>
              <a:buNone/>
            </a:pPr>
            <a:r>
              <a:rPr lang="en-US" sz="1050" dirty="0">
                <a:solidFill>
                  <a:schemeClr val="accent4"/>
                </a:solidFill>
              </a:rPr>
              <a:t>왜 마스킹하나: 해안 띠 밖 사진은 쓸모없고, 배터리를 낭비하며, 바다 추락은 기체 손실.</a:t>
            </a:r>
            <a:endParaRPr lang="en-US" sz="1050" dirty="0"/>
          </a:p>
        </p:txBody>
      </p:sp>
      <p:sp>
        <p:nvSpPr>
          <p:cNvPr id="7" name="chart card"/>
          <p:cNvSpPr/>
          <p:nvPr/>
        </p:nvSpPr>
        <p:spPr>
          <a:xfrm>
            <a:off x="4160520" y="1783080"/>
            <a:ext cx="365760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6"/>
          <p:cNvSpPr txBox="1"/>
          <p:nvPr/>
        </p:nvSpPr>
        <p:spPr>
          <a:xfrm>
            <a:off x="4389120" y="1874520"/>
            <a:ext cx="3291840" cy="274320"/>
          </a:xfrm>
          <a:prstGeom prst="rect">
            <a:avLst/>
          </a:prstGeom>
          <a:noFill/>
          <a:ln/>
        </p:spPr>
        <p:txBody>
          <a:bodyPr wrap="square" lIns="0" tIns="0" rIns="0" bIns="0" rtlCol="0" anchor="ctr"/>
          <a:lstStyle/>
          <a:p>
            <a:pPr indent="0" marL="0">
              <a:buNone/>
            </a:pPr>
            <a:r>
              <a:rPr lang="en-US" sz="1150" b="1" dirty="0">
                <a:solidFill>
                  <a:schemeClr val="tx1"/>
                </a:solidFill>
              </a:rPr>
              <a:t>능동 재방문 효과: 재현율 (문갑도 100×100 m, 라벨 7개)</a:t>
            </a:r>
            <a:endParaRPr lang="en-US" sz="1150" dirty="0"/>
          </a:p>
        </p:txBody>
      </p:sp>
      <p:graphicFrame>
        <p:nvGraphicFramePr>
          <p:cNvPr id="9" name="Chart 0" descr=""/>
          <p:cNvGraphicFramePr/>
          <p:nvPr/>
        </p:nvGraphicFramePr>
        <p:xfrm>
          <a:off x="4251960" y="2194560"/>
          <a:ext cx="3474720" cy="1874520"/>
        </p:xfrm>
        <a:graphic xmlns:a="http://schemas.openxmlformats.org/drawingml/2006/main">
          <a:graphicData uri="http://schemas.openxmlformats.org/drawingml/2006/chart">
            <c:chart xmlns:c="http://schemas.openxmlformats.org/drawingml/2006/chart" r:id="rId1"/>
          </a:graphicData>
        </a:graphic>
      </p:graphicFrame>
      <p:sp>
        <p:nvSpPr>
          <p:cNvPr id="10" name="stat 재방문으로 늘어난 비행거리"/>
          <p:cNvSpPr/>
          <p:nvPr/>
        </p:nvSpPr>
        <p:spPr>
          <a:xfrm>
            <a:off x="8028432" y="1783080"/>
            <a:ext cx="361188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8284464" y="1984248"/>
            <a:ext cx="3154680" cy="310896"/>
          </a:xfrm>
          <a:prstGeom prst="rect">
            <a:avLst/>
          </a:prstGeom>
          <a:noFill/>
          <a:ln/>
        </p:spPr>
        <p:txBody>
          <a:bodyPr wrap="square" lIns="0" tIns="0" rIns="0" bIns="0" rtlCol="0" anchor="ctr"/>
          <a:lstStyle/>
          <a:p>
            <a:pPr indent="0" marL="0">
              <a:buNone/>
            </a:pPr>
            <a:r>
              <a:rPr lang="en-US" sz="1100" dirty="0">
                <a:solidFill>
                  <a:schemeClr val="accent4"/>
                </a:solidFill>
              </a:rPr>
              <a:t>재방문으로 늘어난 비행거리</a:t>
            </a:r>
            <a:endParaRPr lang="en-US" sz="1100" dirty="0"/>
          </a:p>
        </p:txBody>
      </p:sp>
      <p:sp>
        <p:nvSpPr>
          <p:cNvPr id="12" name="Text 9"/>
          <p:cNvSpPr txBox="1"/>
          <p:nvPr/>
        </p:nvSpPr>
        <p:spPr>
          <a:xfrm>
            <a:off x="8284464" y="2286000"/>
            <a:ext cx="3154680" cy="685800"/>
          </a:xfrm>
          <a:prstGeom prst="rect">
            <a:avLst/>
          </a:prstGeom>
          <a:noFill/>
          <a:ln/>
        </p:spPr>
        <p:txBody>
          <a:bodyPr wrap="square" lIns="0" tIns="0" rIns="0" bIns="0" rtlCol="0" anchor="ctr"/>
          <a:lstStyle/>
          <a:p>
            <a:pPr indent="0" marL="0">
              <a:buNone/>
            </a:pPr>
            <a:r>
              <a:rPr lang="en-US" sz="3400" b="1" dirty="0">
                <a:solidFill>
                  <a:schemeClr val="accent2"/>
                </a:solidFill>
              </a:rPr>
              <a:t>+697</a:t>
            </a:r>
            <a:pPr indent="0" marL="0">
              <a:buNone/>
            </a:pPr>
            <a:r>
              <a:rPr lang="en-US" sz="1300" b="1" dirty="0">
                <a:solidFill>
                  <a:schemeClr val="accent4"/>
                </a:solidFill>
              </a:rPr>
              <a:t> m</a:t>
            </a:r>
            <a:endParaRPr lang="en-US" sz="3400" dirty="0"/>
          </a:p>
        </p:txBody>
      </p:sp>
      <p:sp>
        <p:nvSpPr>
          <p:cNvPr id="13" name="Text 10"/>
          <p:cNvSpPr txBox="1"/>
          <p:nvPr/>
        </p:nvSpPr>
        <p:spPr>
          <a:xfrm>
            <a:off x="8284464" y="2990088"/>
            <a:ext cx="3154680" cy="1051560"/>
          </a:xfrm>
          <a:prstGeom prst="rect">
            <a:avLst/>
          </a:prstGeom>
          <a:noFill/>
          <a:ln/>
        </p:spPr>
        <p:txBody>
          <a:bodyPr wrap="square" lIns="0" tIns="0" rIns="0" bIns="0" rtlCol="0" anchor="t"/>
          <a:lstStyle/>
          <a:p>
            <a:pPr indent="0" marL="0">
              <a:buNone/>
            </a:pPr>
            <a:r>
              <a:rPr lang="en-US" sz="1050" dirty="0">
                <a:solidFill>
                  <a:schemeClr val="accent4"/>
                </a:solidFill>
              </a:rPr>
              <a:t>20 m 커버리지 679 m → 8 m 재방문 25회 포함 1,718 m. 애매한 후보(신뢰도 0.25~0.5) 25개 중 22개 기각·3개 확정.</a:t>
            </a:r>
            <a:endParaRPr lang="en-US" sz="1050" dirty="0"/>
          </a:p>
        </p:txBody>
      </p:sp>
      <p:sp>
        <p:nvSpPr>
          <p:cNvPr id="14" name="card 운용 구조"/>
          <p:cNvSpPr/>
          <p:nvPr/>
        </p:nvSpPr>
        <p:spPr>
          <a:xfrm>
            <a:off x="4160520" y="4343400"/>
            <a:ext cx="7479792"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4434840" y="4599432"/>
            <a:ext cx="6931152" cy="384048"/>
          </a:xfrm>
          <a:prstGeom prst="rect">
            <a:avLst/>
          </a:prstGeom>
          <a:noFill/>
          <a:ln/>
        </p:spPr>
        <p:txBody>
          <a:bodyPr wrap="square" lIns="0" tIns="0" rIns="0" bIns="0" rtlCol="0" anchor="t"/>
          <a:lstStyle/>
          <a:p>
            <a:pPr indent="0" marL="0">
              <a:buNone/>
            </a:pPr>
            <a:r>
              <a:rPr lang="en-US" sz="1250" b="1" dirty="0">
                <a:solidFill>
                  <a:schemeClr val="tx1"/>
                </a:solidFill>
              </a:rPr>
              <a:t>운용 구조</a:t>
            </a:r>
            <a:endParaRPr lang="en-US" sz="1250" dirty="0"/>
          </a:p>
        </p:txBody>
      </p:sp>
      <p:sp>
        <p:nvSpPr>
          <p:cNvPr id="16" name="Text 13"/>
          <p:cNvSpPr txBox="1"/>
          <p:nvPr/>
        </p:nvSpPr>
        <p:spPr>
          <a:xfrm>
            <a:off x="4434840" y="5038344"/>
            <a:ext cx="6931152" cy="7772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핫스팟 경로 → KML 내보내기(Google Earth·Litchi에서 열림; DJI Fly용 WPML KMZ 변환과 실기체 임포트는 확인 전) → 조종자 비행 → 영상+SRT → 노트북 한 대(RTX 4060 8 GB·RAM 16 GB)에서 탐지·3D·작업카드, 조밀 복원 45분 → 3분 24초. 배터리는 소티당 비행거리 예산(기본 5 km, 가정값) 한 변수로만 봅니다. 시뮬레이터는 월드·카메라·비행·탐지·지도·계획을 분리해 ROS 2/PX4로 이식 설계.</a:t>
            </a:r>
            <a:endParaRPr lang="en-US" sz="1050" dirty="0"/>
          </a:p>
        </p:txBody>
      </p:sp>
      <p:sp>
        <p:nvSpPr>
          <p:cNvPr id="17"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Galceran &amp; Carreras (2013) 커버리지 경로계획, Robot. Auton. Syst. 61(12):1258–1276 · Popović et al. (2020) 정보 경로계획(IPP), Auton. Robots 44:889–911 · 팀 sim_ortho 결과 · 서비스 app/region.py(마스킹)</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무엇이 어디에: 통합 탐지 모델과 3D 위치</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제품 모델은 AI Hub·하와이·튀니지·문갑도를 합친 단일 통합 모델(5,405장·13클래스)로 갑니다. 현장마다 재현율이 엇갈려 지금 서비스 기본 가중치는 AI Hub 11종이고, 30 에폭 결과로 재비교합니다.</a:t>
            </a:r>
            <a:endParaRPr lang="en-US" sz="1400" dirty="0"/>
          </a:p>
        </p:txBody>
      </p:sp>
      <p:sp>
        <p:nvSpPr>
          <p:cNvPr id="4" name="chart card"/>
          <p:cNvSpPr/>
          <p:nvPr/>
        </p:nvSpPr>
        <p:spPr>
          <a:xfrm>
            <a:off x="548640" y="1783080"/>
            <a:ext cx="5120640" cy="2514600"/>
          </a:xfrm>
          <a:prstGeom prst="roundRect">
            <a:avLst>
              <a:gd name="adj" fmla="val 436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4754880" cy="274320"/>
          </a:xfrm>
          <a:prstGeom prst="rect">
            <a:avLst/>
          </a:prstGeom>
          <a:noFill/>
          <a:ln/>
        </p:spPr>
        <p:txBody>
          <a:bodyPr wrap="square" lIns="0" tIns="0" rIns="0" bIns="0" rtlCol="0" anchor="ctr"/>
          <a:lstStyle/>
          <a:p>
            <a:pPr indent="0" marL="0">
              <a:buNone/>
            </a:pPr>
            <a:r>
              <a:rPr lang="en-US" sz="1150" b="1" dirty="0">
                <a:solidFill>
                  <a:schemeClr val="tx1"/>
                </a:solidFill>
              </a:rPr>
              <a:t>탐지 재현율, 현장별 (클래스 무시, IoU 0.3, conf 0.25)</a:t>
            </a:r>
            <a:endParaRPr lang="en-US" sz="1150" dirty="0"/>
          </a:p>
        </p:txBody>
      </p:sp>
      <p:graphicFrame>
        <p:nvGraphicFramePr>
          <p:cNvPr id="6" name="Chart 0" descr=""/>
          <p:cNvGraphicFramePr/>
          <p:nvPr/>
        </p:nvGraphicFramePr>
        <p:xfrm>
          <a:off x="640080" y="2194560"/>
          <a:ext cx="4937760" cy="2057400"/>
        </p:xfrm>
        <a:graphic xmlns:a="http://schemas.openxmlformats.org/drawingml/2006/main">
          <a:graphicData uri="http://schemas.openxmlformats.org/drawingml/2006/chart">
            <c:chart xmlns:c="http://schemas.openxmlformats.org/drawingml/2006/chart" r:id="rId1"/>
          </a:graphicData>
        </a:graphic>
      </p:graphicFrame>
      <p:sp>
        <p:nvSpPr>
          <p:cNvPr id="7" name="card 왜 통합인가, 무엇이 남았나"/>
          <p:cNvSpPr/>
          <p:nvPr/>
        </p:nvSpPr>
        <p:spPr>
          <a:xfrm>
            <a:off x="548640" y="4434840"/>
            <a:ext cx="5120640"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22960" y="4690872"/>
            <a:ext cx="4572000" cy="384048"/>
          </a:xfrm>
          <a:prstGeom prst="rect">
            <a:avLst/>
          </a:prstGeom>
          <a:noFill/>
          <a:ln/>
        </p:spPr>
        <p:txBody>
          <a:bodyPr wrap="square" lIns="0" tIns="0" rIns="0" bIns="0" rtlCol="0" anchor="t"/>
          <a:lstStyle/>
          <a:p>
            <a:pPr indent="0" marL="0">
              <a:buNone/>
            </a:pPr>
            <a:r>
              <a:rPr lang="en-US" sz="1250" b="1" dirty="0">
                <a:solidFill>
                  <a:schemeClr val="tx1"/>
                </a:solidFill>
              </a:rPr>
              <a:t>왜 통합인가, 무엇이 남았나</a:t>
            </a:r>
            <a:endParaRPr lang="en-US" sz="1250" dirty="0"/>
          </a:p>
        </p:txBody>
      </p:sp>
      <p:sp>
        <p:nvSpPr>
          <p:cNvPr id="9" name="Text 6"/>
          <p:cNvSpPr txBox="1"/>
          <p:nvPr/>
        </p:nvSpPr>
        <p:spPr>
          <a:xfrm>
            <a:off x="822960" y="5129784"/>
            <a:ext cx="4572000" cy="68580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운용 고도 GSD(2~4 cm/px)로 축소한 AI Hub 학습셋이 문갑도 재현율 0.28(공개 UAVVaste) → 0.72의 원인. 통합 모델은 낯선 현장(튀니지 0.14 → 0.52)에서 낫고 주 현장(문갑도 0.74 → 0.53)에서는 아직 떨어집니다. 현장 10분 미세조정(하와이 0.24 → 0.69)은 보조 수단.</a:t>
            </a:r>
            <a:endParaRPr lang="en-US" sz="1050" dirty="0"/>
          </a:p>
        </p:txBody>
      </p:sp>
      <p:pic>
        <p:nvPicPr>
          <p:cNvPr id="10" name="0015 야간 상자 30개 지도" descr="/tmp/claude-0/-home-user-hsr1m/6022f0b4-b8f8-52b0-8810-837ebd6bfbe9/scratchpad/deck/img/fig_16_0015_야간_상자30개_지도.jpg">    </p:cNvPr>
          <p:cNvPicPr>
            <a:picLocks noChangeAspect="1"/>
          </p:cNvPicPr>
          <p:nvPr/>
        </p:nvPicPr>
        <p:blipFill>
          <a:blip r:embed="rId2"/>
          <a:stretch>
            <a:fillRect/>
          </a:stretch>
        </p:blipFill>
        <p:spPr>
          <a:xfrm>
            <a:off x="5943600" y="1783080"/>
            <a:ext cx="2331720" cy="2651760"/>
          </a:xfrm>
          <a:prstGeom prst="rect">
            <a:avLst/>
          </a:prstGeom>
        </p:spPr>
      </p:pic>
      <p:sp>
        <p:nvSpPr>
          <p:cNvPr id="11" name="Text 7"/>
          <p:cNvSpPr txBox="1"/>
          <p:nvPr/>
        </p:nvSpPr>
        <p:spPr>
          <a:xfrm>
            <a:off x="5943600" y="4480560"/>
            <a:ext cx="2331720" cy="411480"/>
          </a:xfrm>
          <a:prstGeom prst="rect">
            <a:avLst/>
          </a:prstGeom>
          <a:noFill/>
          <a:ln/>
        </p:spPr>
        <p:txBody>
          <a:bodyPr wrap="square" lIns="0" tIns="0" rIns="0" bIns="0" rtlCol="0" anchor="t"/>
          <a:lstStyle/>
          <a:p>
            <a:pPr indent="0" marL="0">
              <a:buNone/>
            </a:pPr>
            <a:r>
              <a:rPr lang="en-US" sz="900" dirty="0">
                <a:solidFill>
                  <a:schemeClr val="accent4"/>
                </a:solidFill>
              </a:rPr>
              <a:t>야간 10분 통과 비행(0015): 상자 30개 자동 지도화, 3D 뼈대 25/25 구간 성공</a:t>
            </a:r>
            <a:endParaRPr lang="en-US" sz="900" dirty="0"/>
          </a:p>
        </p:txBody>
      </p:sp>
      <p:sp>
        <p:nvSpPr>
          <p:cNvPr id="12" name="table card"/>
          <p:cNvSpPr/>
          <p:nvPr/>
        </p:nvSpPr>
        <p:spPr>
          <a:xfrm>
            <a:off x="8503920" y="1783080"/>
            <a:ext cx="3136392" cy="265176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3" name="Text 9"/>
          <p:cNvSpPr txBox="1"/>
          <p:nvPr/>
        </p:nvSpPr>
        <p:spPr>
          <a:xfrm>
            <a:off x="8732520" y="1874520"/>
            <a:ext cx="2743200" cy="274320"/>
          </a:xfrm>
          <a:prstGeom prst="rect">
            <a:avLst/>
          </a:prstGeom>
          <a:noFill/>
          <a:ln/>
        </p:spPr>
        <p:txBody>
          <a:bodyPr wrap="square" lIns="0" tIns="0" rIns="0" bIns="0" rtlCol="0" anchor="ctr"/>
          <a:lstStyle/>
          <a:p>
            <a:pPr indent="0" marL="0">
              <a:buNone/>
            </a:pPr>
            <a:r>
              <a:rPr lang="en-US" sz="1150" b="1" dirty="0">
                <a:solidFill>
                  <a:schemeClr val="tx1"/>
                </a:solidFill>
              </a:rPr>
              <a:t>위치 정확도 (실기체)</a:t>
            </a:r>
            <a:endParaRPr lang="en-US" sz="1150" dirty="0"/>
          </a:p>
        </p:txBody>
      </p:sp>
      <p:graphicFrame>
        <p:nvGraphicFramePr>
          <p:cNvPr id="17" name="position accuracy"/>
          <p:cNvGraphicFramePr>
            <a:graphicFrameLocks noGrp="1"/>
          </p:cNvGraphicFramePr>
          <p:nvPr>
            <p:extLst>
              <p:ext uri="{D42A27DB-BD31-4B8C-83A1-F6EECF244321}">
                <p14:modId xmlns:p14="http://schemas.microsoft.com/office/powerpoint/2010/main" val="1579011935"/>
              </p:ext>
            </p:extLst>
          </p:nvPr>
        </p:nvGraphicFramePr>
        <p:xfrm>
          <a:off x="8732520" y="2194560"/>
          <a:ext cx="2697480" cy="914400"/>
        </p:xfrm>
        <a:graphic>
          <a:graphicData uri="http://schemas.openxmlformats.org/drawingml/2006/table">
            <a:tbl>
              <a:tblPr/>
              <a:tblGrid>
                <a:gridCol w="1554480"/>
                <a:gridCol w="1143000"/>
              </a:tblGrid>
              <a:tr h="310896">
                <a:tc>
                  <a:txBody>
                    <a:bodyPr/>
                    <a:lstStyle/>
                    <a:p>
                      <a:pPr indent="0" marL="0">
                        <a:buNone/>
                      </a:pPr>
                      <a:r>
                        <a:rPr lang="en-US" sz="1000" b="1" dirty="0">
                          <a:solidFill>
                            <a:srgbClr val="0B3C5D"/>
                          </a:solidFill>
                        </a:rPr>
                        <a:t>영상</a:t>
                      </a:r>
                      <a:endParaRPr lang="en-US" sz="100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3D ↔ GPS 잔차</a:t>
                      </a:r>
                      <a:endParaRPr lang="en-US" sz="100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10896">
                <a:tc>
                  <a:txBody>
                    <a:bodyPr/>
                    <a:lstStyle/>
                    <a:p>
                      <a:pPr indent="0" marL="0">
                        <a:buNone/>
                      </a:pPr>
                      <a:r>
                        <a:rPr lang="en-US" sz="950" dirty="0">
                          <a:solidFill>
                            <a:srgbClr val="10212E"/>
                          </a:solidFill>
                        </a:rPr>
                        <a:t>0007 송도 선회 7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1.16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0010 골목 왕복 2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8.07 → 0.51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합성 7개 시나리오</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0.01~0.11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r95 (GPS 1σ 2.5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5.2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15" name="Text 10"/>
          <p:cNvSpPr txBox="1"/>
          <p:nvPr/>
        </p:nvSpPr>
        <p:spPr>
          <a:xfrm>
            <a:off x="8732520" y="3767328"/>
            <a:ext cx="2743200" cy="457200"/>
          </a:xfrm>
          <a:prstGeom prst="rect">
            <a:avLst/>
          </a:prstGeom>
          <a:noFill/>
          <a:ln/>
        </p:spPr>
        <p:txBody>
          <a:bodyPr wrap="square" lIns="0" tIns="0" rIns="0" bIns="0" rtlCol="0" anchor="t"/>
          <a:lstStyle/>
          <a:p>
            <a:pPr indent="0" marL="0">
              <a:buNone/>
            </a:pPr>
            <a:r>
              <a:rPr lang="en-US" sz="900" dirty="0">
                <a:solidFill>
                  <a:schemeClr val="accent4"/>
                </a:solidFill>
              </a:rPr>
              <a:t>* SRT 고도가 틀린 경우 GPS 경로로 축척을 자동 선택</a:t>
            </a:r>
            <a:endParaRPr lang="en-US" sz="900" dirty="0"/>
          </a:p>
        </p:txBody>
      </p:sp>
      <p:sp>
        <p:nvSpPr>
          <p:cNvPr id="16" name="card 위치 50 m 오차는 이렇게 사라진다"/>
          <p:cNvSpPr/>
          <p:nvPr/>
        </p:nvSpPr>
        <p:spPr>
          <a:xfrm>
            <a:off x="5943600" y="4937760"/>
            <a:ext cx="5696712"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7" name="Text 12"/>
          <p:cNvSpPr txBox="1"/>
          <p:nvPr/>
        </p:nvSpPr>
        <p:spPr>
          <a:xfrm>
            <a:off x="6217920" y="5193792"/>
            <a:ext cx="5148072" cy="384048"/>
          </a:xfrm>
          <a:prstGeom prst="rect">
            <a:avLst/>
          </a:prstGeom>
          <a:noFill/>
          <a:ln/>
        </p:spPr>
        <p:txBody>
          <a:bodyPr wrap="square" lIns="0" tIns="0" rIns="0" bIns="0" rtlCol="0" anchor="t"/>
          <a:lstStyle/>
          <a:p>
            <a:pPr indent="0" marL="0">
              <a:buNone/>
            </a:pPr>
            <a:r>
              <a:rPr lang="en-US" sz="1200" b="1" dirty="0">
                <a:solidFill>
                  <a:schemeClr val="tx1"/>
                </a:solidFill>
              </a:rPr>
              <a:t>위치 50 m 오차는 이렇게 사라진다</a:t>
            </a:r>
            <a:endParaRPr lang="en-US" sz="1200" dirty="0"/>
          </a:p>
        </p:txBody>
      </p:sp>
      <p:sp>
        <p:nvSpPr>
          <p:cNvPr id="18" name="Text 13"/>
          <p:cNvSpPr txBox="1"/>
          <p:nvPr/>
        </p:nvSpPr>
        <p:spPr>
          <a:xfrm>
            <a:off x="6217920" y="5632704"/>
            <a:ext cx="5148072" cy="20116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드론 GPS 대신 3D 카메라 자세로 탐지 박스 → 광선 → 지면 교차. 호버링(시차 5° 미만)은 평면 교차로 자동 복귀, 물체마다 오차반경(r95) 기록.</a:t>
            </a:r>
            <a:endParaRPr lang="en-US" sz="1000" dirty="0"/>
          </a:p>
        </p:txBody>
      </p:sp>
      <p:sp>
        <p:nvSpPr>
          <p:cNvPr id="19"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Martin et al. (2018) MPB 131:662–673 · Fallati et al. (2019) STOTEN 693:133581 · Hartley &amp; Sturm (1997) CVIU 68(2):146–157 · 팀 교차평가 figures/cross_eval_multi.json(그림 21), 삼각측량 패치 docs/삼각측량_위치보정.md</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얼마나 무거운가: 3D 부피 × 겉보기밀도, 그리고 구간</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핵심 차별점. SAM 2 마스크를 여러 프레임에서 투표해 점구름에서 물체 점만 남기고, 지역 바닥 평면 기준 높이지도로 부피를 냅니다. 영상 하나로 정사영상·DSM 없이 끝납니다.</a:t>
            </a:r>
            <a:endParaRPr lang="en-US" sz="1400" dirty="0"/>
          </a:p>
        </p:txBody>
      </p:sp>
      <p:sp>
        <p:nvSpPr>
          <p:cNvPr id="4" name="chart card"/>
          <p:cNvSpPr/>
          <p:nvPr/>
        </p:nvSpPr>
        <p:spPr>
          <a:xfrm>
            <a:off x="548640" y="1783080"/>
            <a:ext cx="4937760" cy="4069080"/>
          </a:xfrm>
          <a:prstGeom prst="roundRect">
            <a:avLst>
              <a:gd name="adj" fmla="val 269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4572000" cy="274320"/>
          </a:xfrm>
          <a:prstGeom prst="rect">
            <a:avLst/>
          </a:prstGeom>
          <a:noFill/>
          <a:ln/>
        </p:spPr>
        <p:txBody>
          <a:bodyPr wrap="square" lIns="0" tIns="0" rIns="0" bIns="0" rtlCol="0" anchor="ctr"/>
          <a:lstStyle/>
          <a:p>
            <a:pPr indent="0" marL="0">
              <a:buNone/>
            </a:pPr>
            <a:r>
              <a:rPr lang="en-US" sz="1150" b="1" dirty="0">
                <a:solidFill>
                  <a:schemeClr val="tx1"/>
                </a:solidFill>
              </a:rPr>
              <a:t>크기 아는 상자 3개의 부피 오차 (실측 대비)</a:t>
            </a:r>
            <a:endParaRPr lang="en-US" sz="1150" dirty="0"/>
          </a:p>
        </p:txBody>
      </p:sp>
      <p:graphicFrame>
        <p:nvGraphicFramePr>
          <p:cNvPr id="6" name="Chart 0" descr=""/>
          <p:cNvGraphicFramePr/>
          <p:nvPr/>
        </p:nvGraphicFramePr>
        <p:xfrm>
          <a:off x="640080" y="2194560"/>
          <a:ext cx="4754880" cy="2286000"/>
        </p:xfrm>
        <a:graphic xmlns:a="http://schemas.openxmlformats.org/drawingml/2006/main">
          <a:graphicData uri="http://schemas.openxmlformats.org/drawingml/2006/chart">
            <c:chart xmlns:c="http://schemas.openxmlformats.org/drawingml/2006/chart" r:id="rId1"/>
          </a:graphicData>
        </a:graphic>
      </p:graphicFrame>
      <p:pic>
        <p:nvPicPr>
          <p:cNvPr id="7" name="0007 큰 상자 SAM 마스크 투표" descr="/tmp/claude-0/-home-user-hsr1m/6022f0b4-b8f8-52b0-8810-837ebd6bfbe9/scratchpad/deck/img/fig_13_0007_조밀_큰상자_마스크.jpg">    </p:cNvPr>
          <p:cNvPicPr>
            <a:picLocks noChangeAspect="1"/>
          </p:cNvPicPr>
          <p:nvPr/>
        </p:nvPicPr>
        <p:blipFill>
          <a:blip r:embed="rId2"/>
          <a:stretch>
            <a:fillRect/>
          </a:stretch>
        </p:blipFill>
        <p:spPr>
          <a:xfrm>
            <a:off x="777240" y="4572000"/>
            <a:ext cx="4480560" cy="1115568"/>
          </a:xfrm>
          <a:prstGeom prst="rect">
            <a:avLst/>
          </a:prstGeom>
        </p:spPr>
      </p:pic>
      <p:sp>
        <p:nvSpPr>
          <p:cNvPr id="8" name="Text 4"/>
          <p:cNvSpPr txBox="1"/>
          <p:nvPr/>
        </p:nvSpPr>
        <p:spPr>
          <a:xfrm>
            <a:off x="777240" y="5687568"/>
            <a:ext cx="4480560" cy="182880"/>
          </a:xfrm>
          <a:prstGeom prst="rect">
            <a:avLst/>
          </a:prstGeom>
          <a:noFill/>
          <a:ln/>
        </p:spPr>
        <p:txBody>
          <a:bodyPr wrap="square" lIns="0" tIns="0" rIns="0" bIns="0" rtlCol="0" anchor="ctr"/>
          <a:lstStyle/>
          <a:p>
            <a:pPr indent="0" marL="0">
              <a:buNone/>
            </a:pPr>
            <a:r>
              <a:rPr lang="en-US" sz="850" dirty="0">
                <a:solidFill>
                  <a:schemeClr val="accent4"/>
                </a:solidFill>
              </a:rPr>
              <a:t>0007 큰 상자 32.4 L → 3D 38.8 L. 업체 방식은 같은 상자에서 기준의 1/112·1/180.</a:t>
            </a:r>
            <a:endParaRPr lang="en-US" sz="850" dirty="0"/>
          </a:p>
        </p:txBody>
      </p:sp>
      <p:sp>
        <p:nvSpPr>
          <p:cNvPr id="9" name="card 부피: SAM 2 투표 + 지역 바닥 평면 + 높이지도"/>
          <p:cNvSpPr/>
          <p:nvPr/>
        </p:nvSpPr>
        <p:spPr>
          <a:xfrm>
            <a:off x="5760720" y="1783080"/>
            <a:ext cx="587959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Text 6"/>
          <p:cNvSpPr txBox="1"/>
          <p:nvPr/>
        </p:nvSpPr>
        <p:spPr>
          <a:xfrm>
            <a:off x="6035040" y="2039112"/>
            <a:ext cx="5330952" cy="384048"/>
          </a:xfrm>
          <a:prstGeom prst="rect">
            <a:avLst/>
          </a:prstGeom>
          <a:noFill/>
          <a:ln/>
        </p:spPr>
        <p:txBody>
          <a:bodyPr wrap="square" lIns="0" tIns="0" rIns="0" bIns="0" rtlCol="0" anchor="t"/>
          <a:lstStyle/>
          <a:p>
            <a:pPr indent="0" marL="0">
              <a:buNone/>
            </a:pPr>
            <a:r>
              <a:rPr lang="en-US" sz="1250" b="1" dirty="0">
                <a:solidFill>
                  <a:schemeClr val="tx1"/>
                </a:solidFill>
              </a:rPr>
              <a:t>부피: SAM 2 투표 + 지역 바닥 평면 + 높이지도</a:t>
            </a:r>
            <a:endParaRPr lang="en-US" sz="1250" dirty="0"/>
          </a:p>
        </p:txBody>
      </p:sp>
      <p:sp>
        <p:nvSpPr>
          <p:cNvPr id="11" name="Text 7"/>
          <p:cNvSpPr txBox="1"/>
          <p:nvPr/>
        </p:nvSpPr>
        <p:spPr>
          <a:xfrm>
            <a:off x="6035040" y="2478024"/>
            <a:ext cx="5330952" cy="50292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조밀 점 243만 개 중 24프레임 마스크 일치율 70% 이상인 점만. 바닥점(&lt;3 cm)·뒤집힌 카메라 포즈 자동 제외. 볼록껍질은 +60% 과대라 폐기.</a:t>
            </a:r>
            <a:endParaRPr lang="en-US" sz="1050" dirty="0"/>
          </a:p>
        </p:txBody>
      </p:sp>
      <p:sp>
        <p:nvSpPr>
          <p:cNvPr id="12" name="card 무게: 겉보기밀도 × 젖음·압축 계수 → 구간"/>
          <p:cNvSpPr/>
          <p:nvPr/>
        </p:nvSpPr>
        <p:spPr>
          <a:xfrm>
            <a:off x="5760720" y="3246120"/>
            <a:ext cx="587959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3" name="Text 9"/>
          <p:cNvSpPr txBox="1"/>
          <p:nvPr/>
        </p:nvSpPr>
        <p:spPr>
          <a:xfrm>
            <a:off x="6035040" y="3502152"/>
            <a:ext cx="5330952" cy="384048"/>
          </a:xfrm>
          <a:prstGeom prst="rect">
            <a:avLst/>
          </a:prstGeom>
          <a:noFill/>
          <a:ln/>
        </p:spPr>
        <p:txBody>
          <a:bodyPr wrap="square" lIns="0" tIns="0" rIns="0" bIns="0" rtlCol="0" anchor="t"/>
          <a:lstStyle/>
          <a:p>
            <a:pPr indent="0" marL="0">
              <a:buNone/>
            </a:pPr>
            <a:r>
              <a:rPr lang="en-US" sz="1250" b="1" dirty="0">
                <a:solidFill>
                  <a:schemeClr val="tx1"/>
                </a:solidFill>
              </a:rPr>
              <a:t>무게: 겉보기밀도 × 젖음·압축 계수 → 구간</a:t>
            </a:r>
            <a:endParaRPr lang="en-US" sz="1250" dirty="0"/>
          </a:p>
        </p:txBody>
      </p:sp>
      <p:sp>
        <p:nvSpPr>
          <p:cNvPr id="14" name="Text 10"/>
          <p:cNvSpPr txBox="1"/>
          <p:nvPr/>
        </p:nvSpPr>
        <p:spPr>
          <a:xfrm>
            <a:off x="6035040" y="3941064"/>
            <a:ext cx="5330952" cy="50292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스티로폼 20~25, 플라스틱 60, 어망·로프 100~400 kg/m³에 젖음·마대 압축 계수. 실측 30개가 모이면 conformal 예측구간으로 교체(코드 완료), 지금은 ×/÷2 구간.</a:t>
            </a:r>
            <a:endParaRPr lang="en-US" sz="1050" dirty="0"/>
          </a:p>
        </p:txBody>
      </p:sp>
      <p:sp>
        <p:nvSpPr>
          <p:cNvPr id="15" name="card 재방문 규칙: 계획을 바꾸는 불확실성만"/>
          <p:cNvSpPr/>
          <p:nvPr/>
        </p:nvSpPr>
        <p:spPr>
          <a:xfrm>
            <a:off x="5760720" y="4709160"/>
            <a:ext cx="5879592"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2"/>
          <p:cNvSpPr txBox="1"/>
          <p:nvPr/>
        </p:nvSpPr>
        <p:spPr>
          <a:xfrm>
            <a:off x="6035040" y="4965192"/>
            <a:ext cx="5330952" cy="384048"/>
          </a:xfrm>
          <a:prstGeom prst="rect">
            <a:avLst/>
          </a:prstGeom>
          <a:noFill/>
          <a:ln/>
        </p:spPr>
        <p:txBody>
          <a:bodyPr wrap="square" lIns="0" tIns="0" rIns="0" bIns="0" rtlCol="0" anchor="t"/>
          <a:lstStyle/>
          <a:p>
            <a:pPr indent="0" marL="0">
              <a:buNone/>
            </a:pPr>
            <a:r>
              <a:rPr lang="en-US" sz="1250" b="1" dirty="0">
                <a:solidFill>
                  <a:schemeClr val="tx1"/>
                </a:solidFill>
              </a:rPr>
              <a:t>재방문 규칙: 계획을 바꾸는 불확실성만</a:t>
            </a:r>
            <a:endParaRPr lang="en-US" sz="1250" dirty="0"/>
          </a:p>
        </p:txBody>
      </p:sp>
      <p:sp>
        <p:nvSpPr>
          <p:cNvPr id="17" name="Text 13"/>
          <p:cNvSpPr txBox="1"/>
          <p:nvPr/>
        </p:nvSpPr>
        <p:spPr>
          <a:xfrm>
            <a:off x="6035040" y="5404104"/>
            <a:ext cx="5330952" cy="36576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구간 상한이 1인 운반 한계 23 kg(NIOSH)·마대·트럭 적재 경계를 넘나드는 물체만 2차 선회(설계). 시뮬레이터의 신뢰도 기반 재방문과는 다른 규칙. 묻힘 의심(면적 넓고 높이 없음) 태그.</a:t>
            </a:r>
            <a:endParaRPr lang="en-US" sz="1050" dirty="0"/>
          </a:p>
        </p:txBody>
      </p:sp>
      <p:sp>
        <p:nvSpPr>
          <p:cNvPr id="1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Westoby et al. (2012) SfM, Geomorphology 179:300–314 · Kako, Morita &amp; Taneda (2020) MPB 155:111127 · Angelopoulos &amp; Bates (2023) Found. Trends ML 16(4):494–591 · 팀 결과 figures/0007_objvol_v2.json, 11_업체방식_vs_3D</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수거계획: 니하우 섬 해안 전체에서 나온 실제 산출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하와이 니하우 섬 항공 정사영상 칩 553장(2 cm/px)에 같은 파이프라인을 돌린 결과. 2D라 무게는 면적 × 두께 범위의 구간입니다.</a:t>
            </a:r>
            <a:endParaRPr lang="en-US" sz="1400" dirty="0"/>
          </a:p>
        </p:txBody>
      </p:sp>
      <p:pic>
        <p:nvPicPr>
          <p:cNvPr id="4" name="니하우 지도·수거계획" descr="/tmp/claude-0/-home-user-hsr1m/6022f0b4-b8f8-52b0-8810-837ebd6bfbe9/scratchpad/deck/img/fig_18_하와이_niihau_지도_수거계획.jpg">    </p:cNvPr>
          <p:cNvPicPr>
            <a:picLocks noChangeAspect="1"/>
          </p:cNvPicPr>
          <p:nvPr/>
        </p:nvPicPr>
        <p:blipFill>
          <a:blip r:embed="rId1"/>
          <a:stretch>
            <a:fillRect/>
          </a:stretch>
        </p:blipFill>
        <p:spPr>
          <a:xfrm>
            <a:off x="548640" y="1783080"/>
            <a:ext cx="6675120" cy="2944368"/>
          </a:xfrm>
          <a:prstGeom prst="rect">
            <a:avLst/>
          </a:prstGeom>
        </p:spPr>
      </p:pic>
      <p:sp>
        <p:nvSpPr>
          <p:cNvPr id="5" name="Text 2"/>
          <p:cNvSpPr txBox="1"/>
          <p:nvPr/>
        </p:nvSpPr>
        <p:spPr>
          <a:xfrm>
            <a:off x="548640" y="4754880"/>
            <a:ext cx="6675120" cy="320040"/>
          </a:xfrm>
          <a:prstGeom prst="rect">
            <a:avLst/>
          </a:prstGeom>
          <a:noFill/>
          <a:ln/>
        </p:spPr>
        <p:txBody>
          <a:bodyPr wrap="square" lIns="0" tIns="0" rIns="0" bIns="0" rtlCol="0" anchor="ctr"/>
          <a:lstStyle/>
          <a:p>
            <a:pPr indent="0" marL="0">
              <a:buNone/>
            </a:pPr>
            <a:r>
              <a:rPr lang="en-US" sz="900" dirty="0">
                <a:solidFill>
                  <a:schemeClr val="accent4"/>
                </a:solidFill>
              </a:rPr>
              <a:t>왼쪽: 섬 해안 물체 5,476개와 수거 경로 71.9 km. 오른쪽: 가장 밀집한 120×120 m 구간(423개), 점 색 = 재질.</a:t>
            </a:r>
            <a:endParaRPr lang="en-US" sz="900" dirty="0"/>
          </a:p>
        </p:txBody>
      </p:sp>
      <p:sp>
        <p:nvSpPr>
          <p:cNvPr id="6" name="kpi 탐지 물체"/>
          <p:cNvSpPr/>
          <p:nvPr/>
        </p:nvSpPr>
        <p:spPr>
          <a:xfrm>
            <a:off x="7498080" y="1783080"/>
            <a:ext cx="414223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7699248" y="1856232"/>
            <a:ext cx="3749040" cy="228600"/>
          </a:xfrm>
          <a:prstGeom prst="rect">
            <a:avLst/>
          </a:prstGeom>
          <a:noFill/>
          <a:ln/>
        </p:spPr>
        <p:txBody>
          <a:bodyPr wrap="square" lIns="0" tIns="0" rIns="0" bIns="0" rtlCol="0" anchor="ctr"/>
          <a:lstStyle/>
          <a:p>
            <a:pPr indent="0" marL="0">
              <a:buNone/>
            </a:pPr>
            <a:r>
              <a:rPr lang="en-US" sz="1000" dirty="0">
                <a:solidFill>
                  <a:schemeClr val="accent4"/>
                </a:solidFill>
              </a:rPr>
              <a:t>탐지 물체</a:t>
            </a:r>
            <a:endParaRPr lang="en-US" sz="1000" dirty="0"/>
          </a:p>
        </p:txBody>
      </p:sp>
      <p:sp>
        <p:nvSpPr>
          <p:cNvPr id="8" name="Text 5"/>
          <p:cNvSpPr txBox="1"/>
          <p:nvPr/>
        </p:nvSpPr>
        <p:spPr>
          <a:xfrm>
            <a:off x="7699248" y="2057400"/>
            <a:ext cx="3749040" cy="384048"/>
          </a:xfrm>
          <a:prstGeom prst="rect">
            <a:avLst/>
          </a:prstGeom>
          <a:noFill/>
          <a:ln/>
        </p:spPr>
        <p:txBody>
          <a:bodyPr wrap="square" lIns="0" tIns="0" rIns="0" bIns="0" rtlCol="0" anchor="ctr"/>
          <a:lstStyle/>
          <a:p>
            <a:pPr indent="0" marL="0">
              <a:buNone/>
            </a:pPr>
            <a:r>
              <a:rPr lang="en-US" sz="2200" b="1" dirty="0">
                <a:solidFill>
                  <a:schemeClr val="tx2"/>
                </a:solidFill>
              </a:rPr>
              <a:t>5,476</a:t>
            </a:r>
            <a:pPr indent="0" marL="0">
              <a:buNone/>
            </a:pPr>
            <a:r>
              <a:rPr lang="en-US" sz="1100" b="1" dirty="0">
                <a:solidFill>
                  <a:schemeClr val="accent4"/>
                </a:solidFill>
              </a:rPr>
              <a:t> 개</a:t>
            </a:r>
            <a:endParaRPr lang="en-US" sz="2200" dirty="0"/>
          </a:p>
        </p:txBody>
      </p:sp>
      <p:sp>
        <p:nvSpPr>
          <p:cNvPr id="9" name="Text 6"/>
          <p:cNvSpPr txBox="1"/>
          <p:nvPr/>
        </p:nvSpPr>
        <p:spPr>
          <a:xfrm>
            <a:off x="7699248" y="2441448"/>
            <a:ext cx="3749040" cy="228600"/>
          </a:xfrm>
          <a:prstGeom prst="rect">
            <a:avLst/>
          </a:prstGeom>
          <a:noFill/>
          <a:ln/>
        </p:spPr>
        <p:txBody>
          <a:bodyPr wrap="square" lIns="0" tIns="0" rIns="0" bIns="0" rtlCol="0" anchor="ctr"/>
          <a:lstStyle/>
          <a:p>
            <a:pPr indent="0" marL="0">
              <a:buNone/>
            </a:pPr>
            <a:r>
              <a:rPr lang="en-US" sz="900" dirty="0">
                <a:solidFill>
                  <a:schemeClr val="accent4"/>
                </a:solidFill>
              </a:rPr>
              <a:t>플라스틱 3,966 · 부표 477 · 페트병 439 · 어망 214</a:t>
            </a:r>
            <a:endParaRPr lang="en-US" sz="900" dirty="0"/>
          </a:p>
        </p:txBody>
      </p:sp>
      <p:sp>
        <p:nvSpPr>
          <p:cNvPr id="10" name="kpi 무게 예측구간"/>
          <p:cNvSpPr/>
          <p:nvPr/>
        </p:nvSpPr>
        <p:spPr>
          <a:xfrm>
            <a:off x="7498080" y="2788920"/>
            <a:ext cx="414223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7699248" y="2862072"/>
            <a:ext cx="3749040" cy="228600"/>
          </a:xfrm>
          <a:prstGeom prst="rect">
            <a:avLst/>
          </a:prstGeom>
          <a:noFill/>
          <a:ln/>
        </p:spPr>
        <p:txBody>
          <a:bodyPr wrap="square" lIns="0" tIns="0" rIns="0" bIns="0" rtlCol="0" anchor="ctr"/>
          <a:lstStyle/>
          <a:p>
            <a:pPr indent="0" marL="0">
              <a:buNone/>
            </a:pPr>
            <a:r>
              <a:rPr lang="en-US" sz="1000" dirty="0">
                <a:solidFill>
                  <a:schemeClr val="accent4"/>
                </a:solidFill>
              </a:rPr>
              <a:t>무게 예측구간</a:t>
            </a:r>
            <a:endParaRPr lang="en-US" sz="1000" dirty="0"/>
          </a:p>
        </p:txBody>
      </p:sp>
      <p:sp>
        <p:nvSpPr>
          <p:cNvPr id="12" name="Text 9"/>
          <p:cNvSpPr txBox="1"/>
          <p:nvPr/>
        </p:nvSpPr>
        <p:spPr>
          <a:xfrm>
            <a:off x="7699248" y="3063240"/>
            <a:ext cx="3749040" cy="384048"/>
          </a:xfrm>
          <a:prstGeom prst="rect">
            <a:avLst/>
          </a:prstGeom>
          <a:noFill/>
          <a:ln/>
        </p:spPr>
        <p:txBody>
          <a:bodyPr wrap="square" lIns="0" tIns="0" rIns="0" bIns="0" rtlCol="0" anchor="ctr"/>
          <a:lstStyle/>
          <a:p>
            <a:pPr indent="0" marL="0">
              <a:buNone/>
            </a:pPr>
            <a:r>
              <a:rPr lang="en-US" sz="2200" b="1" dirty="0">
                <a:solidFill>
                  <a:schemeClr val="accent2"/>
                </a:solidFill>
              </a:rPr>
              <a:t>7.9–33.6</a:t>
            </a:r>
            <a:pPr indent="0" marL="0">
              <a:buNone/>
            </a:pPr>
            <a:r>
              <a:rPr lang="en-US" sz="1100" b="1" dirty="0">
                <a:solidFill>
                  <a:schemeClr val="accent4"/>
                </a:solidFill>
              </a:rPr>
              <a:t> t</a:t>
            </a:r>
            <a:endParaRPr lang="en-US" sz="2200" dirty="0"/>
          </a:p>
        </p:txBody>
      </p:sp>
      <p:sp>
        <p:nvSpPr>
          <p:cNvPr id="13" name="Text 10"/>
          <p:cNvSpPr txBox="1"/>
          <p:nvPr/>
        </p:nvSpPr>
        <p:spPr>
          <a:xfrm>
            <a:off x="7699248" y="3447288"/>
            <a:ext cx="3749040" cy="228600"/>
          </a:xfrm>
          <a:prstGeom prst="rect">
            <a:avLst/>
          </a:prstGeom>
          <a:noFill/>
          <a:ln/>
        </p:spPr>
        <p:txBody>
          <a:bodyPr wrap="square" lIns="0" tIns="0" rIns="0" bIns="0" rtlCol="0" anchor="ctr"/>
          <a:lstStyle/>
          <a:p>
            <a:pPr indent="0" marL="0">
              <a:buNone/>
            </a:pPr>
            <a:r>
              <a:rPr lang="en-US" sz="900" dirty="0">
                <a:solidFill>
                  <a:schemeClr val="accent4"/>
                </a:solidFill>
              </a:rPr>
              <a:t>추정 13.7 t · 업체 방식이면 69 kg</a:t>
            </a:r>
            <a:endParaRPr lang="en-US" sz="900" dirty="0"/>
          </a:p>
        </p:txBody>
      </p:sp>
      <p:sp>
        <p:nvSpPr>
          <p:cNvPr id="14" name="kpi 정거장 · 경로"/>
          <p:cNvSpPr/>
          <p:nvPr/>
        </p:nvSpPr>
        <p:spPr>
          <a:xfrm>
            <a:off x="7498080" y="3794760"/>
            <a:ext cx="414223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7699248" y="3867912"/>
            <a:ext cx="3749040" cy="228600"/>
          </a:xfrm>
          <a:prstGeom prst="rect">
            <a:avLst/>
          </a:prstGeom>
          <a:noFill/>
          <a:ln/>
        </p:spPr>
        <p:txBody>
          <a:bodyPr wrap="square" lIns="0" tIns="0" rIns="0" bIns="0" rtlCol="0" anchor="ctr"/>
          <a:lstStyle/>
          <a:p>
            <a:pPr indent="0" marL="0">
              <a:buNone/>
            </a:pPr>
            <a:r>
              <a:rPr lang="en-US" sz="1000" dirty="0">
                <a:solidFill>
                  <a:schemeClr val="accent4"/>
                </a:solidFill>
              </a:rPr>
              <a:t>정거장 · 경로</a:t>
            </a:r>
            <a:endParaRPr lang="en-US" sz="1000" dirty="0"/>
          </a:p>
        </p:txBody>
      </p:sp>
      <p:sp>
        <p:nvSpPr>
          <p:cNvPr id="16" name="Text 13"/>
          <p:cNvSpPr txBox="1"/>
          <p:nvPr/>
        </p:nvSpPr>
        <p:spPr>
          <a:xfrm>
            <a:off x="7699248" y="4069080"/>
            <a:ext cx="3749040" cy="384048"/>
          </a:xfrm>
          <a:prstGeom prst="rect">
            <a:avLst/>
          </a:prstGeom>
          <a:noFill/>
          <a:ln/>
        </p:spPr>
        <p:txBody>
          <a:bodyPr wrap="square" lIns="0" tIns="0" rIns="0" bIns="0" rtlCol="0" anchor="ctr"/>
          <a:lstStyle/>
          <a:p>
            <a:pPr indent="0" marL="0">
              <a:buNone/>
            </a:pPr>
            <a:r>
              <a:rPr lang="en-US" sz="2200" b="1" dirty="0">
                <a:solidFill>
                  <a:schemeClr val="tx2"/>
                </a:solidFill>
              </a:rPr>
              <a:t>331 · 71.9</a:t>
            </a:r>
            <a:pPr indent="0" marL="0">
              <a:buNone/>
            </a:pPr>
            <a:r>
              <a:rPr lang="en-US" sz="1100" b="1" dirty="0">
                <a:solidFill>
                  <a:schemeClr val="accent4"/>
                </a:solidFill>
              </a:rPr>
              <a:t> km</a:t>
            </a:r>
            <a:endParaRPr lang="en-US" sz="2200" dirty="0"/>
          </a:p>
        </p:txBody>
      </p:sp>
      <p:sp>
        <p:nvSpPr>
          <p:cNvPr id="17" name="Text 14"/>
          <p:cNvSpPr txBox="1"/>
          <p:nvPr/>
        </p:nvSpPr>
        <p:spPr>
          <a:xfrm>
            <a:off x="7699248" y="4453128"/>
            <a:ext cx="3749040" cy="228600"/>
          </a:xfrm>
          <a:prstGeom prst="rect">
            <a:avLst/>
          </a:prstGeom>
          <a:noFill/>
          <a:ln/>
        </p:spPr>
        <p:txBody>
          <a:bodyPr wrap="square" lIns="0" tIns="0" rIns="0" bIns="0" rtlCol="0" anchor="ctr"/>
          <a:lstStyle/>
          <a:p>
            <a:pPr indent="0" marL="0">
              <a:buNone/>
            </a:pPr>
            <a:r>
              <a:rPr lang="en-US" sz="900" dirty="0">
                <a:solidFill>
                  <a:schemeClr val="accent4"/>
                </a:solidFill>
              </a:rPr>
              <a:t>정거장 반경 기반 클러스터, 2-opt</a:t>
            </a:r>
            <a:endParaRPr lang="en-US" sz="900" dirty="0"/>
          </a:p>
        </p:txBody>
      </p:sp>
      <p:sp>
        <p:nvSpPr>
          <p:cNvPr id="18" name="output 마대"/>
          <p:cNvSpPr/>
          <p:nvPr/>
        </p:nvSpPr>
        <p:spPr>
          <a:xfrm>
            <a:off x="548640" y="5120640"/>
            <a:ext cx="3566160" cy="822960"/>
          </a:xfrm>
          <a:prstGeom prst="roundRect">
            <a:avLst>
              <a:gd name="adj" fmla="val 1111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Text 16"/>
          <p:cNvSpPr txBox="1"/>
          <p:nvPr/>
        </p:nvSpPr>
        <p:spPr>
          <a:xfrm>
            <a:off x="731520" y="5166360"/>
            <a:ext cx="3200400" cy="228600"/>
          </a:xfrm>
          <a:prstGeom prst="rect">
            <a:avLst/>
          </a:prstGeom>
          <a:noFill/>
          <a:ln/>
        </p:spPr>
        <p:txBody>
          <a:bodyPr wrap="square" lIns="0" tIns="0" rIns="0" bIns="0" rtlCol="0" anchor="ctr"/>
          <a:lstStyle/>
          <a:p>
            <a:pPr indent="0" marL="0">
              <a:buNone/>
            </a:pPr>
            <a:r>
              <a:rPr lang="en-US" sz="950" dirty="0">
                <a:solidFill>
                  <a:schemeClr val="accent4"/>
                </a:solidFill>
              </a:rPr>
              <a:t>마대</a:t>
            </a:r>
            <a:endParaRPr lang="en-US" sz="950" dirty="0"/>
          </a:p>
        </p:txBody>
      </p:sp>
      <p:sp>
        <p:nvSpPr>
          <p:cNvPr id="20" name="Text 17"/>
          <p:cNvSpPr txBox="1"/>
          <p:nvPr/>
        </p:nvSpPr>
        <p:spPr>
          <a:xfrm>
            <a:off x="731520" y="5376672"/>
            <a:ext cx="3291840" cy="320040"/>
          </a:xfrm>
          <a:prstGeom prst="rect">
            <a:avLst/>
          </a:prstGeom>
          <a:noFill/>
          <a:ln/>
        </p:spPr>
        <p:txBody>
          <a:bodyPr wrap="square" lIns="0" tIns="0" rIns="0" bIns="0" rtlCol="0" anchor="ctr"/>
          <a:lstStyle/>
          <a:p>
            <a:pPr indent="0" marL="0">
              <a:buNone/>
            </a:pPr>
            <a:r>
              <a:rPr lang="en-US" sz="1600" b="1" dirty="0">
                <a:solidFill>
                  <a:schemeClr val="tx2"/>
                </a:solidFill>
              </a:rPr>
              <a:t>1,082 장</a:t>
            </a:r>
            <a:endParaRPr lang="en-US" sz="1600" dirty="0"/>
          </a:p>
        </p:txBody>
      </p:sp>
      <p:sp>
        <p:nvSpPr>
          <p:cNvPr id="21" name="Text 18"/>
          <p:cNvSpPr txBox="1"/>
          <p:nvPr/>
        </p:nvSpPr>
        <p:spPr>
          <a:xfrm>
            <a:off x="731520" y="5687568"/>
            <a:ext cx="3291840" cy="228600"/>
          </a:xfrm>
          <a:prstGeom prst="rect">
            <a:avLst/>
          </a:prstGeom>
          <a:noFill/>
          <a:ln/>
        </p:spPr>
        <p:txBody>
          <a:bodyPr wrap="square" lIns="0" tIns="0" rIns="0" bIns="0" rtlCol="0" anchor="ctr"/>
          <a:lstStyle/>
          <a:p>
            <a:pPr indent="0" marL="0">
              <a:buNone/>
            </a:pPr>
            <a:r>
              <a:rPr lang="en-US" sz="850" dirty="0">
                <a:solidFill>
                  <a:schemeClr val="accent4"/>
                </a:solidFill>
              </a:rPr>
              <a:t>압축 후 부피 기준(무게 기준 687)</a:t>
            </a:r>
            <a:endParaRPr lang="en-US" sz="850" dirty="0"/>
          </a:p>
        </p:txBody>
      </p:sp>
      <p:sp>
        <p:nvSpPr>
          <p:cNvPr id="22" name="output 1톤 트럭"/>
          <p:cNvSpPr/>
          <p:nvPr/>
        </p:nvSpPr>
        <p:spPr>
          <a:xfrm>
            <a:off x="4297680" y="5120640"/>
            <a:ext cx="3566160" cy="822960"/>
          </a:xfrm>
          <a:prstGeom prst="roundRect">
            <a:avLst>
              <a:gd name="adj" fmla="val 1111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3" name="Text 20"/>
          <p:cNvSpPr txBox="1"/>
          <p:nvPr/>
        </p:nvSpPr>
        <p:spPr>
          <a:xfrm>
            <a:off x="4480560" y="5166360"/>
            <a:ext cx="3200400" cy="228600"/>
          </a:xfrm>
          <a:prstGeom prst="rect">
            <a:avLst/>
          </a:prstGeom>
          <a:noFill/>
          <a:ln/>
        </p:spPr>
        <p:txBody>
          <a:bodyPr wrap="square" lIns="0" tIns="0" rIns="0" bIns="0" rtlCol="0" anchor="ctr"/>
          <a:lstStyle/>
          <a:p>
            <a:pPr indent="0" marL="0">
              <a:buNone/>
            </a:pPr>
            <a:r>
              <a:rPr lang="en-US" sz="950" dirty="0">
                <a:solidFill>
                  <a:schemeClr val="accent4"/>
                </a:solidFill>
              </a:rPr>
              <a:t>1톤 트럭</a:t>
            </a:r>
            <a:endParaRPr lang="en-US" sz="950" dirty="0"/>
          </a:p>
        </p:txBody>
      </p:sp>
      <p:sp>
        <p:nvSpPr>
          <p:cNvPr id="24" name="Text 21"/>
          <p:cNvSpPr txBox="1"/>
          <p:nvPr/>
        </p:nvSpPr>
        <p:spPr>
          <a:xfrm>
            <a:off x="4480560" y="5376672"/>
            <a:ext cx="3291840" cy="320040"/>
          </a:xfrm>
          <a:prstGeom prst="rect">
            <a:avLst/>
          </a:prstGeom>
          <a:noFill/>
          <a:ln/>
        </p:spPr>
        <p:txBody>
          <a:bodyPr wrap="square" lIns="0" tIns="0" rIns="0" bIns="0" rtlCol="0" anchor="ctr"/>
          <a:lstStyle/>
          <a:p>
            <a:pPr indent="0" marL="0">
              <a:buNone/>
            </a:pPr>
            <a:r>
              <a:rPr lang="en-US" sz="1600" b="1" dirty="0">
                <a:solidFill>
                  <a:schemeClr val="tx2"/>
                </a:solidFill>
              </a:rPr>
              <a:t>37 대</a:t>
            </a:r>
            <a:endParaRPr lang="en-US" sz="1600" dirty="0"/>
          </a:p>
        </p:txBody>
      </p:sp>
      <p:sp>
        <p:nvSpPr>
          <p:cNvPr id="25" name="Text 22"/>
          <p:cNvSpPr txBox="1"/>
          <p:nvPr/>
        </p:nvSpPr>
        <p:spPr>
          <a:xfrm>
            <a:off x="4480560" y="5687568"/>
            <a:ext cx="3291840" cy="228600"/>
          </a:xfrm>
          <a:prstGeom prst="rect">
            <a:avLst/>
          </a:prstGeom>
          <a:noFill/>
          <a:ln/>
        </p:spPr>
        <p:txBody>
          <a:bodyPr wrap="square" lIns="0" tIns="0" rIns="0" bIns="0" rtlCol="0" anchor="ctr"/>
          <a:lstStyle/>
          <a:p>
            <a:pPr indent="0" marL="0">
              <a:buNone/>
            </a:pPr>
            <a:r>
              <a:rPr lang="en-US" sz="850" dirty="0">
                <a:solidFill>
                  <a:schemeClr val="accent4"/>
                </a:solidFill>
              </a:rPr>
              <a:t>부피 기준(무게 기준 14)</a:t>
            </a:r>
            <a:endParaRPr lang="en-US" sz="850" dirty="0"/>
          </a:p>
        </p:txBody>
      </p:sp>
      <p:sp>
        <p:nvSpPr>
          <p:cNvPr id="26" name="output 인력 구분"/>
          <p:cNvSpPr/>
          <p:nvPr/>
        </p:nvSpPr>
        <p:spPr>
          <a:xfrm>
            <a:off x="8046720" y="5120640"/>
            <a:ext cx="3566160" cy="822960"/>
          </a:xfrm>
          <a:prstGeom prst="roundRect">
            <a:avLst>
              <a:gd name="adj" fmla="val 1111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7" name="Text 24"/>
          <p:cNvSpPr txBox="1"/>
          <p:nvPr/>
        </p:nvSpPr>
        <p:spPr>
          <a:xfrm>
            <a:off x="8229600" y="5166360"/>
            <a:ext cx="3200400" cy="228600"/>
          </a:xfrm>
          <a:prstGeom prst="rect">
            <a:avLst/>
          </a:prstGeom>
          <a:noFill/>
          <a:ln/>
        </p:spPr>
        <p:txBody>
          <a:bodyPr wrap="square" lIns="0" tIns="0" rIns="0" bIns="0" rtlCol="0" anchor="ctr"/>
          <a:lstStyle/>
          <a:p>
            <a:pPr indent="0" marL="0">
              <a:buNone/>
            </a:pPr>
            <a:r>
              <a:rPr lang="en-US" sz="950" dirty="0">
                <a:solidFill>
                  <a:schemeClr val="accent4"/>
                </a:solidFill>
              </a:rPr>
              <a:t>인력 구분</a:t>
            </a:r>
            <a:endParaRPr lang="en-US" sz="950" dirty="0"/>
          </a:p>
        </p:txBody>
      </p:sp>
      <p:sp>
        <p:nvSpPr>
          <p:cNvPr id="28" name="Text 25"/>
          <p:cNvSpPr txBox="1"/>
          <p:nvPr/>
        </p:nvSpPr>
        <p:spPr>
          <a:xfrm>
            <a:off x="8229600" y="5376672"/>
            <a:ext cx="3291840" cy="320040"/>
          </a:xfrm>
          <a:prstGeom prst="rect">
            <a:avLst/>
          </a:prstGeom>
          <a:noFill/>
          <a:ln/>
        </p:spPr>
        <p:txBody>
          <a:bodyPr wrap="square" lIns="0" tIns="0" rIns="0" bIns="0" rtlCol="0" anchor="ctr"/>
          <a:lstStyle/>
          <a:p>
            <a:pPr indent="0" marL="0">
              <a:buNone/>
            </a:pPr>
            <a:r>
              <a:rPr lang="en-US" sz="1250" b="1" dirty="0">
                <a:solidFill>
                  <a:schemeClr val="tx2"/>
                </a:solidFill>
              </a:rPr>
              <a:t>1인 5,294 · 2인 138 · 장비 44</a:t>
            </a:r>
            <a:endParaRPr lang="en-US" sz="1250" dirty="0"/>
          </a:p>
        </p:txBody>
      </p:sp>
      <p:sp>
        <p:nvSpPr>
          <p:cNvPr id="29" name="Text 26"/>
          <p:cNvSpPr txBox="1"/>
          <p:nvPr/>
        </p:nvSpPr>
        <p:spPr>
          <a:xfrm>
            <a:off x="8229600" y="5687568"/>
            <a:ext cx="3291840" cy="228600"/>
          </a:xfrm>
          <a:prstGeom prst="rect">
            <a:avLst/>
          </a:prstGeom>
          <a:noFill/>
          <a:ln/>
        </p:spPr>
        <p:txBody>
          <a:bodyPr wrap="square" lIns="0" tIns="0" rIns="0" bIns="0" rtlCol="0" anchor="ctr"/>
          <a:lstStyle/>
          <a:p>
            <a:pPr indent="0" marL="0">
              <a:buNone/>
            </a:pPr>
            <a:r>
              <a:rPr lang="en-US" sz="850" dirty="0">
                <a:solidFill>
                  <a:schemeClr val="accent4"/>
                </a:solidFill>
              </a:rPr>
              <a:t>23 kg 규칙 · 묻힘 의심</a:t>
            </a:r>
            <a:endParaRPr lang="en-US" sz="850" dirty="0"/>
          </a:p>
        </p:txBody>
      </p:sp>
      <p:sp>
        <p:nvSpPr>
          <p:cNvPr id="30"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자료: 하와이 항공 정사영상(Zenodo 8381113, CC-BY) · 팀 결과 figures/hawaii_niihau_ft_summary.json · 송도 0007 작업카드: 정거장 1, 0.83 kg(상한 1.67), 1인×2, 마대 1, 트럭 1, 경로 20 m</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수거 경로: 사람이 갈 수 있는 길로, 지자체 조건에 맞춰</a:t>
            </a:r>
            <a:endParaRPr lang="en-US" sz="2800" dirty="0"/>
          </a:p>
        </p:txBody>
      </p:sp>
      <p:sp>
        <p:nvSpPr>
          <p:cNvPr id="3" name="subtitle"/>
          <p:cNvSpPr txBox="1"/>
          <p:nvPr/>
        </p:nvSpPr>
        <p:spPr>
          <a:xfrm>
            <a:off x="548640" y="1207008"/>
            <a:ext cx="9509760" cy="411480"/>
          </a:xfrm>
          <a:prstGeom prst="rect">
            <a:avLst/>
          </a:prstGeom>
          <a:noFill/>
          <a:ln/>
        </p:spPr>
        <p:txBody>
          <a:bodyPr wrap="square" lIns="0" tIns="0" rIns="0" bIns="0" rtlCol="0" anchor="ctr"/>
          <a:lstStyle/>
          <a:p>
            <a:pPr indent="0" marL="0">
              <a:buNone/>
            </a:pPr>
            <a:r>
              <a:rPr lang="en-US" sz="1400" dirty="0">
                <a:solidFill>
                  <a:schemeClr val="accent4"/>
                </a:solidFill>
              </a:rPr>
              <a:t>정거장별 인력·마대·트럭을 계산한 뒤 집하장에서 출발하는 순회 경로(최근접 이웃 + 2-opt)를 냅니다. 접근로·로드뷰 반영은 설계 단계입니다.</a:t>
            </a:r>
            <a:endParaRPr lang="en-US" sz="1400" dirty="0"/>
          </a:p>
        </p:txBody>
      </p:sp>
      <p:sp>
        <p:nvSpPr>
          <p:cNvPr id="4" name="tag"/>
          <p:cNvSpPr/>
          <p:nvPr/>
        </p:nvSpPr>
        <p:spPr>
          <a:xfrm>
            <a:off x="10222992" y="1280160"/>
            <a:ext cx="1417320" cy="274320"/>
          </a:xfrm>
          <a:prstGeom prst="roundRect">
            <a:avLst>
              <a:gd name="adj" fmla="val 50000"/>
            </a:avLst>
          </a:prstGeom>
          <a:solidFill>
            <a:srgbClr val="F26B21"/>
          </a:solidFill>
          <a:ln w="12700">
            <a:solidFill>
              <a:srgbClr val="F26B21"/>
            </a:solidFill>
            <a:prstDash val="solid"/>
          </a:ln>
        </p:spPr>
      </p:sp>
      <p:sp>
        <p:nvSpPr>
          <p:cNvPr id="5" name="Text 3"/>
          <p:cNvSpPr txBox="1"/>
          <p:nvPr/>
        </p:nvSpPr>
        <p:spPr>
          <a:xfrm>
            <a:off x="10222992" y="1280160"/>
            <a:ext cx="1417320" cy="274320"/>
          </a:xfrm>
          <a:prstGeom prst="rect">
            <a:avLst/>
          </a:prstGeom>
          <a:noFill/>
          <a:ln/>
        </p:spPr>
        <p:txBody>
          <a:bodyPr wrap="square" lIns="0" tIns="0" rIns="0" bIns="0" rtlCol="0" anchor="ctr"/>
          <a:lstStyle/>
          <a:p>
            <a:pPr algn="ctr" indent="0" marL="0">
              <a:buNone/>
            </a:pPr>
            <a:r>
              <a:rPr lang="en-US" sz="950" b="1" dirty="0">
                <a:solidFill>
                  <a:schemeClr val="bg1"/>
                </a:solidFill>
              </a:rPr>
              <a:t>일부 미구현</a:t>
            </a:r>
            <a:endParaRPr lang="en-US" sz="950" dirty="0"/>
          </a:p>
        </p:txBody>
      </p:sp>
      <p:sp>
        <p:nvSpPr>
          <p:cNvPr id="6" name="card 지자체 조건 입력"/>
          <p:cNvSpPr/>
          <p:nvPr/>
        </p:nvSpPr>
        <p:spPr>
          <a:xfrm>
            <a:off x="548640" y="1783080"/>
            <a:ext cx="2651760" cy="30175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8" name="icon FaCity"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9" name="Text 6"/>
          <p:cNvSpPr txBox="1"/>
          <p:nvPr/>
        </p:nvSpPr>
        <p:spPr>
          <a:xfrm>
            <a:off x="822960" y="2770632"/>
            <a:ext cx="2103120" cy="384048"/>
          </a:xfrm>
          <a:prstGeom prst="rect">
            <a:avLst/>
          </a:prstGeom>
          <a:noFill/>
          <a:ln/>
        </p:spPr>
        <p:txBody>
          <a:bodyPr wrap="square" lIns="0" tIns="0" rIns="0" bIns="0" rtlCol="0" anchor="t"/>
          <a:lstStyle/>
          <a:p>
            <a:pPr indent="0" marL="0">
              <a:buNone/>
            </a:pPr>
            <a:r>
              <a:rPr lang="en-US" sz="1350" b="1" dirty="0">
                <a:solidFill>
                  <a:schemeClr val="tx1"/>
                </a:solidFill>
              </a:rPr>
              <a:t>지자체 조건 입력</a:t>
            </a:r>
            <a:endParaRPr lang="en-US" sz="1350" dirty="0"/>
          </a:p>
        </p:txBody>
      </p:sp>
      <p:sp>
        <p:nvSpPr>
          <p:cNvPr id="10" name="Text 7"/>
          <p:cNvSpPr txBox="1"/>
          <p:nvPr/>
        </p:nvSpPr>
        <p:spPr>
          <a:xfrm>
            <a:off x="822960" y="3209544"/>
            <a:ext cx="2103120" cy="1463040"/>
          </a:xfrm>
          <a:prstGeom prst="rect">
            <a:avLst/>
          </a:prstGeom>
          <a:noFill/>
          <a:ln/>
        </p:spPr>
        <p:txBody>
          <a:bodyPr wrap="square" lIns="0" tIns="0" rIns="0" bIns="0" rtlCol="0" anchor="t"/>
          <a:lstStyle/>
          <a:p>
            <a:pPr indent="0" marL="0">
              <a:spcAft>
                <a:spcPts val="400"/>
              </a:spcAft>
              <a:buNone/>
            </a:pPr>
            <a:r>
              <a:rPr lang="en-US" sz="1150" dirty="0">
                <a:solidFill>
                  <a:schemeClr val="accent4"/>
                </a:solidFill>
              </a:rPr>
              <a:t>인원·차량(트럭 적재량)·작업 시간·마대 규격. 지자체마다 다르므로 설정값으로 둡니다.</a:t>
            </a:r>
            <a:endParaRPr lang="en-US" sz="1150" dirty="0"/>
          </a:p>
        </p:txBody>
      </p:sp>
      <p:sp>
        <p:nvSpPr>
          <p:cNvPr id="11" name="card 통행 가능 구역 마스킹"/>
          <p:cNvSpPr/>
          <p:nvPr/>
        </p:nvSpPr>
        <p:spPr>
          <a:xfrm>
            <a:off x="3360420" y="1783080"/>
            <a:ext cx="2651760" cy="30175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3634740" y="2039112"/>
            <a:ext cx="566928" cy="566928"/>
          </a:xfrm>
          <a:prstGeom prst="ellipse">
            <a:avLst/>
          </a:prstGeom>
          <a:solidFill>
            <a:srgbClr val="0B3C5D"/>
          </a:solidFill>
          <a:ln w="12700">
            <a:solidFill>
              <a:srgbClr val="0B3C5D"/>
            </a:solidFill>
            <a:prstDash val="solid"/>
          </a:ln>
        </p:spPr>
      </p:sp>
      <p:pic>
        <p:nvPicPr>
          <p:cNvPr id="13" name="icon FaWalking" descr="preencoded.png">    </p:cNvPr>
          <p:cNvPicPr>
            <a:picLocks noChangeAspect="1"/>
          </p:cNvPicPr>
          <p:nvPr/>
        </p:nvPicPr>
        <p:blipFill>
          <a:blip r:embed="rId2"/>
          <a:stretch>
            <a:fillRect/>
          </a:stretch>
        </p:blipFill>
        <p:spPr>
          <a:xfrm>
            <a:off x="3771900" y="2176272"/>
            <a:ext cx="292608" cy="292608"/>
          </a:xfrm>
          <a:prstGeom prst="rect">
            <a:avLst/>
          </a:prstGeom>
        </p:spPr>
      </p:pic>
      <p:sp>
        <p:nvSpPr>
          <p:cNvPr id="14" name="Text 10"/>
          <p:cNvSpPr txBox="1"/>
          <p:nvPr/>
        </p:nvSpPr>
        <p:spPr>
          <a:xfrm>
            <a:off x="3634740" y="2770632"/>
            <a:ext cx="2103120" cy="384048"/>
          </a:xfrm>
          <a:prstGeom prst="rect">
            <a:avLst/>
          </a:prstGeom>
          <a:noFill/>
          <a:ln/>
        </p:spPr>
        <p:txBody>
          <a:bodyPr wrap="square" lIns="0" tIns="0" rIns="0" bIns="0" rtlCol="0" anchor="t"/>
          <a:lstStyle/>
          <a:p>
            <a:pPr indent="0" marL="0">
              <a:buNone/>
            </a:pPr>
            <a:r>
              <a:rPr lang="en-US" sz="1350" b="1" dirty="0">
                <a:solidFill>
                  <a:schemeClr val="tx1"/>
                </a:solidFill>
              </a:rPr>
              <a:t>통행 가능 구역 마스킹</a:t>
            </a:r>
            <a:endParaRPr lang="en-US" sz="1350" dirty="0"/>
          </a:p>
        </p:txBody>
      </p:sp>
      <p:sp>
        <p:nvSpPr>
          <p:cNvPr id="15" name="Text 11"/>
          <p:cNvSpPr txBox="1"/>
          <p:nvPr/>
        </p:nvSpPr>
        <p:spPr>
          <a:xfrm>
            <a:off x="3634740" y="3209544"/>
            <a:ext cx="2103120" cy="1463040"/>
          </a:xfrm>
          <a:prstGeom prst="rect">
            <a:avLst/>
          </a:prstGeom>
          <a:noFill/>
          <a:ln/>
        </p:spPr>
        <p:txBody>
          <a:bodyPr wrap="square" lIns="0" tIns="0" rIns="0" bIns="0" rtlCol="0" anchor="t"/>
          <a:lstStyle/>
          <a:p>
            <a:pPr indent="0" marL="0">
              <a:spcAft>
                <a:spcPts val="400"/>
              </a:spcAft>
              <a:buNone/>
            </a:pPr>
            <a:r>
              <a:rPr lang="en-US" sz="1150" dirty="0">
                <a:solidFill>
                  <a:schemeClr val="accent4"/>
                </a:solidFill>
              </a:rPr>
              <a:t>바다·숲 지형 마스크는 구현. 통행 가능 구역·하역 지점·로드뷰 접근로는 미구현이라 한계에 명시합니다.</a:t>
            </a:r>
            <a:endParaRPr lang="en-US" sz="1150" dirty="0"/>
          </a:p>
        </p:txBody>
      </p:sp>
      <p:sp>
        <p:nvSpPr>
          <p:cNvPr id="16" name="card 정거장 순회 경로 (구현)"/>
          <p:cNvSpPr/>
          <p:nvPr/>
        </p:nvSpPr>
        <p:spPr>
          <a:xfrm>
            <a:off x="6172200" y="1783080"/>
            <a:ext cx="2651760" cy="30175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7" name="icon circle"/>
          <p:cNvSpPr/>
          <p:nvPr/>
        </p:nvSpPr>
        <p:spPr>
          <a:xfrm>
            <a:off x="6446520" y="2039112"/>
            <a:ext cx="566928" cy="566928"/>
          </a:xfrm>
          <a:prstGeom prst="ellipse">
            <a:avLst/>
          </a:prstGeom>
          <a:solidFill>
            <a:srgbClr val="0B3C5D"/>
          </a:solidFill>
          <a:ln w="12700">
            <a:solidFill>
              <a:srgbClr val="0B3C5D"/>
            </a:solidFill>
            <a:prstDash val="solid"/>
          </a:ln>
        </p:spPr>
      </p:sp>
      <p:pic>
        <p:nvPicPr>
          <p:cNvPr id="18" name="icon FaRoute" descr="preencoded.png">    </p:cNvPr>
          <p:cNvPicPr>
            <a:picLocks noChangeAspect="1"/>
          </p:cNvPicPr>
          <p:nvPr/>
        </p:nvPicPr>
        <p:blipFill>
          <a:blip r:embed="rId3"/>
          <a:stretch>
            <a:fillRect/>
          </a:stretch>
        </p:blipFill>
        <p:spPr>
          <a:xfrm>
            <a:off x="6583680" y="2176272"/>
            <a:ext cx="292608" cy="292608"/>
          </a:xfrm>
          <a:prstGeom prst="rect">
            <a:avLst/>
          </a:prstGeom>
        </p:spPr>
      </p:pic>
      <p:sp>
        <p:nvSpPr>
          <p:cNvPr id="19" name="Text 14"/>
          <p:cNvSpPr txBox="1"/>
          <p:nvPr/>
        </p:nvSpPr>
        <p:spPr>
          <a:xfrm>
            <a:off x="6446520" y="2770632"/>
            <a:ext cx="2103120" cy="384048"/>
          </a:xfrm>
          <a:prstGeom prst="rect">
            <a:avLst/>
          </a:prstGeom>
          <a:noFill/>
          <a:ln/>
        </p:spPr>
        <p:txBody>
          <a:bodyPr wrap="square" lIns="0" tIns="0" rIns="0" bIns="0" rtlCol="0" anchor="t"/>
          <a:lstStyle/>
          <a:p>
            <a:pPr indent="0" marL="0">
              <a:buNone/>
            </a:pPr>
            <a:r>
              <a:rPr lang="en-US" sz="1350" b="1" dirty="0">
                <a:solidFill>
                  <a:schemeClr val="tx1"/>
                </a:solidFill>
              </a:rPr>
              <a:t>정거장 순회 경로 (구현)</a:t>
            </a:r>
            <a:endParaRPr lang="en-US" sz="1350" dirty="0"/>
          </a:p>
        </p:txBody>
      </p:sp>
      <p:sp>
        <p:nvSpPr>
          <p:cNvPr id="20" name="Text 15"/>
          <p:cNvSpPr txBox="1"/>
          <p:nvPr/>
        </p:nvSpPr>
        <p:spPr>
          <a:xfrm>
            <a:off x="6446520" y="3209544"/>
            <a:ext cx="2103120" cy="1463040"/>
          </a:xfrm>
          <a:prstGeom prst="rect">
            <a:avLst/>
          </a:prstGeom>
          <a:noFill/>
          <a:ln/>
        </p:spPr>
        <p:txBody>
          <a:bodyPr wrap="square" lIns="0" tIns="0" rIns="0" bIns="0" rtlCol="0" anchor="t"/>
          <a:lstStyle/>
          <a:p>
            <a:pPr indent="0" marL="0">
              <a:spcAft>
                <a:spcPts val="400"/>
              </a:spcAft>
              <a:buNone/>
            </a:pPr>
            <a:r>
              <a:rPr lang="en-US" sz="1150" dirty="0">
                <a:solidFill>
                  <a:schemeClr val="accent4"/>
                </a:solidFill>
              </a:rPr>
              <a:t>정거장 묶음 → 최단 이동 → 2-opt. 물체 위치·무게 구간·집하장을 넣어 정거장별 동선과 왕복 횟수를 계산합니다. 니하우 331 정거장·71.9 km.</a:t>
            </a:r>
            <a:endParaRPr lang="en-US" sz="1150" dirty="0"/>
          </a:p>
        </p:txBody>
      </p:sp>
      <p:sp>
        <p:nvSpPr>
          <p:cNvPr id="21" name="card 작업카드 · 대시보드"/>
          <p:cNvSpPr/>
          <p:nvPr/>
        </p:nvSpPr>
        <p:spPr>
          <a:xfrm>
            <a:off x="8983980" y="1783080"/>
            <a:ext cx="2651760" cy="30175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2" name="icon circle"/>
          <p:cNvSpPr/>
          <p:nvPr/>
        </p:nvSpPr>
        <p:spPr>
          <a:xfrm>
            <a:off x="9258300" y="2039112"/>
            <a:ext cx="566928" cy="566928"/>
          </a:xfrm>
          <a:prstGeom prst="ellipse">
            <a:avLst/>
          </a:prstGeom>
          <a:solidFill>
            <a:srgbClr val="0B3C5D"/>
          </a:solidFill>
          <a:ln w="12700">
            <a:solidFill>
              <a:srgbClr val="0B3C5D"/>
            </a:solidFill>
            <a:prstDash val="solid"/>
          </a:ln>
        </p:spPr>
      </p:sp>
      <p:pic>
        <p:nvPicPr>
          <p:cNvPr id="23" name="icon FaClipboardList" descr="preencoded.png">    </p:cNvPr>
          <p:cNvPicPr>
            <a:picLocks noChangeAspect="1"/>
          </p:cNvPicPr>
          <p:nvPr/>
        </p:nvPicPr>
        <p:blipFill>
          <a:blip r:embed="rId4"/>
          <a:stretch>
            <a:fillRect/>
          </a:stretch>
        </p:blipFill>
        <p:spPr>
          <a:xfrm>
            <a:off x="9395460" y="2176272"/>
            <a:ext cx="292608" cy="292608"/>
          </a:xfrm>
          <a:prstGeom prst="rect">
            <a:avLst/>
          </a:prstGeom>
        </p:spPr>
      </p:pic>
      <p:sp>
        <p:nvSpPr>
          <p:cNvPr id="24" name="Text 18"/>
          <p:cNvSpPr txBox="1"/>
          <p:nvPr/>
        </p:nvSpPr>
        <p:spPr>
          <a:xfrm>
            <a:off x="9258300" y="2770632"/>
            <a:ext cx="2103120" cy="384048"/>
          </a:xfrm>
          <a:prstGeom prst="rect">
            <a:avLst/>
          </a:prstGeom>
          <a:noFill/>
          <a:ln/>
        </p:spPr>
        <p:txBody>
          <a:bodyPr wrap="square" lIns="0" tIns="0" rIns="0" bIns="0" rtlCol="0" anchor="t"/>
          <a:lstStyle/>
          <a:p>
            <a:pPr indent="0" marL="0">
              <a:buNone/>
            </a:pPr>
            <a:r>
              <a:rPr lang="en-US" sz="1350" b="1" dirty="0">
                <a:solidFill>
                  <a:schemeClr val="tx1"/>
                </a:solidFill>
              </a:rPr>
              <a:t>작업카드 · 대시보드</a:t>
            </a:r>
            <a:endParaRPr lang="en-US" sz="1350" dirty="0"/>
          </a:p>
        </p:txBody>
      </p:sp>
      <p:sp>
        <p:nvSpPr>
          <p:cNvPr id="25" name="Text 19"/>
          <p:cNvSpPr txBox="1"/>
          <p:nvPr/>
        </p:nvSpPr>
        <p:spPr>
          <a:xfrm>
            <a:off x="9258300" y="3209544"/>
            <a:ext cx="2103120" cy="1463040"/>
          </a:xfrm>
          <a:prstGeom prst="rect">
            <a:avLst/>
          </a:prstGeom>
          <a:noFill/>
          <a:ln/>
        </p:spPr>
        <p:txBody>
          <a:bodyPr wrap="square" lIns="0" tIns="0" rIns="0" bIns="0" rtlCol="0" anchor="t"/>
          <a:lstStyle/>
          <a:p>
            <a:pPr indent="0" marL="0">
              <a:spcAft>
                <a:spcPts val="400"/>
              </a:spcAft>
              <a:buNone/>
            </a:pPr>
            <a:r>
              <a:rPr lang="en-US" sz="1150" dirty="0">
                <a:solidFill>
                  <a:schemeClr val="accent4"/>
                </a:solidFill>
              </a:rPr>
              <a:t>정거장별 HTML 카드(썸네일·위경도·추정/최대 kg·인력·휴대폰 길찾기). 현장 '못 찾음·수거 완료' 체크로 다음 비행을 보정합니다.</a:t>
            </a:r>
            <a:endParaRPr lang="en-US" sz="1150" dirty="0"/>
          </a:p>
        </p:txBody>
      </p:sp>
      <p:sp>
        <p:nvSpPr>
          <p:cNvPr id="26" name="card 왜 드론 단계와 분리하는가"/>
          <p:cNvSpPr/>
          <p:nvPr/>
        </p:nvSpPr>
        <p:spPr>
          <a:xfrm>
            <a:off x="548640" y="4983480"/>
            <a:ext cx="11091672" cy="914400"/>
          </a:xfrm>
          <a:prstGeom prst="roundRect">
            <a:avLst>
              <a:gd name="adj" fmla="val 12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7" name="Text 21"/>
          <p:cNvSpPr txBox="1"/>
          <p:nvPr/>
        </p:nvSpPr>
        <p:spPr>
          <a:xfrm>
            <a:off x="822960" y="5239512"/>
            <a:ext cx="10543032" cy="384048"/>
          </a:xfrm>
          <a:prstGeom prst="rect">
            <a:avLst/>
          </a:prstGeom>
          <a:noFill/>
          <a:ln/>
        </p:spPr>
        <p:txBody>
          <a:bodyPr wrap="square" lIns="0" tIns="0" rIns="0" bIns="0" rtlCol="0" anchor="t"/>
          <a:lstStyle/>
          <a:p>
            <a:pPr indent="0" marL="0">
              <a:buNone/>
            </a:pPr>
            <a:r>
              <a:rPr lang="en-US" sz="1250" b="1" dirty="0">
                <a:solidFill>
                  <a:schemeClr val="tx1"/>
                </a:solidFill>
              </a:rPr>
              <a:t>왜 드론 단계와 분리하는가</a:t>
            </a:r>
            <a:endParaRPr lang="en-US" sz="1250" dirty="0"/>
          </a:p>
        </p:txBody>
      </p:sp>
      <p:sp>
        <p:nvSpPr>
          <p:cNvPr id="28" name="Text 22"/>
          <p:cNvSpPr txBox="1"/>
          <p:nvPr/>
        </p:nvSpPr>
        <p:spPr>
          <a:xfrm>
            <a:off x="822960" y="5678424"/>
            <a:ext cx="10543032" cy="914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드론은 공중에서 '어디에 얼마나'를 재고, 수거 동선은 지상의 제약(접근로·적재·인원)을 받습니다. 두 마스킹이 다르므로 같은 지도 위에서 계층을 나눠 둡니다.</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03</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검증</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상자 3개, 영상 3편, 공개 해안 데이터 2종. 결과가 없는 항목은 '진행 중', 가정은 '가정'이라고 썼습니다.</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요약: 가설 · 설계 · 결과</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완료 9건, 예정·진행 중 3건. 수치는 모두 저장소의 로그·JSON에서 재현됩니다.</a:t>
            </a:r>
            <a:endParaRPr lang="en-US" sz="1400" dirty="0"/>
          </a:p>
        </p:txBody>
      </p:sp>
      <p:graphicFrame>
        <p:nvGraphicFramePr>
          <p:cNvPr id="22" name="validation summary"/>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188720"/>
                <a:gridCol w="2971800"/>
                <a:gridCol w="2926080"/>
                <a:gridCol w="3154680"/>
                <a:gridCol w="850392"/>
              </a:tblGrid>
              <a:tr h="301752">
                <a:tc>
                  <a:txBody>
                    <a:bodyPr/>
                    <a:lstStyle/>
                    <a:p>
                      <a:pPr indent="0" marL="0">
                        <a:buNone/>
                      </a:pPr>
                      <a:r>
                        <a:rPr lang="en-US" sz="1000" b="1" dirty="0">
                          <a:solidFill>
                            <a:srgbClr val="0B3C5D"/>
                          </a:solidFill>
                        </a:rPr>
                        <a:t>실험</a:t>
                      </a:r>
                      <a:endParaRPr lang="en-US" sz="10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가설</a:t>
                      </a:r>
                      <a:endParaRPr lang="en-US" sz="10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설계</a:t>
                      </a:r>
                      <a:endParaRPr lang="en-US" sz="10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결과</a:t>
                      </a:r>
                      <a:endParaRPr lang="en-US" sz="10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상태</a:t>
                      </a:r>
                      <a:endParaRPr lang="en-US" sz="10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01752">
                <a:tc>
                  <a:txBody>
                    <a:bodyPr/>
                    <a:lstStyle/>
                    <a:p>
                      <a:pPr indent="0" marL="0">
                        <a:buNone/>
                      </a:pPr>
                      <a:r>
                        <a:rPr lang="en-US" sz="880" dirty="0">
                          <a:solidFill>
                            <a:srgbClr val="10212E"/>
                          </a:solidFill>
                        </a:rPr>
                        <a:t>A 부피</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영상 3D로 잰 부피가 실측과 ±20% 안에 든다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크기 아는 상자 3개, 7 m 선회(0007)·2 m 왕복(0010)</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+19% / +20% / −10%. 업체 방식은 1/112·1/180</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B 위치</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3D 자세로 계산한 위치가 GPS와 수 m 안</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0007·0010 실기체 + 합성 7개 시나리오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1.16 m · 8.07→0.51 m(축척 자동) · 합성 0.01~0.11 m</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C 탐지</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운용 고도 GSD로 학습하면 현장 재현율이 오른다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문갑도 칩 48·하와이 420칩·튀니지 179장 교차평가</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문갑도 0.28→0.72(AI Hub) · 통합 모델 0.53/0.52/0.36 (현장별 엇갈림)</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D 재방문</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애매한 후보만 재방문하면 짧은 추가 비행으로 재현율↑</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문갑도 정사영상 가상비행 100×100 m, 라벨 7개</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0.71→0.86, +697 m (25회 중 22회 기각)</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E 야간 통과</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통과 비행만으로 탐지·지도·3D 뼈대가 된다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0015 야간 10분, 4K 60 fps, 상자 ~28개</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탐지 30개 · 3D 뼈대 25/25 · 부피는 선회 필요</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F 반복성(미국)</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몰리고, 다시 쌓이고, 과거로 짠 경로가 통한다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하와이 2015 항공조사 · NOAA MDMAP 134곳 · 텍사스 33곳</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상위 10% 칸 75% · 순위상관 0.88 · 61% vs 36%</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G 위성 형상 선별</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형상 점수 상위 30% 길이에 무게의 절반 이상</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니하우 탐지 격자 · 문갑도 라벨 42 · 인천 조석 지도</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니하우 65~67% · 문갑도 62~67% · 인천 하구 3%(조석 모델 99%)</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H 전략 비교</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핫스팟 30%가 같은 자원으로 전체 지그재그의 2배</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같은 카메라·띠 폭·배터리 모델, 지리 순서·무작위 대조</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15.4 h vs 41.3 h · 67% vs 25~29% · 풍향 반대 시 38%</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I 해안 적용</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같은 파이프라인이 다른 해안에서 수거계획을 낸다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니하우 섬 칩 553장, 10분 미세조정</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5,476개 · 7.9~33.6 t · 마대 1,082 · 트럭 37</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무게 실측·예측구간</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부피 × 밀도 무게가 저울과 맞고, 실측 30개로 90% 구간을 만든다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상자 3개 + 문갑도 실측 30개 저울, split-conformal</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기준값 교체 전(지금은 정답 부피 × 가정 밀도), 구간 코드 완료</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35A00"/>
                          </a:solidFill>
                        </a:rPr>
                        <a:t>진행 중</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선회 고도</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윗면 편향(1.5~3.5 cm)이 고도에 따라 줄어든다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같은 상자를 3·5·7 m 선회로 촬영</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지금은 7 m·2 m 두 점뿐</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35A00"/>
                          </a:solidFill>
                        </a:rPr>
                        <a:t>예정</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01752">
                <a:tc>
                  <a:txBody>
                    <a:bodyPr/>
                    <a:lstStyle/>
                    <a:p>
                      <a:pPr indent="0" marL="0">
                        <a:buNone/>
                      </a:pPr>
                      <a:r>
                        <a:rPr lang="en-US" sz="880" dirty="0">
                          <a:solidFill>
                            <a:srgbClr val="10212E"/>
                          </a:solidFill>
                        </a:rPr>
                        <a:t>한국 반복성</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국내 정점 시계열에서도 순위상관·커버율이 재현된다</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국가 해안쓰레기 모니터링 정점(2008~) 앞/뒤 기간</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80" dirty="0">
                          <a:solidFill>
                            <a:srgbClr val="10212E"/>
                          </a:solidFill>
                        </a:rPr>
                        <a:t>자료 요청 단계. 국내 검증은 문갑도 라벨 42개 형상 점수뿐</a:t>
                      </a:r>
                      <a:endParaRPr lang="en-US" sz="88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35A00"/>
                          </a:solidFill>
                        </a:rPr>
                        <a:t>예정</a:t>
                      </a:r>
                      <a:endParaRPr lang="en-US" sz="900" dirty="0"/>
                    </a:p>
                  </a:txBody>
                  <a:tcPr marL="27432" marR="27432" marT="27432" marB="27432"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저장소: dohun415/aerodrone_hackathon (docs/파이프라인_결과정리.md, figures/*.json, hotspot/, route_optimization/) · HSR2M/hsr1m (island_drone_sim, 삼각측량 패치, incheon_debris_sim)</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정직한 한계와 대응</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질문 받을 것을 먼저 적었습니다. 각각 어떻게 줄이는지까지.</a:t>
            </a:r>
            <a:endParaRPr lang="en-US" sz="1400" dirty="0"/>
          </a:p>
        </p:txBody>
      </p:sp>
      <p:sp>
        <p:nvSpPr>
          <p:cNvPr id="4" name="card 무게 실측이 아직 없다"/>
          <p:cNvSpPr/>
          <p:nvPr/>
        </p:nvSpPr>
        <p:spPr>
          <a:xfrm>
            <a:off x="54864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WeightHanging"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2103120" cy="384048"/>
          </a:xfrm>
          <a:prstGeom prst="rect">
            <a:avLst/>
          </a:prstGeom>
          <a:noFill/>
          <a:ln/>
        </p:spPr>
        <p:txBody>
          <a:bodyPr wrap="square" lIns="0" tIns="0" rIns="0" bIns="0" rtlCol="0" anchor="t"/>
          <a:lstStyle/>
          <a:p>
            <a:pPr indent="0" marL="0">
              <a:buNone/>
            </a:pPr>
            <a:r>
              <a:rPr lang="en-US" sz="1400" b="1" dirty="0">
                <a:solidFill>
                  <a:schemeClr val="tx1"/>
                </a:solidFill>
              </a:rPr>
              <a:t>무게 실측이 아직 없다</a:t>
            </a:r>
            <a:endParaRPr lang="en-US" sz="1400" dirty="0"/>
          </a:p>
        </p:txBody>
      </p:sp>
      <p:sp>
        <p:nvSpPr>
          <p:cNvPr id="8" name="Text 5"/>
          <p:cNvSpPr txBox="1"/>
          <p:nvPr/>
        </p:nvSpPr>
        <p:spPr>
          <a:xfrm>
            <a:off x="822960" y="3209544"/>
            <a:ext cx="2103120" cy="21031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부피는 검증됐지만 무게 기준값은 '정답 부피 × 가정 밀도'입니다. 상자 3개 저울 실측(1분)과 문갑도 실측 30개로 밀도·구간을 교체합니다.</a:t>
            </a:r>
            <a:endParaRPr lang="en-US" sz="1200" dirty="0"/>
          </a:p>
        </p:txBody>
      </p:sp>
      <p:sp>
        <p:nvSpPr>
          <p:cNvPr id="9" name="card 절대 위치의 바닥은 GPS"/>
          <p:cNvSpPr/>
          <p:nvPr/>
        </p:nvSpPr>
        <p:spPr>
          <a:xfrm>
            <a:off x="336042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3634740" y="2039112"/>
            <a:ext cx="566928" cy="566928"/>
          </a:xfrm>
          <a:prstGeom prst="ellipse">
            <a:avLst/>
          </a:prstGeom>
          <a:solidFill>
            <a:srgbClr val="0B3C5D"/>
          </a:solidFill>
          <a:ln w="12700">
            <a:solidFill>
              <a:srgbClr val="0B3C5D"/>
            </a:solidFill>
            <a:prstDash val="solid"/>
          </a:ln>
        </p:spPr>
      </p:sp>
      <p:pic>
        <p:nvPicPr>
          <p:cNvPr id="11" name="icon FaMapMarkerAlt" descr="preencoded.png">    </p:cNvPr>
          <p:cNvPicPr>
            <a:picLocks noChangeAspect="1"/>
          </p:cNvPicPr>
          <p:nvPr/>
        </p:nvPicPr>
        <p:blipFill>
          <a:blip r:embed="rId2"/>
          <a:stretch>
            <a:fillRect/>
          </a:stretch>
        </p:blipFill>
        <p:spPr>
          <a:xfrm>
            <a:off x="3771900" y="2176272"/>
            <a:ext cx="292608" cy="292608"/>
          </a:xfrm>
          <a:prstGeom prst="rect">
            <a:avLst/>
          </a:prstGeom>
        </p:spPr>
      </p:pic>
      <p:sp>
        <p:nvSpPr>
          <p:cNvPr id="12" name="Text 8"/>
          <p:cNvSpPr txBox="1"/>
          <p:nvPr/>
        </p:nvSpPr>
        <p:spPr>
          <a:xfrm>
            <a:off x="3634740" y="2770632"/>
            <a:ext cx="2103120" cy="384048"/>
          </a:xfrm>
          <a:prstGeom prst="rect">
            <a:avLst/>
          </a:prstGeom>
          <a:noFill/>
          <a:ln/>
        </p:spPr>
        <p:txBody>
          <a:bodyPr wrap="square" lIns="0" tIns="0" rIns="0" bIns="0" rtlCol="0" anchor="t"/>
          <a:lstStyle/>
          <a:p>
            <a:pPr indent="0" marL="0">
              <a:buNone/>
            </a:pPr>
            <a:r>
              <a:rPr lang="en-US" sz="1400" b="1" dirty="0">
                <a:solidFill>
                  <a:schemeClr val="tx1"/>
                </a:solidFill>
              </a:rPr>
              <a:t>절대 위치의 바닥은 GPS</a:t>
            </a:r>
            <a:endParaRPr lang="en-US" sz="1400" dirty="0"/>
          </a:p>
        </p:txBody>
      </p:sp>
      <p:sp>
        <p:nvSpPr>
          <p:cNvPr id="13" name="Text 9"/>
          <p:cNvSpPr txBox="1"/>
          <p:nvPr/>
        </p:nvSpPr>
        <p:spPr>
          <a:xfrm>
            <a:off x="3634740" y="3209544"/>
            <a:ext cx="2103120" cy="21031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드론 GPS가 2 m 밀리면 모든 광선이 같이 밀립니다(r95 ≈ 5 m). RTK, 좌표를 아는 기준 표식, 또는 정사영상↔위성(SkySat) 정합(인라이어 85%, 5~8 m)으로 보정합니다.</a:t>
            </a:r>
            <a:endParaRPr lang="en-US" sz="1200" dirty="0"/>
          </a:p>
        </p:txBody>
      </p:sp>
      <p:sp>
        <p:nvSpPr>
          <p:cNvPr id="14" name="card 7 m 선회의 윗면 편향"/>
          <p:cNvSpPr/>
          <p:nvPr/>
        </p:nvSpPr>
        <p:spPr>
          <a:xfrm>
            <a:off x="617220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6446520" y="2039112"/>
            <a:ext cx="566928" cy="566928"/>
          </a:xfrm>
          <a:prstGeom prst="ellipse">
            <a:avLst/>
          </a:prstGeom>
          <a:solidFill>
            <a:srgbClr val="0B3C5D"/>
          </a:solidFill>
          <a:ln w="12700">
            <a:solidFill>
              <a:srgbClr val="0B3C5D"/>
            </a:solidFill>
            <a:prstDash val="solid"/>
          </a:ln>
        </p:spPr>
      </p:sp>
      <p:pic>
        <p:nvPicPr>
          <p:cNvPr id="16" name="icon FaCamera" descr="preencoded.png">    </p:cNvPr>
          <p:cNvPicPr>
            <a:picLocks noChangeAspect="1"/>
          </p:cNvPicPr>
          <p:nvPr/>
        </p:nvPicPr>
        <p:blipFill>
          <a:blip r:embed="rId3"/>
          <a:stretch>
            <a:fillRect/>
          </a:stretch>
        </p:blipFill>
        <p:spPr>
          <a:xfrm>
            <a:off x="6583680" y="2176272"/>
            <a:ext cx="292608" cy="292608"/>
          </a:xfrm>
          <a:prstGeom prst="rect">
            <a:avLst/>
          </a:prstGeom>
        </p:spPr>
      </p:pic>
      <p:sp>
        <p:nvSpPr>
          <p:cNvPr id="17" name="Text 12"/>
          <p:cNvSpPr txBox="1"/>
          <p:nvPr/>
        </p:nvSpPr>
        <p:spPr>
          <a:xfrm>
            <a:off x="6446520" y="2770632"/>
            <a:ext cx="2103120" cy="384048"/>
          </a:xfrm>
          <a:prstGeom prst="rect">
            <a:avLst/>
          </a:prstGeom>
          <a:noFill/>
          <a:ln/>
        </p:spPr>
        <p:txBody>
          <a:bodyPr wrap="square" lIns="0" tIns="0" rIns="0" bIns="0" rtlCol="0" anchor="t"/>
          <a:lstStyle/>
          <a:p>
            <a:pPr indent="0" marL="0">
              <a:buNone/>
            </a:pPr>
            <a:r>
              <a:rPr lang="en-US" sz="1400" b="1" dirty="0">
                <a:solidFill>
                  <a:schemeClr val="tx1"/>
                </a:solidFill>
              </a:rPr>
              <a:t>7 m 선회의 윗면 편향</a:t>
            </a:r>
            <a:endParaRPr lang="en-US" sz="1400" dirty="0"/>
          </a:p>
        </p:txBody>
      </p:sp>
      <p:sp>
        <p:nvSpPr>
          <p:cNvPr id="18" name="Text 13"/>
          <p:cNvSpPr txBox="1"/>
          <p:nvPr/>
        </p:nvSpPr>
        <p:spPr>
          <a:xfrm>
            <a:off x="6446520" y="3209544"/>
            <a:ext cx="2103120" cy="21031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무늬 없는 상자 윗면이 1.5~3.5 cm 높게 복원되고 마스크가 그림자를 포함해 +13~28%. 3~4 m 선회 + 수직 1장 가이드로 줄이며, 3·5·7 m 선회 통제 실험을 예정했습니다(지금은 7 m·2 m 두 점).</a:t>
            </a:r>
            <a:endParaRPr lang="en-US" sz="1200" dirty="0"/>
          </a:p>
        </p:txBody>
      </p:sp>
      <p:sp>
        <p:nvSpPr>
          <p:cNvPr id="19" name="card 반복성은 추론, 하구는 조석 모델"/>
          <p:cNvSpPr/>
          <p:nvPr/>
        </p:nvSpPr>
        <p:spPr>
          <a:xfrm>
            <a:off x="8983980" y="1783080"/>
            <a:ext cx="2651760" cy="365760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9258300" y="2039112"/>
            <a:ext cx="566928" cy="566928"/>
          </a:xfrm>
          <a:prstGeom prst="ellipse">
            <a:avLst/>
          </a:prstGeom>
          <a:solidFill>
            <a:srgbClr val="0B3C5D"/>
          </a:solidFill>
          <a:ln w="12700">
            <a:solidFill>
              <a:srgbClr val="0B3C5D"/>
            </a:solidFill>
            <a:prstDash val="solid"/>
          </a:ln>
        </p:spPr>
      </p:sp>
      <p:pic>
        <p:nvPicPr>
          <p:cNvPr id="21" name="icon FaWater" descr="preencoded.png">    </p:cNvPr>
          <p:cNvPicPr>
            <a:picLocks noChangeAspect="1"/>
          </p:cNvPicPr>
          <p:nvPr/>
        </p:nvPicPr>
        <p:blipFill>
          <a:blip r:embed="rId4"/>
          <a:stretch>
            <a:fillRect/>
          </a:stretch>
        </p:blipFill>
        <p:spPr>
          <a:xfrm>
            <a:off x="9395460" y="2176272"/>
            <a:ext cx="292608" cy="292608"/>
          </a:xfrm>
          <a:prstGeom prst="rect">
            <a:avLst/>
          </a:prstGeom>
        </p:spPr>
      </p:pic>
      <p:sp>
        <p:nvSpPr>
          <p:cNvPr id="22" name="Text 16"/>
          <p:cNvSpPr txBox="1"/>
          <p:nvPr/>
        </p:nvSpPr>
        <p:spPr>
          <a:xfrm>
            <a:off x="9258300" y="2770632"/>
            <a:ext cx="2103120" cy="384048"/>
          </a:xfrm>
          <a:prstGeom prst="rect">
            <a:avLst/>
          </a:prstGeom>
          <a:noFill/>
          <a:ln/>
        </p:spPr>
        <p:txBody>
          <a:bodyPr wrap="square" lIns="0" tIns="0" rIns="0" bIns="0" rtlCol="0" anchor="t"/>
          <a:lstStyle/>
          <a:p>
            <a:pPr indent="0" marL="0">
              <a:buNone/>
            </a:pPr>
            <a:r>
              <a:rPr lang="en-US" sz="1400" b="1" dirty="0">
                <a:solidFill>
                  <a:schemeClr val="tx1"/>
                </a:solidFill>
              </a:rPr>
              <a:t>반복성은 추론, 하구는 조석 모델</a:t>
            </a:r>
            <a:endParaRPr lang="en-US" sz="1400" dirty="0"/>
          </a:p>
        </p:txBody>
      </p:sp>
      <p:sp>
        <p:nvSpPr>
          <p:cNvPr id="23" name="Text 17"/>
          <p:cNvSpPr txBox="1"/>
          <p:nvPr/>
        </p:nvSpPr>
        <p:spPr>
          <a:xfrm>
            <a:off x="9258300" y="3209544"/>
            <a:ext cx="2103120" cy="21031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공간 군집은 자료로 확인했지만(니하우 만 244 vs 곶 40 kg/km) 시간 반복은 아직 문헌·물리 추론입니다. 국가 모니터링 정점 시계열로 검증 예정. 하구에서는 위성 형상이 무력(인천 3%)해 조석 모델을 결합합니다.</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04</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3DLabs와의 결합 제안</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위성이 넓게 보고, 드론이 자세히 재고, 지자체가 배차합니다.</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위성이 넓게 보고, 드론이 자세히 재고, 지자체가 배차한다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3DLabs의 위성 지상국·ARD 플랫폼 위에 드론 측정 계층을 얹어, 활용 분야(도시·산림·항만·수체변화)에 '해안쓰레기 수거계획'을 추가합니다.</a:t>
            </a:r>
            <a:endParaRPr lang="en-US" sz="1400" dirty="0"/>
          </a:p>
        </p:txBody>
      </p:sp>
      <p:sp>
        <p:nvSpPr>
          <p:cNvPr id="4" name="role 3DLabs · 위성 계층"/>
          <p:cNvSpPr/>
          <p:nvPr/>
        </p:nvSpPr>
        <p:spPr>
          <a:xfrm>
            <a:off x="548640" y="1783080"/>
            <a:ext cx="3566160" cy="3063240"/>
          </a:xfrm>
          <a:prstGeom prst="roundRect">
            <a:avLst>
              <a:gd name="adj" fmla="val 3582"/>
            </a:avLst>
          </a:prstGeom>
          <a:solidFill>
            <a:srgbClr val="0B3C5D"/>
          </a:solidFill>
          <a:ln w="12700">
            <a:solidFill>
              <a:srgbClr val="0B3C5D"/>
            </a:solidFill>
            <a:prstDash val="solid"/>
          </a:ln>
        </p:spPr>
      </p:sp>
      <p:sp>
        <p:nvSpPr>
          <p:cNvPr id="5" name="icon circle"/>
          <p:cNvSpPr/>
          <p:nvPr/>
        </p:nvSpPr>
        <p:spPr>
          <a:xfrm>
            <a:off x="822960" y="2057400"/>
            <a:ext cx="566928" cy="566928"/>
          </a:xfrm>
          <a:prstGeom prst="ellipse">
            <a:avLst/>
          </a:prstGeom>
          <a:solidFill>
            <a:srgbClr val="F26B21"/>
          </a:solidFill>
          <a:ln w="12700">
            <a:solidFill>
              <a:srgbClr val="F26B21"/>
            </a:solidFill>
            <a:prstDash val="solid"/>
          </a:ln>
        </p:spPr>
      </p:sp>
      <p:pic>
        <p:nvPicPr>
          <p:cNvPr id="6" name="icon FaSatellite"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txBox="1"/>
          <p:nvPr/>
        </p:nvSpPr>
        <p:spPr>
          <a:xfrm>
            <a:off x="822960" y="2788920"/>
            <a:ext cx="3017520" cy="365760"/>
          </a:xfrm>
          <a:prstGeom prst="rect">
            <a:avLst/>
          </a:prstGeom>
          <a:noFill/>
          <a:ln/>
        </p:spPr>
        <p:txBody>
          <a:bodyPr wrap="square" lIns="0" tIns="0" rIns="0" bIns="0" rtlCol="0" anchor="ctr"/>
          <a:lstStyle/>
          <a:p>
            <a:pPr indent="0" marL="0">
              <a:buNone/>
            </a:pPr>
            <a:r>
              <a:rPr lang="en-US" sz="1450" b="1" dirty="0">
                <a:solidFill>
                  <a:schemeClr val="bg1"/>
                </a:solidFill>
              </a:rPr>
              <a:t>3DLabs · 위성 계층</a:t>
            </a:r>
            <a:endParaRPr lang="en-US" sz="1450" dirty="0"/>
          </a:p>
        </p:txBody>
      </p:sp>
      <p:sp>
        <p:nvSpPr>
          <p:cNvPr id="8" name="Text 5"/>
          <p:cNvSpPr txBox="1"/>
          <p:nvPr/>
        </p:nvSpPr>
        <p:spPr>
          <a:xfrm>
            <a:off x="82296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위성의 역할은 탐지가 아니라 해안선 갱신(송도·소래 매립)·형상 점수·선별</a:t>
            </a:r>
            <a:endParaRPr lang="en-US" sz="1100" dirty="0"/>
          </a:p>
          <a:p>
            <a:pPr marL="177800" indent="-177800">
              <a:spcAft>
                <a:spcPts val="600"/>
              </a:spcAft>
              <a:buSzPct val="100000"/>
              <a:buChar char="•"/>
            </a:pPr>
            <a:r>
              <a:rPr lang="en-US" sz="1100" dirty="0">
                <a:solidFill>
                  <a:schemeClr val="accent5"/>
                </a:solidFill>
              </a:rPr>
              <a:t>Sentinel-2 공개자료로 시작, 상용 고해상 위성은 띠 폭·해안선 정확도를 올리는 상위 상품</a:t>
            </a:r>
            <a:endParaRPr lang="en-US" sz="1100" dirty="0"/>
          </a:p>
          <a:p>
            <a:pPr marL="177800" indent="-177800">
              <a:spcAft>
                <a:spcPts val="600"/>
              </a:spcAft>
              <a:buSzPct val="100000"/>
              <a:buChar char="•"/>
            </a:pPr>
            <a:r>
              <a:rPr lang="en-US" sz="1100" dirty="0">
                <a:solidFill>
                  <a:schemeClr val="accent5"/>
                </a:solidFill>
              </a:rPr>
              <a:t>하구에서는 조석·수리 모델 결합이 필요 → 제휴 포인트</a:t>
            </a:r>
            <a:endParaRPr lang="en-US" sz="1100" dirty="0"/>
          </a:p>
        </p:txBody>
      </p:sp>
      <p:sp>
        <p:nvSpPr>
          <p:cNvPr id="9" name="arrow"/>
          <p:cNvSpPr/>
          <p:nvPr/>
        </p:nvSpPr>
        <p:spPr>
          <a:xfrm>
            <a:off x="4133088" y="3063240"/>
            <a:ext cx="155448" cy="365760"/>
          </a:xfrm>
          <a:prstGeom prst="rightArrow">
            <a:avLst/>
          </a:prstGeom>
          <a:solidFill>
            <a:srgbClr val="F26B21"/>
          </a:solidFill>
          <a:ln w="12700">
            <a:solidFill>
              <a:srgbClr val="F26B21"/>
            </a:solidFill>
            <a:prstDash val="solid"/>
          </a:ln>
        </p:spPr>
      </p:sp>
      <p:sp>
        <p:nvSpPr>
          <p:cNvPr id="10" name="role 붕붕이 · 드론 계층"/>
          <p:cNvSpPr/>
          <p:nvPr/>
        </p:nvSpPr>
        <p:spPr>
          <a:xfrm>
            <a:off x="4297680" y="1783080"/>
            <a:ext cx="3566160" cy="3063240"/>
          </a:xfrm>
          <a:prstGeom prst="roundRect">
            <a:avLst>
              <a:gd name="adj" fmla="val 3582"/>
            </a:avLst>
          </a:prstGeom>
          <a:solidFill>
            <a:srgbClr val="124A6E"/>
          </a:solidFill>
          <a:ln w="12700">
            <a:solidFill>
              <a:srgbClr val="124A6E"/>
            </a:solidFill>
            <a:prstDash val="solid"/>
          </a:ln>
        </p:spPr>
      </p:sp>
      <p:sp>
        <p:nvSpPr>
          <p:cNvPr id="11" name="icon circle"/>
          <p:cNvSpPr/>
          <p:nvPr/>
        </p:nvSpPr>
        <p:spPr>
          <a:xfrm>
            <a:off x="4572000" y="2057400"/>
            <a:ext cx="566928" cy="566928"/>
          </a:xfrm>
          <a:prstGeom prst="ellipse">
            <a:avLst/>
          </a:prstGeom>
          <a:solidFill>
            <a:srgbClr val="F26B21"/>
          </a:solidFill>
          <a:ln w="12700">
            <a:solidFill>
              <a:srgbClr val="F26B21"/>
            </a:solidFill>
            <a:prstDash val="solid"/>
          </a:ln>
        </p:spPr>
      </p:sp>
      <p:pic>
        <p:nvPicPr>
          <p:cNvPr id="12" name="icon FaPlane" descr="preencoded.png">    </p:cNvPr>
          <p:cNvPicPr>
            <a:picLocks noChangeAspect="1"/>
          </p:cNvPicPr>
          <p:nvPr/>
        </p:nvPicPr>
        <p:blipFill>
          <a:blip r:embed="rId2"/>
          <a:stretch>
            <a:fillRect/>
          </a:stretch>
        </p:blipFill>
        <p:spPr>
          <a:xfrm>
            <a:off x="4709160" y="2194560"/>
            <a:ext cx="292608" cy="292608"/>
          </a:xfrm>
          <a:prstGeom prst="rect">
            <a:avLst/>
          </a:prstGeom>
        </p:spPr>
      </p:pic>
      <p:sp>
        <p:nvSpPr>
          <p:cNvPr id="13" name="Text 9"/>
          <p:cNvSpPr txBox="1"/>
          <p:nvPr/>
        </p:nvSpPr>
        <p:spPr>
          <a:xfrm>
            <a:off x="4572000" y="2788920"/>
            <a:ext cx="3017520" cy="365760"/>
          </a:xfrm>
          <a:prstGeom prst="rect">
            <a:avLst/>
          </a:prstGeom>
          <a:noFill/>
          <a:ln/>
        </p:spPr>
        <p:txBody>
          <a:bodyPr wrap="square" lIns="0" tIns="0" rIns="0" bIns="0" rtlCol="0" anchor="ctr"/>
          <a:lstStyle/>
          <a:p>
            <a:pPr indent="0" marL="0">
              <a:buNone/>
            </a:pPr>
            <a:r>
              <a:rPr lang="en-US" sz="1450" b="1" dirty="0">
                <a:solidFill>
                  <a:schemeClr val="bg1"/>
                </a:solidFill>
              </a:rPr>
              <a:t>붕붕이 · 드론 계층</a:t>
            </a:r>
            <a:endParaRPr lang="en-US" sz="1450" dirty="0"/>
          </a:p>
        </p:txBody>
      </p:sp>
      <p:sp>
        <p:nvSpPr>
          <p:cNvPr id="14" name="Text 10"/>
          <p:cNvSpPr txBox="1"/>
          <p:nvPr/>
        </p:nvSpPr>
        <p:spPr>
          <a:xfrm>
            <a:off x="457200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핫스팟 경로 KML, 조종자 비행, 탐지·3D 위치·SfM 부피</a:t>
            </a:r>
            <a:endParaRPr lang="en-US" sz="1100" dirty="0"/>
          </a:p>
          <a:p>
            <a:pPr marL="177800" indent="-177800">
              <a:spcAft>
                <a:spcPts val="600"/>
              </a:spcAft>
              <a:buSzPct val="100000"/>
              <a:buChar char="•"/>
            </a:pPr>
            <a:r>
              <a:rPr lang="en-US" sz="1100" dirty="0">
                <a:solidFill>
                  <a:schemeClr val="accent5"/>
                </a:solidFill>
              </a:rPr>
              <a:t>무게 구간과 23 kg·마대·트럭 경계 2차 선회(설계)</a:t>
            </a:r>
            <a:endParaRPr lang="en-US" sz="1100" dirty="0"/>
          </a:p>
          <a:p>
            <a:pPr marL="177800" indent="-177800">
              <a:spcAft>
                <a:spcPts val="600"/>
              </a:spcAft>
              <a:buSzPct val="100000"/>
              <a:buChar char="•"/>
            </a:pPr>
            <a:r>
              <a:rPr lang="en-US" sz="1100" dirty="0">
                <a:solidFill>
                  <a:schemeClr val="accent5"/>
                </a:solidFill>
              </a:rPr>
              <a:t>정거장별 작업카드(인력·마대·트럭·경로), 대시보드</a:t>
            </a:r>
            <a:endParaRPr lang="en-US" sz="1100" dirty="0"/>
          </a:p>
        </p:txBody>
      </p:sp>
      <p:sp>
        <p:nvSpPr>
          <p:cNvPr id="15" name="arrow"/>
          <p:cNvSpPr/>
          <p:nvPr/>
        </p:nvSpPr>
        <p:spPr>
          <a:xfrm>
            <a:off x="7882128" y="3063240"/>
            <a:ext cx="155448" cy="365760"/>
          </a:xfrm>
          <a:prstGeom prst="rightArrow">
            <a:avLst/>
          </a:prstGeom>
          <a:solidFill>
            <a:srgbClr val="F26B21"/>
          </a:solidFill>
          <a:ln w="12700">
            <a:solidFill>
              <a:srgbClr val="F26B21"/>
            </a:solidFill>
            <a:prstDash val="solid"/>
          </a:ln>
        </p:spPr>
      </p:sp>
      <p:sp>
        <p:nvSpPr>
          <p:cNvPr id="16" name="role 고객 · 지자체 계층"/>
          <p:cNvSpPr/>
          <p:nvPr/>
        </p:nvSpPr>
        <p:spPr>
          <a:xfrm>
            <a:off x="8046720" y="1783080"/>
            <a:ext cx="3566160" cy="3063240"/>
          </a:xfrm>
          <a:prstGeom prst="roundRect">
            <a:avLst>
              <a:gd name="adj" fmla="val 3582"/>
            </a:avLst>
          </a:prstGeom>
          <a:solidFill>
            <a:srgbClr val="EEF3F6"/>
          </a:solidFill>
          <a:ln w="12700">
            <a:solidFill>
              <a:srgbClr val="EEF3F6"/>
            </a:solidFill>
            <a:prstDash val="solid"/>
          </a:ln>
          <a:effectLst>
            <a:outerShdw sx="100000" sy="100000" kx="0" ky="0" algn="bl" rotWithShape="0" blurRad="101600" dist="25400" dir="5400000">
              <a:srgbClr val="0B3C5D">
                <a:alpha val="10000"/>
              </a:srgbClr>
            </a:outerShdw>
          </a:effectLst>
        </p:spPr>
      </p:sp>
      <p:sp>
        <p:nvSpPr>
          <p:cNvPr id="17" name="icon circle"/>
          <p:cNvSpPr/>
          <p:nvPr/>
        </p:nvSpPr>
        <p:spPr>
          <a:xfrm>
            <a:off x="8321040" y="2057400"/>
            <a:ext cx="566928" cy="566928"/>
          </a:xfrm>
          <a:prstGeom prst="ellipse">
            <a:avLst/>
          </a:prstGeom>
          <a:solidFill>
            <a:srgbClr val="0B3C5D"/>
          </a:solidFill>
          <a:ln w="12700">
            <a:solidFill>
              <a:srgbClr val="0B3C5D"/>
            </a:solidFill>
            <a:prstDash val="solid"/>
          </a:ln>
        </p:spPr>
      </p:sp>
      <p:pic>
        <p:nvPicPr>
          <p:cNvPr id="18" name="icon FaUsers" descr="preencoded.png">    </p:cNvPr>
          <p:cNvPicPr>
            <a:picLocks noChangeAspect="1"/>
          </p:cNvPicPr>
          <p:nvPr/>
        </p:nvPicPr>
        <p:blipFill>
          <a:blip r:embed="rId3"/>
          <a:stretch>
            <a:fillRect/>
          </a:stretch>
        </p:blipFill>
        <p:spPr>
          <a:xfrm>
            <a:off x="8458200" y="2194560"/>
            <a:ext cx="292608" cy="292608"/>
          </a:xfrm>
          <a:prstGeom prst="rect">
            <a:avLst/>
          </a:prstGeom>
        </p:spPr>
      </p:pic>
      <p:sp>
        <p:nvSpPr>
          <p:cNvPr id="19" name="Text 14"/>
          <p:cNvSpPr txBox="1"/>
          <p:nvPr/>
        </p:nvSpPr>
        <p:spPr>
          <a:xfrm>
            <a:off x="8321040" y="2788920"/>
            <a:ext cx="3017520" cy="365760"/>
          </a:xfrm>
          <a:prstGeom prst="rect">
            <a:avLst/>
          </a:prstGeom>
          <a:noFill/>
          <a:ln/>
        </p:spPr>
        <p:txBody>
          <a:bodyPr wrap="square" lIns="0" tIns="0" rIns="0" bIns="0" rtlCol="0" anchor="ctr"/>
          <a:lstStyle/>
          <a:p>
            <a:pPr indent="0" marL="0">
              <a:buNone/>
            </a:pPr>
            <a:r>
              <a:rPr lang="en-US" sz="1450" b="1" dirty="0">
                <a:solidFill>
                  <a:schemeClr val="tx1"/>
                </a:solidFill>
              </a:rPr>
              <a:t>고객 · 지자체 계층</a:t>
            </a:r>
            <a:endParaRPr lang="en-US" sz="1450" dirty="0"/>
          </a:p>
        </p:txBody>
      </p:sp>
      <p:sp>
        <p:nvSpPr>
          <p:cNvPr id="20" name="Text 15"/>
          <p:cNvSpPr txBox="1"/>
          <p:nvPr/>
        </p:nvSpPr>
        <p:spPr>
          <a:xfrm>
            <a:off x="832104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시군 해양수산 부서: 예산·배차</a:t>
            </a:r>
            <a:endParaRPr lang="en-US" sz="1100" dirty="0"/>
          </a:p>
          <a:p>
            <a:pPr marL="177800" indent="-177800">
              <a:spcAft>
                <a:spcPts val="600"/>
              </a:spcAft>
              <a:buSzPct val="100000"/>
              <a:buChar char="•"/>
            </a:pPr>
            <a:r>
              <a:rPr lang="en-US" sz="1100" dirty="0">
                <a:solidFill>
                  <a:schemeClr val="tx1"/>
                </a:solidFill>
              </a:rPr>
              <a:t>수거 용역업체: 동선·인원</a:t>
            </a:r>
            <a:endParaRPr lang="en-US" sz="1100" dirty="0"/>
          </a:p>
          <a:p>
            <a:pPr marL="177800" indent="-177800">
              <a:spcAft>
                <a:spcPts val="600"/>
              </a:spcAft>
              <a:buSzPct val="100000"/>
              <a:buChar char="•"/>
            </a:pPr>
            <a:r>
              <a:rPr lang="en-US" sz="1100" dirty="0">
                <a:solidFill>
                  <a:schemeClr val="tx1"/>
                </a:solidFill>
              </a:rPr>
              <a:t>해양환경공단: 반복 모니터링 데이터(핫스팟 이력)</a:t>
            </a:r>
            <a:endParaRPr lang="en-US" sz="1100" dirty="0"/>
          </a:p>
        </p:txBody>
      </p:sp>
      <p:sp>
        <p:nvSpPr>
          <p:cNvPr id="21" name="Text 16"/>
          <p:cNvSpPr txBox="1"/>
          <p:nvPr/>
        </p:nvSpPr>
        <p:spPr>
          <a:xfrm>
            <a:off x="548640" y="5029200"/>
            <a:ext cx="2743200" cy="274320"/>
          </a:xfrm>
          <a:prstGeom prst="rect">
            <a:avLst/>
          </a:prstGeom>
          <a:noFill/>
          <a:ln/>
        </p:spPr>
        <p:txBody>
          <a:bodyPr wrap="square" lIns="0" tIns="0" rIns="0" bIns="0" rtlCol="0" anchor="ctr"/>
          <a:lstStyle/>
          <a:p>
            <a:pPr indent="0" marL="0">
              <a:buNone/>
            </a:pPr>
            <a:r>
              <a:rPr lang="en-US" sz="1150" b="1" dirty="0">
                <a:solidFill>
                  <a:schemeClr val="tx1"/>
                </a:solidFill>
              </a:rPr>
              <a:t>시장 신호</a:t>
            </a:r>
            <a:endParaRPr lang="en-US" sz="1150" dirty="0"/>
          </a:p>
        </p:txBody>
      </p:sp>
      <p:sp>
        <p:nvSpPr>
          <p:cNvPr id="22" name="signal 0"/>
          <p:cNvSpPr/>
          <p:nvPr/>
        </p:nvSpPr>
        <p:spPr>
          <a:xfrm>
            <a:off x="548640" y="5349240"/>
            <a:ext cx="3566160" cy="658368"/>
          </a:xfrm>
          <a:prstGeom prst="roundRect">
            <a:avLst>
              <a:gd name="adj" fmla="val 13889"/>
            </a:avLst>
          </a:prstGeom>
          <a:solidFill>
            <a:srgbClr val="FFD9C2"/>
          </a:solidFill>
          <a:ln w="12700">
            <a:solidFill>
              <a:srgbClr val="FFD9C2"/>
            </a:solidFill>
            <a:prstDash val="solid"/>
          </a:ln>
        </p:spPr>
      </p:sp>
      <p:sp>
        <p:nvSpPr>
          <p:cNvPr id="23" name="Text 18"/>
          <p:cNvSpPr txBox="1"/>
          <p:nvPr/>
        </p:nvSpPr>
        <p:spPr>
          <a:xfrm>
            <a:off x="71323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전남도 2026년 해양쓰레기 저감 441억 원, AI·드론 관리 강화</a:t>
            </a:r>
            <a:endParaRPr lang="en-US" sz="950" dirty="0"/>
          </a:p>
        </p:txBody>
      </p:sp>
      <p:sp>
        <p:nvSpPr>
          <p:cNvPr id="24" name="Text 19"/>
          <p:cNvSpPr txBox="1"/>
          <p:nvPr/>
        </p:nvSpPr>
        <p:spPr>
          <a:xfrm>
            <a:off x="71323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뉴스핌 2026.03</a:t>
            </a:r>
            <a:endParaRPr lang="en-US" sz="800" dirty="0"/>
          </a:p>
        </p:txBody>
      </p:sp>
      <p:sp>
        <p:nvSpPr>
          <p:cNvPr id="25" name="signal 1"/>
          <p:cNvSpPr/>
          <p:nvPr/>
        </p:nvSpPr>
        <p:spPr>
          <a:xfrm>
            <a:off x="4297680" y="5349240"/>
            <a:ext cx="3566160" cy="658368"/>
          </a:xfrm>
          <a:prstGeom prst="roundRect">
            <a:avLst>
              <a:gd name="adj" fmla="val 13889"/>
            </a:avLst>
          </a:prstGeom>
          <a:solidFill>
            <a:srgbClr val="FFD9C2"/>
          </a:solidFill>
          <a:ln w="12700">
            <a:solidFill>
              <a:srgbClr val="FFD9C2"/>
            </a:solidFill>
            <a:prstDash val="solid"/>
          </a:ln>
        </p:spPr>
      </p:sp>
      <p:sp>
        <p:nvSpPr>
          <p:cNvPr id="26" name="Text 21"/>
          <p:cNvSpPr txBox="1"/>
          <p:nvPr/>
        </p:nvSpPr>
        <p:spPr>
          <a:xfrm>
            <a:off x="446227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해양환경공단 8개 무역항 드론 모니터링, 드론 탐지+AI 판독+수상로봇 'KOEM-ARK' 현장 운용</a:t>
            </a:r>
            <a:endParaRPr lang="en-US" sz="950" dirty="0"/>
          </a:p>
        </p:txBody>
      </p:sp>
      <p:sp>
        <p:nvSpPr>
          <p:cNvPr id="27" name="Text 22"/>
          <p:cNvSpPr txBox="1"/>
          <p:nvPr/>
        </p:nvSpPr>
        <p:spPr>
          <a:xfrm>
            <a:off x="446227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이투데이 · 뉴스핌 2026.07</a:t>
            </a:r>
            <a:endParaRPr lang="en-US" sz="800" dirty="0"/>
          </a:p>
        </p:txBody>
      </p:sp>
      <p:sp>
        <p:nvSpPr>
          <p:cNvPr id="28" name="signal 2"/>
          <p:cNvSpPr/>
          <p:nvPr/>
        </p:nvSpPr>
        <p:spPr>
          <a:xfrm>
            <a:off x="8046720" y="5349240"/>
            <a:ext cx="3566160" cy="658368"/>
          </a:xfrm>
          <a:prstGeom prst="roundRect">
            <a:avLst>
              <a:gd name="adj" fmla="val 13889"/>
            </a:avLst>
          </a:prstGeom>
          <a:solidFill>
            <a:srgbClr val="FFD9C2"/>
          </a:solidFill>
          <a:ln w="12700">
            <a:solidFill>
              <a:srgbClr val="FFD9C2"/>
            </a:solidFill>
            <a:prstDash val="solid"/>
          </a:ln>
        </p:spPr>
      </p:sp>
      <p:sp>
        <p:nvSpPr>
          <p:cNvPr id="29" name="Text 24"/>
          <p:cNvSpPr txBox="1"/>
          <p:nvPr/>
        </p:nvSpPr>
        <p:spPr>
          <a:xfrm>
            <a:off x="821131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전국 해양폐기물 처리 예산 1,114억 원(2026), 5년 수거량 65.6만 t</a:t>
            </a:r>
            <a:endParaRPr lang="en-US" sz="950" dirty="0"/>
          </a:p>
        </p:txBody>
      </p:sp>
      <p:sp>
        <p:nvSpPr>
          <p:cNvPr id="30" name="Text 25"/>
          <p:cNvSpPr txBox="1"/>
          <p:nvPr/>
        </p:nvSpPr>
        <p:spPr>
          <a:xfrm>
            <a:off x="821131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해양수산부 2026.09</a:t>
            </a:r>
            <a:endParaRPr lang="en-US" sz="800" dirty="0"/>
          </a:p>
        </p:txBody>
      </p:sp>
      <p:sp>
        <p:nvSpPr>
          <p:cNvPr id="31"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3DLabs 소개: 인하대 공간정보공학 스핀오프(2011), 위성 지상국·전처리·ARD·드론 영상처리(회사 소개) · 전남도 441억(뉴스핌 2026.03.22) · KOEM 드론·KOEM-ARK(이투데이, 뉴스핌 2026.07.07)</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공동 실증 로드맵 (제안)</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세 단계, 각 단계의 끝에 숫자로 확인할 수 있는 결과를 두었습니다.</a:t>
            </a:r>
            <a:endParaRPr lang="en-US" sz="1400" dirty="0"/>
          </a:p>
        </p:txBody>
      </p:sp>
      <p:sp>
        <p:nvSpPr>
          <p:cNvPr id="4" name="phase 1"/>
          <p:cNvSpPr/>
          <p:nvPr/>
        </p:nvSpPr>
        <p:spPr>
          <a:xfrm>
            <a:off x="54864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phase circle"/>
          <p:cNvSpPr/>
          <p:nvPr/>
        </p:nvSpPr>
        <p:spPr>
          <a:xfrm>
            <a:off x="822960" y="2057400"/>
            <a:ext cx="566928" cy="566928"/>
          </a:xfrm>
          <a:prstGeom prst="ellipse">
            <a:avLst/>
          </a:prstGeom>
          <a:solidFill>
            <a:srgbClr val="0B3C5D"/>
          </a:solidFill>
          <a:ln w="12700">
            <a:solidFill>
              <a:srgbClr val="0B3C5D"/>
            </a:solidFill>
            <a:prstDash val="solid"/>
          </a:ln>
        </p:spPr>
      </p:sp>
      <p:sp>
        <p:nvSpPr>
          <p:cNvPr id="6" name="Text 4"/>
          <p:cNvSpPr txBox="1"/>
          <p:nvPr/>
        </p:nvSpPr>
        <p:spPr>
          <a:xfrm>
            <a:off x="822960" y="20574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554480" y="2075688"/>
            <a:ext cx="2286000" cy="256032"/>
          </a:xfrm>
          <a:prstGeom prst="rect">
            <a:avLst/>
          </a:prstGeom>
          <a:noFill/>
          <a:ln/>
        </p:spPr>
        <p:txBody>
          <a:bodyPr wrap="square" lIns="0" tIns="0" rIns="0" bIns="0" rtlCol="0" anchor="ctr"/>
          <a:lstStyle/>
          <a:p>
            <a:pPr indent="0" marL="0">
              <a:buNone/>
            </a:pPr>
            <a:r>
              <a:rPr lang="en-US" sz="1000" dirty="0">
                <a:solidFill>
                  <a:schemeClr val="accent4"/>
                </a:solidFill>
              </a:rPr>
              <a:t>2026 4분기</a:t>
            </a:r>
            <a:endParaRPr lang="en-US" sz="1000" dirty="0"/>
          </a:p>
        </p:txBody>
      </p:sp>
      <p:sp>
        <p:nvSpPr>
          <p:cNvPr id="8" name="Text 6"/>
          <p:cNvSpPr txBox="1"/>
          <p:nvPr/>
        </p:nvSpPr>
        <p:spPr>
          <a:xfrm>
            <a:off x="1554480" y="2304288"/>
            <a:ext cx="2286000" cy="365760"/>
          </a:xfrm>
          <a:prstGeom prst="rect">
            <a:avLst/>
          </a:prstGeom>
          <a:noFill/>
          <a:ln/>
        </p:spPr>
        <p:txBody>
          <a:bodyPr wrap="square" lIns="0" tIns="0" rIns="0" bIns="0" rtlCol="0" anchor="ctr"/>
          <a:lstStyle/>
          <a:p>
            <a:pPr indent="0" marL="0">
              <a:buNone/>
            </a:pPr>
            <a:r>
              <a:rPr lang="en-US" sz="1500" b="1" dirty="0">
                <a:solidFill>
                  <a:schemeClr val="tx1"/>
                </a:solidFill>
              </a:rPr>
              <a:t>데이터 보정</a:t>
            </a:r>
            <a:endParaRPr lang="en-US" sz="1500" dirty="0"/>
          </a:p>
        </p:txBody>
      </p:sp>
      <p:sp>
        <p:nvSpPr>
          <p:cNvPr id="9" name="Text 7"/>
          <p:cNvSpPr txBox="1"/>
          <p:nvPr/>
        </p:nvSpPr>
        <p:spPr>
          <a:xfrm>
            <a:off x="822960" y="288036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상자 3개 저울 실측 + 3·5·7 m 선회 통제 실험 → 밀도·편향 보정</a:t>
            </a:r>
            <a:endParaRPr lang="en-US" sz="1100" dirty="0"/>
          </a:p>
          <a:p>
            <a:pPr marL="177800" indent="-177800">
              <a:spcAft>
                <a:spcPts val="600"/>
              </a:spcAft>
              <a:buSzPct val="100000"/>
              <a:buChar char="•"/>
            </a:pPr>
            <a:r>
              <a:rPr lang="en-US" sz="1100" dirty="0">
                <a:solidFill>
                  <a:schemeClr val="tx1"/>
                </a:solidFill>
              </a:rPr>
              <a:t>문갑도 핫스팟 30% vs 전체를 같은 날 비행해 라벨로 비교, 국가 모니터링 정점 시계열로 반복성 검증</a:t>
            </a:r>
            <a:endParaRPr lang="en-US" sz="1100" dirty="0"/>
          </a:p>
          <a:p>
            <a:pPr marL="177800" indent="-177800">
              <a:spcAft>
                <a:spcPts val="600"/>
              </a:spcAft>
              <a:buSzPct val="100000"/>
              <a:buChar char="•"/>
            </a:pPr>
            <a:r>
              <a:rPr lang="en-US" sz="1100" dirty="0">
                <a:solidFill>
                  <a:schemeClr val="tx1"/>
                </a:solidFill>
              </a:rPr>
              <a:t>통합 모델 30 에폭 재비교, 위성 ARD 샘플 2~3개 해안으로 형상 점수 vs 실제 패치</a:t>
            </a:r>
            <a:endParaRPr lang="en-US" sz="1100" dirty="0"/>
          </a:p>
        </p:txBody>
      </p:sp>
      <p:sp>
        <p:nvSpPr>
          <p:cNvPr id="10" name="phase output"/>
          <p:cNvSpPr/>
          <p:nvPr/>
        </p:nvSpPr>
        <p:spPr>
          <a:xfrm>
            <a:off x="822960" y="4983480"/>
            <a:ext cx="3017520" cy="685800"/>
          </a:xfrm>
          <a:prstGeom prst="roundRect">
            <a:avLst>
              <a:gd name="adj" fmla="val 10667"/>
            </a:avLst>
          </a:prstGeom>
          <a:solidFill>
            <a:srgbClr val="EEF3F6"/>
          </a:solidFill>
          <a:ln w="12700">
            <a:solidFill>
              <a:srgbClr val="EEF3F6"/>
            </a:solidFill>
            <a:prstDash val="solid"/>
          </a:ln>
        </p:spPr>
      </p:sp>
      <p:sp>
        <p:nvSpPr>
          <p:cNvPr id="11" name="Text 9"/>
          <p:cNvSpPr txBox="1"/>
          <p:nvPr/>
        </p:nvSpPr>
        <p:spPr>
          <a:xfrm>
            <a:off x="960120" y="4983480"/>
            <a:ext cx="2743200" cy="685800"/>
          </a:xfrm>
          <a:prstGeom prst="rect">
            <a:avLst/>
          </a:prstGeom>
          <a:noFill/>
          <a:ln/>
        </p:spPr>
        <p:txBody>
          <a:bodyPr wrap="square" lIns="0" tIns="0" rIns="0" bIns="0" rtlCol="0" anchor="ctr"/>
          <a:lstStyle/>
          <a:p>
            <a:pPr indent="0" marL="0">
              <a:buNone/>
            </a:pPr>
            <a:r>
              <a:rPr lang="en-US" sz="1000" b="1" dirty="0">
                <a:solidFill>
                  <a:schemeClr val="tx2"/>
                </a:solidFill>
              </a:rPr>
              <a:t>산출: 실측 기반 무게 구간, 한국 핫스팟 검증 보고</a:t>
            </a:r>
            <a:endParaRPr lang="en-US" sz="1000" dirty="0"/>
          </a:p>
        </p:txBody>
      </p:sp>
      <p:sp>
        <p:nvSpPr>
          <p:cNvPr id="12" name="phase 2"/>
          <p:cNvSpPr/>
          <p:nvPr/>
        </p:nvSpPr>
        <p:spPr>
          <a:xfrm>
            <a:off x="429768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3" name="phase circle"/>
          <p:cNvSpPr/>
          <p:nvPr/>
        </p:nvSpPr>
        <p:spPr>
          <a:xfrm>
            <a:off x="4572000" y="2057400"/>
            <a:ext cx="566928" cy="566928"/>
          </a:xfrm>
          <a:prstGeom prst="ellipse">
            <a:avLst/>
          </a:prstGeom>
          <a:solidFill>
            <a:srgbClr val="0B3C5D"/>
          </a:solidFill>
          <a:ln w="12700">
            <a:solidFill>
              <a:srgbClr val="0B3C5D"/>
            </a:solidFill>
            <a:prstDash val="solid"/>
          </a:ln>
        </p:spPr>
      </p:sp>
      <p:sp>
        <p:nvSpPr>
          <p:cNvPr id="14" name="Text 12"/>
          <p:cNvSpPr txBox="1"/>
          <p:nvPr/>
        </p:nvSpPr>
        <p:spPr>
          <a:xfrm>
            <a:off x="4572000" y="20574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5" name="Text 13"/>
          <p:cNvSpPr txBox="1"/>
          <p:nvPr/>
        </p:nvSpPr>
        <p:spPr>
          <a:xfrm>
            <a:off x="5303520" y="2075688"/>
            <a:ext cx="2286000" cy="256032"/>
          </a:xfrm>
          <a:prstGeom prst="rect">
            <a:avLst/>
          </a:prstGeom>
          <a:noFill/>
          <a:ln/>
        </p:spPr>
        <p:txBody>
          <a:bodyPr wrap="square" lIns="0" tIns="0" rIns="0" bIns="0" rtlCol="0" anchor="ctr"/>
          <a:lstStyle/>
          <a:p>
            <a:pPr indent="0" marL="0">
              <a:buNone/>
            </a:pPr>
            <a:r>
              <a:rPr lang="en-US" sz="1000" dirty="0">
                <a:solidFill>
                  <a:schemeClr val="accent4"/>
                </a:solidFill>
              </a:rPr>
              <a:t>2027 상반기</a:t>
            </a:r>
            <a:endParaRPr lang="en-US" sz="1000" dirty="0"/>
          </a:p>
        </p:txBody>
      </p:sp>
      <p:sp>
        <p:nvSpPr>
          <p:cNvPr id="16" name="Text 14"/>
          <p:cNvSpPr txBox="1"/>
          <p:nvPr/>
        </p:nvSpPr>
        <p:spPr>
          <a:xfrm>
            <a:off x="5303520" y="2304288"/>
            <a:ext cx="2286000" cy="365760"/>
          </a:xfrm>
          <a:prstGeom prst="rect">
            <a:avLst/>
          </a:prstGeom>
          <a:noFill/>
          <a:ln/>
        </p:spPr>
        <p:txBody>
          <a:bodyPr wrap="square" lIns="0" tIns="0" rIns="0" bIns="0" rtlCol="0" anchor="ctr"/>
          <a:lstStyle/>
          <a:p>
            <a:pPr indent="0" marL="0">
              <a:buNone/>
            </a:pPr>
            <a:r>
              <a:rPr lang="en-US" sz="1500" b="1" dirty="0">
                <a:solidFill>
                  <a:schemeClr val="tx1"/>
                </a:solidFill>
              </a:rPr>
              <a:t>지자체 시범</a:t>
            </a:r>
            <a:endParaRPr lang="en-US" sz="1500" dirty="0"/>
          </a:p>
        </p:txBody>
      </p:sp>
      <p:sp>
        <p:nvSpPr>
          <p:cNvPr id="17" name="Text 15"/>
          <p:cNvSpPr txBox="1"/>
          <p:nvPr/>
        </p:nvSpPr>
        <p:spPr>
          <a:xfrm>
            <a:off x="4572000" y="288036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시군 1곳(인천 옹진 또는 전남 도서) 해안 3구간, 2회 이상 반복 비행</a:t>
            </a:r>
            <a:endParaRPr lang="en-US" sz="1100" dirty="0"/>
          </a:p>
          <a:p>
            <a:pPr marL="177800" indent="-177800">
              <a:spcAft>
                <a:spcPts val="600"/>
              </a:spcAft>
              <a:buSzPct val="100000"/>
              <a:buChar char="•"/>
            </a:pPr>
            <a:r>
              <a:rPr lang="en-US" sz="1100" dirty="0">
                <a:solidFill>
                  <a:schemeClr val="tx1"/>
                </a:solidFill>
              </a:rPr>
              <a:t>실측 해류(KHOA·KOOS) 교체, RTK 또는 기준 표식 도입</a:t>
            </a:r>
            <a:endParaRPr lang="en-US" sz="1100" dirty="0"/>
          </a:p>
          <a:p>
            <a:pPr marL="177800" indent="-177800">
              <a:spcAft>
                <a:spcPts val="600"/>
              </a:spcAft>
              <a:buSzPct val="100000"/>
              <a:buChar char="•"/>
            </a:pPr>
            <a:r>
              <a:rPr lang="en-US" sz="1100" dirty="0">
                <a:solidFill>
                  <a:schemeClr val="tx1"/>
                </a:solidFill>
              </a:rPr>
              <a:t>비행 1회 → 작업카드 → 실제 수거량·마대·트럭과 대조</a:t>
            </a:r>
            <a:endParaRPr lang="en-US" sz="1100" dirty="0"/>
          </a:p>
        </p:txBody>
      </p:sp>
      <p:sp>
        <p:nvSpPr>
          <p:cNvPr id="18" name="phase output"/>
          <p:cNvSpPr/>
          <p:nvPr/>
        </p:nvSpPr>
        <p:spPr>
          <a:xfrm>
            <a:off x="4572000" y="4983480"/>
            <a:ext cx="3017520" cy="685800"/>
          </a:xfrm>
          <a:prstGeom prst="roundRect">
            <a:avLst>
              <a:gd name="adj" fmla="val 10667"/>
            </a:avLst>
          </a:prstGeom>
          <a:solidFill>
            <a:srgbClr val="EEF3F6"/>
          </a:solidFill>
          <a:ln w="12700">
            <a:solidFill>
              <a:srgbClr val="EEF3F6"/>
            </a:solidFill>
            <a:prstDash val="solid"/>
          </a:ln>
        </p:spPr>
      </p:sp>
      <p:sp>
        <p:nvSpPr>
          <p:cNvPr id="19" name="Text 17"/>
          <p:cNvSpPr txBox="1"/>
          <p:nvPr/>
        </p:nvSpPr>
        <p:spPr>
          <a:xfrm>
            <a:off x="4709160" y="4983480"/>
            <a:ext cx="2743200" cy="685800"/>
          </a:xfrm>
          <a:prstGeom prst="rect">
            <a:avLst/>
          </a:prstGeom>
          <a:noFill/>
          <a:ln/>
        </p:spPr>
        <p:txBody>
          <a:bodyPr wrap="square" lIns="0" tIns="0" rIns="0" bIns="0" rtlCol="0" anchor="ctr"/>
          <a:lstStyle/>
          <a:p>
            <a:pPr indent="0" marL="0">
              <a:buNone/>
            </a:pPr>
            <a:r>
              <a:rPr lang="en-US" sz="1000" b="1" dirty="0">
                <a:solidFill>
                  <a:schemeClr val="tx2"/>
                </a:solidFill>
              </a:rPr>
              <a:t>산출: 추정 vs 실제 수거량 오차, 마대·트럭 적중률</a:t>
            </a:r>
            <a:endParaRPr lang="en-US" sz="1000" dirty="0"/>
          </a:p>
        </p:txBody>
      </p:sp>
      <p:sp>
        <p:nvSpPr>
          <p:cNvPr id="20" name="phase 3"/>
          <p:cNvSpPr/>
          <p:nvPr/>
        </p:nvSpPr>
        <p:spPr>
          <a:xfrm>
            <a:off x="804672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1" name="phase circle"/>
          <p:cNvSpPr/>
          <p:nvPr/>
        </p:nvSpPr>
        <p:spPr>
          <a:xfrm>
            <a:off x="8321040" y="2057400"/>
            <a:ext cx="566928" cy="566928"/>
          </a:xfrm>
          <a:prstGeom prst="ellipse">
            <a:avLst/>
          </a:prstGeom>
          <a:solidFill>
            <a:srgbClr val="F26B21"/>
          </a:solidFill>
          <a:ln w="12700">
            <a:solidFill>
              <a:srgbClr val="F26B21"/>
            </a:solidFill>
            <a:prstDash val="solid"/>
          </a:ln>
        </p:spPr>
      </p:sp>
      <p:sp>
        <p:nvSpPr>
          <p:cNvPr id="22" name="Text 20"/>
          <p:cNvSpPr txBox="1"/>
          <p:nvPr/>
        </p:nvSpPr>
        <p:spPr>
          <a:xfrm>
            <a:off x="8321040" y="205740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1"/>
          <p:cNvSpPr txBox="1"/>
          <p:nvPr/>
        </p:nvSpPr>
        <p:spPr>
          <a:xfrm>
            <a:off x="9052560" y="2075688"/>
            <a:ext cx="2286000" cy="256032"/>
          </a:xfrm>
          <a:prstGeom prst="rect">
            <a:avLst/>
          </a:prstGeom>
          <a:noFill/>
          <a:ln/>
        </p:spPr>
        <p:txBody>
          <a:bodyPr wrap="square" lIns="0" tIns="0" rIns="0" bIns="0" rtlCol="0" anchor="ctr"/>
          <a:lstStyle/>
          <a:p>
            <a:pPr indent="0" marL="0">
              <a:buNone/>
            </a:pPr>
            <a:r>
              <a:rPr lang="en-US" sz="1000" dirty="0">
                <a:solidFill>
                  <a:schemeClr val="accent4"/>
                </a:solidFill>
              </a:rPr>
              <a:t>2027 하반기</a:t>
            </a:r>
            <a:endParaRPr lang="en-US" sz="1000" dirty="0"/>
          </a:p>
        </p:txBody>
      </p:sp>
      <p:sp>
        <p:nvSpPr>
          <p:cNvPr id="24" name="Text 22"/>
          <p:cNvSpPr txBox="1"/>
          <p:nvPr/>
        </p:nvSpPr>
        <p:spPr>
          <a:xfrm>
            <a:off x="9052560" y="2304288"/>
            <a:ext cx="2286000" cy="365760"/>
          </a:xfrm>
          <a:prstGeom prst="rect">
            <a:avLst/>
          </a:prstGeom>
          <a:noFill/>
          <a:ln/>
        </p:spPr>
        <p:txBody>
          <a:bodyPr wrap="square" lIns="0" tIns="0" rIns="0" bIns="0" rtlCol="0" anchor="ctr"/>
          <a:lstStyle/>
          <a:p>
            <a:pPr indent="0" marL="0">
              <a:buNone/>
            </a:pPr>
            <a:r>
              <a:rPr lang="en-US" sz="1500" b="1" dirty="0">
                <a:solidFill>
                  <a:schemeClr val="tx1"/>
                </a:solidFill>
              </a:rPr>
              <a:t>위성 결합 · 상용</a:t>
            </a:r>
            <a:endParaRPr lang="en-US" sz="1500" dirty="0"/>
          </a:p>
        </p:txBody>
      </p:sp>
      <p:sp>
        <p:nvSpPr>
          <p:cNvPr id="25" name="Text 23"/>
          <p:cNvSpPr txBox="1"/>
          <p:nvPr/>
        </p:nvSpPr>
        <p:spPr>
          <a:xfrm>
            <a:off x="8321040" y="288036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위성 변화 탐지로 비행 시점·구간 자동 추천</a:t>
            </a:r>
            <a:endParaRPr lang="en-US" sz="1100" dirty="0"/>
          </a:p>
          <a:p>
            <a:pPr marL="177800" indent="-177800">
              <a:spcAft>
                <a:spcPts val="600"/>
              </a:spcAft>
              <a:buSzPct val="100000"/>
              <a:buChar char="•"/>
            </a:pPr>
            <a:r>
              <a:rPr lang="en-US" sz="1100" dirty="0">
                <a:solidFill>
                  <a:schemeClr val="tx1"/>
                </a:solidFill>
              </a:rPr>
              <a:t>KOEM 2개월 모니터링과 연동한 반복 조사 상품(이력 갱신)</a:t>
            </a:r>
            <a:endParaRPr lang="en-US" sz="1100" dirty="0"/>
          </a:p>
          <a:p>
            <a:pPr marL="177800" indent="-177800">
              <a:spcAft>
                <a:spcPts val="600"/>
              </a:spcAft>
              <a:buSzPct val="100000"/>
              <a:buChar char="•"/>
            </a:pPr>
            <a:r>
              <a:rPr lang="en-US" sz="1100" dirty="0">
                <a:solidFill>
                  <a:schemeClr val="tx1"/>
                </a:solidFill>
              </a:rPr>
              <a:t>B2G 플랫폼 활용 분야에 '해안쓰레기' 추가</a:t>
            </a:r>
            <a:endParaRPr lang="en-US" sz="1100" dirty="0"/>
          </a:p>
        </p:txBody>
      </p:sp>
      <p:sp>
        <p:nvSpPr>
          <p:cNvPr id="26" name="phase output"/>
          <p:cNvSpPr/>
          <p:nvPr/>
        </p:nvSpPr>
        <p:spPr>
          <a:xfrm>
            <a:off x="8321040" y="4983480"/>
            <a:ext cx="3017520" cy="685800"/>
          </a:xfrm>
          <a:prstGeom prst="roundRect">
            <a:avLst>
              <a:gd name="adj" fmla="val 10667"/>
            </a:avLst>
          </a:prstGeom>
          <a:solidFill>
            <a:srgbClr val="EEF3F6"/>
          </a:solidFill>
          <a:ln w="12700">
            <a:solidFill>
              <a:srgbClr val="EEF3F6"/>
            </a:solidFill>
            <a:prstDash val="solid"/>
          </a:ln>
        </p:spPr>
      </p:sp>
      <p:sp>
        <p:nvSpPr>
          <p:cNvPr id="27" name="Text 25"/>
          <p:cNvSpPr txBox="1"/>
          <p:nvPr/>
        </p:nvSpPr>
        <p:spPr>
          <a:xfrm>
            <a:off x="8458200" y="4983480"/>
            <a:ext cx="2743200" cy="685800"/>
          </a:xfrm>
          <a:prstGeom prst="rect">
            <a:avLst/>
          </a:prstGeom>
          <a:noFill/>
          <a:ln/>
        </p:spPr>
        <p:txBody>
          <a:bodyPr wrap="square" lIns="0" tIns="0" rIns="0" bIns="0" rtlCol="0" anchor="ctr"/>
          <a:lstStyle/>
          <a:p>
            <a:pPr indent="0" marL="0">
              <a:buNone/>
            </a:pPr>
            <a:r>
              <a:rPr lang="en-US" sz="1000" b="1" dirty="0">
                <a:solidFill>
                  <a:schemeClr val="tx2"/>
                </a:solidFill>
              </a:rPr>
              <a:t>산출: 구독형 수거계획 서비스, 레퍼런스 1곳</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함께 검증하고 싶은 것</a:t>
            </a:r>
            <a:endParaRPr lang="en-US" sz="2800" dirty="0"/>
          </a:p>
        </p:txBody>
      </p:sp>
      <p:sp>
        <p:nvSpPr>
          <p:cNvPr id="3" name="Text 1"/>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5"/>
                </a:solidFill>
              </a:rPr>
              <a:t>세 가지를 요청드립니다. 모두 1단계(2026 4분기) 안에 결과를 숫자로 돌려드릴 수 있는 범위입니다.</a:t>
            </a:r>
            <a:endParaRPr lang="en-US" sz="1400" dirty="0"/>
          </a:p>
        </p:txBody>
      </p:sp>
      <p:sp>
        <p:nvSpPr>
          <p:cNvPr id="4" name="card 위성 ARD 샘플"/>
          <p:cNvSpPr/>
          <p:nvPr/>
        </p:nvSpPr>
        <p:spPr>
          <a:xfrm>
            <a:off x="548640" y="1783080"/>
            <a:ext cx="3566160" cy="2743200"/>
          </a:xfrm>
          <a:prstGeom prst="roundRect">
            <a:avLst>
              <a:gd name="adj" fmla="val 4000"/>
            </a:avLst>
          </a:prstGeom>
          <a:solidFill>
            <a:srgbClr val="124A6E"/>
          </a:solidFill>
          <a:ln w="12700">
            <a:solidFill>
              <a:srgbClr val="124A6E"/>
            </a:solidFill>
            <a:prstDash val="solid"/>
          </a:ln>
        </p:spPr>
      </p:sp>
      <p:sp>
        <p:nvSpPr>
          <p:cNvPr id="5" name="icon circle"/>
          <p:cNvSpPr/>
          <p:nvPr/>
        </p:nvSpPr>
        <p:spPr>
          <a:xfrm>
            <a:off x="822960" y="2039112"/>
            <a:ext cx="566928" cy="566928"/>
          </a:xfrm>
          <a:prstGeom prst="ellipse">
            <a:avLst/>
          </a:prstGeom>
          <a:solidFill>
            <a:srgbClr val="F26B21"/>
          </a:solidFill>
          <a:ln w="12700">
            <a:solidFill>
              <a:srgbClr val="F26B21"/>
            </a:solidFill>
            <a:prstDash val="solid"/>
          </a:ln>
        </p:spPr>
      </p:sp>
      <p:pic>
        <p:nvPicPr>
          <p:cNvPr id="6" name="icon FaDatabas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3017520" cy="384048"/>
          </a:xfrm>
          <a:prstGeom prst="rect">
            <a:avLst/>
          </a:prstGeom>
          <a:noFill/>
          <a:ln/>
        </p:spPr>
        <p:txBody>
          <a:bodyPr wrap="square" lIns="0" tIns="0" rIns="0" bIns="0" rtlCol="0" anchor="t"/>
          <a:lstStyle/>
          <a:p>
            <a:pPr indent="0" marL="0">
              <a:buNone/>
            </a:pPr>
            <a:r>
              <a:rPr lang="en-US" sz="1500" b="1" dirty="0">
                <a:solidFill>
                  <a:schemeClr val="bg1"/>
                </a:solidFill>
              </a:rPr>
              <a:t>위성 ARD 샘플</a:t>
            </a:r>
            <a:endParaRPr lang="en-US" sz="1500" dirty="0"/>
          </a:p>
        </p:txBody>
      </p:sp>
      <p:sp>
        <p:nvSpPr>
          <p:cNvPr id="8" name="Text 5"/>
          <p:cNvSpPr txBox="1"/>
          <p:nvPr/>
        </p:nvSpPr>
        <p:spPr>
          <a:xfrm>
            <a:off x="822960" y="3209544"/>
            <a:ext cx="3017520" cy="118872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대상 해안 2~3곳(인천·강화 도서 또는 전남 도서)의 정사영상·시계열. 해안선 갱신과 형상 점수의 입력으로 쓰고 실제 패치와 대조합니다.</a:t>
            </a:r>
            <a:endParaRPr lang="en-US" sz="1200" dirty="0"/>
          </a:p>
        </p:txBody>
      </p:sp>
      <p:sp>
        <p:nvSpPr>
          <p:cNvPr id="9" name="card 시범 지자체 소개"/>
          <p:cNvSpPr/>
          <p:nvPr/>
        </p:nvSpPr>
        <p:spPr>
          <a:xfrm>
            <a:off x="4297680" y="1783080"/>
            <a:ext cx="3566160" cy="2743200"/>
          </a:xfrm>
          <a:prstGeom prst="roundRect">
            <a:avLst>
              <a:gd name="adj" fmla="val 4000"/>
            </a:avLst>
          </a:prstGeom>
          <a:solidFill>
            <a:srgbClr val="124A6E"/>
          </a:solidFill>
          <a:ln w="12700">
            <a:solidFill>
              <a:srgbClr val="124A6E"/>
            </a:solidFill>
            <a:prstDash val="solid"/>
          </a:ln>
        </p:spPr>
      </p:sp>
      <p:sp>
        <p:nvSpPr>
          <p:cNvPr id="10" name="icon circle"/>
          <p:cNvSpPr/>
          <p:nvPr/>
        </p:nvSpPr>
        <p:spPr>
          <a:xfrm>
            <a:off x="4572000" y="2039112"/>
            <a:ext cx="566928" cy="566928"/>
          </a:xfrm>
          <a:prstGeom prst="ellipse">
            <a:avLst/>
          </a:prstGeom>
          <a:solidFill>
            <a:srgbClr val="F26B21"/>
          </a:solidFill>
          <a:ln w="12700">
            <a:solidFill>
              <a:srgbClr val="F26B21"/>
            </a:solidFill>
            <a:prstDash val="solid"/>
          </a:ln>
        </p:spPr>
      </p:sp>
      <p:pic>
        <p:nvPicPr>
          <p:cNvPr id="11" name="icon FaHandshake" descr="preencoded.png">    </p:cNvPr>
          <p:cNvPicPr>
            <a:picLocks noChangeAspect="1"/>
          </p:cNvPicPr>
          <p:nvPr/>
        </p:nvPicPr>
        <p:blipFill>
          <a:blip r:embed="rId2"/>
          <a:stretch>
            <a:fillRect/>
          </a:stretch>
        </p:blipFill>
        <p:spPr>
          <a:xfrm>
            <a:off x="4709160" y="2176272"/>
            <a:ext cx="292608" cy="292608"/>
          </a:xfrm>
          <a:prstGeom prst="rect">
            <a:avLst/>
          </a:prstGeom>
        </p:spPr>
      </p:pic>
      <p:sp>
        <p:nvSpPr>
          <p:cNvPr id="12" name="Text 8"/>
          <p:cNvSpPr txBox="1"/>
          <p:nvPr/>
        </p:nvSpPr>
        <p:spPr>
          <a:xfrm>
            <a:off x="4572000" y="2770632"/>
            <a:ext cx="3017520" cy="384048"/>
          </a:xfrm>
          <a:prstGeom prst="rect">
            <a:avLst/>
          </a:prstGeom>
          <a:noFill/>
          <a:ln/>
        </p:spPr>
        <p:txBody>
          <a:bodyPr wrap="square" lIns="0" tIns="0" rIns="0" bIns="0" rtlCol="0" anchor="t"/>
          <a:lstStyle/>
          <a:p>
            <a:pPr indent="0" marL="0">
              <a:buNone/>
            </a:pPr>
            <a:r>
              <a:rPr lang="en-US" sz="1500" b="1" dirty="0">
                <a:solidFill>
                  <a:schemeClr val="bg1"/>
                </a:solidFill>
              </a:rPr>
              <a:t>시범 지자체 소개</a:t>
            </a:r>
            <a:endParaRPr lang="en-US" sz="1500" dirty="0"/>
          </a:p>
        </p:txBody>
      </p:sp>
      <p:sp>
        <p:nvSpPr>
          <p:cNvPr id="13" name="Text 9"/>
          <p:cNvSpPr txBox="1"/>
          <p:nvPr/>
        </p:nvSpPr>
        <p:spPr>
          <a:xfrm>
            <a:off x="4572000" y="3209544"/>
            <a:ext cx="3017520" cy="118872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B2G 채널로 연결된 시군 1곳. 비행 1회로 작업카드를 내고 실제 수거량·마대·트럭과 대조합니다.</a:t>
            </a:r>
            <a:endParaRPr lang="en-US" sz="1200" dirty="0"/>
          </a:p>
        </p:txBody>
      </p:sp>
      <p:sp>
        <p:nvSpPr>
          <p:cNvPr id="14" name="card 데이터 연동 규격 협의"/>
          <p:cNvSpPr/>
          <p:nvPr/>
        </p:nvSpPr>
        <p:spPr>
          <a:xfrm>
            <a:off x="8046720" y="1783080"/>
            <a:ext cx="3566160" cy="2743200"/>
          </a:xfrm>
          <a:prstGeom prst="roundRect">
            <a:avLst>
              <a:gd name="adj" fmla="val 4000"/>
            </a:avLst>
          </a:prstGeom>
          <a:solidFill>
            <a:srgbClr val="124A6E"/>
          </a:solidFill>
          <a:ln w="12700">
            <a:solidFill>
              <a:srgbClr val="124A6E"/>
            </a:solidFill>
            <a:prstDash val="solid"/>
          </a:ln>
        </p:spPr>
      </p:sp>
      <p:sp>
        <p:nvSpPr>
          <p:cNvPr id="15" name="icon circle"/>
          <p:cNvSpPr/>
          <p:nvPr/>
        </p:nvSpPr>
        <p:spPr>
          <a:xfrm>
            <a:off x="8321040" y="2039112"/>
            <a:ext cx="566928" cy="566928"/>
          </a:xfrm>
          <a:prstGeom prst="ellipse">
            <a:avLst/>
          </a:prstGeom>
          <a:solidFill>
            <a:srgbClr val="F26B21"/>
          </a:solidFill>
          <a:ln w="12700">
            <a:solidFill>
              <a:srgbClr val="F26B21"/>
            </a:solidFill>
            <a:prstDash val="solid"/>
          </a:ln>
        </p:spPr>
      </p:sp>
      <p:pic>
        <p:nvPicPr>
          <p:cNvPr id="16" name="icon FaLayerGroup" descr="preencoded.png">    </p:cNvPr>
          <p:cNvPicPr>
            <a:picLocks noChangeAspect="1"/>
          </p:cNvPicPr>
          <p:nvPr/>
        </p:nvPicPr>
        <p:blipFill>
          <a:blip r:embed="rId3"/>
          <a:stretch>
            <a:fillRect/>
          </a:stretch>
        </p:blipFill>
        <p:spPr>
          <a:xfrm>
            <a:off x="8458200" y="2176272"/>
            <a:ext cx="292608" cy="292608"/>
          </a:xfrm>
          <a:prstGeom prst="rect">
            <a:avLst/>
          </a:prstGeom>
        </p:spPr>
      </p:pic>
      <p:sp>
        <p:nvSpPr>
          <p:cNvPr id="17" name="Text 12"/>
          <p:cNvSpPr txBox="1"/>
          <p:nvPr/>
        </p:nvSpPr>
        <p:spPr>
          <a:xfrm>
            <a:off x="8321040" y="2770632"/>
            <a:ext cx="3017520" cy="384048"/>
          </a:xfrm>
          <a:prstGeom prst="rect">
            <a:avLst/>
          </a:prstGeom>
          <a:noFill/>
          <a:ln/>
        </p:spPr>
        <p:txBody>
          <a:bodyPr wrap="square" lIns="0" tIns="0" rIns="0" bIns="0" rtlCol="0" anchor="t"/>
          <a:lstStyle/>
          <a:p>
            <a:pPr indent="0" marL="0">
              <a:buNone/>
            </a:pPr>
            <a:r>
              <a:rPr lang="en-US" sz="1500" b="1" dirty="0">
                <a:solidFill>
                  <a:schemeClr val="bg1"/>
                </a:solidFill>
              </a:rPr>
              <a:t>데이터 연동 규격 협의</a:t>
            </a:r>
            <a:endParaRPr lang="en-US" sz="1500" dirty="0"/>
          </a:p>
        </p:txBody>
      </p:sp>
      <p:sp>
        <p:nvSpPr>
          <p:cNvPr id="18" name="Text 13"/>
          <p:cNvSpPr txBox="1"/>
          <p:nvPr/>
        </p:nvSpPr>
        <p:spPr>
          <a:xfrm>
            <a:off x="8321040" y="3209544"/>
            <a:ext cx="3017520" cy="118872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ARD → 핫스팟 사전값 입력, 드론 결과(GeoJSON·CSV·작업카드) → 플랫폼 활용 분야 등록. 양방향 포맷을 먼저 맞춥니다.</a:t>
            </a:r>
            <a:endParaRPr lang="en-US" sz="1200" dirty="0"/>
          </a:p>
        </p:txBody>
      </p:sp>
      <p:sp>
        <p:nvSpPr>
          <p:cNvPr id="19" name="closing"/>
          <p:cNvSpPr/>
          <p:nvPr/>
        </p:nvSpPr>
        <p:spPr>
          <a:xfrm>
            <a:off x="548640" y="4754880"/>
            <a:ext cx="11091672" cy="1143000"/>
          </a:xfrm>
          <a:prstGeom prst="roundRect">
            <a:avLst>
              <a:gd name="adj" fmla="val 9600"/>
            </a:avLst>
          </a:prstGeom>
          <a:solidFill>
            <a:srgbClr val="F26B21"/>
          </a:solidFill>
          <a:ln w="12700">
            <a:solidFill>
              <a:srgbClr val="F26B21"/>
            </a:solidFill>
            <a:prstDash val="solid"/>
          </a:ln>
        </p:spPr>
      </p:sp>
      <p:sp>
        <p:nvSpPr>
          <p:cNvPr id="20" name="Text 15"/>
          <p:cNvSpPr txBox="1"/>
          <p:nvPr/>
        </p:nvSpPr>
        <p:spPr>
          <a:xfrm>
            <a:off x="868680" y="4754880"/>
            <a:ext cx="10424160" cy="731520"/>
          </a:xfrm>
          <a:prstGeom prst="rect">
            <a:avLst/>
          </a:prstGeom>
          <a:noFill/>
          <a:ln/>
        </p:spPr>
        <p:txBody>
          <a:bodyPr wrap="square" lIns="0" tIns="0" rIns="0" bIns="0" rtlCol="0" anchor="ctr"/>
          <a:lstStyle/>
          <a:p>
            <a:pPr indent="0" marL="0">
              <a:buNone/>
            </a:pPr>
            <a:r>
              <a:rPr lang="en-US" sz="1700" b="1" dirty="0">
                <a:solidFill>
                  <a:schemeClr val="bg1"/>
                </a:solidFill>
              </a:rPr>
              <a:t>추정이 틀리면 배차가 틀린다.  위성이 넓게 보고, 드론이 자세히 재면, 지자체는 맞게 배차할 수 있습니다.</a:t>
            </a:r>
            <a:endParaRPr lang="en-US" sz="1700" dirty="0"/>
          </a:p>
        </p:txBody>
      </p:sp>
      <p:sp>
        <p:nvSpPr>
          <p:cNvPr id="21" name="Text 16"/>
          <p:cNvSpPr txBox="1"/>
          <p:nvPr/>
        </p:nvSpPr>
        <p:spPr>
          <a:xfrm>
            <a:off x="868680" y="5440680"/>
            <a:ext cx="10424160" cy="365760"/>
          </a:xfrm>
          <a:prstGeom prst="rect">
            <a:avLst/>
          </a:prstGeom>
          <a:noFill/>
          <a:ln/>
        </p:spPr>
        <p:txBody>
          <a:bodyPr wrap="square" lIns="0" tIns="0" rIns="0" bIns="0" rtlCol="0" anchor="ctr"/>
          <a:lstStyle/>
          <a:p>
            <a:pPr indent="0" marL="0">
              <a:buNone/>
            </a:pPr>
            <a:r>
              <a:rPr lang="en-US" sz="1050" dirty="0">
                <a:solidFill>
                  <a:schemeClr val="bg1"/>
                </a:solidFill>
              </a:rPr>
              <a:t>드론대장 붕붕이 · 저장소 dohun415/aerodrone_hackathon, HSR2M/hsr1m · 발표 사이트: 한 페이지 스크롤 버전 별도 제공</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Bungbungi Ocean">
  <a:themeElements>
    <a:clrScheme name="Bungbungi Ocean">
      <a:dk1>
        <a:srgbClr val="10212E"/>
      </a:dk1>
      <a:lt1>
        <a:srgbClr val="FFFFFF"/>
      </a:lt1>
      <a:dk2>
        <a:srgbClr val="0B3C5D"/>
      </a:dk2>
      <a:lt2>
        <a:srgbClr val="EEF3F6"/>
      </a:lt2>
      <a:accent1>
        <a:srgbClr val="0B3C5D"/>
      </a:accent1>
      <a:accent2>
        <a:srgbClr val="F26B21"/>
      </a:accent2>
      <a:accent3>
        <a:srgbClr val="1C7293"/>
      </a:accent3>
      <a:accent4>
        <a:srgbClr val="6F8794"/>
      </a:accent4>
      <a:accent5>
        <a:srgbClr val="D5DEE4"/>
      </a:accent5>
      <a:accent6>
        <a:srgbClr val="FFD9C2"/>
      </a:accent6>
      <a:hlink>
        <a:srgbClr val="1C7293"/>
      </a:hlink>
      <a:folHlink>
        <a:srgbClr val="6F8794"/>
      </a:folHlink>
    </a:clrScheme>
    <a:fontScheme name="Bungbungi Ocean">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추정이 틀리면 배차가 틀린다 — 드론 기반 해안쓰레기 측정·수거계획 플랫폼</dc:title>
  <dc:subject>PptxGenJS Presentation</dc:subject>
  <dc:creator>드론대장 붕붕이</dc:creator>
  <cp:lastModifiedBy>드론대장 붕붕이</cp:lastModifiedBy>
  <cp:revision>1</cp:revision>
  <dcterms:created xsi:type="dcterms:W3CDTF">2026-10-01T23:28:02Z</dcterms:created>
  <dcterms:modified xsi:type="dcterms:W3CDTF">2026-10-01T23:28:02Z</dcterms:modified>
</cp:coreProperties>
</file>