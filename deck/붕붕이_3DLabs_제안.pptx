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5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6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1783f3ce-f275-9c60-9d6d-6c726a9070c0}">
          <p14:sldIdLst>
            <p14:sldId id="256"/>
            <p14:sldId id="257"/>
          </p14:sldIdLst>
        </p14:section>
        <p14:section name="01 현황과 문제" id="{4e689ffd-a667-ce54-ca1f-1815c6dc9d21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02 솔루션" id="{52865f08-4acf-b8d6-22ba-084b6b1651c1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03 검증" id="{89d6884c-ab15-1a34-60e4-e050a15f8447}">
          <p14:sldIdLst>
            <p14:sldId id="272"/>
            <p14:sldId id="273"/>
            <p14:sldId id="274"/>
          </p14:sldIdLst>
        </p14:section>
        <p14:section name="04 제안" id="{cd68ef3e-6f21-598d-4060-9ff436e43958}">
          <p14:sldIdLst>
            <p14:sldId id="275"/>
            <p14:sldId id="276"/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수거량(t)</c:v>
                </c:pt>
              </c:strCache>
            </c:strRef>
          </c:tx>
          <c:spPr>
            <a:solidFill>
              <a:srgbClr val="0B3C5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021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120736</c:v>
                </c:pt>
                <c:pt idx="1">
                  <c:v>126035</c:v>
                </c:pt>
                <c:pt idx="2">
                  <c:v>131931</c:v>
                </c:pt>
                <c:pt idx="3">
                  <c:v>132686</c:v>
                </c:pt>
                <c:pt idx="4">
                  <c:v>144615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021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879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000"/>
          <c:min val="0"/>
        </c:scaling>
        <c:delete val="0"/>
        <c:axPos val="l"/>
        <c:majorGridlines>
          <c:spPr>
            <a:ln w="6350" cap="flat">
              <a:solidFill>
                <a:srgbClr val="DDE3E8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F8794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수거량(t)</c:v>
                </c:pt>
              </c:strCache>
            </c:strRef>
          </c:tx>
          <c:spPr>
            <a:solidFill>
              <a:srgbClr val="0B3C5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021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해안쓰레기</c:v>
                  </c:pt>
                  <c:pt idx="1">
                    <c:v>침적쓰레기</c:v>
                  </c:pt>
                  <c:pt idx="2">
                    <c:v>부유쓰레기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499934</c:v>
                </c:pt>
                <c:pt idx="1">
                  <c:v>119521</c:v>
                </c:pt>
                <c:pt idx="2">
                  <c:v>36548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021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879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0000"/>
          <c:min val="0"/>
        </c:scaling>
        <c:delete val="0"/>
        <c:axPos val="b"/>
        <c:majorGridlines>
          <c:spPr>
            <a:ln w="6350" cap="flat">
              <a:solidFill>
                <a:srgbClr val="DDE3E8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F8794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무게(kg)</c:v>
                </c:pt>
              </c:strCache>
            </c:strRef>
          </c:tx>
          <c:spPr>
            <a:solidFill>
              <a:srgbClr val="F26B2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021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업체 품목 계수</c:v>
                  </c:pt>
                  <c:pt idx="1">
                    <c:v>3D 부피 × 겉보기밀도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1.3</c:v>
                </c:pt>
                <c:pt idx="1">
                  <c:v>101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021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879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b"/>
        <c:majorGridlines>
          <c:spPr>
            <a:ln w="6350" cap="flat">
              <a:solidFill>
                <a:srgbClr val="DDE3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F8794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점수</c:v>
                </c:pt>
              </c:strCache>
            </c:strRef>
          </c:tx>
          <c:spPr>
            <a:solidFill>
              <a:srgbClr val="0B3C5D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021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김포 서안(한강하구)</c:v>
                  </c:pt>
                  <c:pt idx="1">
                    <c:v>강화 북안(조강 연안)</c:v>
                  </c:pt>
                  <c:pt idx="2">
                    <c:v>소래·시흥 연안</c:v>
                  </c:pt>
                  <c:pt idx="3">
                    <c:v>강화 동안(염하수로)</c:v>
                  </c:pt>
                  <c:pt idx="4">
                    <c:v>인천 북항·연안부두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162.7</c:v>
                </c:pt>
                <c:pt idx="1">
                  <c:v>150.4</c:v>
                </c:pt>
                <c:pt idx="2">
                  <c:v>118.6</c:v>
                </c:pt>
                <c:pt idx="3">
                  <c:v>115.8</c:v>
                </c:pt>
                <c:pt idx="4">
                  <c:v>107.3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1021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F879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F8794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EEF3F6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재현율</c:v>
                </c:pt>
              </c:strCache>
            </c:strRef>
          </c:tx>
          <c:spPr>
            <a:solidFill>
              <a:srgbClr val="0B3C5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021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커버리지만</c:v>
                  </c:pt>
                  <c:pt idx="1">
                    <c:v>커버리지 + 재방문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0.71</c:v>
                </c:pt>
                <c:pt idx="1">
                  <c:v>0.86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021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F879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DDE3E8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F8794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부피 오차(%)</c:v>
                </c:pt>
              </c:strCache>
            </c:strRef>
          </c:tx>
          <c:spPr>
            <a:solidFill>
              <a:srgbClr val="0B3C5D"/>
            </a:solidFill>
            <a:effectLst/>
          </c:spPr>
          <c:invertIfNegative val="0"/>
          <c:dLbls>
            <c:numFmt formatCode="+0;-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021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물체 1</c:v>
                  </c:pt>
                  <c:pt idx="1">
                    <c:v>물체 2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-3</c:v>
                </c:pt>
                <c:pt idx="1">
                  <c:v>19</c:v>
                </c:pt>
              </c:numCache>
            </c:numRef>
          </c:val>
        </c:ser>
        <c:dLbls>
          <c:numFmt formatCode="+0;-0" sourceLinked="0"/>
          <c:txPr>
            <a:bodyPr/>
            <a:lstStyle/>
            <a:p>
              <a:pPr>
                <a:defRPr b="0" i="0" strike="noStrike" sz="1000" u="none">
                  <a:solidFill>
                    <a:srgbClr val="1021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6F879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  <c:min val="-30"/>
        </c:scaling>
        <c:delete val="0"/>
        <c:axPos val="l"/>
        <c:majorGridlines>
          <c:spPr>
            <a:ln w="6350" cap="flat">
              <a:solidFill>
                <a:srgbClr val="DDE3E8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F8794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한 문장: 수거계획의 입력(무게·위치)이 지금은 수십 배씩 틀리고, 우리는 그 입력을 예측구간과 함께 제공한다.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4블록으로 전체 흐름. 각 블록은 뒤에서 한 장 이상으로 풀린다.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수거량 증가는 문제가 커지는 신호이자 시장 신호. 2025년 수거량이 연간 발생량과 같아져 현존량은 제자리.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작은 지자체일수록 '미리 재는 것'이 예산 그 자체. 수거 전 측정의 가치를 돈으로 환산하는 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사례 한 장. 숫자 네 개만 크게. 2026년 8월 반복 사례로 '일회성 아님'을 보인다.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가지 눈의 공통 결함: 무게를 못 본다. 위성은 3DLabs의 강점이므로 '넓게 보는 역할'로 존중하며 한계를 짚는다.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우리 데이터로 문제를 숫자로 고정. 결론: 더 정확한 점 추정이 아니라 '얼마나 믿을 수 있는지가 붙은 추정'이 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7단계 파이프라인. 우리 기여는 6→7의 재방문 규칙: 수거계획을 바꾸는 불확실성만 줄인다.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핫스팟 경로: '어디부터'를 정하는 단계. 3DLabs 위성 데이터가 결합되면 모델 순위를 실제 패치로 보정할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IPP는 지도 전체의 불확실성을 줄이지만 우리는 수거계획이 바뀌는 불확실성만 줄인다. 2 kg짜리가 1인지 3인지는 안 가고, 20 kg짜리가 23 kg을 넘는지는 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1장의 50 m 오차는 고도·평지 가정에서 왔다. 그 가정을 빼면 오차는 GPS 자체 수준(수 m)으로 내려온다.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부피→무게→구간. 구간이 있어야 '어디를 다시 갈지'가 정의된다.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제품 화면의 뼈대. 데모 때는 웹 대시보드(설정값 바꾸면 재계산)로 직접 보여준다.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원본 기획의 '수거자 최단경로'를 설계 단계로 정직하게 표시.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표로 신뢰성. 결과 없는 항목을 숨기지 않는 것이 이 장의 메시지.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한계를 먼저 말하면 질문이 줄어든다. 각 항목에 대응책이 붙어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상대의 강점(위성·ARD·B2G 채널)을 앞에 두고 우리를 계층으로 끼운다. 시장 신호 세 개는 모두 2026년.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일정은 제안이며 상대의 위성 ARD 제공 시점에 맞춰 조정.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요청 3개를 명확히. 마지막 문장은 표지 문장의 반복.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920240"/>
            <a:ext cx="65836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794760"/>
            <a:ext cx="6400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23360"/>
            <a:ext cx="100584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4" name="Text 0"/>
          <p:cNvSpPr/>
          <p:nvPr/>
        </p:nvSpPr>
        <p:spPr>
          <a:xfrm>
            <a:off x="0" y="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0" y="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LT2">
    <p:bg>
      <p:bgPr>
        <a:solidFill>
          <a:srgbClr val="EEF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0" y="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ONTENT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0" y="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11-1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12-1.jp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image" Target="../media/image-14-1.png"/><Relationship Id="rId3" Type="http://schemas.openxmlformats.org/officeDocument/2006/relationships/image" Target="../media/image-14-2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교동도 집적 예상 지도" descr="/tmp/claude-0/-home-user-hsr1m/6022f0b4-b8f8-52b0-8810-837ebd6bfbe9/scratchpad/deck/img/hotspot_map_gyodon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06640" y="0"/>
            <a:ext cx="4785055" cy="6858000"/>
          </a:xfrm>
          <a:prstGeom prst="rect">
            <a:avLst/>
          </a:prstGeom>
        </p:spPr>
      </p:pic>
      <p:sp>
        <p:nvSpPr>
          <p:cNvPr id="3" name="image tint"/>
          <p:cNvSpPr/>
          <p:nvPr/>
        </p:nvSpPr>
        <p:spPr>
          <a:xfrm>
            <a:off x="7406640" y="0"/>
            <a:ext cx="4785055" cy="6858000"/>
          </a:xfrm>
          <a:prstGeom prst="rect">
            <a:avLst/>
          </a:prstGeom>
          <a:solidFill>
            <a:srgbClr val="0B3C5D">
              <a:alpha val="65000"/>
            </a:srgbClr>
          </a:solidFill>
          <a:ln w="12700">
            <a:solidFill>
              <a:srgbClr val="0B3C5D">
                <a:alpha val="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40080" y="109728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2"/>
                </a:solidFill>
              </a:rPr>
              <a:t>드론 기반 해안쓰레기 측정 · 수거계획 플랫폼 제안</a:t>
            </a:r>
            <a:endParaRPr lang="en-US" sz="13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640080" y="1920240"/>
            <a:ext cx="6583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추정이 틀리면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배차가 틀린다</a:t>
            </a:r>
            <a:endParaRPr lang="en-US" sz="40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640080" y="379476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드론 한 번 비행으로 구간별 무게와 위치를 예측구간과 함께 내고,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수거계획을 실제로 바꾸는 물체만 다시 날아 계획을 확정합니다.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94360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드론대장 붕붕이  ·  3DLabs 제안  ·  2026. 10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한 장 요약</a:t>
            </a:r>
            <a:endParaRPr lang="en-US" sz="28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20700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문제 → 해법 → 검증 → 제안. 새로 발명한 알고리즘은 없고, 검증된 방법을 수거계획 하나로 이었습니다.</a:t>
            </a:r>
            <a:endParaRPr lang="en-US" sz="1400" dirty="0"/>
          </a:p>
        </p:txBody>
      </p:sp>
      <p:sp>
        <p:nvSpPr>
          <p:cNvPr id="4" name="card 문제: 추정이 곧 예산이다"/>
          <p:cNvSpPr/>
          <p:nvPr/>
        </p:nvSpPr>
        <p:spPr>
          <a:xfrm>
            <a:off x="548640" y="1783080"/>
            <a:ext cx="2651760" cy="365760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5" name="icon circle"/>
          <p:cNvSpPr/>
          <p:nvPr/>
        </p:nvSpPr>
        <p:spPr>
          <a:xfrm>
            <a:off x="822960" y="2039112"/>
            <a:ext cx="566928" cy="566928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6" name="icon FaExclamationTriangl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176272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77063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문제: 추정이 곧 예산이다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209544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accent4"/>
                </a:solidFill>
              </a:rPr>
              <a:t>해양쓰레기 수거량은 5년간 19.8% 늘었고 90%를 지자체가 치웁니다. 같은 42개 물체가 계수 방식 1.3 kg, 3D 부피 기준 101 kg. 위치는 50 m씩 빗나갑니다.</a:t>
            </a:r>
            <a:endParaRPr lang="en-US" sz="1250" dirty="0"/>
          </a:p>
        </p:txBody>
      </p:sp>
      <p:sp>
        <p:nvSpPr>
          <p:cNvPr id="9" name="card 해법: 비행 한 번 = 수거계획서 한 부"/>
          <p:cNvSpPr/>
          <p:nvPr/>
        </p:nvSpPr>
        <p:spPr>
          <a:xfrm>
            <a:off x="3360420" y="1783080"/>
            <a:ext cx="2651760" cy="365760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3634740" y="2039112"/>
            <a:ext cx="566928" cy="566928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11" name="icon FaRout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176272"/>
            <a:ext cx="292608" cy="29260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34740" y="277063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해법: 비행 한 번 = 수거계획서 한 부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634740" y="3209544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accent4"/>
                </a:solidFill>
              </a:rPr>
              <a:t>조류 집적 예측으로 구간 우선순위 → 커버리지 비행 → 탐지·삼각측량 → SfM 부피 × 겉보기밀도 → 무게 예측구간 → 경계에 걸린 물체만 2차 비행 → 마대·트럭·인원.</a:t>
            </a:r>
            <a:endParaRPr lang="en-US" sz="1250" dirty="0"/>
          </a:p>
        </p:txBody>
      </p:sp>
      <p:sp>
        <p:nvSpPr>
          <p:cNvPr id="14" name="card 검증: 세 실험과 두 시뮬레이션"/>
          <p:cNvSpPr/>
          <p:nvPr/>
        </p:nvSpPr>
        <p:spPr>
          <a:xfrm>
            <a:off x="6172200" y="1783080"/>
            <a:ext cx="2651760" cy="365760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5" name="icon circle"/>
          <p:cNvSpPr/>
          <p:nvPr/>
        </p:nvSpPr>
        <p:spPr>
          <a:xfrm>
            <a:off x="6446520" y="2039112"/>
            <a:ext cx="566928" cy="566928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16" name="icon FaFlas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2176272"/>
            <a:ext cx="292608" cy="29260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446520" y="277063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검증: 세 실험과 두 시뮬레이션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6446520" y="3209544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accent4"/>
                </a:solidFill>
              </a:rPr>
              <a:t>선회 비행 부피 오차 −3%/+19% (경사통과는 실패), 3D↔GPS 잔차 1.16 m, 재방문으로 재현율 0.71→0.86 (+697 m). 지형 비행·집적 예측 시뮬레이션 포함.</a:t>
            </a:r>
            <a:endParaRPr lang="en-US" sz="1250" dirty="0"/>
          </a:p>
        </p:txBody>
      </p:sp>
      <p:sp>
        <p:nvSpPr>
          <p:cNvPr id="19" name="card 제안: 위성이 넓게, 드론이 자세히"/>
          <p:cNvSpPr/>
          <p:nvPr/>
        </p:nvSpPr>
        <p:spPr>
          <a:xfrm>
            <a:off x="8983980" y="1783080"/>
            <a:ext cx="2651760" cy="365760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20" name="icon circle"/>
          <p:cNvSpPr/>
          <p:nvPr/>
        </p:nvSpPr>
        <p:spPr>
          <a:xfrm>
            <a:off x="9258300" y="2039112"/>
            <a:ext cx="566928" cy="566928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21" name="icon FaHandshak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5460" y="2176272"/>
            <a:ext cx="292608" cy="29260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258300" y="277063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제안: 위성이 넓게, 드론이 자세히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9258300" y="3209544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accent4"/>
                </a:solidFill>
              </a:rPr>
              <a:t>3DLabs의 위성 ARD로 광역 집적 패치·변화를 잡고, 드론이 재질·부피·위치를 확정해 지자체 수거계획으로 연결하는 B2G 공동 실증.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현황과 문제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40233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수거량은 늘고 비용은 지자체 몫인데, 그 계획의 입력값은 믿을 수 없는 점 추정입니다.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해양쓰레기 수거량은 5년간 19.8% 늘었다</a:t>
            </a:r>
            <a:endParaRPr lang="en-US" sz="28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20700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2021~2025년 전국 해양폐기물 수거량 (톤). 2025년 14.5만 톤은 연간 발생량 추정치(14.5만 톤)와 같은 규모입니다.</a:t>
            </a:r>
            <a:endParaRPr lang="en-US" sz="1400" dirty="0"/>
          </a:p>
        </p:txBody>
      </p:sp>
      <p:sp>
        <p:nvSpPr>
          <p:cNvPr id="4" name="chart card"/>
          <p:cNvSpPr/>
          <p:nvPr/>
        </p:nvSpPr>
        <p:spPr>
          <a:xfrm>
            <a:off x="548640" y="1783080"/>
            <a:ext cx="694944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9202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연도별 해양폐기물 수거량 (톤)</a:t>
            </a:r>
            <a:endParaRPr lang="en-US" sz="1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731520" y="2286000"/>
          <a:ext cx="658368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tat 연간 해양쓰레기 발생량 추정"/>
          <p:cNvSpPr/>
          <p:nvPr/>
        </p:nvSpPr>
        <p:spPr>
          <a:xfrm>
            <a:off x="7772400" y="1783080"/>
            <a:ext cx="3867912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028432" y="1984248"/>
            <a:ext cx="3410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연간 해양쓰레기 발생량 추정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028432" y="2286000"/>
            <a:ext cx="34107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14.5만</a:t>
            </a:r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 t / 년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8028432" y="2990088"/>
            <a:ext cx="3410712" cy="-45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육상 기인 65.3% · 해상 기인 34.7%</a:t>
            </a:r>
            <a:endParaRPr lang="en-US" sz="1050" dirty="0"/>
          </a:p>
        </p:txBody>
      </p:sp>
      <p:sp>
        <p:nvSpPr>
          <p:cNvPr id="11" name="stat 해양에 남아 있는 현존량"/>
          <p:cNvSpPr/>
          <p:nvPr/>
        </p:nvSpPr>
        <p:spPr>
          <a:xfrm>
            <a:off x="7772400" y="3200400"/>
            <a:ext cx="3867912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028432" y="3401568"/>
            <a:ext cx="3410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해양에 남아 있는 현존량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028432" y="3703320"/>
            <a:ext cx="34107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15.2만</a:t>
            </a:r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 t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8028432" y="4407408"/>
            <a:ext cx="3410712" cy="-45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침적 13.8만 · 해변 1.2만 · 부유 0.2만 t</a:t>
            </a:r>
            <a:endParaRPr lang="en-US" sz="1050" dirty="0"/>
          </a:p>
        </p:txBody>
      </p:sp>
      <p:sp>
        <p:nvSpPr>
          <p:cNvPr id="15" name="stat 2026년 해양폐기물 처리 예산"/>
          <p:cNvSpPr/>
          <p:nvPr/>
        </p:nvSpPr>
        <p:spPr>
          <a:xfrm>
            <a:off x="7772400" y="4617720"/>
            <a:ext cx="3867912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028432" y="4818888"/>
            <a:ext cx="3410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2026년 해양폐기물 처리 예산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028432" y="5120640"/>
            <a:ext cx="34107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1,114</a:t>
            </a:r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 억 원</a:t>
            </a:r>
            <a:endParaRPr lang="en-US" sz="3400" dirty="0"/>
          </a:p>
        </p:txBody>
      </p:sp>
      <p:sp>
        <p:nvSpPr>
          <p:cNvPr id="18" name="Text 15"/>
          <p:cNvSpPr txBox="1"/>
          <p:nvPr/>
        </p:nvSpPr>
        <p:spPr>
          <a:xfrm>
            <a:off x="8028432" y="5824728"/>
            <a:ext cx="3410712" cy="-45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수거해도 현존량이 줄지 않는 구조</a:t>
            </a:r>
            <a:endParaRPr lang="en-US" sz="1050" dirty="0"/>
          </a:p>
        </p:txBody>
      </p:sp>
      <p:sp>
        <p:nvSpPr>
          <p:cNvPr id="19" name="source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출처: 해양수산부 자료(김선교 의원실, 2026.09) 연도별 수거량 · 해양수산부 「해양폐기물 저감 대책」 발생량·현존량 추정 · 2026년 처리 예산 1,114억 원(해양수산부, 2026.09)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수거 비용은 지자체 몫이고, 추정이 곧 예산이다</a:t>
            </a:r>
            <a:endParaRPr lang="en-US" sz="28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20700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해안쓰레기가 수거량의 76%를 차지하고, 그 수거의 90%를 지자체가 수행합니다. 톤 단위 추정 오차가 곧 수천만 원입니다.</a:t>
            </a:r>
            <a:endParaRPr lang="en-US" sz="1400" dirty="0"/>
          </a:p>
        </p:txBody>
      </p:sp>
      <p:sp>
        <p:nvSpPr>
          <p:cNvPr id="4" name="chart card"/>
          <p:cNvSpPr/>
          <p:nvPr/>
        </p:nvSpPr>
        <p:spPr>
          <a:xfrm>
            <a:off x="548640" y="1783080"/>
            <a:ext cx="566928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9202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유형별 수거량, 2021~2025 누계 (톤)</a:t>
            </a:r>
            <a:endParaRPr lang="en-US" sz="1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731520" y="228600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tat 지자체 수거예산 2017~2022 누계"/>
          <p:cNvSpPr/>
          <p:nvPr/>
        </p:nvSpPr>
        <p:spPr>
          <a:xfrm>
            <a:off x="6492240" y="1783080"/>
            <a:ext cx="246888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748272" y="198424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지자체 수거예산 2017~2022 누계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748272" y="228600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3,654</a:t>
            </a:r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 억 원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6748272" y="299008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같은 기간 3.5배 증가</a:t>
            </a:r>
            <a:endParaRPr lang="en-US" sz="1050" dirty="0"/>
          </a:p>
        </p:txBody>
      </p:sp>
      <p:sp>
        <p:nvSpPr>
          <p:cNvPr id="11" name="stat 수거비 국비 : 지방비"/>
          <p:cNvSpPr/>
          <p:nvPr/>
        </p:nvSpPr>
        <p:spPr>
          <a:xfrm>
            <a:off x="9171432" y="1783080"/>
            <a:ext cx="246888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9427464" y="198424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수거비 국비 : 지방비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27464" y="228600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50 : 50</a:t>
            </a:r>
            <a:pPr indent="0" marL="0">
              <a:buNone/>
            </a:pP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9427464" y="299008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지방비는 다시 도비·시군비로 나뉨</a:t>
            </a:r>
            <a:endParaRPr lang="en-US" sz="1050" dirty="0"/>
          </a:p>
        </p:txBody>
      </p:sp>
      <p:sp>
        <p:nvSpPr>
          <p:cNvPr id="15" name="stat 지자체가 처리하는 수거량 비중"/>
          <p:cNvSpPr/>
          <p:nvPr/>
        </p:nvSpPr>
        <p:spPr>
          <a:xfrm>
            <a:off x="6492240" y="3931920"/>
            <a:ext cx="246888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748272" y="413308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지자체가 처리하는 수거량 비중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748272" y="44348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90</a:t>
            </a:r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 %</a:t>
            </a:r>
            <a:endParaRPr lang="en-US" sz="3400" dirty="0"/>
          </a:p>
        </p:txBody>
      </p:sp>
      <p:sp>
        <p:nvSpPr>
          <p:cNvPr id="18" name="Text 15"/>
          <p:cNvSpPr txBox="1"/>
          <p:nvPr/>
        </p:nvSpPr>
        <p:spPr>
          <a:xfrm>
            <a:off x="6748272" y="513892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공공기관 처리는 10%</a:t>
            </a:r>
            <a:endParaRPr lang="en-US" sz="1050" dirty="0"/>
          </a:p>
        </p:txBody>
      </p:sp>
      <p:sp>
        <p:nvSpPr>
          <p:cNvPr id="19" name="stat 처리 단가 (전남, 약)"/>
          <p:cNvSpPr/>
          <p:nvPr/>
        </p:nvSpPr>
        <p:spPr>
          <a:xfrm>
            <a:off x="9171432" y="3931920"/>
            <a:ext cx="246888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427464" y="413308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처리 단가 (전남, 약)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427464" y="44348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50만</a:t>
            </a:r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 원/t</a:t>
            </a:r>
            <a:endParaRPr lang="en-US" sz="3000" dirty="0"/>
          </a:p>
        </p:txBody>
      </p:sp>
      <p:sp>
        <p:nvSpPr>
          <p:cNvPr id="22" name="Text 19"/>
          <p:cNvSpPr txBox="1"/>
          <p:nvPr/>
        </p:nvSpPr>
        <p:spPr>
          <a:xfrm>
            <a:off x="9427464" y="513892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100 t 오차 = 5천만 원</a:t>
            </a:r>
            <a:endParaRPr lang="en-US" sz="1050" dirty="0"/>
          </a:p>
        </p:txBody>
      </p:sp>
      <p:sp>
        <p:nvSpPr>
          <p:cNvPr id="23" name="source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출처: 유형별 수거량 해양수산부(2026.09) · 지자체 수거예산·국비 분담·처리 비중 에너지데일리(국회 자료, 2017~2022) · 처리 단가 한국일보(2018·2019, 전남 톤당 50만 원)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추정이 틀리면 생기는 일: 거제, 2023년 7월 집중호우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0700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유입량을 437 t으로 추정하고 굴삭기·차량을 투입했지만, 1주일 넘게 걸려 272 t만 수거했습니다. 처리비는 8천만 원 이상.</a:t>
            </a:r>
            <a:endParaRPr lang="en-US" sz="1400" dirty="0"/>
          </a:p>
        </p:txBody>
      </p:sp>
      <p:sp>
        <p:nvSpPr>
          <p:cNvPr id="4" name="stat 추정 유입량"/>
          <p:cNvSpPr/>
          <p:nvPr/>
        </p:nvSpPr>
        <p:spPr>
          <a:xfrm>
            <a:off x="548640" y="1828800"/>
            <a:ext cx="2651760" cy="1828800"/>
          </a:xfrm>
          <a:prstGeom prst="roundRect">
            <a:avLst>
              <a:gd name="adj" fmla="val 6000"/>
            </a:avLst>
          </a:prstGeom>
          <a:solidFill>
            <a:srgbClr val="124A6E"/>
          </a:solidFill>
          <a:ln w="12700">
            <a:solidFill>
              <a:srgbClr val="124A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02996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추정 유입량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437</a:t>
            </a:r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 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303580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육안·경험 기반</a:t>
            </a:r>
            <a:endParaRPr lang="en-US" sz="1050" dirty="0"/>
          </a:p>
        </p:txBody>
      </p:sp>
      <p:sp>
        <p:nvSpPr>
          <p:cNvPr id="8" name="stat 실제 수거량"/>
          <p:cNvSpPr/>
          <p:nvPr/>
        </p:nvSpPr>
        <p:spPr>
          <a:xfrm>
            <a:off x="3383280" y="1828800"/>
            <a:ext cx="2651760" cy="1828800"/>
          </a:xfrm>
          <a:prstGeom prst="roundRect">
            <a:avLst>
              <a:gd name="adj" fmla="val 6000"/>
            </a:avLst>
          </a:prstGeom>
          <a:solidFill>
            <a:srgbClr val="124A6E"/>
          </a:solidFill>
          <a:ln w="12700">
            <a:solidFill>
              <a:srgbClr val="124A6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9312" y="202996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실제 수거량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639312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272</a:t>
            </a:r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 t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3639312" y="303580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추정의 62%</a:t>
            </a:r>
            <a:endParaRPr lang="en-US" sz="1050" dirty="0"/>
          </a:p>
        </p:txBody>
      </p:sp>
      <p:sp>
        <p:nvSpPr>
          <p:cNvPr id="12" name="stat 소요 기간"/>
          <p:cNvSpPr/>
          <p:nvPr/>
        </p:nvSpPr>
        <p:spPr>
          <a:xfrm>
            <a:off x="6217920" y="1828800"/>
            <a:ext cx="2651760" cy="1828800"/>
          </a:xfrm>
          <a:prstGeom prst="roundRect">
            <a:avLst>
              <a:gd name="adj" fmla="val 6000"/>
            </a:avLst>
          </a:prstGeom>
          <a:solidFill>
            <a:srgbClr val="124A6E"/>
          </a:solidFill>
          <a:ln w="12700">
            <a:solidFill>
              <a:srgbClr val="124A6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73952" y="202996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소요 기간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473952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1주+</a:t>
            </a:r>
            <a:pPr indent="0" marL="0">
              <a:buNone/>
            </a:pP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303580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장비·인력 상시 대기</a:t>
            </a:r>
            <a:endParaRPr lang="en-US" sz="1050" dirty="0"/>
          </a:p>
        </p:txBody>
      </p:sp>
      <p:sp>
        <p:nvSpPr>
          <p:cNvPr id="16" name="stat 처리 비용"/>
          <p:cNvSpPr/>
          <p:nvPr/>
        </p:nvSpPr>
        <p:spPr>
          <a:xfrm>
            <a:off x="9052560" y="1828800"/>
            <a:ext cx="2587752" cy="1828800"/>
          </a:xfrm>
          <a:prstGeom prst="roundRect">
            <a:avLst>
              <a:gd name="adj" fmla="val 6000"/>
            </a:avLst>
          </a:prstGeom>
          <a:solidFill>
            <a:srgbClr val="124A6E"/>
          </a:solidFill>
          <a:ln w="12700">
            <a:solidFill>
              <a:srgbClr val="124A6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08592" y="2029968"/>
            <a:ext cx="2130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처리 비용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308592" y="2331720"/>
            <a:ext cx="2130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8천만+</a:t>
            </a:r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 원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9308592" y="3035808"/>
            <a:ext cx="2130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국비 지원 요청</a:t>
            </a:r>
            <a:endParaRPr lang="en-US" sz="1050" dirty="0"/>
          </a:p>
        </p:txBody>
      </p:sp>
      <p:sp>
        <p:nvSpPr>
          <p:cNvPr id="20" name="insight card"/>
          <p:cNvSpPr/>
          <p:nvPr/>
        </p:nvSpPr>
        <p:spPr>
          <a:xfrm>
            <a:off x="548640" y="3886200"/>
            <a:ext cx="11091672" cy="1920240"/>
          </a:xfrm>
          <a:prstGeom prst="roundRect">
            <a:avLst>
              <a:gd name="adj" fmla="val 5714"/>
            </a:avLst>
          </a:prstGeom>
          <a:solidFill>
            <a:srgbClr val="124A6E"/>
          </a:solidFill>
          <a:ln w="12700">
            <a:solidFill>
              <a:srgbClr val="124A6E"/>
            </a:solidFill>
            <a:prstDash val="solid"/>
          </a:ln>
        </p:spPr>
      </p:sp>
      <p:sp>
        <p:nvSpPr>
          <p:cNvPr id="21" name="icon circle"/>
          <p:cNvSpPr/>
          <p:nvPr/>
        </p:nvSpPr>
        <p:spPr>
          <a:xfrm>
            <a:off x="868680" y="4206240"/>
            <a:ext cx="640080" cy="640080"/>
          </a:xfrm>
          <a:prstGeom prst="ellipse">
            <a:avLst/>
          </a:prstGeom>
          <a:solidFill>
            <a:srgbClr val="F26B21"/>
          </a:solidFill>
          <a:ln w="12700">
            <a:solidFill>
              <a:srgbClr val="F26B21"/>
            </a:solidFill>
            <a:prstDash val="solid"/>
          </a:ln>
        </p:spPr>
      </p:sp>
      <p:pic>
        <p:nvPicPr>
          <p:cNvPr id="22" name="icon tru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4361688"/>
            <a:ext cx="329184" cy="329184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783080" y="416052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남는 트럭과 모자라는 트럭이 동시에 생긴다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1783080" y="461772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무게가 틀리면 마대·트럭 수가 틀리고, 위치가 틀리면 동선·인원이 틀립니다. 같은 일이 2026년 8월에도 반복됐습니다. 광복절 연휴 폭우로 경남 연안에 1,180 t이 유입됐고 통영·거제가 80%를 차지했습니다. 작은 지자체일수록 수거 전에 재는 것이 예산 그 자체입니다.</a:t>
            </a:r>
            <a:endParaRPr lang="en-US" sz="1250" dirty="0"/>
          </a:p>
        </p:txBody>
      </p:sp>
      <p:sp>
        <p:nvSpPr>
          <p:cNvPr id="25" name="source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출처: 뉴시스 2023.07.25 「거제 해양쓰레기 437t 추정·272t 수거」 · 서울신문 2026.09.09 「광복절 연휴 폭우 해양쓰레기, 경남 연안 96% 수거」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지금 쓰는 세 가지 눈, 모두 무게를 못 본다</a:t>
            </a:r>
            <a:endParaRPr lang="en-US" sz="28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20700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신고·순찰은 느리고, 위성은 패치만 보고, 드론 2D 사진은 크기와 위치를 잘못 잽니다.</a:t>
            </a:r>
            <a:endParaRPr lang="en-US" sz="1400" dirty="0"/>
          </a:p>
        </p:txBody>
      </p:sp>
      <p:sp>
        <p:nvSpPr>
          <p:cNvPr id="4" name="card 사람 신고 · 순찰"/>
          <p:cNvSpPr/>
          <p:nvPr/>
        </p:nvSpPr>
        <p:spPr>
          <a:xfrm>
            <a:off x="548640" y="1783080"/>
            <a:ext cx="3566160" cy="36576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5" name="icon circle"/>
          <p:cNvSpPr/>
          <p:nvPr/>
        </p:nvSpPr>
        <p:spPr>
          <a:xfrm>
            <a:off x="822960" y="2039112"/>
            <a:ext cx="566928" cy="566928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6" name="icon FaEy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176272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77063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사람 신고 · 순찰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209544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accent4"/>
                </a:solidFill>
              </a:rPr>
              <a:t>현존량의 90%가 침적·해변에 흩어져 있는데 탐지는 신고와 순찰에 의존합니다. 국가 해안쓰레기 모니터링은 2개월에 1회, 선정 해안만 조사합니다.</a:t>
            </a:r>
            <a:endParaRPr lang="en-US" sz="1250" dirty="0"/>
          </a:p>
        </p:txBody>
      </p:sp>
      <p:sp>
        <p:nvSpPr>
          <p:cNvPr id="9" name="tag"/>
          <p:cNvSpPr/>
          <p:nvPr/>
        </p:nvSpPr>
        <p:spPr>
          <a:xfrm>
            <a:off x="822960" y="5029200"/>
            <a:ext cx="2468880" cy="274320"/>
          </a:xfrm>
          <a:prstGeom prst="roundRect">
            <a:avLst>
              <a:gd name="adj" fmla="val 50000"/>
            </a:avLst>
          </a:prstGeom>
          <a:solidFill>
            <a:srgbClr val="FFD9C2"/>
          </a:solidFill>
          <a:ln w="12700">
            <a:solidFill>
              <a:srgbClr val="FFD9C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5029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느리고 범위가 좁다</a:t>
            </a:r>
            <a:endParaRPr lang="en-US" sz="950" dirty="0"/>
          </a:p>
        </p:txBody>
      </p:sp>
      <p:sp>
        <p:nvSpPr>
          <p:cNvPr id="11" name="card 위성 영상"/>
          <p:cNvSpPr/>
          <p:nvPr/>
        </p:nvSpPr>
        <p:spPr>
          <a:xfrm>
            <a:off x="4297680" y="1783080"/>
            <a:ext cx="3566160" cy="36576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2" name="icon circle"/>
          <p:cNvSpPr/>
          <p:nvPr/>
        </p:nvSpPr>
        <p:spPr>
          <a:xfrm>
            <a:off x="4572000" y="2039112"/>
            <a:ext cx="566928" cy="566928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13" name="icon FaSatellit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2176272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572000" y="277063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위성 영상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0" y="3209544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accent4"/>
                </a:solidFill>
              </a:rPr>
              <a:t>집적 패치의 위치와 변화는 잡지만 재질·부피는 확정하지 못합니다. 촬영각과 해상도 때문에 수십 cm 물체 하나하나의 무게로 내려가지 않습니다.</a:t>
            </a:r>
            <a:endParaRPr lang="en-US" sz="1250" dirty="0"/>
          </a:p>
        </p:txBody>
      </p:sp>
      <p:sp>
        <p:nvSpPr>
          <p:cNvPr id="16" name="tag"/>
          <p:cNvSpPr/>
          <p:nvPr/>
        </p:nvSpPr>
        <p:spPr>
          <a:xfrm>
            <a:off x="4572000" y="5029200"/>
            <a:ext cx="2468880" cy="274320"/>
          </a:xfrm>
          <a:prstGeom prst="roundRect">
            <a:avLst>
              <a:gd name="adj" fmla="val 50000"/>
            </a:avLst>
          </a:prstGeom>
          <a:solidFill>
            <a:srgbClr val="FFD9C2"/>
          </a:solidFill>
          <a:ln w="12700">
            <a:solidFill>
              <a:srgbClr val="FFD9C2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572000" y="5029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넓게 보지만 재질·부피 불가</a:t>
            </a:r>
            <a:endParaRPr lang="en-US" sz="950" dirty="0"/>
          </a:p>
        </p:txBody>
      </p:sp>
      <p:sp>
        <p:nvSpPr>
          <p:cNvPr id="18" name="card 드론 2D 사진"/>
          <p:cNvSpPr/>
          <p:nvPr/>
        </p:nvSpPr>
        <p:spPr>
          <a:xfrm>
            <a:off x="8046720" y="1783080"/>
            <a:ext cx="3566160" cy="36576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9" name="icon circle"/>
          <p:cNvSpPr/>
          <p:nvPr/>
        </p:nvSpPr>
        <p:spPr>
          <a:xfrm>
            <a:off x="8321040" y="2039112"/>
            <a:ext cx="566928" cy="566928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20" name="icon FaCamera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2176272"/>
            <a:ext cx="292608" cy="29260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321040" y="277063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드론 2D 사진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8321040" y="3209544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accent4"/>
                </a:solidFill>
              </a:rPr>
              <a:t>카메라 높이·평지를 가정한 위치 계산은 고도 입력이 틀리면 50 m씩 빗나가고, 품목 수 × 평균무게 계수는 크기가 제각각인 물체에서 수십 배 벌어집니다.</a:t>
            </a:r>
            <a:endParaRPr lang="en-US" sz="1250" dirty="0"/>
          </a:p>
        </p:txBody>
      </p:sp>
      <p:sp>
        <p:nvSpPr>
          <p:cNvPr id="23" name="tag"/>
          <p:cNvSpPr/>
          <p:nvPr/>
        </p:nvSpPr>
        <p:spPr>
          <a:xfrm>
            <a:off x="8321040" y="5029200"/>
            <a:ext cx="2468880" cy="274320"/>
          </a:xfrm>
          <a:prstGeom prst="roundRect">
            <a:avLst>
              <a:gd name="adj" fmla="val 50000"/>
            </a:avLst>
          </a:prstGeom>
          <a:solidFill>
            <a:srgbClr val="FFD9C2"/>
          </a:solidFill>
          <a:ln w="12700">
            <a:solidFill>
              <a:srgbClr val="FFD9C2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8321040" y="5029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가까이 보지만 위치·무게가 틀림</a:t>
            </a:r>
            <a:endParaRPr lang="en-US" sz="950" dirty="0"/>
          </a:p>
        </p:txBody>
      </p:sp>
      <p:sp>
        <p:nvSpPr>
          <p:cNvPr id="25" name="source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출처: 해양수산부 「해양폐기물 저감 대책」 현존량 구성 · 해양환경공단 국가 해안쓰레기 모니터링(2개월 주기) · 팀 현장 조사(2026.09, 위치 오차·무게 계수)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같은 42개 물체, 1.3 kg과 101 kg</a:t>
            </a:r>
            <a:endParaRPr lang="en-US" sz="28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20700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문갑도 현장 조사. 업체의 품목 계수 합계와 드론 3D 부피 × 겉보기밀도가 78배 벌어졌습니다.</a:t>
            </a:r>
            <a:endParaRPr lang="en-US" sz="1400" dirty="0"/>
          </a:p>
        </p:txBody>
      </p:sp>
      <p:sp>
        <p:nvSpPr>
          <p:cNvPr id="4" name="chart card"/>
          <p:cNvSpPr/>
          <p:nvPr/>
        </p:nvSpPr>
        <p:spPr>
          <a:xfrm>
            <a:off x="548640" y="1783080"/>
            <a:ext cx="585216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920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문갑도 42개 물체의 총 무게, 두 가지 추정 (kg)</a:t>
            </a:r>
            <a:endParaRPr lang="en-US" sz="1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731520" y="2286000"/>
          <a:ext cx="54864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822960" y="507492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계수 방식은 '품목 1개 = 평균 몇 g'으로 셉니다. 어망 뭉치·젖은 스티로폼처럼 크기가 제각각인 물체에서 차이가 폭발합니다.</a:t>
            </a:r>
            <a:endParaRPr lang="en-US" sz="1100" dirty="0"/>
          </a:p>
        </p:txBody>
      </p:sp>
      <p:sp>
        <p:nvSpPr>
          <p:cNvPr id="8" name="stat 탐지 위치 오차 (평면 교차 방식)"/>
          <p:cNvSpPr/>
          <p:nvPr/>
        </p:nvSpPr>
        <p:spPr>
          <a:xfrm>
            <a:off x="6675120" y="1783080"/>
            <a:ext cx="23774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931152" y="1984248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탐지 위치 오차 (평면 교차 방식)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931152" y="22860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50</a:t>
            </a:r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 m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6931152" y="2990088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수거 인력이 현장에서 못 찾는 거리</a:t>
            </a:r>
            <a:endParaRPr lang="en-US" sz="1050" dirty="0"/>
          </a:p>
        </p:txBody>
      </p:sp>
      <p:sp>
        <p:nvSpPr>
          <p:cNvPr id="12" name="stat 경사 통과 비행의 3D 복원"/>
          <p:cNvSpPr/>
          <p:nvPr/>
        </p:nvSpPr>
        <p:spPr>
          <a:xfrm>
            <a:off x="9262872" y="1783080"/>
            <a:ext cx="23774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9518904" y="1984248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경사 통과 비행의 3D 복원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9518904" y="22860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실패</a:t>
            </a:r>
            <a:pPr indent="0" marL="0">
              <a:buNone/>
            </a:pP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9518904" y="2990088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한 방향 촬영은 부피를 못 냄</a:t>
            </a:r>
            <a:endParaRPr lang="en-US" sz="1050" dirty="0"/>
          </a:p>
        </p:txBody>
      </p:sp>
      <p:sp>
        <p:nvSpPr>
          <p:cNvPr id="16" name="card 계수 방식은 문헌에서도 약 40% 과대추정"/>
          <p:cNvSpPr/>
          <p:nvPr/>
        </p:nvSpPr>
        <p:spPr>
          <a:xfrm>
            <a:off x="6675120" y="3931920"/>
            <a:ext cx="4965192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7" name="icon circle"/>
          <p:cNvSpPr/>
          <p:nvPr/>
        </p:nvSpPr>
        <p:spPr>
          <a:xfrm>
            <a:off x="6949440" y="4187952"/>
            <a:ext cx="566928" cy="566928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18" name="icon FaBalanceScal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4325112"/>
            <a:ext cx="292608" cy="29260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949440" y="4919472"/>
            <a:ext cx="4416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계수 방식은 문헌에서도 약 40% 과대추정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6949440" y="5358384"/>
            <a:ext cx="4416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4"/>
                </a:solidFill>
              </a:rPr>
              <a:t>드론 영상 무게 추정 세 방법을 비교한 Andriolo et al. (2024, Marine Pollution Bulletin 202:116405)은 현장 평균무게 계수 방식이 약 40% 과대추정한다고 보고했습니다. 무게는 부피에서 와야 합니다.</a:t>
            </a:r>
            <a:endParaRPr lang="en-US" sz="1100" dirty="0"/>
          </a:p>
        </p:txBody>
      </p:sp>
      <p:sp>
        <p:nvSpPr>
          <p:cNvPr id="21" name="source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출처: 팀 현장 조사(문갑도, 2026.09) · Andriolo et al. (2024) Marine Pollution Bulletin 202:116405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솔루션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40233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어디부터 날릴지, 어떻게 날릴지, 무엇이 어디에 얼마나 있는지, 그래서 트럭이 몇 대인지.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비행 한 번이 수거계획서 한 부가 된다</a:t>
            </a:r>
            <a:endParaRPr lang="en-US" sz="28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20700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입력은 드론 영상과 자막 로그(SRT)뿐입니다. 특별한 장비 없이 DJI 기본 기체로 7단계를 자동 수행합니다.</a:t>
            </a:r>
            <a:endParaRPr lang="en-US" sz="1400" dirty="0"/>
          </a:p>
        </p:txBody>
      </p:sp>
      <p:sp>
        <p:nvSpPr>
          <p:cNvPr id="4" name="step 집적 예측"/>
          <p:cNvSpPr/>
          <p:nvPr/>
        </p:nvSpPr>
        <p:spPr>
          <a:xfrm>
            <a:off x="548640" y="1828800"/>
            <a:ext cx="1517904" cy="2331720"/>
          </a:xfrm>
          <a:prstGeom prst="roundRect">
            <a:avLst>
              <a:gd name="adj" fmla="val 6024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5" name="icon circle"/>
          <p:cNvSpPr/>
          <p:nvPr/>
        </p:nvSpPr>
        <p:spPr>
          <a:xfrm>
            <a:off x="1033272" y="2011680"/>
            <a:ext cx="548640" cy="548640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6" name="icon FaMapMarkedAl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14884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2651760"/>
            <a:ext cx="1335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1. 집적 예측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2999232"/>
            <a:ext cx="12984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조류·바람·하천 입자추적으로 구간 우선순위</a:t>
            </a:r>
            <a:endParaRPr lang="en-US" sz="1000" dirty="0"/>
          </a:p>
        </p:txBody>
      </p:sp>
      <p:sp>
        <p:nvSpPr>
          <p:cNvPr id="9" name="step 커버리지 비행"/>
          <p:cNvSpPr/>
          <p:nvPr/>
        </p:nvSpPr>
        <p:spPr>
          <a:xfrm>
            <a:off x="2135124" y="1828800"/>
            <a:ext cx="1517904" cy="2331720"/>
          </a:xfrm>
          <a:prstGeom prst="roundRect">
            <a:avLst>
              <a:gd name="adj" fmla="val 6024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10" name="icon circle"/>
          <p:cNvSpPr/>
          <p:nvPr/>
        </p:nvSpPr>
        <p:spPr>
          <a:xfrm>
            <a:off x="2619756" y="2011680"/>
            <a:ext cx="548640" cy="548640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11" name="icon FaPla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916" y="214884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226564" y="2651760"/>
            <a:ext cx="1335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2. 커버리지 비행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2244852" y="2999232"/>
            <a:ext cx="12984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선회 패턴, 고도 20~40 m, 짐벌 −90°</a:t>
            </a:r>
            <a:endParaRPr lang="en-US" sz="1000" dirty="0"/>
          </a:p>
        </p:txBody>
      </p:sp>
      <p:sp>
        <p:nvSpPr>
          <p:cNvPr id="14" name="step 탐지"/>
          <p:cNvSpPr/>
          <p:nvPr/>
        </p:nvSpPr>
        <p:spPr>
          <a:xfrm>
            <a:off x="3721608" y="1828800"/>
            <a:ext cx="1517904" cy="2331720"/>
          </a:xfrm>
          <a:prstGeom prst="roundRect">
            <a:avLst>
              <a:gd name="adj" fmla="val 6024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15" name="icon circle"/>
          <p:cNvSpPr/>
          <p:nvPr/>
        </p:nvSpPr>
        <p:spPr>
          <a:xfrm>
            <a:off x="4206240" y="2011680"/>
            <a:ext cx="548640" cy="548640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16" name="icon FaSearchLocati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214884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813048" y="2651760"/>
            <a:ext cx="1335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3. 탐지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3831336" y="2999232"/>
            <a:ext cx="12984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AI-Hub 해안쓰레기 학습 YOLO</a:t>
            </a:r>
            <a:endParaRPr lang="en-US" sz="1000" dirty="0"/>
          </a:p>
        </p:txBody>
      </p:sp>
      <p:sp>
        <p:nvSpPr>
          <p:cNvPr id="19" name="step 위치"/>
          <p:cNvSpPr/>
          <p:nvPr/>
        </p:nvSpPr>
        <p:spPr>
          <a:xfrm>
            <a:off x="5308092" y="1828800"/>
            <a:ext cx="1517904" cy="2331720"/>
          </a:xfrm>
          <a:prstGeom prst="roundRect">
            <a:avLst>
              <a:gd name="adj" fmla="val 6024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20" name="icon circle"/>
          <p:cNvSpPr/>
          <p:nvPr/>
        </p:nvSpPr>
        <p:spPr>
          <a:xfrm>
            <a:off x="5792724" y="2011680"/>
            <a:ext cx="548640" cy="548640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21" name="icon FaCrosshair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9884" y="2148840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399532" y="2651760"/>
            <a:ext cx="1335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4. 위치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5417820" y="2999232"/>
            <a:ext cx="12984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광선 교차 삼각측량 + 오차반경</a:t>
            </a:r>
            <a:endParaRPr lang="en-US" sz="1000" dirty="0"/>
          </a:p>
        </p:txBody>
      </p:sp>
      <p:sp>
        <p:nvSpPr>
          <p:cNvPr id="24" name="step 부피·무게"/>
          <p:cNvSpPr/>
          <p:nvPr/>
        </p:nvSpPr>
        <p:spPr>
          <a:xfrm>
            <a:off x="6894576" y="1828800"/>
            <a:ext cx="1517904" cy="2331720"/>
          </a:xfrm>
          <a:prstGeom prst="roundRect">
            <a:avLst>
              <a:gd name="adj" fmla="val 6024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25" name="icon circle"/>
          <p:cNvSpPr/>
          <p:nvPr/>
        </p:nvSpPr>
        <p:spPr>
          <a:xfrm>
            <a:off x="7379208" y="2011680"/>
            <a:ext cx="548640" cy="548640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26" name="icon FaCubes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16368" y="2148840"/>
            <a:ext cx="274320" cy="27432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6986016" y="2651760"/>
            <a:ext cx="1335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5. 부피·무게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7004304" y="2999232"/>
            <a:ext cx="12984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SfM 3D 부피 × 겉보기밀도</a:t>
            </a:r>
            <a:endParaRPr lang="en-US" sz="1000" dirty="0"/>
          </a:p>
        </p:txBody>
      </p:sp>
      <p:sp>
        <p:nvSpPr>
          <p:cNvPr id="29" name="step 예측구간"/>
          <p:cNvSpPr/>
          <p:nvPr/>
        </p:nvSpPr>
        <p:spPr>
          <a:xfrm>
            <a:off x="8481060" y="1828800"/>
            <a:ext cx="1517904" cy="2331720"/>
          </a:xfrm>
          <a:prstGeom prst="roundRect">
            <a:avLst>
              <a:gd name="adj" fmla="val 6024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30" name="icon circle"/>
          <p:cNvSpPr/>
          <p:nvPr/>
        </p:nvSpPr>
        <p:spPr>
          <a:xfrm>
            <a:off x="8965692" y="2011680"/>
            <a:ext cx="548640" cy="548640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31" name="icon FaRulerCombined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02852" y="2148840"/>
            <a:ext cx="274320" cy="27432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572500" y="2651760"/>
            <a:ext cx="1335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6. 예측구간</a:t>
            </a:r>
            <a:endParaRPr lang="en-US" sz="1200" dirty="0"/>
          </a:p>
        </p:txBody>
      </p:sp>
      <p:sp>
        <p:nvSpPr>
          <p:cNvPr id="33" name="Text 25"/>
          <p:cNvSpPr txBox="1"/>
          <p:nvPr/>
        </p:nvSpPr>
        <p:spPr>
          <a:xfrm>
            <a:off x="8590788" y="2999232"/>
            <a:ext cx="12984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하한~상한, conformal 보정</a:t>
            </a:r>
            <a:endParaRPr lang="en-US" sz="1000" dirty="0"/>
          </a:p>
        </p:txBody>
      </p:sp>
      <p:sp>
        <p:nvSpPr>
          <p:cNvPr id="34" name="step 수거계획"/>
          <p:cNvSpPr/>
          <p:nvPr/>
        </p:nvSpPr>
        <p:spPr>
          <a:xfrm>
            <a:off x="10067544" y="1828800"/>
            <a:ext cx="1517904" cy="2331720"/>
          </a:xfrm>
          <a:prstGeom prst="roundRect">
            <a:avLst>
              <a:gd name="adj" fmla="val 6024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sp>
        <p:nvSpPr>
          <p:cNvPr id="35" name="icon circle"/>
          <p:cNvSpPr/>
          <p:nvPr/>
        </p:nvSpPr>
        <p:spPr>
          <a:xfrm>
            <a:off x="10552176" y="2011680"/>
            <a:ext cx="548640" cy="548640"/>
          </a:xfrm>
          <a:prstGeom prst="ellipse">
            <a:avLst/>
          </a:prstGeom>
          <a:solidFill>
            <a:srgbClr val="F26B21"/>
          </a:solidFill>
          <a:ln w="12700">
            <a:solidFill>
              <a:srgbClr val="F26B21"/>
            </a:solidFill>
            <a:prstDash val="solid"/>
          </a:ln>
        </p:spPr>
      </p:sp>
      <p:pic>
        <p:nvPicPr>
          <p:cNvPr id="36" name="icon FaTruck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89336" y="2148840"/>
            <a:ext cx="274320" cy="274320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10158984" y="2651760"/>
            <a:ext cx="1335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7. 수거계획</a:t>
            </a:r>
            <a:endParaRPr lang="en-US" sz="1200" dirty="0"/>
          </a:p>
        </p:txBody>
      </p:sp>
      <p:sp>
        <p:nvSpPr>
          <p:cNvPr id="38" name="Text 29"/>
          <p:cNvSpPr txBox="1"/>
          <p:nvPr/>
        </p:nvSpPr>
        <p:spPr>
          <a:xfrm>
            <a:off x="10177272" y="2999232"/>
            <a:ext cx="12984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재방문 판단 → 마대·트럭·인원</a:t>
            </a:r>
            <a:endParaRPr lang="en-US" sz="1000" dirty="0"/>
          </a:p>
        </p:txBody>
      </p:sp>
      <p:sp>
        <p:nvSpPr>
          <p:cNvPr id="39" name="satellite input"/>
          <p:cNvSpPr/>
          <p:nvPr/>
        </p:nvSpPr>
        <p:spPr>
          <a:xfrm>
            <a:off x="548640" y="4343400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FD9C2"/>
          </a:solidFill>
          <a:ln w="12700">
            <a:solidFill>
              <a:srgbClr val="FFD9C2"/>
            </a:solidFill>
            <a:prstDash val="solid"/>
          </a:ln>
        </p:spPr>
      </p:sp>
      <p:pic>
        <p:nvPicPr>
          <p:cNvPr id="40" name="icon satellite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" y="4462272"/>
            <a:ext cx="274320" cy="274320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1078992" y="43434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3DLabs 위성 ARD가 들어가는 자리: 집적 패치·변화 → 우선순위</a:t>
            </a:r>
            <a:endParaRPr lang="en-US" sz="950" dirty="0"/>
          </a:p>
        </p:txBody>
      </p:sp>
      <p:sp>
        <p:nvSpPr>
          <p:cNvPr id="42" name="card 입력"/>
          <p:cNvSpPr/>
          <p:nvPr/>
        </p:nvSpPr>
        <p:spPr>
          <a:xfrm>
            <a:off x="548640" y="5029200"/>
            <a:ext cx="54864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43" name="Text 33"/>
          <p:cNvSpPr txBox="1"/>
          <p:nvPr/>
        </p:nvSpPr>
        <p:spPr>
          <a:xfrm>
            <a:off x="822960" y="528523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입력</a:t>
            </a:r>
            <a:endParaRPr lang="en-US" sz="1200" dirty="0"/>
          </a:p>
        </p:txBody>
      </p:sp>
      <p:sp>
        <p:nvSpPr>
          <p:cNvPr id="44" name="Text 34"/>
          <p:cNvSpPr txBox="1"/>
          <p:nvPr/>
        </p:nvSpPr>
        <p:spPr>
          <a:xfrm>
            <a:off x="822960" y="5724144"/>
            <a:ext cx="4937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4"/>
                </a:solidFill>
              </a:rPr>
              <a:t>비행 영상(MP4) + 자막 로그(SRT: 시각·GPS·고도). 1차 비행 1회.</a:t>
            </a:r>
            <a:endParaRPr lang="en-US" sz="1100" dirty="0"/>
          </a:p>
        </p:txBody>
      </p:sp>
      <p:sp>
        <p:nvSpPr>
          <p:cNvPr id="45" name="card 출력"/>
          <p:cNvSpPr/>
          <p:nvPr/>
        </p:nvSpPr>
        <p:spPr>
          <a:xfrm>
            <a:off x="6153912" y="5029200"/>
            <a:ext cx="54864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46" name="Text 36"/>
          <p:cNvSpPr txBox="1"/>
          <p:nvPr/>
        </p:nvSpPr>
        <p:spPr>
          <a:xfrm>
            <a:off x="6428232" y="528523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출력</a:t>
            </a:r>
            <a:endParaRPr lang="en-US" sz="1200" dirty="0"/>
          </a:p>
        </p:txBody>
      </p:sp>
      <p:sp>
        <p:nvSpPr>
          <p:cNvPr id="47" name="Text 37"/>
          <p:cNvSpPr txBox="1"/>
          <p:nvPr/>
        </p:nvSpPr>
        <p:spPr>
          <a:xfrm>
            <a:off x="6428232" y="5724144"/>
            <a:ext cx="4937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4"/>
                </a:solidFill>
              </a:rPr>
              <a:t>구간 우선순위 지도(GeoJSON) · 물체 목록(위치·오차반경·무게 구간 CSV) · 마대·트럭·인원 산출표 · 2차 비행 경로(KMZ)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어디부터 날릴까: 조류가 모으는 해안을 먼저</a:t>
            </a:r>
            <a:endParaRPr lang="en-US" sz="28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20700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조류·바람·하천 유입을 넣은 라그랑주 입자추적으로 좌초 밀도가 높은 해안을 순위화하고, 바다·산 등 비행 불가 구역은 자동 마스킹합니다.</a:t>
            </a:r>
            <a:endParaRPr lang="en-US" sz="1400" dirty="0"/>
          </a:p>
        </p:txBody>
      </p:sp>
      <p:pic>
        <p:nvPicPr>
          <p:cNvPr id="4" name="교동도 집적 예상 지도" descr="/tmp/claude-0/-home-user-hsr1m/6022f0b4-b8f8-52b0-8810-837ebd6bfbe9/scratchpad/deck/img/hotspot_map_gyodo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5120640" cy="40325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83387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교동도 집적 예상 구간 (빨간 라인). 100 m 격자 · 200,000 입자 · 30일 여름 장마 시나리오</a:t>
            </a:r>
            <a:endParaRPr lang="en-US" sz="900" dirty="0"/>
          </a:p>
        </p:txBody>
      </p:sp>
      <p:sp>
        <p:nvSpPr>
          <p:cNvPr id="6" name="chart card"/>
          <p:cNvSpPr/>
          <p:nvPr/>
        </p:nvSpPr>
        <p:spPr>
          <a:xfrm>
            <a:off x="5943600" y="1783080"/>
            <a:ext cx="5696712" cy="2514600"/>
          </a:xfrm>
          <a:prstGeom prst="roundRect">
            <a:avLst>
              <a:gd name="adj" fmla="val 4364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172200" y="18745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인천·강화 집적 예상 해안 상위 5구간 (좌초 밀도 점수)</a:t>
            </a:r>
            <a:endParaRPr lang="en-US" sz="11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035040" y="2148840"/>
          <a:ext cx="548640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943600" y="4434840"/>
            <a:ext cx="56967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모델: 조석 연속방정식(M2+S2) 조류 + 풍압 1.5% + 확산 10 m²/s, 좌초·재부유 확률. 200 m 격자, 15,000 입자, 30일.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출력: 구간별 순위(JSON)·GIS 라인(GeoJSON)·추천 촬영 경로. 섬 단위(교동도·서검도)는 8방위 구간으로 이름 붙임.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실측 해류(국립해양조사원·KOOS·Copernicus)로 교체 가능한 인터페이스. 현재는 모식 조류라 실측 검증 전.</a:t>
            </a:r>
            <a:endParaRPr lang="en-US" sz="1100" dirty="0"/>
          </a:p>
        </p:txBody>
      </p:sp>
      <p:sp>
        <p:nvSpPr>
          <p:cNvPr id="10" name="refs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4"/>
                </a:solidFill>
              </a:rPr>
              <a:t>근거: Dagestad et al. (2018) OpenDrift, Geosci. Model Dev. 11:1405–1420 · Onink et al. (2021) 좌초·재부유 매개변수화, Environ. Res. Lett. 16:064053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어떻게 날릴까: 시뮬레이터로 정한 비행 조건</a:t>
            </a:r>
            <a:endParaRPr lang="en-US" sz="28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20700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비행시간·발열·바닷바람의 제약과 탐지량의 트레이드오프를 실제 지형 위 시뮬레이션과 정사영상 시뮬레이터로 조정했습니다.</a:t>
            </a:r>
            <a:endParaRPr lang="en-US" sz="1400" dirty="0"/>
          </a:p>
        </p:txBody>
      </p:sp>
      <p:pic>
        <p:nvPicPr>
          <p:cNvPr id="4" name="월미도 비행 시뮬레이션 지도" descr="/tmp/claude-0/-home-user-hsr1m/6022f0b4-b8f8-52b0-8810-837ebd6bfbe9/scratchpad/deck/img/wolmido_ma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3291840" cy="40233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83387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월미도 DEM 위 선회 비행 시뮬레이션 (PyBullet)</a:t>
            </a:r>
            <a:endParaRPr lang="en-US" sz="900" dirty="0"/>
          </a:p>
        </p:txBody>
      </p:sp>
      <p:sp>
        <p:nvSpPr>
          <p:cNvPr id="6" name="chart card"/>
          <p:cNvSpPr/>
          <p:nvPr/>
        </p:nvSpPr>
        <p:spPr>
          <a:xfrm>
            <a:off x="4114800" y="1783080"/>
            <a:ext cx="365760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4343400" y="1874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재방문 효과: 탐지 재현율 (sim_ortho)</a:t>
            </a:r>
            <a:endParaRPr lang="en-US" sz="11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206240" y="2194560"/>
          <a:ext cx="347472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tat 재방문으로 늘어난 비행거리"/>
          <p:cNvSpPr/>
          <p:nvPr/>
        </p:nvSpPr>
        <p:spPr>
          <a:xfrm>
            <a:off x="7982712" y="1783080"/>
            <a:ext cx="365760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8238744" y="198424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재방문으로 늘어난 비행거리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8238744" y="228600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+697</a:t>
            </a:r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 m</a:t>
            </a:r>
            <a:endParaRPr lang="en-US" sz="3400" dirty="0"/>
          </a:p>
        </p:txBody>
      </p:sp>
      <p:sp>
        <p:nvSpPr>
          <p:cNvPr id="12" name="Text 8"/>
          <p:cNvSpPr txBox="1"/>
          <p:nvPr/>
        </p:nvSpPr>
        <p:spPr>
          <a:xfrm>
            <a:off x="8238744" y="2990088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재현율 15%p를 사는 값. 불확실한 물체만 다시 가므로 전체 재비행보다 짧다.</a:t>
            </a:r>
            <a:endParaRPr lang="en-US" sz="1050" dirty="0"/>
          </a:p>
        </p:txBody>
      </p:sp>
      <p:sp>
        <p:nvSpPr>
          <p:cNvPr id="13" name="card 비행 조건 (실험으로 고정)"/>
          <p:cNvSpPr/>
          <p:nvPr/>
        </p:nvSpPr>
        <p:spPr>
          <a:xfrm>
            <a:off x="4114800" y="4343400"/>
            <a:ext cx="7525512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4389120" y="4599432"/>
            <a:ext cx="6976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비행 조건 (실험으로 고정)</a:t>
            </a:r>
            <a:endParaRPr lang="en-US" sz="1250" dirty="0"/>
          </a:p>
        </p:txBody>
      </p:sp>
      <p:sp>
        <p:nvSpPr>
          <p:cNvPr id="15" name="Text 11"/>
          <p:cNvSpPr txBox="1"/>
          <p:nvPr/>
        </p:nvSpPr>
        <p:spPr>
          <a:xfrm>
            <a:off x="4389120" y="5038344"/>
            <a:ext cx="697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4"/>
                </a:solidFill>
              </a:rPr>
              <a:t>선회 패턴 기본(경사 통과는 탐지 전용) · 고도 20~40 m · 짐벌 −90° · 1초 간격 프레임 · 시차 확보: 고도 10 m 약 53°, 20 m 약 28°, 40 m 약 14°(5프레임 이상 권장) · 경로 추종 오차 최대 2.8 m(월미도), 2.4 m(강화)</a:t>
            </a:r>
            <a:endParaRPr lang="en-US" sz="1100" dirty="0"/>
          </a:p>
        </p:txBody>
      </p:sp>
      <p:sp>
        <p:nvSpPr>
          <p:cNvPr id="16" name="refs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4"/>
                </a:solidFill>
              </a:rPr>
              <a:t>근거: Galceran &amp; Carreras (2013) 커버리지 경로계획 서베이, Robot. Auton. Syst. 61(12):1258–1276 · Popović et al. (2020) 정보 경로계획(IPP), Auton. Robots 44:889–911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무엇이 어디에: 탐지와 광선 교차 삼각측량</a:t>
            </a:r>
            <a:endParaRPr lang="en-US" sz="28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20700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같은 물체를 본 여러 프레임의 카메라 광선을 서로 교차시켜 위치를 풉니다. 카메라 높이·평지 가정이 빠져 고도 입력 오류에 둔감합니다.</a:t>
            </a:r>
            <a:endParaRPr lang="en-US" sz="1400" dirty="0"/>
          </a:p>
        </p:txBody>
      </p:sp>
      <p:sp>
        <p:nvSpPr>
          <p:cNvPr id="4" name="card 탐지: AI-Hub 해안쓰레기 학습 YOLO"/>
          <p:cNvSpPr/>
          <p:nvPr/>
        </p:nvSpPr>
        <p:spPr>
          <a:xfrm>
            <a:off x="548640" y="1783080"/>
            <a:ext cx="484632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5" name="icon circle"/>
          <p:cNvSpPr/>
          <p:nvPr/>
        </p:nvSpPr>
        <p:spPr>
          <a:xfrm>
            <a:off x="822960" y="2039112"/>
            <a:ext cx="566928" cy="566928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6" name="icon FaSearchLocati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176272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77063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탐지: AI-Hub 해안쓰레기 학습 YOLO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20954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accent4"/>
                </a:solidFill>
              </a:rPr>
              <a:t>11개 레이블 추가 학습. 1초 간격 프레임마다 박스·종류·신뢰도를 내고, 신뢰도는 위치 계산의 가중치로 넘어갑니다.</a:t>
            </a:r>
            <a:endParaRPr lang="en-US" sz="1150" dirty="0"/>
          </a:p>
        </p:txBody>
      </p:sp>
      <p:sp>
        <p:nvSpPr>
          <p:cNvPr id="9" name="card 위치: 3×3 최소제곱 + Huber 가중"/>
          <p:cNvSpPr/>
          <p:nvPr/>
        </p:nvSpPr>
        <p:spPr>
          <a:xfrm>
            <a:off x="548640" y="3886200"/>
            <a:ext cx="484632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822960" y="4142232"/>
            <a:ext cx="566928" cy="566928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11" name="icon FaCrosshair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279392"/>
            <a:ext cx="292608" cy="29260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22960" y="487375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위치: 3×3 최소제곱 + Huber 가중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531266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accent4"/>
                </a:solidFill>
              </a:rPr>
              <a:t>시차 5° 미만(호버링)이면 평면 교차로 자동 복귀. 쌍별 높이 투표로 지면 높이를 역산해 SRT 고도를 검증하고, GPS 편향을 공통 오차로 넣은 몬테카를로 오차반경(r95)을 물체마다 기록합니다.</a:t>
            </a:r>
            <a:endParaRPr lang="en-US" sz="1150" dirty="0"/>
          </a:p>
        </p:txBody>
      </p:sp>
      <p:sp>
        <p:nvSpPr>
          <p:cNvPr id="14" name="table card"/>
          <p:cNvSpPr/>
          <p:nvPr/>
        </p:nvSpPr>
        <p:spPr>
          <a:xfrm>
            <a:off x="5669280" y="1783080"/>
            <a:ext cx="5971032" cy="2743200"/>
          </a:xfrm>
          <a:prstGeom prst="roundRect">
            <a:avLst>
              <a:gd name="adj" fmla="val 4000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897880" y="1874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합성 시나리오 검증 (정답 위치 대비 최대 오차)</a:t>
            </a:r>
            <a:endParaRPr lang="en-US" sz="1150" dirty="0"/>
          </a:p>
        </p:txBody>
      </p:sp>
      <p:graphicFrame>
        <p:nvGraphicFramePr>
          <p:cNvPr id="14" name="synthetic resul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2194560"/>
          <a:ext cx="5513832" cy="914400"/>
        </p:xfrm>
        <a:graphic>
          <a:graphicData uri="http://schemas.openxmlformats.org/drawingml/2006/table">
            <a:tbl>
              <a:tblPr/>
              <a:tblGrid>
                <a:gridCol w="2770632"/>
                <a:gridCol w="1280160"/>
                <a:gridCol w="14630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3C5D"/>
                          </a:solidFill>
                        </a:rPr>
                        <a:t>시나리오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3C5D"/>
                          </a:solidFill>
                        </a:rPr>
                        <a:t>삼각측량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3C5D"/>
                          </a:solidFill>
                        </a:rPr>
                        <a:t>기존 평면 교차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E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212E"/>
                          </a:solidFill>
                        </a:rPr>
                        <a:t>직진, 입력 높이 3.7 m / 실제 20 m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212E"/>
                          </a:solidFill>
                        </a:rPr>
                        <a:t>0.02 m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212E"/>
                          </a:solidFill>
                        </a:rPr>
                        <a:t>묶기 실패 (0개)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212E"/>
                          </a:solidFill>
                        </a:rPr>
                        <a:t>일렬 물체 3개, 입력 8 m / 실제 20 m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212E"/>
                          </a:solidFill>
                        </a:rPr>
                        <a:t>0.01~0.02 m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212E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212E"/>
                          </a:solidFill>
                        </a:rPr>
                        <a:t>이상치 광선 1개 포함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212E"/>
                          </a:solidFill>
                        </a:rPr>
                        <a:t>0.11 m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212E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212E"/>
                          </a:solidFill>
                        </a:rPr>
                        <a:t>짐벌 −60° 선회 (반경 6 m)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212E"/>
                          </a:solidFill>
                        </a:rPr>
                        <a:t>0.01 m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212E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212E"/>
                          </a:solidFill>
                        </a:rPr>
                        <a:t>몬테카를로 r95 (GPS 1σ 2.5 m)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212E"/>
                          </a:solidFill>
                        </a:rPr>
                        <a:t>5.2 m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212E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stat ㅁ자 건물 실기체: 3D ↔ GPS 잔차"/>
          <p:cNvSpPr/>
          <p:nvPr/>
        </p:nvSpPr>
        <p:spPr>
          <a:xfrm>
            <a:off x="5669280" y="4709160"/>
            <a:ext cx="28803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5925312" y="4910328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ㅁ자 건물 실기체: 3D ↔ GPS 잔차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5925312" y="521208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1.16</a:t>
            </a:r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 m</a:t>
            </a:r>
            <a:endParaRPr lang="en-US" sz="3400" dirty="0"/>
          </a:p>
        </p:txBody>
      </p:sp>
      <p:sp>
        <p:nvSpPr>
          <p:cNvPr id="20" name="stat r95 오차반경 (GPS 1σ 2.5 m)"/>
          <p:cNvSpPr/>
          <p:nvPr/>
        </p:nvSpPr>
        <p:spPr>
          <a:xfrm>
            <a:off x="8759952" y="4709160"/>
            <a:ext cx="28803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21" name="Text 16"/>
          <p:cNvSpPr txBox="1"/>
          <p:nvPr/>
        </p:nvSpPr>
        <p:spPr>
          <a:xfrm>
            <a:off x="9015984" y="4910328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r95 오차반경 (GPS 1σ 2.5 m)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9015984" y="521208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5.2</a:t>
            </a:r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 m</a:t>
            </a:r>
            <a:endParaRPr lang="en-US" sz="3400" dirty="0"/>
          </a:p>
        </p:txBody>
      </p:sp>
      <p:sp>
        <p:nvSpPr>
          <p:cNvPr id="23" name="refs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4"/>
                </a:solidFill>
              </a:rPr>
              <a:t>근거: Martin et al. (2018) MPB 131:662–673 · Fallati et al. (2019) STOTEN 693:133581 · Hartley &amp; Sturm (1997) CVIU 68(2):146–157 · 절대 위치의 바닥은 GPS(1 m 이하는 RTK·기준표식)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얼마나 무거운가: 3D 부피 × 겉보기밀도, 그리고 구간</a:t>
            </a:r>
            <a:endParaRPr lang="en-US" sz="28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20700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선회 비행 사진으로 물체 3D를 복원해 부피를 재고, 종류별 겉보기밀도를 곱합니다. 무게는 점이 아니라 하한~상한 구간으로 넘깁니다.</a:t>
            </a:r>
            <a:endParaRPr lang="en-US" sz="1400" dirty="0"/>
          </a:p>
        </p:txBody>
      </p:sp>
      <p:sp>
        <p:nvSpPr>
          <p:cNvPr id="4" name="chart card"/>
          <p:cNvSpPr/>
          <p:nvPr/>
        </p:nvSpPr>
        <p:spPr>
          <a:xfrm>
            <a:off x="548640" y="1783080"/>
            <a:ext cx="4937760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874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SfM 부피 오차, 실측 대비 (선회 비행 0007)</a:t>
            </a:r>
            <a:endParaRPr lang="en-US" sz="11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2194560"/>
          <a:ext cx="475488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ag"/>
          <p:cNvSpPr/>
          <p:nvPr/>
        </p:nvSpPr>
        <p:spPr>
          <a:xfrm>
            <a:off x="777240" y="4709160"/>
            <a:ext cx="2377440" cy="274320"/>
          </a:xfrm>
          <a:prstGeom prst="roundRect">
            <a:avLst>
              <a:gd name="adj" fmla="val 50000"/>
            </a:avLst>
          </a:prstGeom>
          <a:solidFill>
            <a:srgbClr val="F26B21"/>
          </a:solidFill>
          <a:ln w="12700">
            <a:solidFill>
              <a:srgbClr val="F26B2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47091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bg1"/>
                </a:solidFill>
              </a:rPr>
              <a:t>경사 통과 0015: 3D 복원 실패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507492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한 방향으로 지나가는 비행은 물체의 면이 한쪽만 보여 3D가 서지 않습니다. 선회를 기본 패턴으로 고정한 이유입니다.</a:t>
            </a:r>
            <a:endParaRPr lang="en-US" sz="1050" dirty="0"/>
          </a:p>
        </p:txBody>
      </p:sp>
      <p:sp>
        <p:nvSpPr>
          <p:cNvPr id="10" name="card 예측구간: 분포 가정 없는 conformal prediction"/>
          <p:cNvSpPr/>
          <p:nvPr/>
        </p:nvSpPr>
        <p:spPr>
          <a:xfrm>
            <a:off x="5760720" y="1783080"/>
            <a:ext cx="587959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1" name="icon circle"/>
          <p:cNvSpPr/>
          <p:nvPr/>
        </p:nvSpPr>
        <p:spPr>
          <a:xfrm>
            <a:off x="6035040" y="2039112"/>
            <a:ext cx="566928" cy="566928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12" name="icon FaRulerCombined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176272"/>
            <a:ext cx="292608" cy="29260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035040" y="2770632"/>
            <a:ext cx="5330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예측구간: 분포 가정 없는 conformal prediction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6035040" y="3209544"/>
            <a:ext cx="5330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accent4"/>
                </a:solidFill>
              </a:rPr>
              <a:t>문갑도 42개의 부피·실측 무게 쌍으로 종류별 겉보기밀도 분포와 보정 집합을 만들고, 포함확률 90%의 하한~상한을 물체마다 붙입니다. 어떤 모델에도 사후 적용 가능합니다.</a:t>
            </a:r>
            <a:endParaRPr lang="en-US" sz="1150" dirty="0"/>
          </a:p>
        </p:txBody>
      </p:sp>
      <p:sp>
        <p:nvSpPr>
          <p:cNvPr id="15" name="card 재방문 규칙: 계획을 바꾸는 불확실성만"/>
          <p:cNvSpPr/>
          <p:nvPr/>
        </p:nvSpPr>
        <p:spPr>
          <a:xfrm>
            <a:off x="5760720" y="3886200"/>
            <a:ext cx="587959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6" name="icon circle"/>
          <p:cNvSpPr/>
          <p:nvPr/>
        </p:nvSpPr>
        <p:spPr>
          <a:xfrm>
            <a:off x="6035040" y="4142232"/>
            <a:ext cx="566928" cy="566928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17" name="icon FaBullsey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4279392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035040" y="4873752"/>
            <a:ext cx="5330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재방문 규칙: 계획을 바꾸는 불확실성만</a:t>
            </a:r>
            <a:endParaRPr lang="en-US" sz="1350" dirty="0"/>
          </a:p>
        </p:txBody>
      </p:sp>
      <p:sp>
        <p:nvSpPr>
          <p:cNvPr id="19" name="Text 14"/>
          <p:cNvSpPr txBox="1"/>
          <p:nvPr/>
        </p:nvSpPr>
        <p:spPr>
          <a:xfrm>
            <a:off x="6035040" y="5312664"/>
            <a:ext cx="5330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accent4"/>
                </a:solidFill>
              </a:rPr>
              <a:t>구간이 1인 운반 한계(23 kg), 마대, 트럭 적재 경계를 가로지르는 물체만 2차 비행 후보. 그 외는 구간이 넓어도 다시 가지 않습니다. 보정 데이터 확보 중.</a:t>
            </a:r>
            <a:endParaRPr lang="en-US" sz="1150" dirty="0"/>
          </a:p>
        </p:txBody>
      </p:sp>
      <p:sp>
        <p:nvSpPr>
          <p:cNvPr id="20" name="refs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4"/>
                </a:solidFill>
              </a:rPr>
              <a:t>근거: Westoby et al. (2012) SfM, Geomorphology 179:300–314 · Kako, Morita &amp; Taneda (2020) 드론+SfM+딥러닝 해변 플라스틱 부피, MPB 155:111127 · Angelopoulos &amp; Bates (2023) Conformal Prediction, Found. Trends ML 16(4):494–591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수거계획: 마대·트럭·인원이 숫자로 나온다</a:t>
            </a:r>
            <a:endParaRPr lang="en-US" sz="28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207008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대시보드 화면 구성. 아래 수치는 예시 데이터이며, 문갑도 42개 라벨을 넣으면 같은 화면이 실제 값으로 바뀝니다.</a:t>
            </a:r>
            <a:endParaRPr lang="en-US" sz="1400" dirty="0"/>
          </a:p>
        </p:txBody>
      </p:sp>
      <p:sp>
        <p:nvSpPr>
          <p:cNvPr id="4" name="tag"/>
          <p:cNvSpPr/>
          <p:nvPr/>
        </p:nvSpPr>
        <p:spPr>
          <a:xfrm>
            <a:off x="10222992" y="128016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26B21"/>
          </a:solidFill>
          <a:ln w="12700">
            <a:solidFill>
              <a:srgbClr val="F26B2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222992" y="128016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bg1"/>
                </a:solidFill>
              </a:rPr>
              <a:t>예시 데이터</a:t>
            </a:r>
            <a:endParaRPr lang="en-US" sz="950" dirty="0"/>
          </a:p>
        </p:txBody>
      </p:sp>
      <p:sp>
        <p:nvSpPr>
          <p:cNvPr id="6" name="kpi 탐지 물체"/>
          <p:cNvSpPr/>
          <p:nvPr/>
        </p:nvSpPr>
        <p:spPr>
          <a:xfrm>
            <a:off x="548640" y="178308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탐지 물체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1488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12</a:t>
            </a:r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 개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697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4개 구간</a:t>
            </a:r>
            <a:endParaRPr lang="en-US" sz="950" dirty="0"/>
          </a:p>
        </p:txBody>
      </p:sp>
      <p:sp>
        <p:nvSpPr>
          <p:cNvPr id="10" name="kpi 총 무게 예측구간"/>
          <p:cNvSpPr/>
          <p:nvPr/>
        </p:nvSpPr>
        <p:spPr>
          <a:xfrm>
            <a:off x="3360420" y="178308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61588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총 무게 예측구간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561588" y="21488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71–175</a:t>
            </a:r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 kg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3561588" y="2697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폭 104 kg</a:t>
            </a:r>
            <a:endParaRPr lang="en-US" sz="950" dirty="0"/>
          </a:p>
        </p:txBody>
      </p:sp>
      <p:sp>
        <p:nvSpPr>
          <p:cNvPr id="14" name="kpi 2차 비행 후보"/>
          <p:cNvSpPr/>
          <p:nvPr/>
        </p:nvSpPr>
        <p:spPr>
          <a:xfrm>
            <a:off x="6172200" y="178308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3368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2차 비행 후보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373368" y="21488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4</a:t>
            </a:r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 개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6373368" y="2697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33%만 재방문</a:t>
            </a:r>
            <a:endParaRPr lang="en-US" sz="950" dirty="0"/>
          </a:p>
        </p:txBody>
      </p:sp>
      <p:sp>
        <p:nvSpPr>
          <p:cNvPr id="18" name="kpi 2차 비행 후 확정"/>
          <p:cNvSpPr/>
          <p:nvPr/>
        </p:nvSpPr>
        <p:spPr>
          <a:xfrm>
            <a:off x="8983980" y="178308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85148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2차 비행 후 확정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9185148" y="21488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마대 4→9 · 트럭 1 · 인원 1→2</a:t>
            </a:r>
            <a:pPr indent="0" marL="0">
              <a:buNone/>
            </a:pP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185148" y="2697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하한·상한 두 번 계산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200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구간 우선순위 (집적 예측 × 1차 비행 탐지량)</a:t>
            </a:r>
            <a:endParaRPr lang="en-US" sz="1150" dirty="0"/>
          </a:p>
        </p:txBody>
      </p:sp>
      <p:sp>
        <p:nvSpPr>
          <p:cNvPr id="23" name="segment A"/>
          <p:cNvSpPr/>
          <p:nvPr/>
        </p:nvSpPr>
        <p:spPr>
          <a:xfrm>
            <a:off x="548640" y="3520440"/>
            <a:ext cx="868680" cy="822960"/>
          </a:xfrm>
          <a:prstGeom prst="rect">
            <a:avLst/>
          </a:prstGeom>
          <a:solidFill>
            <a:srgbClr val="0B3C5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" y="35661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40233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bg1"/>
                </a:solidFill>
              </a:rPr>
              <a:t>12–36 kg</a:t>
            </a:r>
            <a:endParaRPr lang="en-US" sz="850" dirty="0"/>
          </a:p>
        </p:txBody>
      </p:sp>
      <p:sp>
        <p:nvSpPr>
          <p:cNvPr id="26" name="segment B"/>
          <p:cNvSpPr/>
          <p:nvPr/>
        </p:nvSpPr>
        <p:spPr>
          <a:xfrm>
            <a:off x="1463040" y="3520440"/>
            <a:ext cx="868680" cy="822960"/>
          </a:xfrm>
          <a:prstGeom prst="rect">
            <a:avLst/>
          </a:prstGeom>
          <a:solidFill>
            <a:srgbClr val="0B3C5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554480" y="35661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554480" y="40233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bg1"/>
                </a:solidFill>
              </a:rPr>
              <a:t>23–66 kg</a:t>
            </a:r>
            <a:endParaRPr lang="en-US" sz="850" dirty="0"/>
          </a:p>
        </p:txBody>
      </p:sp>
      <p:sp>
        <p:nvSpPr>
          <p:cNvPr id="29" name="segment C"/>
          <p:cNvSpPr/>
          <p:nvPr/>
        </p:nvSpPr>
        <p:spPr>
          <a:xfrm>
            <a:off x="2377440" y="3520440"/>
            <a:ext cx="868680" cy="822960"/>
          </a:xfrm>
          <a:prstGeom prst="rect">
            <a:avLst/>
          </a:prstGeom>
          <a:solidFill>
            <a:srgbClr val="7FA6B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468880" y="35661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468880" y="40233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bg1"/>
                </a:solidFill>
              </a:rPr>
              <a:t>22–38 kg</a:t>
            </a:r>
            <a:endParaRPr lang="en-US" sz="850" dirty="0"/>
          </a:p>
        </p:txBody>
      </p:sp>
      <p:sp>
        <p:nvSpPr>
          <p:cNvPr id="32" name="segment D"/>
          <p:cNvSpPr/>
          <p:nvPr/>
        </p:nvSpPr>
        <p:spPr>
          <a:xfrm>
            <a:off x="3291840" y="3520440"/>
            <a:ext cx="868680" cy="822960"/>
          </a:xfrm>
          <a:prstGeom prst="rect">
            <a:avLst/>
          </a:prstGeom>
          <a:solidFill>
            <a:srgbClr val="7FA6B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383280" y="35661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3383280" y="40233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bg1"/>
                </a:solidFill>
              </a:rPr>
              <a:t>14–35 kg</a:t>
            </a:r>
            <a:endParaRPr lang="en-US" sz="850" dirty="0"/>
          </a:p>
        </p:txBody>
      </p:sp>
      <p:sp>
        <p:nvSpPr>
          <p:cNvPr id="35" name="segment E"/>
          <p:cNvSpPr/>
          <p:nvPr/>
        </p:nvSpPr>
        <p:spPr>
          <a:xfrm>
            <a:off x="4206240" y="3520440"/>
            <a:ext cx="868680" cy="822960"/>
          </a:xfrm>
          <a:prstGeom prst="rect">
            <a:avLst/>
          </a:prstGeom>
          <a:solidFill>
            <a:srgbClr val="D5DEE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297680" y="35661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4297680" y="40233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accent4"/>
                </a:solidFill>
              </a:rPr>
              <a:t>미탐지</a:t>
            </a:r>
            <a:endParaRPr lang="en-US" sz="850" dirty="0"/>
          </a:p>
        </p:txBody>
      </p:sp>
      <p:sp>
        <p:nvSpPr>
          <p:cNvPr id="38" name="segment F"/>
          <p:cNvSpPr/>
          <p:nvPr/>
        </p:nvSpPr>
        <p:spPr>
          <a:xfrm>
            <a:off x="5120640" y="3520440"/>
            <a:ext cx="868680" cy="822960"/>
          </a:xfrm>
          <a:prstGeom prst="rect">
            <a:avLst/>
          </a:prstGeom>
          <a:solidFill>
            <a:srgbClr val="D5DEE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212080" y="35661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F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5212080" y="40233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accent4"/>
                </a:solidFill>
              </a:rPr>
              <a:t>미탐지</a:t>
            </a:r>
            <a:endParaRPr lang="en-US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44348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A→F는 해안을 따라 서→동. 색이 진할수록 먼저 수거. 실제 지도는 라벨 좌표로 그립니다.</a:t>
            </a:r>
            <a:endParaRPr lang="en-US" sz="950" dirty="0"/>
          </a:p>
        </p:txBody>
      </p:sp>
      <p:sp>
        <p:nvSpPr>
          <p:cNvPr id="42" name="output 마대"/>
          <p:cNvSpPr/>
          <p:nvPr/>
        </p:nvSpPr>
        <p:spPr>
          <a:xfrm>
            <a:off x="548640" y="4937760"/>
            <a:ext cx="1783080" cy="960120"/>
          </a:xfrm>
          <a:prstGeom prst="roundRect">
            <a:avLst>
              <a:gd name="adj" fmla="val 9524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85800" y="500176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마대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685800" y="52120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4–9 장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685800" y="5577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chemeClr val="accent4"/>
                </a:solidFill>
              </a:rPr>
              <a:t>⌈71~175 ÷ 20⌉ · 2차 비행으로 확정</a:t>
            </a:r>
            <a:endParaRPr lang="en-US" sz="750" dirty="0"/>
          </a:p>
        </p:txBody>
      </p:sp>
      <p:sp>
        <p:nvSpPr>
          <p:cNvPr id="46" name="output 트럭"/>
          <p:cNvSpPr/>
          <p:nvPr/>
        </p:nvSpPr>
        <p:spPr>
          <a:xfrm>
            <a:off x="2423160" y="4937760"/>
            <a:ext cx="1783080" cy="960120"/>
          </a:xfrm>
          <a:prstGeom prst="roundRect">
            <a:avLst>
              <a:gd name="adj" fmla="val 9524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2560320" y="500176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트럭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2560320" y="52120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 대</a:t>
            </a:r>
            <a:endParaRPr lang="en-US" sz="1600" dirty="0"/>
          </a:p>
        </p:txBody>
      </p:sp>
      <p:sp>
        <p:nvSpPr>
          <p:cNvPr id="49" name="Text 47"/>
          <p:cNvSpPr txBox="1"/>
          <p:nvPr/>
        </p:nvSpPr>
        <p:spPr>
          <a:xfrm>
            <a:off x="2560320" y="5577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chemeClr val="accent4"/>
                </a:solidFill>
              </a:rPr>
              <a:t>⌈71~175 ÷ 1,000⌉ · 확정</a:t>
            </a:r>
            <a:endParaRPr lang="en-US" sz="750" dirty="0"/>
          </a:p>
        </p:txBody>
      </p:sp>
      <p:sp>
        <p:nvSpPr>
          <p:cNvPr id="50" name="output 인원 (1일)"/>
          <p:cNvSpPr/>
          <p:nvPr/>
        </p:nvSpPr>
        <p:spPr>
          <a:xfrm>
            <a:off x="4297680" y="4937760"/>
            <a:ext cx="1783080" cy="960120"/>
          </a:xfrm>
          <a:prstGeom prst="roundRect">
            <a:avLst>
              <a:gd name="adj" fmla="val 9524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4434840" y="500176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인원 (1일)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4434840" y="52120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1–2 명</a:t>
            </a:r>
            <a:endParaRPr lang="en-US" sz="1600" dirty="0"/>
          </a:p>
        </p:txBody>
      </p:sp>
      <p:sp>
        <p:nvSpPr>
          <p:cNvPr id="53" name="Text 51"/>
          <p:cNvSpPr txBox="1"/>
          <p:nvPr/>
        </p:nvSpPr>
        <p:spPr>
          <a:xfrm>
            <a:off x="4434840" y="5577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chemeClr val="accent4"/>
                </a:solidFill>
              </a:rPr>
              <a:t>⌈마대 ÷ 8⌉ · 2차 비행으로 확정</a:t>
            </a:r>
            <a:endParaRPr lang="en-US" sz="750" dirty="0"/>
          </a:p>
        </p:txBody>
      </p:sp>
      <p:sp>
        <p:nvSpPr>
          <p:cNvPr id="54" name="Text 52"/>
          <p:cNvSpPr txBox="1"/>
          <p:nvPr/>
        </p:nvSpPr>
        <p:spPr>
          <a:xfrm>
            <a:off x="6400800" y="320040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2차 비행 후보 (구간이 경계에 걸린 물체만)</a:t>
            </a:r>
            <a:endParaRPr lang="en-US" sz="1150" dirty="0"/>
          </a:p>
        </p:txBody>
      </p:sp>
      <p:graphicFrame>
        <p:nvGraphicFramePr>
          <p:cNvPr id="16" name="revisit candidat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3520440"/>
          <a:ext cx="523951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143000"/>
                <a:gridCol w="1005840"/>
                <a:gridCol w="20848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3C5D"/>
                          </a:solidFill>
                        </a:rPr>
                        <a:t>ID · 구간</a:t>
                      </a:r>
                      <a:endParaRPr lang="en-US" sz="1000" dirty="0"/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3C5D"/>
                          </a:solidFill>
                        </a:rPr>
                        <a:t>종류</a:t>
                      </a:r>
                      <a:endParaRPr lang="en-US" sz="1000" dirty="0"/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3C5D"/>
                          </a:solidFill>
                        </a:rPr>
                        <a:t>무게 구간</a:t>
                      </a:r>
                      <a:endParaRPr lang="en-US" sz="1000" dirty="0"/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3C5D"/>
                          </a:solidFill>
                        </a:rPr>
                        <a:t>이유</a:t>
                      </a:r>
                      <a:endParaRPr lang="en-US" sz="1000" dirty="0"/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E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D-06 · B</a:t>
                      </a:r>
                      <a:endParaRPr lang="en-US" sz="950" dirty="0"/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폐어망(젖음)</a:t>
                      </a:r>
                      <a:endParaRPr lang="en-US" sz="950" dirty="0"/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18–52 kg</a:t>
                      </a:r>
                      <a:endParaRPr lang="en-US" sz="950" dirty="0"/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23 kg 가로지름 · 마대 2→4장</a:t>
                      </a:r>
                      <a:endParaRPr lang="en-US" sz="950" dirty="0"/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D-02 · A</a:t>
                      </a:r>
                      <a:endParaRPr lang="en-US" sz="950" dirty="0"/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폐어망 뭉치</a:t>
                      </a:r>
                      <a:endParaRPr lang="en-US" sz="950" dirty="0"/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9.5–31 kg</a:t>
                      </a:r>
                      <a:endParaRPr lang="en-US" sz="950" dirty="0"/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23 kg 가로지름 · 마대 1→2장</a:t>
                      </a:r>
                      <a:endParaRPr lang="en-US" sz="950" dirty="0"/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D-12 · D</a:t>
                      </a:r>
                      <a:endParaRPr lang="en-US" sz="950" dirty="0"/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혼합 뭉치</a:t>
                      </a:r>
                      <a:endParaRPr lang="en-US" sz="950" dirty="0"/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6–20 kg</a:t>
                      </a:r>
                      <a:endParaRPr lang="en-US" sz="950" dirty="0"/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마대 1→2장, 폭이 큰 물체</a:t>
                      </a:r>
                      <a:endParaRPr lang="en-US" sz="950" dirty="0"/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D-08 · C</a:t>
                      </a:r>
                      <a:endParaRPr lang="en-US" sz="950" dirty="0"/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폐목재</a:t>
                      </a:r>
                      <a:endParaRPr lang="en-US" sz="950" dirty="0"/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14–27 kg</a:t>
                      </a:r>
                      <a:endParaRPr lang="en-US" sz="950" dirty="0"/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23 kg 가로지름</a:t>
                      </a:r>
                      <a:endParaRPr lang="en-US" sz="950" dirty="0"/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Text 53"/>
          <p:cNvSpPr txBox="1"/>
          <p:nvPr/>
        </p:nvSpPr>
        <p:spPr>
          <a:xfrm>
            <a:off x="6400800" y="5166360"/>
            <a:ext cx="5239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규칙: 무게 구간이 1인 운반 한계를 가로지르거나, 구간 합계의 마대 수가 하한·상한에서 달라지는 물체. 산출은 하한과 상한으로 두 번 계산해 '확정'인지 '2차 비행 필요'인지 보여줍니다.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수거 경로: 사람이 갈 수 있는 길로, 지자체 조건에 맞춰</a:t>
            </a:r>
            <a:endParaRPr lang="en-US" sz="28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207008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수거 인력을 위한 접근·수거 동선. 드론 비행 때는 바다·산을, 수거 때는 사람·차량이 못 가는 곳을 마스킹합니다.</a:t>
            </a:r>
            <a:endParaRPr lang="en-US" sz="1400" dirty="0"/>
          </a:p>
        </p:txBody>
      </p:sp>
      <p:sp>
        <p:nvSpPr>
          <p:cNvPr id="4" name="tag"/>
          <p:cNvSpPr/>
          <p:nvPr/>
        </p:nvSpPr>
        <p:spPr>
          <a:xfrm>
            <a:off x="10222992" y="128016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26B21"/>
          </a:solidFill>
          <a:ln w="12700">
            <a:solidFill>
              <a:srgbClr val="F26B2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222992" y="128016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bg1"/>
                </a:solidFill>
              </a:rPr>
              <a:t>설계 중</a:t>
            </a:r>
            <a:endParaRPr lang="en-US" sz="950" dirty="0"/>
          </a:p>
        </p:txBody>
      </p:sp>
      <p:sp>
        <p:nvSpPr>
          <p:cNvPr id="6" name="card 지자체 조건 입력"/>
          <p:cNvSpPr/>
          <p:nvPr/>
        </p:nvSpPr>
        <p:spPr>
          <a:xfrm>
            <a:off x="548640" y="1783080"/>
            <a:ext cx="2651760" cy="301752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7" name="icon circle"/>
          <p:cNvSpPr/>
          <p:nvPr/>
        </p:nvSpPr>
        <p:spPr>
          <a:xfrm>
            <a:off x="822960" y="2039112"/>
            <a:ext cx="566928" cy="566928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8" name="icon FaCity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176272"/>
            <a:ext cx="292608" cy="29260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22960" y="277063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지자체 조건 입력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209544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accent4"/>
                </a:solidFill>
              </a:rPr>
              <a:t>인원·차량(트럭 적재량)·작업 시간·마대 규격. 지자체마다 다르므로 설정값으로 둡니다.</a:t>
            </a:r>
            <a:endParaRPr lang="en-US" sz="1150" dirty="0"/>
          </a:p>
        </p:txBody>
      </p:sp>
      <p:sp>
        <p:nvSpPr>
          <p:cNvPr id="11" name="card 통행 가능 구역 마스킹"/>
          <p:cNvSpPr/>
          <p:nvPr/>
        </p:nvSpPr>
        <p:spPr>
          <a:xfrm>
            <a:off x="3360420" y="1783080"/>
            <a:ext cx="2651760" cy="301752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2" name="icon circle"/>
          <p:cNvSpPr/>
          <p:nvPr/>
        </p:nvSpPr>
        <p:spPr>
          <a:xfrm>
            <a:off x="3634740" y="2039112"/>
            <a:ext cx="566928" cy="566928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13" name="icon FaWalking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176272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634740" y="277063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통행 가능 구역 마스킹</a:t>
            </a:r>
            <a:endParaRPr lang="en-US" sz="1350" dirty="0"/>
          </a:p>
        </p:txBody>
      </p:sp>
      <p:sp>
        <p:nvSpPr>
          <p:cNvPr id="15" name="Text 11"/>
          <p:cNvSpPr txBox="1"/>
          <p:nvPr/>
        </p:nvSpPr>
        <p:spPr>
          <a:xfrm>
            <a:off x="3634740" y="3209544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accent4"/>
                </a:solidFill>
              </a:rPr>
              <a:t>해안 접근로·로드뷰 기반 진입 지점. 해변은 차량 진입이 제한되므로 하역 지점을 따로 둡니다.</a:t>
            </a:r>
            <a:endParaRPr lang="en-US" sz="1150" dirty="0"/>
          </a:p>
        </p:txBody>
      </p:sp>
      <p:sp>
        <p:nvSpPr>
          <p:cNvPr id="16" name="card 최단 수거 경로"/>
          <p:cNvSpPr/>
          <p:nvPr/>
        </p:nvSpPr>
        <p:spPr>
          <a:xfrm>
            <a:off x="6172200" y="1783080"/>
            <a:ext cx="2651760" cy="301752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7" name="icon circle"/>
          <p:cNvSpPr/>
          <p:nvPr/>
        </p:nvSpPr>
        <p:spPr>
          <a:xfrm>
            <a:off x="6446520" y="2039112"/>
            <a:ext cx="566928" cy="566928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18" name="icon FaRout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2176272"/>
            <a:ext cx="292608" cy="29260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446520" y="277063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최단 수거 경로</a:t>
            </a:r>
            <a:endParaRPr lang="en-US" sz="1350" dirty="0"/>
          </a:p>
        </p:txBody>
      </p:sp>
      <p:sp>
        <p:nvSpPr>
          <p:cNvPr id="20" name="Text 15"/>
          <p:cNvSpPr txBox="1"/>
          <p:nvPr/>
        </p:nvSpPr>
        <p:spPr>
          <a:xfrm>
            <a:off x="6446520" y="3209544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accent4"/>
                </a:solidFill>
              </a:rPr>
              <a:t>물체 위치·무게 구간·하역 지점을 넣어 인원별 동선과 왕복 횟수를 계산합니다.</a:t>
            </a:r>
            <a:endParaRPr lang="en-US" sz="1150" dirty="0"/>
          </a:p>
        </p:txBody>
      </p:sp>
      <p:sp>
        <p:nvSpPr>
          <p:cNvPr id="21" name="card 앱·대시보드 제공"/>
          <p:cNvSpPr/>
          <p:nvPr/>
        </p:nvSpPr>
        <p:spPr>
          <a:xfrm>
            <a:off x="8983980" y="1783080"/>
            <a:ext cx="2651760" cy="301752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22" name="icon circle"/>
          <p:cNvSpPr/>
          <p:nvPr/>
        </p:nvSpPr>
        <p:spPr>
          <a:xfrm>
            <a:off x="9258300" y="2039112"/>
            <a:ext cx="566928" cy="566928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23" name="icon FaClipboardList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5460" y="2176272"/>
            <a:ext cx="292608" cy="292608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258300" y="277063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앱·대시보드 제공</a:t>
            </a:r>
            <a:endParaRPr lang="en-US" sz="1350" dirty="0"/>
          </a:p>
        </p:txBody>
      </p:sp>
      <p:sp>
        <p:nvSpPr>
          <p:cNvPr id="25" name="Text 19"/>
          <p:cNvSpPr txBox="1"/>
          <p:nvPr/>
        </p:nvSpPr>
        <p:spPr>
          <a:xfrm>
            <a:off x="9258300" y="3209544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accent4"/>
                </a:solidFill>
              </a:rPr>
              <a:t>현장에서는 '못 찾음'·'수거 완료' 체크로 되돌려 받아 다음 비행의 재현율 보정에 씁니다.</a:t>
            </a:r>
            <a:endParaRPr lang="en-US" sz="1150" dirty="0"/>
          </a:p>
        </p:txBody>
      </p:sp>
      <p:sp>
        <p:nvSpPr>
          <p:cNvPr id="26" name="card 왜 드론 단계와 분리하는가"/>
          <p:cNvSpPr/>
          <p:nvPr/>
        </p:nvSpPr>
        <p:spPr>
          <a:xfrm>
            <a:off x="548640" y="4983480"/>
            <a:ext cx="11091672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822960" y="5239512"/>
            <a:ext cx="10543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왜 드론 단계와 분리하는가</a:t>
            </a:r>
            <a:endParaRPr lang="en-US" sz="1250" dirty="0"/>
          </a:p>
        </p:txBody>
      </p:sp>
      <p:sp>
        <p:nvSpPr>
          <p:cNvPr id="28" name="Text 22"/>
          <p:cNvSpPr txBox="1"/>
          <p:nvPr/>
        </p:nvSpPr>
        <p:spPr>
          <a:xfrm>
            <a:off x="822960" y="5678424"/>
            <a:ext cx="1054303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4"/>
                </a:solidFill>
              </a:rPr>
              <a:t>드론은 공중에서 '어디에 얼마나'를 재고, 수거 동선은 지상의 제약(접근로·적재·인원)을 받습니다. 두 마스킹이 다르므로 같은 지도 위에서 계층을 나눠 둡니다.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검증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40233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세 실험은 각각 파이프라인의 한 가정을 깹니다. 결과가 없는 항목은 '진행 중', 가정은 '가정'이라고 썼습니다.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검증 요약: 가설 · 설계 · 결과</a:t>
            </a:r>
            <a:endParaRPr lang="en-US" sz="28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20700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완료 5건, 진행 중 2건, 가정 1건. 수치는 모두 재현 가능한 로그·스크립트에서 나왔습니다.</a:t>
            </a:r>
            <a:endParaRPr lang="en-US" sz="1400" dirty="0"/>
          </a:p>
        </p:txBody>
      </p:sp>
      <p:graphicFrame>
        <p:nvGraphicFramePr>
          <p:cNvPr id="19" name="validation summary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017520"/>
                <a:gridCol w="2926080"/>
                <a:gridCol w="2743200"/>
                <a:gridCol w="850392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3C5D"/>
                          </a:solidFill>
                        </a:rPr>
                        <a:t>실험</a:t>
                      </a:r>
                      <a:endParaRPr lang="en-US" sz="10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3C5D"/>
                          </a:solidFill>
                        </a:rPr>
                        <a:t>가설</a:t>
                      </a:r>
                      <a:endParaRPr lang="en-US" sz="10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3C5D"/>
                          </a:solidFill>
                        </a:rPr>
                        <a:t>설계</a:t>
                      </a:r>
                      <a:endParaRPr lang="en-US" sz="10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3C5D"/>
                          </a:solidFill>
                        </a:rPr>
                        <a:t>결과</a:t>
                      </a:r>
                      <a:endParaRPr lang="en-US" sz="10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3C5D"/>
                          </a:solidFill>
                        </a:rPr>
                        <a:t>상태</a:t>
                      </a:r>
                      <a:endParaRPr lang="en-US" sz="10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EXP-A 비행 패턴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선회 비행은 SfM 부피를 복원하고, 경사 통과는 실패한다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같은 물체군을 선회(0007)·경사 통과(0015)로 촬영, 부피를 실측과 비교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선회 −3% / +19%, 경사 통과 복원 실패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A7A2F"/>
                          </a:solidFill>
                        </a:rPr>
                        <a:t>완료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EXP-B 위치 정합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SfM 자세를 GPS에 정합하면 잔차 수 m 이내, 고도 입력 오류에 둔감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ㅁ자 건물 실기체 비행 + 합성 7개 시나리오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실기체 잔차 1.16 m · 합성 0.02 m(기존 방식 0개) · r95 5.2 m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A7A2F"/>
                          </a:solidFill>
                        </a:rPr>
                        <a:t>완료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EXP-C 재방문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불확실한 물체만 재방문하면 짧은 추가 비행으로 재현율이 크게 오른다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정사영상 시뮬레이터(sim_ortho)에서 커버리지만 vs +재방문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재현율 0.71 → 0.86, 비행거리 +697 m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A7A2F"/>
                          </a:solidFill>
                        </a:rPr>
                        <a:t>완료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SUP-D 지형 비행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실제 DEM 위에서 경로·고도 유지가 가능하다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월미도(3.8 m/px)·강화(30 m/px) PyBullet 시뮬레이션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경로 추종 오차 최대 2.8 / 2.4 m, 지형 오차 0.00 m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A7A2F"/>
                          </a:solidFill>
                        </a:rPr>
                        <a:t>완료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SUP-E 집적 예측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조류 입자추적으로 집적 해안을 순위화할 수 있다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인천·강화 200 m 격자 15,000 입자 30일, 섬 단위 100 m 격자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상위 구간 산출(김포 서안·강화 북안…), 실측 검증 전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A7A2F"/>
                          </a:solidFill>
                        </a:rPr>
                        <a:t>완료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재방문 규칙 비교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경계 기반 규칙이 고정 임계 규칙보다 수거계획 오차를 더 줄인다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같은 비행거리에서 두 규칙 비교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결과 없음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35A00"/>
                          </a:solidFill>
                        </a:rPr>
                        <a:t>진행 중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예측구간 보정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종류별 겉보기밀도 분포로 포함확률 90% 구간을 만들 수 있다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문갑도 42개 부피·실측 무게 쌍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보정 데이터 확보 중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35A00"/>
                          </a:solidFill>
                        </a:rPr>
                        <a:t>진행 중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위성 우선순위 곡선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위성·집적 순위가 실제 드론 탐지량과 상관된다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구간 순위 vs 탐지량 상관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곡선 없음, 1차는 집적 순위 사용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F8794"/>
                          </a:solidFill>
                        </a:rPr>
                        <a:t>가정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ource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저장소: island_drone_sim(지형 비행) · 삼각측량 패치 docs/삼각측량_위치보정.md · incheon_debris_sim(집적 예측) · 결과자료 폴더(0007/0015, ㅁ자 건물, sim_ortho)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정직한 한계와 대응</a:t>
            </a:r>
            <a:endParaRPr lang="en-US" sz="28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20700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시연에서 드러난 문제와 모델의 가정. 각각 어떻게 줄이는지까지 적었습니다.</a:t>
            </a:r>
            <a:endParaRPr lang="en-US" sz="1400" dirty="0"/>
          </a:p>
        </p:txBody>
      </p:sp>
      <p:sp>
        <p:nvSpPr>
          <p:cNvPr id="4" name="card 절대 위치의 바닥은 GPS"/>
          <p:cNvSpPr/>
          <p:nvPr/>
        </p:nvSpPr>
        <p:spPr>
          <a:xfrm>
            <a:off x="548640" y="1783080"/>
            <a:ext cx="2651760" cy="365760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5" name="icon circle"/>
          <p:cNvSpPr/>
          <p:nvPr/>
        </p:nvSpPr>
        <p:spPr>
          <a:xfrm>
            <a:off x="822960" y="2039112"/>
            <a:ext cx="566928" cy="566928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6" name="icon FaMapMarkerAl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176272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77063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절대 위치의 바닥은 GPS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209544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accent4"/>
                </a:solidFill>
              </a:rPr>
              <a:t>드론 GPS가 2 m 밀리면 모든 광선이 같이 밀립니다(r95 ≈ 5 m). 1 m 아래로 가려면 RTK, 좌표를 아는 기준 표식, 또는 정사영상 정합이 필요합니다.</a:t>
            </a:r>
            <a:endParaRPr lang="en-US" sz="1250" dirty="0"/>
          </a:p>
        </p:txBody>
      </p:sp>
      <p:sp>
        <p:nvSpPr>
          <p:cNvPr id="9" name="card 해수면 빛반사"/>
          <p:cNvSpPr/>
          <p:nvPr/>
        </p:nvSpPr>
        <p:spPr>
          <a:xfrm>
            <a:off x="3360420" y="1783080"/>
            <a:ext cx="2651760" cy="365760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3634740" y="2039112"/>
            <a:ext cx="566928" cy="566928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11" name="icon FaSu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176272"/>
            <a:ext cx="292608" cy="29260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34740" y="277063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해수면 빛반사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3634740" y="3209544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accent4"/>
                </a:solidFill>
              </a:rPr>
              <a:t>낮·저녁 두 번 시연했을 때 반사 조건이 달랐습니다. 촬영 시간대 규칙, 편광 필터·노출 보정, 반사 영역 마스킹으로 대응합니다.</a:t>
            </a:r>
            <a:endParaRPr lang="en-US" sz="1250" dirty="0"/>
          </a:p>
        </p:txBody>
      </p:sp>
      <p:sp>
        <p:nvSpPr>
          <p:cNvPr id="14" name="card 구석 고정 사물 오인식"/>
          <p:cNvSpPr/>
          <p:nvPr/>
        </p:nvSpPr>
        <p:spPr>
          <a:xfrm>
            <a:off x="6172200" y="1783080"/>
            <a:ext cx="2651760" cy="365760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5" name="icon circle"/>
          <p:cNvSpPr/>
          <p:nvPr/>
        </p:nvSpPr>
        <p:spPr>
          <a:xfrm>
            <a:off x="6446520" y="2039112"/>
            <a:ext cx="566928" cy="566928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16" name="icon FaBoxOpe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2176272"/>
            <a:ext cx="292608" cy="29260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446520" y="277063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구석 고정 사물 오인식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6446520" y="3209544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accent4"/>
                </a:solidFill>
              </a:rPr>
              <a:t>구조물 옆 상자를 고정 사물과 같은 물체로 묶을 수 있습니다. 다중 프레임 추적(ByteTrack)과 정적 배경 제외로 묶기를 단단히 합니다.</a:t>
            </a:r>
            <a:endParaRPr lang="en-US" sz="1250" dirty="0"/>
          </a:p>
        </p:txBody>
      </p:sp>
      <p:sp>
        <p:nvSpPr>
          <p:cNvPr id="19" name="card 모식 조류 모델"/>
          <p:cNvSpPr/>
          <p:nvPr/>
        </p:nvSpPr>
        <p:spPr>
          <a:xfrm>
            <a:off x="8983980" y="1783080"/>
            <a:ext cx="2651760" cy="365760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20" name="icon circle"/>
          <p:cNvSpPr/>
          <p:nvPr/>
        </p:nvSpPr>
        <p:spPr>
          <a:xfrm>
            <a:off x="9258300" y="2039112"/>
            <a:ext cx="566928" cy="566928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21" name="icon FaWater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5460" y="2176272"/>
            <a:ext cx="292608" cy="29260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258300" y="277063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모식 조류 모델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9258300" y="3209544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accent4"/>
                </a:solidFill>
              </a:rPr>
              <a:t>조류는 실측이 아니라 조석 연속방정식 모델입니다. 국립해양조사원 관측·KOOS·Copernicus 해류로 교체하고 KOEM 모니터링으로 좌초 확률을 보정합니다.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04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3DLabs와의 결합 제안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40233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위성이 넓게 보고, 드론이 자세히 재고, 지자체가 배차합니다.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위성이 넓게 보고, 드론이 자세히 재고, 지자체가 배차한다</a:t>
            </a:r>
            <a:endParaRPr lang="en-US" sz="28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20700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3DLabs의 위성 지상국·ARD 플랫폼 위에 드론 측정 계층을 얹어, 활용 분야(도시·산림·항만·수체변화)에 '해안쓰레기 수거계획'을 추가합니다.</a:t>
            </a:r>
            <a:endParaRPr lang="en-US" sz="1400" dirty="0"/>
          </a:p>
        </p:txBody>
      </p:sp>
      <p:sp>
        <p:nvSpPr>
          <p:cNvPr id="4" name="role 3DLabs · 위성 계층"/>
          <p:cNvSpPr/>
          <p:nvPr/>
        </p:nvSpPr>
        <p:spPr>
          <a:xfrm>
            <a:off x="548640" y="1783080"/>
            <a:ext cx="3566160" cy="3063240"/>
          </a:xfrm>
          <a:prstGeom prst="roundRect">
            <a:avLst>
              <a:gd name="adj" fmla="val 3582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sp>
        <p:nvSpPr>
          <p:cNvPr id="5" name="icon circle"/>
          <p:cNvSpPr/>
          <p:nvPr/>
        </p:nvSpPr>
        <p:spPr>
          <a:xfrm>
            <a:off x="822960" y="2057400"/>
            <a:ext cx="566928" cy="566928"/>
          </a:xfrm>
          <a:prstGeom prst="ellipse">
            <a:avLst/>
          </a:prstGeom>
          <a:solidFill>
            <a:srgbClr val="F26B21"/>
          </a:solidFill>
          <a:ln w="12700">
            <a:solidFill>
              <a:srgbClr val="F26B21"/>
            </a:solidFill>
            <a:prstDash val="solid"/>
          </a:ln>
        </p:spPr>
      </p:sp>
      <p:pic>
        <p:nvPicPr>
          <p:cNvPr id="6" name="icon FaSatellit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194560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7889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bg1"/>
                </a:solidFill>
              </a:rPr>
              <a:t>3DLabs · 위성 계층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20040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accent5"/>
                </a:solidFill>
              </a:rPr>
              <a:t>위성 지상국 운영, 1:5,000 도엽 정사영상·ARD(Analysis Ready Data) 생산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accent5"/>
                </a:solidFill>
              </a:rPr>
              <a:t>광역 집적 패치 탐지와 시계열 변화 → 구간 우선순위 입력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accent5"/>
                </a:solidFill>
              </a:rPr>
              <a:t>B2G 공급 채널(공공 활용 플랫폼)</a:t>
            </a:r>
            <a:endParaRPr lang="en-US" sz="1100" dirty="0"/>
          </a:p>
        </p:txBody>
      </p:sp>
      <p:sp>
        <p:nvSpPr>
          <p:cNvPr id="9" name="arrow"/>
          <p:cNvSpPr/>
          <p:nvPr/>
        </p:nvSpPr>
        <p:spPr>
          <a:xfrm>
            <a:off x="4133088" y="3063240"/>
            <a:ext cx="155448" cy="365760"/>
          </a:xfrm>
          <a:prstGeom prst="rightArrow">
            <a:avLst/>
          </a:prstGeom>
          <a:solidFill>
            <a:srgbClr val="F26B21"/>
          </a:solidFill>
          <a:ln w="12700">
            <a:solidFill>
              <a:srgbClr val="F26B21"/>
            </a:solidFill>
            <a:prstDash val="solid"/>
          </a:ln>
        </p:spPr>
      </p:sp>
      <p:sp>
        <p:nvSpPr>
          <p:cNvPr id="10" name="role 붕붕이 · 드론 계층"/>
          <p:cNvSpPr/>
          <p:nvPr/>
        </p:nvSpPr>
        <p:spPr>
          <a:xfrm>
            <a:off x="4297680" y="1783080"/>
            <a:ext cx="3566160" cy="3063240"/>
          </a:xfrm>
          <a:prstGeom prst="roundRect">
            <a:avLst>
              <a:gd name="adj" fmla="val 3582"/>
            </a:avLst>
          </a:prstGeom>
          <a:solidFill>
            <a:srgbClr val="124A6E"/>
          </a:solidFill>
          <a:ln w="12700">
            <a:solidFill>
              <a:srgbClr val="124A6E"/>
            </a:solidFill>
            <a:prstDash val="solid"/>
          </a:ln>
        </p:spPr>
      </p:sp>
      <p:sp>
        <p:nvSpPr>
          <p:cNvPr id="11" name="icon circle"/>
          <p:cNvSpPr/>
          <p:nvPr/>
        </p:nvSpPr>
        <p:spPr>
          <a:xfrm>
            <a:off x="4572000" y="2057400"/>
            <a:ext cx="566928" cy="566928"/>
          </a:xfrm>
          <a:prstGeom prst="ellipse">
            <a:avLst/>
          </a:prstGeom>
          <a:solidFill>
            <a:srgbClr val="F26B21"/>
          </a:solidFill>
          <a:ln w="12700">
            <a:solidFill>
              <a:srgbClr val="F26B21"/>
            </a:solidFill>
            <a:prstDash val="solid"/>
          </a:ln>
        </p:spPr>
      </p:sp>
      <p:pic>
        <p:nvPicPr>
          <p:cNvPr id="12" name="icon FaPla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219456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72000" y="27889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bg1"/>
                </a:solidFill>
              </a:rPr>
              <a:t>붕붕이 · 드론 계층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4572000" y="320040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accent5"/>
                </a:solidFill>
              </a:rPr>
              <a:t>구간별 커버리지 비행, 탐지·삼각측량·SfM 부피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accent5"/>
                </a:solidFill>
              </a:rPr>
              <a:t>무게 예측구간과 재방문 규칙, 2차 비행 경로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accent5"/>
                </a:solidFill>
              </a:rPr>
              <a:t>수거계획 산출(마대·트럭·인원), 대시보드</a:t>
            </a:r>
            <a:endParaRPr lang="en-US" sz="1100" dirty="0"/>
          </a:p>
        </p:txBody>
      </p:sp>
      <p:sp>
        <p:nvSpPr>
          <p:cNvPr id="15" name="arrow"/>
          <p:cNvSpPr/>
          <p:nvPr/>
        </p:nvSpPr>
        <p:spPr>
          <a:xfrm>
            <a:off x="7882128" y="3063240"/>
            <a:ext cx="155448" cy="365760"/>
          </a:xfrm>
          <a:prstGeom prst="rightArrow">
            <a:avLst/>
          </a:prstGeom>
          <a:solidFill>
            <a:srgbClr val="F26B21"/>
          </a:solidFill>
          <a:ln w="12700">
            <a:solidFill>
              <a:srgbClr val="F26B21"/>
            </a:solidFill>
            <a:prstDash val="solid"/>
          </a:ln>
        </p:spPr>
      </p:sp>
      <p:sp>
        <p:nvSpPr>
          <p:cNvPr id="16" name="role 고객 · 지자체 계층"/>
          <p:cNvSpPr/>
          <p:nvPr/>
        </p:nvSpPr>
        <p:spPr>
          <a:xfrm>
            <a:off x="8046720" y="1783080"/>
            <a:ext cx="3566160" cy="3063240"/>
          </a:xfrm>
          <a:prstGeom prst="roundRect">
            <a:avLst>
              <a:gd name="adj" fmla="val 3582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7" name="icon circle"/>
          <p:cNvSpPr/>
          <p:nvPr/>
        </p:nvSpPr>
        <p:spPr>
          <a:xfrm>
            <a:off x="8321040" y="2057400"/>
            <a:ext cx="566928" cy="566928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18" name="icon FaUser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2194560"/>
            <a:ext cx="292608" cy="29260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321040" y="27889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고객 · 지자체 계층</a:t>
            </a:r>
            <a:endParaRPr lang="en-US" sz="1450" dirty="0"/>
          </a:p>
        </p:txBody>
      </p:sp>
      <p:sp>
        <p:nvSpPr>
          <p:cNvPr id="20" name="Text 15"/>
          <p:cNvSpPr txBox="1"/>
          <p:nvPr/>
        </p:nvSpPr>
        <p:spPr>
          <a:xfrm>
            <a:off x="8321040" y="320040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시군 해양수산 부서: 예산·배차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수거 용역업체: 동선·인원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해양환경공단: 반복 모니터링 데이터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5029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시장 신호</a:t>
            </a:r>
            <a:endParaRPr lang="en-US" sz="1150" dirty="0"/>
          </a:p>
        </p:txBody>
      </p:sp>
      <p:sp>
        <p:nvSpPr>
          <p:cNvPr id="22" name="signal 0"/>
          <p:cNvSpPr/>
          <p:nvPr/>
        </p:nvSpPr>
        <p:spPr>
          <a:xfrm>
            <a:off x="548640" y="5349240"/>
            <a:ext cx="3566160" cy="658368"/>
          </a:xfrm>
          <a:prstGeom prst="roundRect">
            <a:avLst>
              <a:gd name="adj" fmla="val 13889"/>
            </a:avLst>
          </a:prstGeom>
          <a:solidFill>
            <a:srgbClr val="FFD9C2"/>
          </a:solidFill>
          <a:ln w="12700">
            <a:solidFill>
              <a:srgbClr val="FFD9C2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13232" y="539496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전남도 2026년 해양쓰레기 저감 441억 원, AI·드론 관리 강화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713232" y="5788152"/>
            <a:ext cx="324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chemeClr val="accent4"/>
                </a:solidFill>
              </a:rPr>
              <a:t>뉴스핌 2026.03</a:t>
            </a:r>
            <a:endParaRPr lang="en-US" sz="800" dirty="0"/>
          </a:p>
        </p:txBody>
      </p:sp>
      <p:sp>
        <p:nvSpPr>
          <p:cNvPr id="25" name="signal 1"/>
          <p:cNvSpPr/>
          <p:nvPr/>
        </p:nvSpPr>
        <p:spPr>
          <a:xfrm>
            <a:off x="4297680" y="5349240"/>
            <a:ext cx="3566160" cy="658368"/>
          </a:xfrm>
          <a:prstGeom prst="roundRect">
            <a:avLst>
              <a:gd name="adj" fmla="val 13889"/>
            </a:avLst>
          </a:prstGeom>
          <a:solidFill>
            <a:srgbClr val="FFD9C2"/>
          </a:solidFill>
          <a:ln w="12700">
            <a:solidFill>
              <a:srgbClr val="FFD9C2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462272" y="539496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해양환경공단 8개 무역항 드론 모니터링, 드론 탐지+AI 판독+수상로봇 'KOEM-ARK' 현장 운용</a:t>
            </a:r>
            <a:endParaRPr lang="en-US" sz="950" dirty="0"/>
          </a:p>
        </p:txBody>
      </p:sp>
      <p:sp>
        <p:nvSpPr>
          <p:cNvPr id="27" name="Text 22"/>
          <p:cNvSpPr txBox="1"/>
          <p:nvPr/>
        </p:nvSpPr>
        <p:spPr>
          <a:xfrm>
            <a:off x="4462272" y="5788152"/>
            <a:ext cx="324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chemeClr val="accent4"/>
                </a:solidFill>
              </a:rPr>
              <a:t>이투데이 · 뉴스핌 2026.07</a:t>
            </a:r>
            <a:endParaRPr lang="en-US" sz="800" dirty="0"/>
          </a:p>
        </p:txBody>
      </p:sp>
      <p:sp>
        <p:nvSpPr>
          <p:cNvPr id="28" name="signal 2"/>
          <p:cNvSpPr/>
          <p:nvPr/>
        </p:nvSpPr>
        <p:spPr>
          <a:xfrm>
            <a:off x="8046720" y="5349240"/>
            <a:ext cx="3566160" cy="658368"/>
          </a:xfrm>
          <a:prstGeom prst="roundRect">
            <a:avLst>
              <a:gd name="adj" fmla="val 13889"/>
            </a:avLst>
          </a:prstGeom>
          <a:solidFill>
            <a:srgbClr val="FFD9C2"/>
          </a:solidFill>
          <a:ln w="12700">
            <a:solidFill>
              <a:srgbClr val="FFD9C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8211312" y="539496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전국 해양폐기물 처리 예산 1,114억 원(2026), 5년 수거량 65.6만 t</a:t>
            </a:r>
            <a:endParaRPr lang="en-US" sz="950" dirty="0"/>
          </a:p>
        </p:txBody>
      </p:sp>
      <p:sp>
        <p:nvSpPr>
          <p:cNvPr id="30" name="Text 25"/>
          <p:cNvSpPr txBox="1"/>
          <p:nvPr/>
        </p:nvSpPr>
        <p:spPr>
          <a:xfrm>
            <a:off x="8211312" y="5788152"/>
            <a:ext cx="324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chemeClr val="accent4"/>
                </a:solidFill>
              </a:rPr>
              <a:t>해양수산부 2026.09</a:t>
            </a:r>
            <a:endParaRPr lang="en-US" sz="800" dirty="0"/>
          </a:p>
        </p:txBody>
      </p:sp>
      <p:sp>
        <p:nvSpPr>
          <p:cNvPr id="31" name="source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3DLabs 소개: 인하대 공간정보공학 스핀오프(2011), 위성 지상국·전처리·ARD·드론 영상처리(위키백과·회사 소개) · 전남도 441억(뉴스핌 2026.03.22) · KOEM 드론·KOEM-ARK(이투데이, 뉴스핌 2026.07.07)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공동 실증 로드맵 (제안)</a:t>
            </a:r>
            <a:endParaRPr lang="en-US" sz="28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20700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세 단계, 각 단계의 끝에 숫자로 확인할 수 있는 결과를 두었습니다.</a:t>
            </a:r>
            <a:endParaRPr lang="en-US" sz="1400" dirty="0"/>
          </a:p>
        </p:txBody>
      </p:sp>
      <p:sp>
        <p:nvSpPr>
          <p:cNvPr id="4" name="phase 1"/>
          <p:cNvSpPr/>
          <p:nvPr/>
        </p:nvSpPr>
        <p:spPr>
          <a:xfrm>
            <a:off x="548640" y="1783080"/>
            <a:ext cx="3566160" cy="4069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5" name="phase circle"/>
          <p:cNvSpPr/>
          <p:nvPr/>
        </p:nvSpPr>
        <p:spPr>
          <a:xfrm>
            <a:off x="822960" y="2057400"/>
            <a:ext cx="566928" cy="566928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07568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2026 4분기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3042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데이터 보정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88036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문갑도 42개 부피·실측 무게 쌍으로 예측구간 보정(포함확률 90%)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재방문 규칙 비교 실험(고정 임계 vs 경계 기반)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위성 ARD 샘플 2~3개 해안으로 집적 순위 vs 패치 비교</a:t>
            </a:r>
            <a:endParaRPr lang="en-US" sz="1100" dirty="0"/>
          </a:p>
        </p:txBody>
      </p:sp>
      <p:sp>
        <p:nvSpPr>
          <p:cNvPr id="10" name="phase output"/>
          <p:cNvSpPr/>
          <p:nvPr/>
        </p:nvSpPr>
        <p:spPr>
          <a:xfrm>
            <a:off x="822960" y="4983480"/>
            <a:ext cx="3017520" cy="685800"/>
          </a:xfrm>
          <a:prstGeom prst="roundRect">
            <a:avLst>
              <a:gd name="adj" fmla="val 10667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498348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산출: 보정 집합, 규칙 비교 보고</a:t>
            </a:r>
            <a:endParaRPr lang="en-US" sz="1000" dirty="0"/>
          </a:p>
        </p:txBody>
      </p:sp>
      <p:sp>
        <p:nvSpPr>
          <p:cNvPr id="12" name="phase 2"/>
          <p:cNvSpPr/>
          <p:nvPr/>
        </p:nvSpPr>
        <p:spPr>
          <a:xfrm>
            <a:off x="4297680" y="1783080"/>
            <a:ext cx="3566160" cy="4069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3" name="phase circle"/>
          <p:cNvSpPr/>
          <p:nvPr/>
        </p:nvSpPr>
        <p:spPr>
          <a:xfrm>
            <a:off x="4572000" y="2057400"/>
            <a:ext cx="566928" cy="566928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303520" y="207568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2027 상반기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303520" y="23042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지자체 시범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288036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시군 1곳(인천 옹진 또는 전남 도서) 해안 3구간 선정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실측 해류(KHOA·KOOS) 교체, RTK 또는 기준 표식 도입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비행 1회 → 수거계획서 → 실제 수거량과 대조</a:t>
            </a:r>
            <a:endParaRPr lang="en-US" sz="1100" dirty="0"/>
          </a:p>
        </p:txBody>
      </p:sp>
      <p:sp>
        <p:nvSpPr>
          <p:cNvPr id="18" name="phase output"/>
          <p:cNvSpPr/>
          <p:nvPr/>
        </p:nvSpPr>
        <p:spPr>
          <a:xfrm>
            <a:off x="4572000" y="4983480"/>
            <a:ext cx="3017520" cy="685800"/>
          </a:xfrm>
          <a:prstGeom prst="roundRect">
            <a:avLst>
              <a:gd name="adj" fmla="val 10667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709160" y="498348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산출: 추정 vs 실제 수거량 오차, 마대·트럭 적중률</a:t>
            </a:r>
            <a:endParaRPr lang="en-US" sz="1000" dirty="0"/>
          </a:p>
        </p:txBody>
      </p:sp>
      <p:sp>
        <p:nvSpPr>
          <p:cNvPr id="20" name="phase 3"/>
          <p:cNvSpPr/>
          <p:nvPr/>
        </p:nvSpPr>
        <p:spPr>
          <a:xfrm>
            <a:off x="8046720" y="1783080"/>
            <a:ext cx="3566160" cy="4069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21" name="phase circle"/>
          <p:cNvSpPr/>
          <p:nvPr/>
        </p:nvSpPr>
        <p:spPr>
          <a:xfrm>
            <a:off x="8321040" y="2057400"/>
            <a:ext cx="566928" cy="566928"/>
          </a:xfrm>
          <a:prstGeom prst="ellipse">
            <a:avLst/>
          </a:prstGeom>
          <a:solidFill>
            <a:srgbClr val="F26B21"/>
          </a:solidFill>
          <a:ln w="12700">
            <a:solidFill>
              <a:srgbClr val="F26B2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32104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052560" y="207568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2027 하반기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9052560" y="23042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위성 결합 · 상용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288036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위성 변화 탐지로 비행 시점·구간 자동 추천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KOEM 2개월 모니터링과 연동한 반복 조사 상품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B2G 플랫폼 활용 분야에 '해안쓰레기' 추가</a:t>
            </a:r>
            <a:endParaRPr lang="en-US" sz="1100" dirty="0"/>
          </a:p>
        </p:txBody>
      </p:sp>
      <p:sp>
        <p:nvSpPr>
          <p:cNvPr id="26" name="phase output"/>
          <p:cNvSpPr/>
          <p:nvPr/>
        </p:nvSpPr>
        <p:spPr>
          <a:xfrm>
            <a:off x="8321040" y="4983480"/>
            <a:ext cx="3017520" cy="685800"/>
          </a:xfrm>
          <a:prstGeom prst="roundRect">
            <a:avLst>
              <a:gd name="adj" fmla="val 10667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458200" y="498348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산출: 구독형 수거계획 서비스, 레퍼런스 1곳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함께 검증하고 싶은 것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0700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세 가지를 요청드립니다. 모두 1단계(2026 4분기) 안에 결과를 숫자로 돌려드릴 수 있는 범위입니다.</a:t>
            </a:r>
            <a:endParaRPr lang="en-US" sz="1400" dirty="0"/>
          </a:p>
        </p:txBody>
      </p:sp>
      <p:sp>
        <p:nvSpPr>
          <p:cNvPr id="4" name="card 위성 ARD 샘플"/>
          <p:cNvSpPr/>
          <p:nvPr/>
        </p:nvSpPr>
        <p:spPr>
          <a:xfrm>
            <a:off x="548640" y="1783080"/>
            <a:ext cx="3566160" cy="2743200"/>
          </a:xfrm>
          <a:prstGeom prst="roundRect">
            <a:avLst>
              <a:gd name="adj" fmla="val 4000"/>
            </a:avLst>
          </a:prstGeom>
          <a:solidFill>
            <a:srgbClr val="124A6E"/>
          </a:solidFill>
          <a:ln w="12700">
            <a:solidFill>
              <a:srgbClr val="124A6E"/>
            </a:solidFill>
            <a:prstDash val="solid"/>
          </a:ln>
        </p:spPr>
      </p:sp>
      <p:sp>
        <p:nvSpPr>
          <p:cNvPr id="5" name="icon circle"/>
          <p:cNvSpPr/>
          <p:nvPr/>
        </p:nvSpPr>
        <p:spPr>
          <a:xfrm>
            <a:off x="822960" y="2039112"/>
            <a:ext cx="566928" cy="566928"/>
          </a:xfrm>
          <a:prstGeom prst="ellipse">
            <a:avLst/>
          </a:prstGeom>
          <a:solidFill>
            <a:srgbClr val="F26B21"/>
          </a:solidFill>
          <a:ln w="12700">
            <a:solidFill>
              <a:srgbClr val="F26B21"/>
            </a:solidFill>
            <a:prstDash val="solid"/>
          </a:ln>
        </p:spPr>
      </p:sp>
      <p:pic>
        <p:nvPicPr>
          <p:cNvPr id="6" name="icon FaDatabas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176272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77063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위성 ARD 샘플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20954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대상 해안 2~3곳(인천·강화 도서 또는 전남 도서)의 정사영상·시계열. 집적 모델 순위와 실제 패치를 대조합니다.</a:t>
            </a:r>
            <a:endParaRPr lang="en-US" sz="1200" dirty="0"/>
          </a:p>
        </p:txBody>
      </p:sp>
      <p:sp>
        <p:nvSpPr>
          <p:cNvPr id="9" name="card 시범 지자체 소개"/>
          <p:cNvSpPr/>
          <p:nvPr/>
        </p:nvSpPr>
        <p:spPr>
          <a:xfrm>
            <a:off x="4297680" y="1783080"/>
            <a:ext cx="3566160" cy="2743200"/>
          </a:xfrm>
          <a:prstGeom prst="roundRect">
            <a:avLst>
              <a:gd name="adj" fmla="val 4000"/>
            </a:avLst>
          </a:prstGeom>
          <a:solidFill>
            <a:srgbClr val="124A6E"/>
          </a:solidFill>
          <a:ln w="12700">
            <a:solidFill>
              <a:srgbClr val="124A6E"/>
            </a:solidFill>
            <a:prstDash val="solid"/>
          </a:ln>
        </p:spPr>
      </p:sp>
      <p:sp>
        <p:nvSpPr>
          <p:cNvPr id="10" name="icon circle"/>
          <p:cNvSpPr/>
          <p:nvPr/>
        </p:nvSpPr>
        <p:spPr>
          <a:xfrm>
            <a:off x="4572000" y="2039112"/>
            <a:ext cx="566928" cy="566928"/>
          </a:xfrm>
          <a:prstGeom prst="ellipse">
            <a:avLst/>
          </a:prstGeom>
          <a:solidFill>
            <a:srgbClr val="F26B21"/>
          </a:solidFill>
          <a:ln w="12700">
            <a:solidFill>
              <a:srgbClr val="F26B21"/>
            </a:solidFill>
            <a:prstDash val="solid"/>
          </a:ln>
        </p:spPr>
      </p:sp>
      <p:pic>
        <p:nvPicPr>
          <p:cNvPr id="11" name="icon FaHandshak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2176272"/>
            <a:ext cx="292608" cy="29260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72000" y="277063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시범 지자체 소개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320954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B2G 채널로 연결된 시군 1곳. 비행 1회로 수거계획서를 내고 실제 수거량과 대조합니다.</a:t>
            </a:r>
            <a:endParaRPr lang="en-US" sz="1200" dirty="0"/>
          </a:p>
        </p:txBody>
      </p:sp>
      <p:sp>
        <p:nvSpPr>
          <p:cNvPr id="14" name="card 데이터 연동 규격 협의"/>
          <p:cNvSpPr/>
          <p:nvPr/>
        </p:nvSpPr>
        <p:spPr>
          <a:xfrm>
            <a:off x="8046720" y="1783080"/>
            <a:ext cx="3566160" cy="2743200"/>
          </a:xfrm>
          <a:prstGeom prst="roundRect">
            <a:avLst>
              <a:gd name="adj" fmla="val 4000"/>
            </a:avLst>
          </a:prstGeom>
          <a:solidFill>
            <a:srgbClr val="124A6E"/>
          </a:solidFill>
          <a:ln w="12700">
            <a:solidFill>
              <a:srgbClr val="124A6E"/>
            </a:solidFill>
            <a:prstDash val="solid"/>
          </a:ln>
        </p:spPr>
      </p:sp>
      <p:sp>
        <p:nvSpPr>
          <p:cNvPr id="15" name="icon circle"/>
          <p:cNvSpPr/>
          <p:nvPr/>
        </p:nvSpPr>
        <p:spPr>
          <a:xfrm>
            <a:off x="8321040" y="2039112"/>
            <a:ext cx="566928" cy="566928"/>
          </a:xfrm>
          <a:prstGeom prst="ellipse">
            <a:avLst/>
          </a:prstGeom>
          <a:solidFill>
            <a:srgbClr val="F26B21"/>
          </a:solidFill>
          <a:ln w="12700">
            <a:solidFill>
              <a:srgbClr val="F26B21"/>
            </a:solidFill>
            <a:prstDash val="solid"/>
          </a:ln>
        </p:spPr>
      </p:sp>
      <p:pic>
        <p:nvPicPr>
          <p:cNvPr id="16" name="icon FaLayerGroup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2176272"/>
            <a:ext cx="292608" cy="29260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21040" y="277063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데이터 연동 규격 협의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8321040" y="320954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ARD → 우선순위 입력, 드론 결과(GeoJSON·CSV) → 플랫폼 활용 분야 등록. 양방향 포맷을 먼저 맞춥니다.</a:t>
            </a:r>
            <a:endParaRPr lang="en-US" sz="1200" dirty="0"/>
          </a:p>
        </p:txBody>
      </p:sp>
      <p:sp>
        <p:nvSpPr>
          <p:cNvPr id="19" name="closing"/>
          <p:cNvSpPr/>
          <p:nvPr/>
        </p:nvSpPr>
        <p:spPr>
          <a:xfrm>
            <a:off x="548640" y="4754880"/>
            <a:ext cx="11091672" cy="1143000"/>
          </a:xfrm>
          <a:prstGeom prst="roundRect">
            <a:avLst>
              <a:gd name="adj" fmla="val 9600"/>
            </a:avLst>
          </a:prstGeom>
          <a:solidFill>
            <a:srgbClr val="F26B21"/>
          </a:solidFill>
          <a:ln w="12700">
            <a:solidFill>
              <a:srgbClr val="F26B21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868680" y="475488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추정이 틀리면 배차가 틀린다.  위성이 넓게 보고, 드론이 자세히 재면, 지자체는 맞게 배차할 수 있습니다.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868680" y="544068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드론대장 붕붕이 · 저장소 HSR2M/hsr1m · 발표 사이트: 한 페이지 스크롤 버전 별도 제공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ungbungi Ocean">
  <a:themeElements>
    <a:clrScheme name="Bungbungi Ocean">
      <a:dk1>
        <a:srgbClr val="10212E"/>
      </a:dk1>
      <a:lt1>
        <a:srgbClr val="FFFFFF"/>
      </a:lt1>
      <a:dk2>
        <a:srgbClr val="0B3C5D"/>
      </a:dk2>
      <a:lt2>
        <a:srgbClr val="EEF3F6"/>
      </a:lt2>
      <a:accent1>
        <a:srgbClr val="0B3C5D"/>
      </a:accent1>
      <a:accent2>
        <a:srgbClr val="F26B21"/>
      </a:accent2>
      <a:accent3>
        <a:srgbClr val="1C7293"/>
      </a:accent3>
      <a:accent4>
        <a:srgbClr val="6F8794"/>
      </a:accent4>
      <a:accent5>
        <a:srgbClr val="D5DEE4"/>
      </a:accent5>
      <a:accent6>
        <a:srgbClr val="FFD9C2"/>
      </a:accent6>
      <a:hlink>
        <a:srgbClr val="1C7293"/>
      </a:hlink>
      <a:folHlink>
        <a:srgbClr val="6F8794"/>
      </a:folHlink>
    </a:clrScheme>
    <a:fontScheme name="Bungbungi Ocean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추정이 틀리면 배차가 틀린다 — 드론 기반 해안쓰레기 측정·수거계획 플랫폼</dc:title>
  <dc:subject>PptxGenJS Presentation</dc:subject>
  <dc:creator>드론대장 붕붕이</dc:creator>
  <cp:lastModifiedBy>드론대장 붕붕이</cp:lastModifiedBy>
  <cp:revision>1</cp:revision>
  <dcterms:created xsi:type="dcterms:W3CDTF">2026-10-01T21:59:12Z</dcterms:created>
  <dcterms:modified xsi:type="dcterms:W3CDTF">2026-10-01T21:59:12Z</dcterms:modified>
</cp:coreProperties>
</file>