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5.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7a54f26b-6c3b-f328-726c-6273a9a63916}">
          <p14:sldIdLst>
            <p14:sldId id="256"/>
            <p14:sldId id="257"/>
            <p14:sldId id="258"/>
          </p14:sldIdLst>
        </p14:section>
        <p14:section name="01 기업이 겪는 문제" id="{47bb5a82-339b-b10f-b73a-aebd81ca8ef7}">
          <p14:sldIdLst>
            <p14:sldId id="259"/>
            <p14:sldId id="260"/>
            <p14:sldId id="261"/>
            <p14:sldId id="262"/>
            <p14:sldId id="263"/>
            <p14:sldId id="264"/>
          </p14:sldIdLst>
        </p14:section>
        <p14:section name="02 과제와 과정" id="{8841e457-735b-9ad8-7dc1-4484b6241459}">
          <p14:sldIdLst>
            <p14:sldId id="265"/>
            <p14:sldId id="266"/>
            <p14:sldId id="267"/>
            <p14:sldId id="268"/>
          </p14:sldIdLst>
        </p14:section>
        <p14:section name="03 솔루션" id="{e2e42eca-541e-08f1-a3c6-6b538e66e863}">
          <p14:sldIdLst>
            <p14:sldId id="269"/>
            <p14:sldId id="270"/>
            <p14:sldId id="271"/>
            <p14:sldId id="272"/>
            <p14:sldId id="273"/>
            <p14:sldId id="274"/>
            <p14:sldId id="275"/>
            <p14:sldId id="276"/>
          </p14:sldIdLst>
        </p14:section>
        <p14:section name="04 검증" id="{de61c88d-ec21-988c-7876-be310cc77570}">
          <p14:sldIdLst>
            <p14:sldId id="277"/>
            <p14:sldId id="278"/>
            <p14:sldId id="279"/>
            <p14:sldId id="280"/>
            <p14:sldId id="281"/>
            <p14:sldId id="282"/>
            <p14:sldId id="283"/>
          </p14:sldIdLst>
        </p14:section>
        <p14:section name="05 기대효과와 제안" id="{9f7f013b-fa56-cbd0-35bc-e8f5d369f4a4}">
          <p14:sldIdLst>
            <p14:sldId id="284"/>
            <p14:sldId id="285"/>
            <p14:sldId id="286"/>
            <p14:sldId id="287"/>
            <p14:sldId id="288"/>
            <p14:sldId id="289"/>
          </p14:sldIdLst>
        </p14:section>
        <p14:section name="요약" id="{82227376-e78b-7e9b-137c-3d8eb61f6321}">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수거량(t)</c:v>
                </c:pt>
              </c:strCache>
            </c:strRef>
          </c:tx>
          <c:spPr>
            <a:solidFill>
              <a:srgbClr val="0B3C5D"/>
            </a:solidFill>
            <a:effectLst/>
          </c:spPr>
          <c:invertIfNegative val="0"/>
          <c:dLbls>
            <c:numFmt formatCode="#,##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120736</c:v>
                </c:pt>
                <c:pt idx="1">
                  <c:v>126035</c:v>
                </c:pt>
                <c:pt idx="2">
                  <c:v>131931</c:v>
                </c:pt>
                <c:pt idx="3">
                  <c:v>132686</c:v>
                </c:pt>
                <c:pt idx="4">
                  <c:v>144615</c:v>
                </c:pt>
              </c:numCache>
            </c:numRef>
          </c:val>
        </c:ser>
        <c:dLbls>
          <c:numFmt formatCode="#,##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F8794"/>
                </a:solidFill>
                <a:latin typeface="+mn-lt"/>
              </a:defRPr>
            </a:pPr>
            <a:endParaRPr lang="en-US"/>
          </a:p>
        </c:txPr>
        <c:crossAx val="2094734552"/>
        <c:crosses val="autoZero"/>
        <c:auto val="1"/>
        <c:lblAlgn val="ctr"/>
        <c:noMultiLvlLbl val="1"/>
      </c:catAx>
      <c:valAx>
        <c:axId val="2094734552"/>
        <c:scaling>
          <c:orientation val="minMax"/>
          <c:max val="160000"/>
          <c:min val="0"/>
        </c:scaling>
        <c:delete val="0"/>
        <c:axPos val="l"/>
        <c:majorGridlines>
          <c:spPr>
            <a:ln w="6350" cap="flat">
              <a:solidFill>
                <a:srgbClr val="DDE3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F8794"/>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수거량(t)</c:v>
                </c:pt>
              </c:strCache>
            </c:strRef>
          </c:tx>
          <c:spPr>
            <a:solidFill>
              <a:srgbClr val="0B3C5D"/>
            </a:solidFill>
            <a:effectLst/>
          </c:spPr>
          <c:invertIfNegative val="0"/>
          <c:dLbls>
            <c:numFmt formatCode="#,##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cat>
            <c:multiLvlStrRef>
              <c:f>Sheet1!$A$2:$A$4</c:f>
              <c:multiLvlStrCache>
                <c:ptCount val="3"/>
                <c:lvl>
                  <c:pt idx="0">
                    <c:v>해안쓰레기</c:v>
                  </c:pt>
                  <c:pt idx="1">
                    <c:v>침적쓰레기</c:v>
                  </c:pt>
                  <c:pt idx="2">
                    <c:v>부유쓰레기</c:v>
                  </c:pt>
                </c:lvl>
              </c:multiLvlStrCache>
            </c:multiLvlStrRef>
          </c:cat>
          <c:val>
            <c:numRef>
              <c:f>Sheet1!$B$2:$B$4</c:f>
              <c:numCache>
                <c:formatCode>General</c:formatCode>
                <c:ptCount val="3"/>
                <c:pt idx="0">
                  <c:v>499934</c:v>
                </c:pt>
                <c:pt idx="1">
                  <c:v>119521</c:v>
                </c:pt>
                <c:pt idx="2">
                  <c:v>36548</c:v>
                </c:pt>
              </c:numCache>
            </c:numRef>
          </c:val>
        </c:ser>
        <c:dLbls>
          <c:numFmt formatCode="#,##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F8794"/>
                </a:solidFill>
                <a:latin typeface="+mn-lt"/>
              </a:defRPr>
            </a:pPr>
            <a:endParaRPr lang="en-US"/>
          </a:p>
        </c:txPr>
        <c:crossAx val="2094734552"/>
        <c:crosses val="autoZero"/>
        <c:auto val="1"/>
        <c:lblAlgn val="ctr"/>
        <c:noMultiLvlLbl val="1"/>
      </c:catAx>
      <c:valAx>
        <c:axId val="2094734552"/>
        <c:scaling>
          <c:orientation val="minMax"/>
          <c:max val="600000"/>
          <c:min val="0"/>
        </c:scaling>
        <c:delete val="0"/>
        <c:axPos val="b"/>
        <c:majorGridlines>
          <c:spPr>
            <a:ln w="6350" cap="flat">
              <a:solidFill>
                <a:srgbClr val="DDE3E8"/>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6F8794"/>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공개 모델 그대로</c:v>
                </c:pt>
              </c:strCache>
            </c:strRef>
          </c:tx>
          <c:spPr>
            <a:solidFill>
              <a:srgbClr val="6F8794"/>
            </a:solidFill>
            <a:effectLst/>
          </c:spPr>
          <c:invertIfNegative val="0"/>
          <c:dLbls>
            <c:numFmt formatCode="0.0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cat>
            <c:multiLvlStrRef>
              <c:f>Sheet1!$A$2:$A$4</c:f>
              <c:multiLvlStrCache>
                <c:ptCount val="3"/>
                <c:lvl>
                  <c:pt idx="0">
                    <c:v>문갑도 칩 48</c:v>
                  </c:pt>
                  <c:pt idx="1">
                    <c:v>하와이 420칩</c:v>
                  </c:pt>
                  <c:pt idx="2">
                    <c:v>튀니지 179장</c:v>
                  </c:pt>
                </c:lvl>
              </c:multiLvlStrCache>
            </c:multiLvlStrRef>
          </c:cat>
          <c:val>
            <c:numRef>
              <c:f>Sheet1!$B$2:$B$4</c:f>
              <c:numCache>
                <c:formatCode>General</c:formatCode>
                <c:ptCount val="3"/>
                <c:pt idx="0">
                  <c:v>0.28</c:v>
                </c:pt>
                <c:pt idx="1">
                  <c:v>0.24</c:v>
                </c:pt>
                <c:pt idx="2">
                  <c:v>0.14</c:v>
                </c:pt>
              </c:numCache>
            </c:numRef>
          </c:val>
        </c:ser>
        <c:ser>
          <c:idx val="1"/>
          <c:order val="1"/>
          <c:tx>
            <c:strRef>
              <c:f>Sheet1!$C$1</c:f>
              <c:strCache>
                <c:ptCount val="1"/>
                <c:pt idx="0">
                  <c:v>DroneSweep 학습·미세조정</c:v>
                </c:pt>
              </c:strCache>
            </c:strRef>
          </c:tx>
          <c:spPr>
            <a:solidFill>
              <a:srgbClr val="0B3C5D"/>
            </a:solidFill>
            <a:effectLst/>
          </c:spPr>
          <c:invertIfNegative val="0"/>
          <c:dLbls>
            <c:numFmt formatCode="0.0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cat>
            <c:multiLvlStrRef>
              <c:f>Sheet1!$A$2:$A$4</c:f>
              <c:multiLvlStrCache>
                <c:ptCount val="3"/>
                <c:lvl>
                  <c:pt idx="0">
                    <c:v>문갑도 칩 48</c:v>
                  </c:pt>
                  <c:pt idx="1">
                    <c:v>하와이 420칩</c:v>
                  </c:pt>
                  <c:pt idx="2">
                    <c:v>튀니지 179장</c:v>
                  </c:pt>
                </c:lvl>
              </c:multiLvlStrCache>
            </c:multiLvlStrRef>
          </c:cat>
          <c:val>
            <c:numRef>
              <c:f>Sheet1!$C$2:$C$4</c:f>
              <c:numCache>
                <c:formatCode>General</c:formatCode>
                <c:ptCount val="3"/>
                <c:pt idx="0">
                  <c:v>0.72</c:v>
                </c:pt>
                <c:pt idx="1">
                  <c:v>0.69</c:v>
                </c:pt>
                <c:pt idx="2">
                  <c:v>0.52</c:v>
                </c:pt>
              </c:numCache>
            </c:numRef>
          </c:val>
        </c:ser>
        <c:dLbls>
          <c:numFmt formatCode="0.0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F8794"/>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3E8"/>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F8794"/>
                </a:solidFill>
                <a:latin typeface="+mn-lt"/>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00">
              <a:solidFill>
                <a:srgbClr val="6F879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부피 오차(%)</c:v>
                </c:pt>
              </c:strCache>
            </c:strRef>
          </c:tx>
          <c:spPr>
            <a:solidFill>
              <a:srgbClr val="0B3C5D"/>
            </a:solidFill>
            <a:effectLst/>
          </c:spPr>
          <c:invertIfNegative val="0"/>
          <c:dLbls>
            <c:numFmt formatCode="+0;-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cat>
            <c:multiLvlStrRef>
              <c:f>Sheet1!$A$2:$A$4</c:f>
              <c:multiLvlStrCache>
                <c:ptCount val="3"/>
                <c:lvl>
                  <c:pt idx="0">
                    <c:v>0007 작은 상자 (7 m 선회)</c:v>
                  </c:pt>
                  <c:pt idx="1">
                    <c:v>0007 큰 상자 (7 m 선회)</c:v>
                  </c:pt>
                  <c:pt idx="2">
                    <c:v>0010 키 큰 상자 (2 m 왕복)</c:v>
                  </c:pt>
                </c:lvl>
              </c:multiLvlStrCache>
            </c:multiLvlStrRef>
          </c:cat>
          <c:val>
            <c:numRef>
              <c:f>Sheet1!$B$2:$B$4</c:f>
              <c:numCache>
                <c:formatCode>General</c:formatCode>
                <c:ptCount val="3"/>
                <c:pt idx="0">
                  <c:v>19</c:v>
                </c:pt>
                <c:pt idx="1">
                  <c:v>20</c:v>
                </c:pt>
                <c:pt idx="2">
                  <c:v>-10</c:v>
                </c:pt>
              </c:numCache>
            </c:numRef>
          </c:val>
        </c:ser>
        <c:dLbls>
          <c:numFmt formatCode="+0;-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F8794"/>
                </a:solidFill>
                <a:latin typeface="+mn-lt"/>
              </a:defRPr>
            </a:pPr>
            <a:endParaRPr lang="en-US"/>
          </a:p>
        </c:txPr>
        <c:crossAx val="2094734552"/>
        <c:crosses val="autoZero"/>
        <c:auto val="1"/>
        <c:lblAlgn val="ctr"/>
        <c:noMultiLvlLbl val="1"/>
      </c:catAx>
      <c:valAx>
        <c:axId val="2094734552"/>
        <c:scaling>
          <c:orientation val="minMax"/>
          <c:max val="30"/>
          <c:min val="-30"/>
        </c:scaling>
        <c:delete val="0"/>
        <c:axPos val="l"/>
        <c:majorGridlines>
          <c:spPr>
            <a:ln w="6350" cap="flat">
              <a:solidFill>
                <a:srgbClr val="DDE3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F8794"/>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재현율</c:v>
                </c:pt>
              </c:strCache>
            </c:strRef>
          </c:tx>
          <c:spPr>
            <a:solidFill>
              <a:srgbClr val="0B3C5D"/>
            </a:solidFill>
            <a:effectLst/>
          </c:spPr>
          <c:invertIfNegative val="0"/>
          <c:dLbls>
            <c:numFmt formatCode="0.0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cat>
            <c:multiLvlStrRef>
              <c:f>Sheet1!$A$2:$A$3</c:f>
              <c:multiLvlStrCache>
                <c:ptCount val="2"/>
                <c:lvl>
                  <c:pt idx="0">
                    <c:v>커버리지만</c:v>
                  </c:pt>
                  <c:pt idx="1">
                    <c:v>+ 재방문</c:v>
                  </c:pt>
                </c:lvl>
              </c:multiLvlStrCache>
            </c:multiLvlStrRef>
          </c:cat>
          <c:val>
            <c:numRef>
              <c:f>Sheet1!$B$2:$B$3</c:f>
              <c:numCache>
                <c:formatCode>General</c:formatCode>
                <c:ptCount val="2"/>
                <c:pt idx="0">
                  <c:v>0.71</c:v>
                </c:pt>
                <c:pt idx="1">
                  <c:v>0.86</c:v>
                </c:pt>
              </c:numCache>
            </c:numRef>
          </c:val>
        </c:ser>
        <c:dLbls>
          <c:numFmt formatCode="0.00" sourceLinked="0"/>
          <c:txPr>
            <a:bodyPr/>
            <a:lstStyle/>
            <a:p>
              <a:pPr>
                <a:defRPr b="0" i="0" strike="noStrike" sz="1000" u="none">
                  <a:solidFill>
                    <a:srgbClr val="1021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F8794"/>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3E8"/>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F8794"/>
                </a:solidFill>
                <a:latin typeface="+mn-lt"/>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제목은 '무엇을 하는 것'이고, '추정이 틀리면 배차가 틀린다'는 부제. 오른쪽 그림은 문갑도 위성 형상 점수 상위 구간과 실제 비행 경로.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교수님이 '뭘 많이 했는데 뭔지 모르겠다'고 하셨던 자리. 세 덩어리와 결과 숫자만.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제목 후보: ① 지금 일하는 방식: 눈으로 찾고, 면적에 계수를 곱하고, 경험으로 배차한다 ② 수거 업체의 하루: 헤매고, 세고, 다시 부른다 ③ 세 번 틀리는 숫자: 위치·무게·트럭. 1안 채택.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강조 장. 제목 후보: ① 업체 데이터의 오류: 같은 42개가 1.3 kg vs 101 kg ② 높이가 없으면 무게가 없다 ③ 78배: 기록과 실제의 거리. 101 kg도 가정 밀도 계산값이라 질문이 오면 '저울 실측이 1단계'라고 답한다.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B2G 근거. 제목 후보: ① 왜 공공이 돈을 쓰는 일인가 ② 치워도 줄지 않는 15만 톤 ③ 매년 늘어나는 공공 발주. 1안 채택.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제목 후보: ① 수거 비용은 지자체 몫이고, 추정이 곧 예산이다 ② 톤 단위 오차가 수천만 원이 되는 구조 ③ 발주처의 숫자는 어디서 오나. 1안 채택.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제목 후보: ① 한 번의 폭우가 1,180 t을 보낸다 ② 폭우 다음 날, 트럭은 몇 대를 불러야 하나 ③ 거제는 두 번 겪었다. 1안 채택.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소개. 정합을 버린 게 아니라 위치 엔진으로 재활용했음을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노력 장. 줌 회의 횟수·날짜는 팀이 채운다.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현실성 장. '진짜 날려서 찍은 것'을 먼저 보여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솔루션 개괄. 기술 두 덩어리를 한 줄씩 먼저 말하고, 7단계는 그 다음.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소개만. 검증 수치(62~67%)는 4장에서.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해류 분석 장. 그림 ①은 우리 조석 모델, ②③은 OpenDrift. 수치 평가는 4장.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그 거리에서 찍나'. 숫자는 4K 24 mm 기준 계산값이며 실제 기체 스펙으로 확정 예정.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소개. 재현율·잔차 수치는 4장.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소개. 상자 오차 수치는 4장.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C. 수거 접근로·로드뷰는 미구현이라 말하지 않는다(질문 오면 로드맵).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맵. 긍정 프레임: 6/7 확인. 무게 실측은 '예정'으로만.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긍정 프레임. '선택 안 된 70%는 관측 없음'은 질문 때 답한다: 핫스팟 정기 + N회에 1번 전수 + 20% 무작위 표본.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긍정 프레임. 통합 모델이 문갑도에서 0.53으로 떨어지는 것은 질문 때: 서비스 기본 가중치는 AI Hub 11종, 30 에폭 결과로 재비교.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긍정 프레임. 7 m 윗면 편향(+1.5~3.5 cm)과 저울 실측 부재는 질문 때 답한다.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긍정 프레임. 니하우는 2D라 무게 구간이 넓다 → '그래서 3D가 필요하다'로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완료 실험만. 예정 실험은 로드맵 1단계.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기대효과. 금액은 환산 예시임을 분명히.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의의 장. 업체 데이터 오류(1.3 vs 101 kg)를 다시 한 번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상대의 강점(위성·ARD·B2G 채널)을 앞에 두고 우리를 계층으로 끼운다.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일정은 제안이며 상대의 위성 ARD 제공 시점에 맞춰 조정.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요청 3개를 명확히. 마지막 문장은 부제의 반복.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맨 뒤 요약. 질의응답 때 띄워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83080"/>
            <a:ext cx="6675120" cy="1920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3840480"/>
            <a:ext cx="6492240" cy="1371600"/>
          </a:xfrm>
          <a:prstGeom prst="rect">
            <a:avLst/>
          </a:prstGeom>
          <a:noFill/>
          <a:ln/>
        </p:spPr>
        <p:txBody>
          <a:bodyPr wrap="square" rtlCol="0"/>
          <a:lstStyle>
            <a:lvl1pPr algn="l" indent="0" marL="0">
              <a:buNone/>
              <a:defRPr lang="en-US" sz="1500" dirty="0">
                <a:solidFill>
                  <a:schemeClr val="accent5"/>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51560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4023360"/>
            <a:ext cx="10058400" cy="1097280"/>
          </a:xfrm>
          <a:prstGeom prst="rect">
            <a:avLst/>
          </a:prstGeom>
          <a:noFill/>
          <a:ln/>
        </p:spPr>
        <p:txBody>
          <a:bodyPr wrap="square" rtlCol="0"/>
          <a:lstStyle>
            <a:lvl1pPr algn="l" indent="0" marL="0">
              <a:buNone/>
              <a:defRPr lang="en-US" sz="1600" dirty="0">
                <a:solidFill>
                  <a:schemeClr val="accent5"/>
                </a:solidFill>
              </a:defRPr>
            </a:lvl1pPr>
          </a:lstStyle>
          <a:p>
            <a:pPr algn="l" indent="0" marL="0">
              <a:buNone/>
            </a:pPr>
            <a:endParaRPr lang="en-US" sz="1600" dirty="0"/>
          </a:p>
        </p:txBody>
      </p:sp>
      <p:sp>
        <p:nvSpPr>
          <p:cNvPr id="4" name="Text 0"/>
          <p:cNvSpPr/>
          <p:nvPr/>
        </p:nvSpPr>
        <p:spPr>
          <a:xfrm>
            <a:off x="0" y="0"/>
            <a:ext cx="9144000" cy="0"/>
          </a:xfrm>
          <a:prstGeom prst="rect">
            <a:avLst/>
          </a:prstGeom>
          <a:noFill/>
          <a:ln/>
        </p:spPr>
        <p:txBody>
          <a:bodyPr wrap="square" rtlCol="0" anchor="ctr"/>
          <a:lstStyle/>
          <a:p>
            <a:pPr indent="0" marL="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0" y="0"/>
            <a:ext cx="9144000" cy="0"/>
          </a:xfrm>
          <a:prstGeom prst="rect">
            <a:avLst/>
          </a:prstGeom>
          <a:noFill/>
          <a:ln/>
        </p:spPr>
        <p:txBody>
          <a:bodyPr wrap="square" rtlCol="0" anchor="ctr"/>
          <a:lstStyle/>
          <a:p>
            <a:pPr indent="0" marL="0">
              <a:buNone/>
            </a:pPr>
            <a:endParaRPr lang="en-US"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LT2">
    <p:bg>
      <p:bgPr>
        <a:solidFill>
          <a:srgbClr val="EEF3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0" y="0"/>
            <a:ext cx="9144000" cy="0"/>
          </a:xfrm>
          <a:prstGeom prst="rect">
            <a:avLst/>
          </a:prstGeom>
          <a:noFill/>
          <a:ln/>
        </p:spPr>
        <p:txBody>
          <a:bodyPr wrap="square" rtlCol="0" anchor="ctr"/>
          <a:lstStyle/>
          <a:p>
            <a:pPr indent="0" marL="0">
              <a:buNone/>
            </a:pPr>
            <a:endParaRPr lang="en-US"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0B3C5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0" y="0"/>
            <a:ext cx="9144000" cy="0"/>
          </a:xfrm>
          <a:prstGeom prst="rect">
            <a:avLst/>
          </a:prstGeom>
          <a:noFill/>
          <a:ln/>
        </p:spPr>
        <p:txBody>
          <a:bodyPr wrap="square" rtlCol="0" anchor="ctr"/>
          <a:lstStyle/>
          <a:p>
            <a:pPr indent="0" marL="0">
              <a:buNone/>
            </a:pPr>
            <a:endParaRPr lang="en-US"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5.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4.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5.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image" Target="../media/image-23-13.png"/><Relationship Id="rId14" Type="http://schemas.openxmlformats.org/officeDocument/2006/relationships/image" Target="../media/image-23-14.png"/><Relationship Id="rId15" Type="http://schemas.openxmlformats.org/officeDocument/2006/relationships/slideLayout" Target="../slideLayouts/slideLayout4.xml"/><Relationship Id="rId1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25-1.jp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6-1.jpg"/><Relationship Id="rId3" Type="http://schemas.openxmlformats.org/officeDocument/2006/relationships/slideLayout" Target="../slideLayouts/slideLayout5.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27-1.jp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5.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6.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문갑도 우선 구간 비행경로" descr="/tmp/claude-0/-home-user-hsr1m/6022f0b4-b8f8-52b0-8810-837ebd6bfbe9/scratchpad/deck/img/fig_26_문갑도_우선구간_비행경로.jpg">    </p:cNvPr>
          <p:cNvPicPr>
            <a:picLocks noChangeAspect="1"/>
          </p:cNvPicPr>
          <p:nvPr/>
        </p:nvPicPr>
        <p:blipFill>
          <a:blip r:embed="rId1"/>
          <a:srcRect l="0" r="0" t="0" b="0"/>
          <a:stretch/>
        </p:blipFill>
        <p:spPr>
          <a:xfrm>
            <a:off x="7406640" y="0"/>
            <a:ext cx="4785055" cy="6858000"/>
          </a:xfrm>
          <a:prstGeom prst="rect">
            <a:avLst/>
          </a:prstGeom>
        </p:spPr>
      </p:pic>
      <p:sp>
        <p:nvSpPr>
          <p:cNvPr id="3" name="image tint"/>
          <p:cNvSpPr/>
          <p:nvPr/>
        </p:nvSpPr>
        <p:spPr>
          <a:xfrm>
            <a:off x="7406640" y="0"/>
            <a:ext cx="4785055" cy="6858000"/>
          </a:xfrm>
          <a:prstGeom prst="rect">
            <a:avLst/>
          </a:prstGeom>
          <a:solidFill>
            <a:srgbClr val="0B3C5D">
              <a:alpha val="70000"/>
            </a:srgbClr>
          </a:solidFill>
          <a:ln w="12700">
            <a:solidFill>
              <a:srgbClr val="0B3C5D">
                <a:alpha val="0"/>
              </a:srgbClr>
            </a:solidFill>
            <a:prstDash val="solid"/>
          </a:ln>
        </p:spPr>
      </p:sp>
      <p:sp>
        <p:nvSpPr>
          <p:cNvPr id="4" name="Text 1"/>
          <p:cNvSpPr txBox="1"/>
          <p:nvPr/>
        </p:nvSpPr>
        <p:spPr>
          <a:xfrm>
            <a:off x="640080" y="1097280"/>
            <a:ext cx="6675120" cy="365760"/>
          </a:xfrm>
          <a:prstGeom prst="rect">
            <a:avLst/>
          </a:prstGeom>
          <a:noFill/>
          <a:ln/>
        </p:spPr>
        <p:txBody>
          <a:bodyPr wrap="square" lIns="0" tIns="0" rIns="0" bIns="0" rtlCol="0" anchor="ctr"/>
          <a:lstStyle/>
          <a:p>
            <a:pPr indent="0" marL="0">
              <a:buNone/>
            </a:pPr>
            <a:r>
              <a:rPr lang="en-US" sz="1300" b="1" spc="100" kern="0" dirty="0">
                <a:solidFill>
                  <a:schemeClr val="accent2"/>
                </a:solidFill>
              </a:rPr>
              <a:t>DroneSweep  ·  드론대장 붕붕이  ·  3DLabs 제안</a:t>
            </a:r>
            <a:endParaRPr lang="en-US" sz="1300" dirty="0"/>
          </a:p>
        </p:txBody>
      </p:sp>
      <p:sp>
        <p:nvSpPr>
          <p:cNvPr id="5" name="Text 0"/>
          <p:cNvSpPr/>
          <p:nvPr>
            <p:ph idx="100" type="title" hasCustomPrompt="1"/>
          </p:nvPr>
        </p:nvSpPr>
        <p:spPr>
          <a:xfrm>
            <a:off x="640080" y="1783080"/>
            <a:ext cx="6675120" cy="1920240"/>
          </a:xfrm>
          <a:prstGeom prst="rect">
            <a:avLst/>
          </a:prstGeom>
          <a:noFill/>
          <a:ln/>
        </p:spPr>
        <p:txBody>
          <a:bodyPr wrap="square" lIns="0" tIns="0" rIns="0" bIns="0" rtlCol="0" anchor="b"/>
          <a:lstStyle/>
          <a:p>
            <a:pPr algn="l" indent="0" marL="0">
              <a:buNone/>
            </a:pPr>
            <a:r>
              <a:rPr lang="en-US" sz="3600" b="1" dirty="0">
                <a:solidFill>
                  <a:schemeClr val="bg1"/>
                </a:solidFill>
              </a:rPr>
              <a:t>드론 영상 하나로 끝내는</a:t>
            </a:r>
            <a:endParaRPr lang="en-US" sz="3600" dirty="0"/>
          </a:p>
          <a:p>
            <a:pPr algn="l" indent="0" marL="0">
              <a:buNone/>
            </a:pPr>
            <a:r>
              <a:rPr lang="en-US" sz="3600" b="1" dirty="0">
                <a:solidFill>
                  <a:schemeClr val="bg1"/>
                </a:solidFill>
              </a:rPr>
              <a:t>해안쓰레기 측정·수거계획</a:t>
            </a:r>
            <a:endParaRPr lang="en-US" sz="3600" dirty="0"/>
          </a:p>
        </p:txBody>
      </p:sp>
      <p:sp>
        <p:nvSpPr>
          <p:cNvPr id="6" name="Text 0"/>
          <p:cNvSpPr/>
          <p:nvPr>
            <p:ph idx="101" type="body" hasCustomPrompt="1"/>
          </p:nvPr>
        </p:nvSpPr>
        <p:spPr>
          <a:xfrm>
            <a:off x="640080" y="3840480"/>
            <a:ext cx="6492240" cy="1371600"/>
          </a:xfrm>
          <a:prstGeom prst="rect">
            <a:avLst/>
          </a:prstGeom>
          <a:noFill/>
          <a:ln/>
        </p:spPr>
        <p:txBody>
          <a:bodyPr wrap="square" lIns="0" tIns="0" rIns="0" bIns="0" rtlCol="0" anchor="t"/>
          <a:lstStyle/>
          <a:p>
            <a:pPr algn="l" indent="0" marL="0">
              <a:buNone/>
            </a:pPr>
            <a:r>
              <a:rPr lang="en-US" sz="1500" b="1" dirty="0">
                <a:solidFill>
                  <a:schemeClr val="bg1"/>
                </a:solidFill>
              </a:rPr>
              <a:t>추정이 틀리면 배차가 틀린다.</a:t>
            </a:r>
            <a:endParaRPr lang="en-US" sz="1500" dirty="0"/>
          </a:p>
          <a:p>
            <a:pPr algn="l" indent="0" marL="0">
              <a:buNone/>
            </a:pPr>
            <a:r>
              <a:rPr lang="en-US" sz="1500" dirty="0">
                <a:solidFill>
                  <a:schemeClr val="accent5"/>
                </a:solidFill>
              </a:rPr>
              <a:t>위성·해류로 어디를 날지 고르고, 드론 영상 하나로 3D 부피와 무게 구간을 내고,</a:t>
            </a:r>
            <a:endParaRPr lang="en-US" sz="1500" dirty="0"/>
          </a:p>
          <a:p>
            <a:pPr algn="l" indent="0" marL="0">
              <a:buNone/>
            </a:pPr>
            <a:r>
              <a:rPr lang="en-US" sz="1500" dirty="0">
                <a:solidFill>
                  <a:schemeClr val="accent5"/>
                </a:solidFill>
              </a:rPr>
              <a:t>수거계획을 바꾸는 물체만 다시 날아 마대·트럭·인원을 확정합니다.</a:t>
            </a:r>
            <a:endParaRPr lang="en-US" sz="1500" dirty="0"/>
          </a:p>
        </p:txBody>
      </p:sp>
      <p:sp>
        <p:nvSpPr>
          <p:cNvPr id="7" name="Text 4"/>
          <p:cNvSpPr txBox="1"/>
          <p:nvPr/>
        </p:nvSpPr>
        <p:spPr>
          <a:xfrm>
            <a:off x="640080" y="5943600"/>
            <a:ext cx="6675120" cy="365760"/>
          </a:xfrm>
          <a:prstGeom prst="rect">
            <a:avLst/>
          </a:prstGeom>
          <a:noFill/>
          <a:ln/>
        </p:spPr>
        <p:txBody>
          <a:bodyPr wrap="square" lIns="0" tIns="0" rIns="0" bIns="0" rtlCol="0" anchor="ctr"/>
          <a:lstStyle/>
          <a:p>
            <a:pPr indent="0" marL="0">
              <a:buNone/>
            </a:pPr>
            <a:r>
              <a:rPr lang="en-US" sz="1100" dirty="0">
                <a:solidFill>
                  <a:schemeClr val="accent5"/>
                </a:solidFill>
              </a:rPr>
              <a:t>2026. 10  ·  문갑도 · 송도 · 인천 · 니하우 실증 데이터</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한눈에: 이 기술 → 이 기술 → 이 결과</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드론 영상과 비행기록을 넣으면 수거계획서가 나옵니다. 그 사이에 기술 세 덩어리가 있습니다.</a:t>
            </a:r>
            <a:endParaRPr lang="en-US" sz="1400" dirty="0"/>
          </a:p>
        </p:txBody>
      </p:sp>
      <p:sp>
        <p:nvSpPr>
          <p:cNvPr id="4" name="tech 어디를 날지"/>
          <p:cNvSpPr/>
          <p:nvPr/>
        </p:nvSpPr>
        <p:spPr>
          <a:xfrm>
            <a:off x="548640" y="1783080"/>
            <a:ext cx="3566160" cy="3749040"/>
          </a:xfrm>
          <a:prstGeom prst="roundRect">
            <a:avLst>
              <a:gd name="adj" fmla="val 359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icon circle"/>
          <p:cNvSpPr/>
          <p:nvPr/>
        </p:nvSpPr>
        <p:spPr>
          <a:xfrm>
            <a:off x="822960" y="2057400"/>
            <a:ext cx="640080" cy="640080"/>
          </a:xfrm>
          <a:prstGeom prst="ellipse">
            <a:avLst/>
          </a:prstGeom>
          <a:solidFill>
            <a:srgbClr val="0B3C5D"/>
          </a:solidFill>
          <a:ln w="12700">
            <a:solidFill>
              <a:srgbClr val="0B3C5D"/>
            </a:solidFill>
            <a:prstDash val="solid"/>
          </a:ln>
        </p:spPr>
      </p:sp>
      <p:pic>
        <p:nvPicPr>
          <p:cNvPr id="6" name="icon FaSatellite" descr="preencoded.png">    </p:cNvPr>
          <p:cNvPicPr>
            <a:picLocks noChangeAspect="1"/>
          </p:cNvPicPr>
          <p:nvPr/>
        </p:nvPicPr>
        <p:blipFill>
          <a:blip r:embed="rId1"/>
          <a:stretch>
            <a:fillRect/>
          </a:stretch>
        </p:blipFill>
        <p:spPr>
          <a:xfrm>
            <a:off x="978408" y="2212848"/>
            <a:ext cx="329184" cy="329184"/>
          </a:xfrm>
          <a:prstGeom prst="rect">
            <a:avLst/>
          </a:prstGeom>
        </p:spPr>
      </p:pic>
      <p:sp>
        <p:nvSpPr>
          <p:cNvPr id="7" name="Text 4"/>
          <p:cNvSpPr txBox="1"/>
          <p:nvPr/>
        </p:nvSpPr>
        <p:spPr>
          <a:xfrm>
            <a:off x="1600200" y="2084832"/>
            <a:ext cx="2286000" cy="274320"/>
          </a:xfrm>
          <a:prstGeom prst="rect">
            <a:avLst/>
          </a:prstGeom>
          <a:noFill/>
          <a:ln/>
        </p:spPr>
        <p:txBody>
          <a:bodyPr wrap="square" lIns="0" tIns="0" rIns="0" bIns="0" rtlCol="0" anchor="ctr"/>
          <a:lstStyle/>
          <a:p>
            <a:pPr indent="0" marL="0">
              <a:buNone/>
            </a:pPr>
            <a:r>
              <a:rPr lang="en-US" sz="1000" dirty="0">
                <a:solidFill>
                  <a:schemeClr val="accent4"/>
                </a:solidFill>
              </a:rPr>
              <a:t>기술 1</a:t>
            </a:r>
            <a:endParaRPr lang="en-US" sz="1000" dirty="0"/>
          </a:p>
        </p:txBody>
      </p:sp>
      <p:sp>
        <p:nvSpPr>
          <p:cNvPr id="8" name="Text 5"/>
          <p:cNvSpPr txBox="1"/>
          <p:nvPr/>
        </p:nvSpPr>
        <p:spPr>
          <a:xfrm>
            <a:off x="1600200" y="2304288"/>
            <a:ext cx="2377440" cy="411480"/>
          </a:xfrm>
          <a:prstGeom prst="rect">
            <a:avLst/>
          </a:prstGeom>
          <a:noFill/>
          <a:ln/>
        </p:spPr>
        <p:txBody>
          <a:bodyPr wrap="square" lIns="0" tIns="0" rIns="0" bIns="0" rtlCol="0" anchor="ctr"/>
          <a:lstStyle/>
          <a:p>
            <a:pPr indent="0" marL="0">
              <a:buNone/>
            </a:pPr>
            <a:r>
              <a:rPr lang="en-US" sz="1700" b="1" dirty="0">
                <a:solidFill>
                  <a:schemeClr val="tx1"/>
                </a:solidFill>
              </a:rPr>
              <a:t>어디를 날지</a:t>
            </a:r>
            <a:endParaRPr lang="en-US" sz="1700" dirty="0"/>
          </a:p>
        </p:txBody>
      </p:sp>
      <p:sp>
        <p:nvSpPr>
          <p:cNvPr id="9" name="Text 6"/>
          <p:cNvSpPr txBox="1"/>
          <p:nvPr/>
        </p:nvSpPr>
        <p:spPr>
          <a:xfrm>
            <a:off x="822960" y="2852928"/>
            <a:ext cx="3017520" cy="457200"/>
          </a:xfrm>
          <a:prstGeom prst="rect">
            <a:avLst/>
          </a:prstGeom>
          <a:noFill/>
          <a:ln/>
        </p:spPr>
        <p:txBody>
          <a:bodyPr wrap="square" lIns="0" tIns="0" rIns="0" bIns="0" rtlCol="0" anchor="t"/>
          <a:lstStyle/>
          <a:p>
            <a:pPr indent="0" marL="0">
              <a:buNone/>
            </a:pPr>
            <a:r>
              <a:rPr lang="en-US" sz="1150" b="1" dirty="0">
                <a:solidFill>
                  <a:schemeClr val="tx2"/>
                </a:solidFill>
              </a:rPr>
              <a:t>위성 해안 형상 점수 + 해류·조석 방향</a:t>
            </a:r>
            <a:endParaRPr lang="en-US" sz="1150" dirty="0"/>
          </a:p>
        </p:txBody>
      </p:sp>
      <p:sp>
        <p:nvSpPr>
          <p:cNvPr id="10" name="Text 7"/>
          <p:cNvSpPr txBox="1"/>
          <p:nvPr/>
        </p:nvSpPr>
        <p:spPr>
          <a:xfrm>
            <a:off x="822960" y="3310128"/>
            <a:ext cx="3017520" cy="457200"/>
          </a:xfrm>
          <a:prstGeom prst="rect">
            <a:avLst/>
          </a:prstGeom>
          <a:noFill/>
          <a:ln/>
        </p:spPr>
        <p:txBody>
          <a:bodyPr wrap="square" lIns="0" tIns="0" rIns="0" bIns="0" rtlCol="0" anchor="t"/>
          <a:lstStyle/>
          <a:p>
            <a:pPr indent="0" marL="0">
              <a:buNone/>
            </a:pPr>
            <a:r>
              <a:rPr lang="en-US" sz="1050" dirty="0">
                <a:solidFill>
                  <a:schemeClr val="accent4"/>
                </a:solidFill>
              </a:rPr>
              <a:t>쌓이는 자리를 골라 상위 30% 구간만 비행</a:t>
            </a:r>
            <a:endParaRPr lang="en-US" sz="1050" dirty="0"/>
          </a:p>
        </p:txBody>
      </p:sp>
      <p:sp>
        <p:nvSpPr>
          <p:cNvPr id="11" name="result"/>
          <p:cNvSpPr/>
          <p:nvPr/>
        </p:nvSpPr>
        <p:spPr>
          <a:xfrm>
            <a:off x="822960" y="3931920"/>
            <a:ext cx="3017520" cy="1371600"/>
          </a:xfrm>
          <a:prstGeom prst="roundRect">
            <a:avLst>
              <a:gd name="adj" fmla="val 6667"/>
            </a:avLst>
          </a:prstGeom>
          <a:solidFill>
            <a:srgbClr val="EEF3F6"/>
          </a:solidFill>
          <a:ln w="12700">
            <a:solidFill>
              <a:srgbClr val="EEF3F6"/>
            </a:solidFill>
            <a:prstDash val="solid"/>
          </a:ln>
        </p:spPr>
      </p:sp>
      <p:sp>
        <p:nvSpPr>
          <p:cNvPr id="12" name="Text 9"/>
          <p:cNvSpPr txBox="1"/>
          <p:nvPr/>
        </p:nvSpPr>
        <p:spPr>
          <a:xfrm>
            <a:off x="987552" y="3986784"/>
            <a:ext cx="2286000" cy="228600"/>
          </a:xfrm>
          <a:prstGeom prst="rect">
            <a:avLst/>
          </a:prstGeom>
          <a:noFill/>
          <a:ln/>
        </p:spPr>
        <p:txBody>
          <a:bodyPr wrap="square" lIns="0" tIns="0" rIns="0" bIns="0" rtlCol="0" anchor="ctr"/>
          <a:lstStyle/>
          <a:p>
            <a:pPr indent="0" marL="0">
              <a:buNone/>
            </a:pPr>
            <a:r>
              <a:rPr lang="en-US" sz="950" dirty="0">
                <a:solidFill>
                  <a:schemeClr val="accent4"/>
                </a:solidFill>
              </a:rPr>
              <a:t>결과</a:t>
            </a:r>
            <a:endParaRPr lang="en-US" sz="950" dirty="0"/>
          </a:p>
        </p:txBody>
      </p:sp>
      <p:sp>
        <p:nvSpPr>
          <p:cNvPr id="13" name="Text 10"/>
          <p:cNvSpPr txBox="1"/>
          <p:nvPr/>
        </p:nvSpPr>
        <p:spPr>
          <a:xfrm>
            <a:off x="987552" y="4206240"/>
            <a:ext cx="2743200" cy="457200"/>
          </a:xfrm>
          <a:prstGeom prst="rect">
            <a:avLst/>
          </a:prstGeom>
          <a:noFill/>
          <a:ln/>
        </p:spPr>
        <p:txBody>
          <a:bodyPr wrap="square" lIns="0" tIns="0" rIns="0" bIns="0" rtlCol="0" anchor="ctr"/>
          <a:lstStyle/>
          <a:p>
            <a:pPr indent="0" marL="0">
              <a:buNone/>
            </a:pPr>
            <a:r>
              <a:rPr lang="en-US" sz="2000" b="1" dirty="0">
                <a:solidFill>
                  <a:schemeClr val="accent2"/>
                </a:solidFill>
              </a:rPr>
              <a:t>비행시간 −63%</a:t>
            </a:r>
            <a:endParaRPr lang="en-US" sz="2000" dirty="0"/>
          </a:p>
        </p:txBody>
      </p:sp>
      <p:sp>
        <p:nvSpPr>
          <p:cNvPr id="14" name="Text 11"/>
          <p:cNvSpPr txBox="1"/>
          <p:nvPr/>
        </p:nvSpPr>
        <p:spPr>
          <a:xfrm>
            <a:off x="987552" y="4681728"/>
            <a:ext cx="2743200" cy="566928"/>
          </a:xfrm>
          <a:prstGeom prst="rect">
            <a:avLst/>
          </a:prstGeom>
          <a:noFill/>
          <a:ln/>
        </p:spPr>
        <p:txBody>
          <a:bodyPr wrap="square" lIns="0" tIns="0" rIns="0" bIns="0" rtlCol="0" anchor="t"/>
          <a:lstStyle/>
          <a:p>
            <a:pPr indent="0" marL="0">
              <a:buNone/>
            </a:pPr>
            <a:r>
              <a:rPr lang="en-US" sz="950" dirty="0">
                <a:solidFill>
                  <a:schemeClr val="accent4"/>
                </a:solidFill>
              </a:rPr>
              <a:t>니하우: 41.3 h → 15.4 h로 쓰레기 67% 포착 · 문갑도 라벨 62%</a:t>
            </a:r>
            <a:endParaRPr lang="en-US" sz="950" dirty="0"/>
          </a:p>
        </p:txBody>
      </p:sp>
      <p:sp>
        <p:nvSpPr>
          <p:cNvPr id="15" name="arrow"/>
          <p:cNvSpPr/>
          <p:nvPr/>
        </p:nvSpPr>
        <p:spPr>
          <a:xfrm>
            <a:off x="4133088" y="3474720"/>
            <a:ext cx="155448" cy="365760"/>
          </a:xfrm>
          <a:prstGeom prst="rightArrow">
            <a:avLst/>
          </a:prstGeom>
          <a:solidFill>
            <a:srgbClr val="F26B21"/>
          </a:solidFill>
          <a:ln w="12700">
            <a:solidFill>
              <a:srgbClr val="F26B21"/>
            </a:solidFill>
            <a:prstDash val="solid"/>
          </a:ln>
        </p:spPr>
      </p:sp>
      <p:sp>
        <p:nvSpPr>
          <p:cNvPr id="16" name="tech 무엇이 어디에 얼마나"/>
          <p:cNvSpPr/>
          <p:nvPr/>
        </p:nvSpPr>
        <p:spPr>
          <a:xfrm>
            <a:off x="4297680" y="1783080"/>
            <a:ext cx="3566160" cy="3749040"/>
          </a:xfrm>
          <a:prstGeom prst="roundRect">
            <a:avLst>
              <a:gd name="adj" fmla="val 359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7" name="icon circle"/>
          <p:cNvSpPr/>
          <p:nvPr/>
        </p:nvSpPr>
        <p:spPr>
          <a:xfrm>
            <a:off x="4572000" y="2057400"/>
            <a:ext cx="640080" cy="640080"/>
          </a:xfrm>
          <a:prstGeom prst="ellipse">
            <a:avLst/>
          </a:prstGeom>
          <a:solidFill>
            <a:srgbClr val="0B3C5D"/>
          </a:solidFill>
          <a:ln w="12700">
            <a:solidFill>
              <a:srgbClr val="0B3C5D"/>
            </a:solidFill>
            <a:prstDash val="solid"/>
          </a:ln>
        </p:spPr>
      </p:sp>
      <p:pic>
        <p:nvPicPr>
          <p:cNvPr id="18" name="icon FaCubes" descr="preencoded.png">    </p:cNvPr>
          <p:cNvPicPr>
            <a:picLocks noChangeAspect="1"/>
          </p:cNvPicPr>
          <p:nvPr/>
        </p:nvPicPr>
        <p:blipFill>
          <a:blip r:embed="rId2"/>
          <a:stretch>
            <a:fillRect/>
          </a:stretch>
        </p:blipFill>
        <p:spPr>
          <a:xfrm>
            <a:off x="4727448" y="2212848"/>
            <a:ext cx="329184" cy="329184"/>
          </a:xfrm>
          <a:prstGeom prst="rect">
            <a:avLst/>
          </a:prstGeom>
        </p:spPr>
      </p:pic>
      <p:sp>
        <p:nvSpPr>
          <p:cNvPr id="19" name="Text 15"/>
          <p:cNvSpPr txBox="1"/>
          <p:nvPr/>
        </p:nvSpPr>
        <p:spPr>
          <a:xfrm>
            <a:off x="5349240" y="2084832"/>
            <a:ext cx="2286000" cy="274320"/>
          </a:xfrm>
          <a:prstGeom prst="rect">
            <a:avLst/>
          </a:prstGeom>
          <a:noFill/>
          <a:ln/>
        </p:spPr>
        <p:txBody>
          <a:bodyPr wrap="square" lIns="0" tIns="0" rIns="0" bIns="0" rtlCol="0" anchor="ctr"/>
          <a:lstStyle/>
          <a:p>
            <a:pPr indent="0" marL="0">
              <a:buNone/>
            </a:pPr>
            <a:r>
              <a:rPr lang="en-US" sz="1000" dirty="0">
                <a:solidFill>
                  <a:schemeClr val="accent4"/>
                </a:solidFill>
              </a:rPr>
              <a:t>기술 2</a:t>
            </a:r>
            <a:endParaRPr lang="en-US" sz="1000" dirty="0"/>
          </a:p>
        </p:txBody>
      </p:sp>
      <p:sp>
        <p:nvSpPr>
          <p:cNvPr id="20" name="Text 16"/>
          <p:cNvSpPr txBox="1"/>
          <p:nvPr/>
        </p:nvSpPr>
        <p:spPr>
          <a:xfrm>
            <a:off x="5349240" y="2304288"/>
            <a:ext cx="2377440" cy="411480"/>
          </a:xfrm>
          <a:prstGeom prst="rect">
            <a:avLst/>
          </a:prstGeom>
          <a:noFill/>
          <a:ln/>
        </p:spPr>
        <p:txBody>
          <a:bodyPr wrap="square" lIns="0" tIns="0" rIns="0" bIns="0" rtlCol="0" anchor="ctr"/>
          <a:lstStyle/>
          <a:p>
            <a:pPr indent="0" marL="0">
              <a:buNone/>
            </a:pPr>
            <a:r>
              <a:rPr lang="en-US" sz="1700" b="1" dirty="0">
                <a:solidFill>
                  <a:schemeClr val="tx1"/>
                </a:solidFill>
              </a:rPr>
              <a:t>무엇이 어디에 얼마나</a:t>
            </a:r>
            <a:endParaRPr lang="en-US" sz="1700" dirty="0"/>
          </a:p>
        </p:txBody>
      </p:sp>
      <p:sp>
        <p:nvSpPr>
          <p:cNvPr id="21" name="Text 17"/>
          <p:cNvSpPr txBox="1"/>
          <p:nvPr/>
        </p:nvSpPr>
        <p:spPr>
          <a:xfrm>
            <a:off x="4572000" y="2852928"/>
            <a:ext cx="3017520" cy="457200"/>
          </a:xfrm>
          <a:prstGeom prst="rect">
            <a:avLst/>
          </a:prstGeom>
          <a:noFill/>
          <a:ln/>
        </p:spPr>
        <p:txBody>
          <a:bodyPr wrap="square" lIns="0" tIns="0" rIns="0" bIns="0" rtlCol="0" anchor="t"/>
          <a:lstStyle/>
          <a:p>
            <a:pPr indent="0" marL="0">
              <a:buNone/>
            </a:pPr>
            <a:r>
              <a:rPr lang="en-US" sz="1150" b="1" dirty="0">
                <a:solidFill>
                  <a:schemeClr val="tx2"/>
                </a:solidFill>
              </a:rPr>
              <a:t>드론 영상 하나 → 탐지 → 3D 위치 → 부피·무게 구간</a:t>
            </a:r>
            <a:endParaRPr lang="en-US" sz="1150" dirty="0"/>
          </a:p>
        </p:txBody>
      </p:sp>
      <p:sp>
        <p:nvSpPr>
          <p:cNvPr id="22" name="Text 18"/>
          <p:cNvSpPr txBox="1"/>
          <p:nvPr/>
        </p:nvSpPr>
        <p:spPr>
          <a:xfrm>
            <a:off x="4572000" y="3310128"/>
            <a:ext cx="3017520" cy="457200"/>
          </a:xfrm>
          <a:prstGeom prst="rect">
            <a:avLst/>
          </a:prstGeom>
          <a:noFill/>
          <a:ln/>
        </p:spPr>
        <p:txBody>
          <a:bodyPr wrap="square" lIns="0" tIns="0" rIns="0" bIns="0" rtlCol="0" anchor="t"/>
          <a:lstStyle/>
          <a:p>
            <a:pPr indent="0" marL="0">
              <a:buNone/>
            </a:pPr>
            <a:r>
              <a:rPr lang="en-US" sz="1050" dirty="0">
                <a:solidFill>
                  <a:schemeClr val="accent4"/>
                </a:solidFill>
              </a:rPr>
              <a:t>정사영상·DSM 없이 영상+SRT만으로</a:t>
            </a:r>
            <a:endParaRPr lang="en-US" sz="1050" dirty="0"/>
          </a:p>
        </p:txBody>
      </p:sp>
      <p:sp>
        <p:nvSpPr>
          <p:cNvPr id="23" name="result"/>
          <p:cNvSpPr/>
          <p:nvPr/>
        </p:nvSpPr>
        <p:spPr>
          <a:xfrm>
            <a:off x="4572000" y="3931920"/>
            <a:ext cx="3017520" cy="1371600"/>
          </a:xfrm>
          <a:prstGeom prst="roundRect">
            <a:avLst>
              <a:gd name="adj" fmla="val 6667"/>
            </a:avLst>
          </a:prstGeom>
          <a:solidFill>
            <a:srgbClr val="EEF3F6"/>
          </a:solidFill>
          <a:ln w="12700">
            <a:solidFill>
              <a:srgbClr val="EEF3F6"/>
            </a:solidFill>
            <a:prstDash val="solid"/>
          </a:ln>
        </p:spPr>
      </p:sp>
      <p:sp>
        <p:nvSpPr>
          <p:cNvPr id="24" name="Text 20"/>
          <p:cNvSpPr txBox="1"/>
          <p:nvPr/>
        </p:nvSpPr>
        <p:spPr>
          <a:xfrm>
            <a:off x="4736592" y="3986784"/>
            <a:ext cx="2286000" cy="228600"/>
          </a:xfrm>
          <a:prstGeom prst="rect">
            <a:avLst/>
          </a:prstGeom>
          <a:noFill/>
          <a:ln/>
        </p:spPr>
        <p:txBody>
          <a:bodyPr wrap="square" lIns="0" tIns="0" rIns="0" bIns="0" rtlCol="0" anchor="ctr"/>
          <a:lstStyle/>
          <a:p>
            <a:pPr indent="0" marL="0">
              <a:buNone/>
            </a:pPr>
            <a:r>
              <a:rPr lang="en-US" sz="950" dirty="0">
                <a:solidFill>
                  <a:schemeClr val="accent4"/>
                </a:solidFill>
              </a:rPr>
              <a:t>결과</a:t>
            </a:r>
            <a:endParaRPr lang="en-US" sz="950" dirty="0"/>
          </a:p>
        </p:txBody>
      </p:sp>
      <p:sp>
        <p:nvSpPr>
          <p:cNvPr id="25" name="Text 21"/>
          <p:cNvSpPr txBox="1"/>
          <p:nvPr/>
        </p:nvSpPr>
        <p:spPr>
          <a:xfrm>
            <a:off x="4736592" y="4206240"/>
            <a:ext cx="2743200" cy="457200"/>
          </a:xfrm>
          <a:prstGeom prst="rect">
            <a:avLst/>
          </a:prstGeom>
          <a:noFill/>
          <a:ln/>
        </p:spPr>
        <p:txBody>
          <a:bodyPr wrap="square" lIns="0" tIns="0" rIns="0" bIns="0" rtlCol="0" anchor="ctr"/>
          <a:lstStyle/>
          <a:p>
            <a:pPr indent="0" marL="0">
              <a:buNone/>
            </a:pPr>
            <a:r>
              <a:rPr lang="en-US" sz="2000" b="1" dirty="0">
                <a:solidFill>
                  <a:schemeClr val="accent2"/>
                </a:solidFill>
              </a:rPr>
              <a:t>1.3 kg → 101 kg</a:t>
            </a:r>
            <a:endParaRPr lang="en-US" sz="2000" dirty="0"/>
          </a:p>
        </p:txBody>
      </p:sp>
      <p:sp>
        <p:nvSpPr>
          <p:cNvPr id="26" name="Text 22"/>
          <p:cNvSpPr txBox="1"/>
          <p:nvPr/>
        </p:nvSpPr>
        <p:spPr>
          <a:xfrm>
            <a:off x="4736592" y="4681728"/>
            <a:ext cx="2743200" cy="566928"/>
          </a:xfrm>
          <a:prstGeom prst="rect">
            <a:avLst/>
          </a:prstGeom>
          <a:noFill/>
          <a:ln/>
        </p:spPr>
        <p:txBody>
          <a:bodyPr wrap="square" lIns="0" tIns="0" rIns="0" bIns="0" rtlCol="0" anchor="t"/>
          <a:lstStyle/>
          <a:p>
            <a:pPr indent="0" marL="0">
              <a:buNone/>
            </a:pPr>
            <a:r>
              <a:rPr lang="en-US" sz="950" dirty="0">
                <a:solidFill>
                  <a:schemeClr val="accent4"/>
                </a:solidFill>
              </a:rPr>
              <a:t>업체 기록 vs 3D 측정 · 위치 1 m대 · 부피 오차 ±20% 안</a:t>
            </a:r>
            <a:endParaRPr lang="en-US" sz="950" dirty="0"/>
          </a:p>
        </p:txBody>
      </p:sp>
      <p:sp>
        <p:nvSpPr>
          <p:cNvPr id="27" name="arrow"/>
          <p:cNvSpPr/>
          <p:nvPr/>
        </p:nvSpPr>
        <p:spPr>
          <a:xfrm>
            <a:off x="7882128" y="3474720"/>
            <a:ext cx="155448" cy="365760"/>
          </a:xfrm>
          <a:prstGeom prst="rightArrow">
            <a:avLst/>
          </a:prstGeom>
          <a:solidFill>
            <a:srgbClr val="F26B21"/>
          </a:solidFill>
          <a:ln w="12700">
            <a:solidFill>
              <a:srgbClr val="F26B21"/>
            </a:solidFill>
            <a:prstDash val="solid"/>
          </a:ln>
        </p:spPr>
      </p:sp>
      <p:sp>
        <p:nvSpPr>
          <p:cNvPr id="28" name="tech 그래서 몇 대"/>
          <p:cNvSpPr/>
          <p:nvPr/>
        </p:nvSpPr>
        <p:spPr>
          <a:xfrm>
            <a:off x="8046720" y="1783080"/>
            <a:ext cx="3566160" cy="3749040"/>
          </a:xfrm>
          <a:prstGeom prst="roundRect">
            <a:avLst>
              <a:gd name="adj" fmla="val 359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9" name="icon circle"/>
          <p:cNvSpPr/>
          <p:nvPr/>
        </p:nvSpPr>
        <p:spPr>
          <a:xfrm>
            <a:off x="8321040" y="2057400"/>
            <a:ext cx="640080" cy="640080"/>
          </a:xfrm>
          <a:prstGeom prst="ellipse">
            <a:avLst/>
          </a:prstGeom>
          <a:solidFill>
            <a:srgbClr val="0B3C5D"/>
          </a:solidFill>
          <a:ln w="12700">
            <a:solidFill>
              <a:srgbClr val="0B3C5D"/>
            </a:solidFill>
            <a:prstDash val="solid"/>
          </a:ln>
        </p:spPr>
      </p:sp>
      <p:pic>
        <p:nvPicPr>
          <p:cNvPr id="30" name="icon FaTruck" descr="preencoded.png">    </p:cNvPr>
          <p:cNvPicPr>
            <a:picLocks noChangeAspect="1"/>
          </p:cNvPicPr>
          <p:nvPr/>
        </p:nvPicPr>
        <p:blipFill>
          <a:blip r:embed="rId3"/>
          <a:stretch>
            <a:fillRect/>
          </a:stretch>
        </p:blipFill>
        <p:spPr>
          <a:xfrm>
            <a:off x="8476488" y="2212848"/>
            <a:ext cx="329184" cy="329184"/>
          </a:xfrm>
          <a:prstGeom prst="rect">
            <a:avLst/>
          </a:prstGeom>
        </p:spPr>
      </p:pic>
      <p:sp>
        <p:nvSpPr>
          <p:cNvPr id="31" name="Text 26"/>
          <p:cNvSpPr txBox="1"/>
          <p:nvPr/>
        </p:nvSpPr>
        <p:spPr>
          <a:xfrm>
            <a:off x="9098280" y="2084832"/>
            <a:ext cx="2286000" cy="274320"/>
          </a:xfrm>
          <a:prstGeom prst="rect">
            <a:avLst/>
          </a:prstGeom>
          <a:noFill/>
          <a:ln/>
        </p:spPr>
        <p:txBody>
          <a:bodyPr wrap="square" lIns="0" tIns="0" rIns="0" bIns="0" rtlCol="0" anchor="ctr"/>
          <a:lstStyle/>
          <a:p>
            <a:pPr indent="0" marL="0">
              <a:buNone/>
            </a:pPr>
            <a:r>
              <a:rPr lang="en-US" sz="1000" dirty="0">
                <a:solidFill>
                  <a:schemeClr val="accent4"/>
                </a:solidFill>
              </a:rPr>
              <a:t>기술 3</a:t>
            </a:r>
            <a:endParaRPr lang="en-US" sz="1000" dirty="0"/>
          </a:p>
        </p:txBody>
      </p:sp>
      <p:sp>
        <p:nvSpPr>
          <p:cNvPr id="32" name="Text 27"/>
          <p:cNvSpPr txBox="1"/>
          <p:nvPr/>
        </p:nvSpPr>
        <p:spPr>
          <a:xfrm>
            <a:off x="9098280" y="2304288"/>
            <a:ext cx="2377440" cy="411480"/>
          </a:xfrm>
          <a:prstGeom prst="rect">
            <a:avLst/>
          </a:prstGeom>
          <a:noFill/>
          <a:ln/>
        </p:spPr>
        <p:txBody>
          <a:bodyPr wrap="square" lIns="0" tIns="0" rIns="0" bIns="0" rtlCol="0" anchor="ctr"/>
          <a:lstStyle/>
          <a:p>
            <a:pPr indent="0" marL="0">
              <a:buNone/>
            </a:pPr>
            <a:r>
              <a:rPr lang="en-US" sz="1700" b="1" dirty="0">
                <a:solidFill>
                  <a:schemeClr val="tx1"/>
                </a:solidFill>
              </a:rPr>
              <a:t>그래서 몇 대</a:t>
            </a:r>
            <a:endParaRPr lang="en-US" sz="1700" dirty="0"/>
          </a:p>
        </p:txBody>
      </p:sp>
      <p:sp>
        <p:nvSpPr>
          <p:cNvPr id="33" name="Text 28"/>
          <p:cNvSpPr txBox="1"/>
          <p:nvPr/>
        </p:nvSpPr>
        <p:spPr>
          <a:xfrm>
            <a:off x="8321040" y="2852928"/>
            <a:ext cx="3017520" cy="457200"/>
          </a:xfrm>
          <a:prstGeom prst="rect">
            <a:avLst/>
          </a:prstGeom>
          <a:noFill/>
          <a:ln/>
        </p:spPr>
        <p:txBody>
          <a:bodyPr wrap="square" lIns="0" tIns="0" rIns="0" bIns="0" rtlCol="0" anchor="t"/>
          <a:lstStyle/>
          <a:p>
            <a:pPr indent="0" marL="0">
              <a:buNone/>
            </a:pPr>
            <a:r>
              <a:rPr lang="en-US" sz="1150" b="1" dirty="0">
                <a:solidFill>
                  <a:schemeClr val="tx2"/>
                </a:solidFill>
              </a:rPr>
              <a:t>정거장·마대·트럭·인력·경로 작업카드</a:t>
            </a:r>
            <a:endParaRPr lang="en-US" sz="1150" dirty="0"/>
          </a:p>
        </p:txBody>
      </p:sp>
      <p:sp>
        <p:nvSpPr>
          <p:cNvPr id="34" name="Text 29"/>
          <p:cNvSpPr txBox="1"/>
          <p:nvPr/>
        </p:nvSpPr>
        <p:spPr>
          <a:xfrm>
            <a:off x="8321040" y="3310128"/>
            <a:ext cx="3017520" cy="457200"/>
          </a:xfrm>
          <a:prstGeom prst="rect">
            <a:avLst/>
          </a:prstGeom>
          <a:noFill/>
          <a:ln/>
        </p:spPr>
        <p:txBody>
          <a:bodyPr wrap="square" lIns="0" tIns="0" rIns="0" bIns="0" rtlCol="0" anchor="t"/>
          <a:lstStyle/>
          <a:p>
            <a:pPr indent="0" marL="0">
              <a:buNone/>
            </a:pPr>
            <a:r>
              <a:rPr lang="en-US" sz="1050" dirty="0">
                <a:solidFill>
                  <a:schemeClr val="accent4"/>
                </a:solidFill>
              </a:rPr>
              <a:t>23 kg 경계에 걸린 물체만 2차 선회</a:t>
            </a:r>
            <a:endParaRPr lang="en-US" sz="1050" dirty="0"/>
          </a:p>
        </p:txBody>
      </p:sp>
      <p:sp>
        <p:nvSpPr>
          <p:cNvPr id="35" name="result"/>
          <p:cNvSpPr/>
          <p:nvPr/>
        </p:nvSpPr>
        <p:spPr>
          <a:xfrm>
            <a:off x="8321040" y="3931920"/>
            <a:ext cx="3017520" cy="1371600"/>
          </a:xfrm>
          <a:prstGeom prst="roundRect">
            <a:avLst>
              <a:gd name="adj" fmla="val 6667"/>
            </a:avLst>
          </a:prstGeom>
          <a:solidFill>
            <a:srgbClr val="EEF3F6"/>
          </a:solidFill>
          <a:ln w="12700">
            <a:solidFill>
              <a:srgbClr val="EEF3F6"/>
            </a:solidFill>
            <a:prstDash val="solid"/>
          </a:ln>
        </p:spPr>
      </p:sp>
      <p:sp>
        <p:nvSpPr>
          <p:cNvPr id="36" name="Text 31"/>
          <p:cNvSpPr txBox="1"/>
          <p:nvPr/>
        </p:nvSpPr>
        <p:spPr>
          <a:xfrm>
            <a:off x="8485632" y="3986784"/>
            <a:ext cx="2286000" cy="228600"/>
          </a:xfrm>
          <a:prstGeom prst="rect">
            <a:avLst/>
          </a:prstGeom>
          <a:noFill/>
          <a:ln/>
        </p:spPr>
        <p:txBody>
          <a:bodyPr wrap="square" lIns="0" tIns="0" rIns="0" bIns="0" rtlCol="0" anchor="ctr"/>
          <a:lstStyle/>
          <a:p>
            <a:pPr indent="0" marL="0">
              <a:buNone/>
            </a:pPr>
            <a:r>
              <a:rPr lang="en-US" sz="950" dirty="0">
                <a:solidFill>
                  <a:schemeClr val="accent4"/>
                </a:solidFill>
              </a:rPr>
              <a:t>결과</a:t>
            </a:r>
            <a:endParaRPr lang="en-US" sz="950" dirty="0"/>
          </a:p>
        </p:txBody>
      </p:sp>
      <p:sp>
        <p:nvSpPr>
          <p:cNvPr id="37" name="Text 32"/>
          <p:cNvSpPr txBox="1"/>
          <p:nvPr/>
        </p:nvSpPr>
        <p:spPr>
          <a:xfrm>
            <a:off x="8485632" y="4206240"/>
            <a:ext cx="2743200" cy="457200"/>
          </a:xfrm>
          <a:prstGeom prst="rect">
            <a:avLst/>
          </a:prstGeom>
          <a:noFill/>
          <a:ln/>
        </p:spPr>
        <p:txBody>
          <a:bodyPr wrap="square" lIns="0" tIns="0" rIns="0" bIns="0" rtlCol="0" anchor="ctr"/>
          <a:lstStyle/>
          <a:p>
            <a:pPr indent="0" marL="0">
              <a:buNone/>
            </a:pPr>
            <a:r>
              <a:rPr lang="en-US" sz="2000" b="1" dirty="0">
                <a:solidFill>
                  <a:schemeClr val="accent2"/>
                </a:solidFill>
              </a:rPr>
              <a:t>비행 1회 = 계획서 1부</a:t>
            </a:r>
            <a:endParaRPr lang="en-US" sz="2000" dirty="0"/>
          </a:p>
        </p:txBody>
      </p:sp>
      <p:sp>
        <p:nvSpPr>
          <p:cNvPr id="38" name="Text 33"/>
          <p:cNvSpPr txBox="1"/>
          <p:nvPr/>
        </p:nvSpPr>
        <p:spPr>
          <a:xfrm>
            <a:off x="8485632" y="4681728"/>
            <a:ext cx="2743200" cy="566928"/>
          </a:xfrm>
          <a:prstGeom prst="rect">
            <a:avLst/>
          </a:prstGeom>
          <a:noFill/>
          <a:ln/>
        </p:spPr>
        <p:txBody>
          <a:bodyPr wrap="square" lIns="0" tIns="0" rIns="0" bIns="0" rtlCol="0" anchor="t"/>
          <a:lstStyle/>
          <a:p>
            <a:pPr indent="0" marL="0">
              <a:buNone/>
            </a:pPr>
            <a:r>
              <a:rPr lang="en-US" sz="950" dirty="0">
                <a:solidFill>
                  <a:schemeClr val="accent4"/>
                </a:solidFill>
              </a:rPr>
              <a:t>니하우 5,476개 → 마대 1,082 · 트럭 37 · 경로 71.9 km</a:t>
            </a:r>
            <a:endParaRPr lang="en-US" sz="950" dirty="0"/>
          </a:p>
        </p:txBody>
      </p:sp>
      <p:sp>
        <p:nvSpPr>
          <p:cNvPr id="39" name="io"/>
          <p:cNvSpPr/>
          <p:nvPr/>
        </p:nvSpPr>
        <p:spPr>
          <a:xfrm>
            <a:off x="548640" y="5669280"/>
            <a:ext cx="11091672" cy="384048"/>
          </a:xfrm>
          <a:prstGeom prst="roundRect">
            <a:avLst>
              <a:gd name="adj" fmla="val 23810"/>
            </a:avLst>
          </a:prstGeom>
          <a:solidFill>
            <a:srgbClr val="FFD9C2"/>
          </a:solidFill>
          <a:ln w="12700">
            <a:solidFill>
              <a:srgbClr val="FFD9C2"/>
            </a:solidFill>
            <a:prstDash val="solid"/>
          </a:ln>
        </p:spPr>
      </p:sp>
      <p:sp>
        <p:nvSpPr>
          <p:cNvPr id="40" name="Text 35"/>
          <p:cNvSpPr txBox="1"/>
          <p:nvPr/>
        </p:nvSpPr>
        <p:spPr>
          <a:xfrm>
            <a:off x="731520" y="5669280"/>
            <a:ext cx="10789920" cy="384048"/>
          </a:xfrm>
          <a:prstGeom prst="rect">
            <a:avLst/>
          </a:prstGeom>
          <a:noFill/>
          <a:ln/>
        </p:spPr>
        <p:txBody>
          <a:bodyPr wrap="square" lIns="0" tIns="0" rIns="0" bIns="0" rtlCol="0" anchor="ctr"/>
          <a:lstStyle/>
          <a:p>
            <a:pPr indent="0" marL="0">
              <a:buNone/>
            </a:pPr>
            <a:r>
              <a:rPr lang="en-US" sz="1050" b="1" dirty="0">
                <a:solidFill>
                  <a:schemeClr val="tx2"/>
                </a:solidFill>
              </a:rPr>
              <a:t>입력: 드론 영상(MP4) + 비행기록(SRT)     →     출력: 지도 핀(위치·오차반경) · 물체 목록(부피·무게 구간) · 정거장별 작업카드 · 비행 경로 KML</a:t>
            </a:r>
            <a:endParaRPr lang="en-US" sz="10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목차</a:t>
            </a:r>
            <a:endParaRPr lang="en-US" sz="2800" dirty="0"/>
          </a:p>
        </p:txBody>
      </p:sp>
      <p:sp>
        <p:nvSpPr>
          <p:cNvPr id="3" name="toc 기업이 겪는 문제"/>
          <p:cNvSpPr/>
          <p:nvPr/>
        </p:nvSpPr>
        <p:spPr>
          <a:xfrm>
            <a:off x="548640" y="1463040"/>
            <a:ext cx="11091672" cy="640080"/>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4" name="Text 2"/>
          <p:cNvSpPr txBox="1"/>
          <p:nvPr/>
        </p:nvSpPr>
        <p:spPr>
          <a:xfrm>
            <a:off x="777240" y="1463040"/>
            <a:ext cx="731520" cy="640080"/>
          </a:xfrm>
          <a:prstGeom prst="rect">
            <a:avLst/>
          </a:prstGeom>
          <a:noFill/>
          <a:ln/>
        </p:spPr>
        <p:txBody>
          <a:bodyPr wrap="square" lIns="0" tIns="0" rIns="0" bIns="0" rtlCol="0" anchor="ctr"/>
          <a:lstStyle/>
          <a:p>
            <a:pPr indent="0" marL="0">
              <a:buNone/>
            </a:pPr>
            <a:r>
              <a:rPr lang="en-US" sz="2000" b="1" dirty="0">
                <a:solidFill>
                  <a:schemeClr val="accent2"/>
                </a:solidFill>
              </a:rPr>
              <a:t>01</a:t>
            </a:r>
            <a:endParaRPr lang="en-US" sz="2000" dirty="0"/>
          </a:p>
        </p:txBody>
      </p:sp>
      <p:sp>
        <p:nvSpPr>
          <p:cNvPr id="5" name="Text 3"/>
          <p:cNvSpPr txBox="1"/>
          <p:nvPr/>
        </p:nvSpPr>
        <p:spPr>
          <a:xfrm>
            <a:off x="1600200" y="1463040"/>
            <a:ext cx="3108960" cy="640080"/>
          </a:xfrm>
          <a:prstGeom prst="rect">
            <a:avLst/>
          </a:prstGeom>
          <a:noFill/>
          <a:ln/>
        </p:spPr>
        <p:txBody>
          <a:bodyPr wrap="square" lIns="0" tIns="0" rIns="0" bIns="0" rtlCol="0" anchor="ctr"/>
          <a:lstStyle/>
          <a:p>
            <a:pPr indent="0" marL="0">
              <a:buNone/>
            </a:pPr>
            <a:r>
              <a:rPr lang="en-US" sz="1600" b="1" dirty="0">
                <a:solidFill>
                  <a:schemeClr val="tx1"/>
                </a:solidFill>
              </a:rPr>
              <a:t>기업이 겪는 문제</a:t>
            </a:r>
            <a:endParaRPr lang="en-US" sz="1600" dirty="0"/>
          </a:p>
        </p:txBody>
      </p:sp>
      <p:sp>
        <p:nvSpPr>
          <p:cNvPr id="6" name="Text 4"/>
          <p:cNvSpPr txBox="1"/>
          <p:nvPr/>
        </p:nvSpPr>
        <p:spPr>
          <a:xfrm>
            <a:off x="4754880" y="1463040"/>
            <a:ext cx="6675120" cy="640080"/>
          </a:xfrm>
          <a:prstGeom prst="rect">
            <a:avLst/>
          </a:prstGeom>
          <a:noFill/>
          <a:ln/>
        </p:spPr>
        <p:txBody>
          <a:bodyPr wrap="square" lIns="0" tIns="0" rIns="0" bIns="0" rtlCol="0" anchor="ctr"/>
          <a:lstStyle/>
          <a:p>
            <a:pPr indent="0" marL="0">
              <a:buNone/>
            </a:pPr>
            <a:r>
              <a:rPr lang="en-US" sz="1100" dirty="0">
                <a:solidFill>
                  <a:schemeClr val="accent4"/>
                </a:solidFill>
              </a:rPr>
              <a:t>지금 일하는 방식 · 업체 데이터의 오류 · 왜 공공이 돈을 쓰는 일인가 · 비용 구조 · 폭우 사례</a:t>
            </a:r>
            <a:endParaRPr lang="en-US" sz="1100" dirty="0"/>
          </a:p>
        </p:txBody>
      </p:sp>
      <p:sp>
        <p:nvSpPr>
          <p:cNvPr id="7" name="toc 우리가 받은 과제와 과정"/>
          <p:cNvSpPr/>
          <p:nvPr/>
        </p:nvSpPr>
        <p:spPr>
          <a:xfrm>
            <a:off x="548640" y="2212848"/>
            <a:ext cx="11091672" cy="640080"/>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8" name="Text 6"/>
          <p:cNvSpPr txBox="1"/>
          <p:nvPr/>
        </p:nvSpPr>
        <p:spPr>
          <a:xfrm>
            <a:off x="777240" y="2212848"/>
            <a:ext cx="731520" cy="640080"/>
          </a:xfrm>
          <a:prstGeom prst="rect">
            <a:avLst/>
          </a:prstGeom>
          <a:noFill/>
          <a:ln/>
        </p:spPr>
        <p:txBody>
          <a:bodyPr wrap="square" lIns="0" tIns="0" rIns="0" bIns="0" rtlCol="0" anchor="ctr"/>
          <a:lstStyle/>
          <a:p>
            <a:pPr indent="0" marL="0">
              <a:buNone/>
            </a:pPr>
            <a:r>
              <a:rPr lang="en-US" sz="2000" b="1" dirty="0">
                <a:solidFill>
                  <a:schemeClr val="accent2"/>
                </a:solidFill>
              </a:rPr>
              <a:t>02</a:t>
            </a:r>
            <a:endParaRPr lang="en-US" sz="2000" dirty="0"/>
          </a:p>
        </p:txBody>
      </p:sp>
      <p:sp>
        <p:nvSpPr>
          <p:cNvPr id="9" name="Text 7"/>
          <p:cNvSpPr txBox="1"/>
          <p:nvPr/>
        </p:nvSpPr>
        <p:spPr>
          <a:xfrm>
            <a:off x="1600200" y="2212848"/>
            <a:ext cx="3108960" cy="640080"/>
          </a:xfrm>
          <a:prstGeom prst="rect">
            <a:avLst/>
          </a:prstGeom>
          <a:noFill/>
          <a:ln/>
        </p:spPr>
        <p:txBody>
          <a:bodyPr wrap="square" lIns="0" tIns="0" rIns="0" bIns="0" rtlCol="0" anchor="ctr"/>
          <a:lstStyle/>
          <a:p>
            <a:pPr indent="0" marL="0">
              <a:buNone/>
            </a:pPr>
            <a:r>
              <a:rPr lang="en-US" sz="1600" b="1" dirty="0">
                <a:solidFill>
                  <a:schemeClr val="tx1"/>
                </a:solidFill>
              </a:rPr>
              <a:t>우리가 받은 과제와 과정</a:t>
            </a:r>
            <a:endParaRPr lang="en-US" sz="1600" dirty="0"/>
          </a:p>
        </p:txBody>
      </p:sp>
      <p:sp>
        <p:nvSpPr>
          <p:cNvPr id="10" name="Text 8"/>
          <p:cNvSpPr txBox="1"/>
          <p:nvPr/>
        </p:nvSpPr>
        <p:spPr>
          <a:xfrm>
            <a:off x="4754880" y="2212848"/>
            <a:ext cx="6675120" cy="640080"/>
          </a:xfrm>
          <a:prstGeom prst="rect">
            <a:avLst/>
          </a:prstGeom>
          <a:noFill/>
          <a:ln/>
        </p:spPr>
        <p:txBody>
          <a:bodyPr wrap="square" lIns="0" tIns="0" rIns="0" bIns="0" rtlCol="0" anchor="ctr"/>
          <a:lstStyle/>
          <a:p>
            <a:pPr indent="0" marL="0">
              <a:buNone/>
            </a:pPr>
            <a:r>
              <a:rPr lang="en-US" sz="1100" dirty="0">
                <a:solidFill>
                  <a:schemeClr val="accent4"/>
                </a:solidFill>
              </a:rPr>
              <a:t>처음 과제와 바뀐 주제 · 이틀의 과정과 접은 것 · 실제 촬영</a:t>
            </a:r>
            <a:endParaRPr lang="en-US" sz="1100" dirty="0"/>
          </a:p>
        </p:txBody>
      </p:sp>
      <p:sp>
        <p:nvSpPr>
          <p:cNvPr id="11" name="toc 솔루션: 기술 소개"/>
          <p:cNvSpPr/>
          <p:nvPr/>
        </p:nvSpPr>
        <p:spPr>
          <a:xfrm>
            <a:off x="548640" y="2962656"/>
            <a:ext cx="11091672" cy="640080"/>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2" name="Text 10"/>
          <p:cNvSpPr txBox="1"/>
          <p:nvPr/>
        </p:nvSpPr>
        <p:spPr>
          <a:xfrm>
            <a:off x="777240" y="2962656"/>
            <a:ext cx="731520" cy="640080"/>
          </a:xfrm>
          <a:prstGeom prst="rect">
            <a:avLst/>
          </a:prstGeom>
          <a:noFill/>
          <a:ln/>
        </p:spPr>
        <p:txBody>
          <a:bodyPr wrap="square" lIns="0" tIns="0" rIns="0" bIns="0" rtlCol="0" anchor="ctr"/>
          <a:lstStyle/>
          <a:p>
            <a:pPr indent="0" marL="0">
              <a:buNone/>
            </a:pPr>
            <a:r>
              <a:rPr lang="en-US" sz="2000" b="1" dirty="0">
                <a:solidFill>
                  <a:schemeClr val="accent2"/>
                </a:solidFill>
              </a:rPr>
              <a:t>03</a:t>
            </a:r>
            <a:endParaRPr lang="en-US" sz="2000" dirty="0"/>
          </a:p>
        </p:txBody>
      </p:sp>
      <p:sp>
        <p:nvSpPr>
          <p:cNvPr id="13" name="Text 11"/>
          <p:cNvSpPr txBox="1"/>
          <p:nvPr/>
        </p:nvSpPr>
        <p:spPr>
          <a:xfrm>
            <a:off x="1600200" y="2962656"/>
            <a:ext cx="3108960" cy="640080"/>
          </a:xfrm>
          <a:prstGeom prst="rect">
            <a:avLst/>
          </a:prstGeom>
          <a:noFill/>
          <a:ln/>
        </p:spPr>
        <p:txBody>
          <a:bodyPr wrap="square" lIns="0" tIns="0" rIns="0" bIns="0" rtlCol="0" anchor="ctr"/>
          <a:lstStyle/>
          <a:p>
            <a:pPr indent="0" marL="0">
              <a:buNone/>
            </a:pPr>
            <a:r>
              <a:rPr lang="en-US" sz="1600" b="1" dirty="0">
                <a:solidFill>
                  <a:schemeClr val="tx1"/>
                </a:solidFill>
              </a:rPr>
              <a:t>솔루션: 기술 소개</a:t>
            </a:r>
            <a:endParaRPr lang="en-US" sz="1600" dirty="0"/>
          </a:p>
        </p:txBody>
      </p:sp>
      <p:sp>
        <p:nvSpPr>
          <p:cNvPr id="14" name="Text 12"/>
          <p:cNvSpPr txBox="1"/>
          <p:nvPr/>
        </p:nvSpPr>
        <p:spPr>
          <a:xfrm>
            <a:off x="4754880" y="2962656"/>
            <a:ext cx="6675120" cy="640080"/>
          </a:xfrm>
          <a:prstGeom prst="rect">
            <a:avLst/>
          </a:prstGeom>
          <a:noFill/>
          <a:ln/>
        </p:spPr>
        <p:txBody>
          <a:bodyPr wrap="square" lIns="0" tIns="0" rIns="0" bIns="0" rtlCol="0" anchor="ctr"/>
          <a:lstStyle/>
          <a:p>
            <a:pPr indent="0" marL="0">
              <a:buNone/>
            </a:pPr>
            <a:r>
              <a:rPr lang="en-US" sz="1100" dirty="0">
                <a:solidFill>
                  <a:schemeClr val="accent4"/>
                </a:solidFill>
              </a:rPr>
              <a:t>한 문장 · 어디를 날지(위성 형상·해류) · 촬영 거리 · 탐지와 3D 위치 · 부피와 무게 · 수거계획과 운용</a:t>
            </a:r>
            <a:endParaRPr lang="en-US" sz="1100" dirty="0"/>
          </a:p>
        </p:txBody>
      </p:sp>
      <p:sp>
        <p:nvSpPr>
          <p:cNvPr id="15" name="toc 검증"/>
          <p:cNvSpPr/>
          <p:nvPr/>
        </p:nvSpPr>
        <p:spPr>
          <a:xfrm>
            <a:off x="548640" y="3712464"/>
            <a:ext cx="11091672" cy="640080"/>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6" name="Text 14"/>
          <p:cNvSpPr txBox="1"/>
          <p:nvPr/>
        </p:nvSpPr>
        <p:spPr>
          <a:xfrm>
            <a:off x="777240" y="3712464"/>
            <a:ext cx="731520" cy="640080"/>
          </a:xfrm>
          <a:prstGeom prst="rect">
            <a:avLst/>
          </a:prstGeom>
          <a:noFill/>
          <a:ln/>
        </p:spPr>
        <p:txBody>
          <a:bodyPr wrap="square" lIns="0" tIns="0" rIns="0" bIns="0" rtlCol="0" anchor="ctr"/>
          <a:lstStyle/>
          <a:p>
            <a:pPr indent="0" marL="0">
              <a:buNone/>
            </a:pPr>
            <a:r>
              <a:rPr lang="en-US" sz="2000" b="1" dirty="0">
                <a:solidFill>
                  <a:schemeClr val="accent2"/>
                </a:solidFill>
              </a:rPr>
              <a:t>04</a:t>
            </a:r>
            <a:endParaRPr lang="en-US" sz="2000" dirty="0"/>
          </a:p>
        </p:txBody>
      </p:sp>
      <p:sp>
        <p:nvSpPr>
          <p:cNvPr id="17" name="Text 15"/>
          <p:cNvSpPr txBox="1"/>
          <p:nvPr/>
        </p:nvSpPr>
        <p:spPr>
          <a:xfrm>
            <a:off x="1600200" y="3712464"/>
            <a:ext cx="3108960" cy="640080"/>
          </a:xfrm>
          <a:prstGeom prst="rect">
            <a:avLst/>
          </a:prstGeom>
          <a:noFill/>
          <a:ln/>
        </p:spPr>
        <p:txBody>
          <a:bodyPr wrap="square" lIns="0" tIns="0" rIns="0" bIns="0" rtlCol="0" anchor="ctr"/>
          <a:lstStyle/>
          <a:p>
            <a:pPr indent="0" marL="0">
              <a:buNone/>
            </a:pPr>
            <a:r>
              <a:rPr lang="en-US" sz="1600" b="1" dirty="0">
                <a:solidFill>
                  <a:schemeClr val="tx1"/>
                </a:solidFill>
              </a:rPr>
              <a:t>검증</a:t>
            </a:r>
            <a:endParaRPr lang="en-US" sz="1600" dirty="0"/>
          </a:p>
        </p:txBody>
      </p:sp>
      <p:sp>
        <p:nvSpPr>
          <p:cNvPr id="18" name="Text 16"/>
          <p:cNvSpPr txBox="1"/>
          <p:nvPr/>
        </p:nvSpPr>
        <p:spPr>
          <a:xfrm>
            <a:off x="4754880" y="3712464"/>
            <a:ext cx="6675120" cy="640080"/>
          </a:xfrm>
          <a:prstGeom prst="rect">
            <a:avLst/>
          </a:prstGeom>
          <a:noFill/>
          <a:ln/>
        </p:spPr>
        <p:txBody>
          <a:bodyPr wrap="square" lIns="0" tIns="0" rIns="0" bIns="0" rtlCol="0" anchor="ctr"/>
          <a:lstStyle/>
          <a:p>
            <a:pPr indent="0" marL="0">
              <a:buNone/>
            </a:pPr>
            <a:r>
              <a:rPr lang="en-US" sz="1100" dirty="0">
                <a:solidFill>
                  <a:schemeClr val="accent4"/>
                </a:solidFill>
              </a:rPr>
              <a:t>검증 맵 · 어디를 날지 · 탐지·위치 · 부피·무게 · 재방문·수거계획 · 요약표</a:t>
            </a:r>
            <a:endParaRPr lang="en-US" sz="1100" dirty="0"/>
          </a:p>
        </p:txBody>
      </p:sp>
      <p:sp>
        <p:nvSpPr>
          <p:cNvPr id="19" name="toc 기대효과와 제안"/>
          <p:cNvSpPr/>
          <p:nvPr/>
        </p:nvSpPr>
        <p:spPr>
          <a:xfrm>
            <a:off x="548640" y="4462272"/>
            <a:ext cx="11091672" cy="640080"/>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0" name="Text 18"/>
          <p:cNvSpPr txBox="1"/>
          <p:nvPr/>
        </p:nvSpPr>
        <p:spPr>
          <a:xfrm>
            <a:off x="777240" y="4462272"/>
            <a:ext cx="731520" cy="640080"/>
          </a:xfrm>
          <a:prstGeom prst="rect">
            <a:avLst/>
          </a:prstGeom>
          <a:noFill/>
          <a:ln/>
        </p:spPr>
        <p:txBody>
          <a:bodyPr wrap="square" lIns="0" tIns="0" rIns="0" bIns="0" rtlCol="0" anchor="ctr"/>
          <a:lstStyle/>
          <a:p>
            <a:pPr indent="0" marL="0">
              <a:buNone/>
            </a:pPr>
            <a:r>
              <a:rPr lang="en-US" sz="2000" b="1" dirty="0">
                <a:solidFill>
                  <a:schemeClr val="accent2"/>
                </a:solidFill>
              </a:rPr>
              <a:t>05</a:t>
            </a:r>
            <a:endParaRPr lang="en-US" sz="2000" dirty="0"/>
          </a:p>
        </p:txBody>
      </p:sp>
      <p:sp>
        <p:nvSpPr>
          <p:cNvPr id="21" name="Text 19"/>
          <p:cNvSpPr txBox="1"/>
          <p:nvPr/>
        </p:nvSpPr>
        <p:spPr>
          <a:xfrm>
            <a:off x="1600200" y="4462272"/>
            <a:ext cx="3108960" cy="640080"/>
          </a:xfrm>
          <a:prstGeom prst="rect">
            <a:avLst/>
          </a:prstGeom>
          <a:noFill/>
          <a:ln/>
        </p:spPr>
        <p:txBody>
          <a:bodyPr wrap="square" lIns="0" tIns="0" rIns="0" bIns="0" rtlCol="0" anchor="ctr"/>
          <a:lstStyle/>
          <a:p>
            <a:pPr indent="0" marL="0">
              <a:buNone/>
            </a:pPr>
            <a:r>
              <a:rPr lang="en-US" sz="1600" b="1" dirty="0">
                <a:solidFill>
                  <a:schemeClr val="tx1"/>
                </a:solidFill>
              </a:rPr>
              <a:t>기대효과와 제안</a:t>
            </a:r>
            <a:endParaRPr lang="en-US" sz="1600" dirty="0"/>
          </a:p>
        </p:txBody>
      </p:sp>
      <p:sp>
        <p:nvSpPr>
          <p:cNvPr id="22" name="Text 20"/>
          <p:cNvSpPr txBox="1"/>
          <p:nvPr/>
        </p:nvSpPr>
        <p:spPr>
          <a:xfrm>
            <a:off x="4754880" y="4462272"/>
            <a:ext cx="6675120" cy="640080"/>
          </a:xfrm>
          <a:prstGeom prst="rect">
            <a:avLst/>
          </a:prstGeom>
          <a:noFill/>
          <a:ln/>
        </p:spPr>
        <p:txBody>
          <a:bodyPr wrap="square" lIns="0" tIns="0" rIns="0" bIns="0" rtlCol="0" anchor="ctr"/>
          <a:lstStyle/>
          <a:p>
            <a:pPr indent="0" marL="0">
              <a:buNone/>
            </a:pPr>
            <a:r>
              <a:rPr lang="en-US" sz="1100" dirty="0">
                <a:solidFill>
                  <a:schemeClr val="accent4"/>
                </a:solidFill>
              </a:rPr>
              <a:t>기업이 아끼는 것 · 포인트 기술의 의의 · 3DLabs 결합 · 로드맵 · 요청</a:t>
            </a:r>
            <a:endParaRPr lang="en-US" sz="1100" dirty="0"/>
          </a:p>
        </p:txBody>
      </p:sp>
      <p:sp>
        <p:nvSpPr>
          <p:cNvPr id="23" name="toc 한 장 요약"/>
          <p:cNvSpPr/>
          <p:nvPr/>
        </p:nvSpPr>
        <p:spPr>
          <a:xfrm>
            <a:off x="548640" y="5212080"/>
            <a:ext cx="11091672" cy="640080"/>
          </a:xfrm>
          <a:prstGeom prst="roundRect">
            <a:avLst>
              <a:gd name="adj" fmla="val 142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4" name="Text 22"/>
          <p:cNvSpPr txBox="1"/>
          <p:nvPr/>
        </p:nvSpPr>
        <p:spPr>
          <a:xfrm>
            <a:off x="777240" y="5212080"/>
            <a:ext cx="731520" cy="640080"/>
          </a:xfrm>
          <a:prstGeom prst="rect">
            <a:avLst/>
          </a:prstGeom>
          <a:noFill/>
          <a:ln/>
        </p:spPr>
        <p:txBody>
          <a:bodyPr wrap="square" lIns="0" tIns="0" rIns="0" bIns="0" rtlCol="0" anchor="ctr"/>
          <a:lstStyle/>
          <a:p>
            <a:pPr indent="0" marL="0">
              <a:buNone/>
            </a:pPr>
            <a:r>
              <a:rPr lang="en-US" sz="2000" b="1" dirty="0">
                <a:solidFill>
                  <a:schemeClr val="accent2"/>
                </a:solidFill>
              </a:rPr>
              <a:t>+</a:t>
            </a:r>
            <a:endParaRPr lang="en-US" sz="2000" dirty="0"/>
          </a:p>
        </p:txBody>
      </p:sp>
      <p:sp>
        <p:nvSpPr>
          <p:cNvPr id="25" name="Text 23"/>
          <p:cNvSpPr txBox="1"/>
          <p:nvPr/>
        </p:nvSpPr>
        <p:spPr>
          <a:xfrm>
            <a:off x="1600200" y="5212080"/>
            <a:ext cx="3108960" cy="640080"/>
          </a:xfrm>
          <a:prstGeom prst="rect">
            <a:avLst/>
          </a:prstGeom>
          <a:noFill/>
          <a:ln/>
        </p:spPr>
        <p:txBody>
          <a:bodyPr wrap="square" lIns="0" tIns="0" rIns="0" bIns="0" rtlCol="0" anchor="ctr"/>
          <a:lstStyle/>
          <a:p>
            <a:pPr indent="0" marL="0">
              <a:buNone/>
            </a:pPr>
            <a:r>
              <a:rPr lang="en-US" sz="1600" b="1" dirty="0">
                <a:solidFill>
                  <a:schemeClr val="tx1"/>
                </a:solidFill>
              </a:rPr>
              <a:t>한 장 요약</a:t>
            </a:r>
            <a:endParaRPr lang="en-US" sz="1600" dirty="0"/>
          </a:p>
        </p:txBody>
      </p:sp>
      <p:sp>
        <p:nvSpPr>
          <p:cNvPr id="26" name="Text 24"/>
          <p:cNvSpPr txBox="1"/>
          <p:nvPr/>
        </p:nvSpPr>
        <p:spPr>
          <a:xfrm>
            <a:off x="4754880" y="5212080"/>
            <a:ext cx="6675120" cy="64008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ctr"/>
          <a:lstStyle/>
          <a:p>
            <a:pPr indent="0" marL="0">
              <a:buNone/>
            </a:pPr>
            <a:r>
              <a:rPr lang="en-US" sz="6000" b="1" dirty="0">
                <a:solidFill>
                  <a:schemeClr val="accent2"/>
                </a:solidFill>
              </a:rPr>
              <a:t>01</a:t>
            </a:r>
            <a:endParaRPr lang="en-US" sz="6000" dirty="0"/>
          </a:p>
        </p:txBody>
      </p:sp>
      <p:sp>
        <p:nvSpPr>
          <p:cNvPr id="3" name="Text 0"/>
          <p:cNvSpPr/>
          <p:nvPr>
            <p:ph idx="100" type="title" hasCustomPrompt="1"/>
          </p:nvPr>
        </p:nvSpPr>
        <p:spPr>
          <a:xfrm>
            <a:off x="731520" y="2743200"/>
            <a:ext cx="10515600" cy="1188720"/>
          </a:xfrm>
          <a:prstGeom prst="rect">
            <a:avLst/>
          </a:prstGeom>
          <a:noFill/>
          <a:ln/>
        </p:spPr>
        <p:txBody>
          <a:bodyPr wrap="square" lIns="0" tIns="0" rIns="0" bIns="0" rtlCol="0" anchor="b"/>
          <a:lstStyle/>
          <a:p>
            <a:pPr algn="l" indent="0" marL="0">
              <a:buNone/>
            </a:pPr>
            <a:r>
              <a:rPr lang="en-US" sz="4000" b="1" dirty="0">
                <a:solidFill>
                  <a:schemeClr val="bg1"/>
                </a:solidFill>
              </a:rPr>
              <a:t>기업이 겪는 문제</a:t>
            </a:r>
            <a:endParaRPr lang="en-US" sz="4000" dirty="0"/>
          </a:p>
        </p:txBody>
      </p:sp>
      <p:sp>
        <p:nvSpPr>
          <p:cNvPr id="4" name="Text 0"/>
          <p:cNvSpPr/>
          <p:nvPr>
            <p:ph idx="101" type="body" hasCustomPrompt="1"/>
          </p:nvPr>
        </p:nvSpPr>
        <p:spPr>
          <a:xfrm>
            <a:off x="731520" y="4023360"/>
            <a:ext cx="10058400" cy="1097280"/>
          </a:xfrm>
          <a:prstGeom prst="rect">
            <a:avLst/>
          </a:prstGeom>
          <a:noFill/>
          <a:ln/>
        </p:spPr>
        <p:txBody>
          <a:bodyPr wrap="square" lIns="0" tIns="0" rIns="0" bIns="0" rtlCol="0" anchor="t"/>
          <a:lstStyle/>
          <a:p>
            <a:pPr algn="l" indent="0" marL="0">
              <a:buNone/>
            </a:pPr>
            <a:r>
              <a:rPr lang="en-US" sz="1600" dirty="0">
                <a:solidFill>
                  <a:schemeClr val="accent5"/>
                </a:solidFill>
              </a:rPr>
              <a:t>수거 업체는 세 번 헤맵니다. 어디 있는지, 얼마나 무거운지, 그래서 트럭이 몇 대인지.</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지금 일하는 방식: 눈으로 찾고, 면적에 계수를 곱하고, 경험으로 배차한다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문갑도 수거 업체의 현재 작업 흐름. 세 단계 모두 사람이 하고, 숫자는 곱셈 하나입니다.</a:t>
            </a:r>
            <a:endParaRPr lang="en-US" sz="1400" dirty="0"/>
          </a:p>
        </p:txBody>
      </p:sp>
      <p:sp>
        <p:nvSpPr>
          <p:cNvPr id="4" name="card 찾기: 드론 사진의 드론 GPS가 곧 쓰레기 위치"/>
          <p:cNvSpPr/>
          <p:nvPr/>
        </p:nvSpPr>
        <p:spPr>
          <a:xfrm>
            <a:off x="548640" y="1783080"/>
            <a:ext cx="3566160" cy="3429000"/>
          </a:xfrm>
          <a:prstGeom prst="roundRect">
            <a:avLst>
              <a:gd name="adj" fmla="val 32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icon circle"/>
          <p:cNvSpPr/>
          <p:nvPr/>
        </p:nvSpPr>
        <p:spPr>
          <a:xfrm>
            <a:off x="822960" y="2039112"/>
            <a:ext cx="566928" cy="566928"/>
          </a:xfrm>
          <a:prstGeom prst="ellipse">
            <a:avLst/>
          </a:prstGeom>
          <a:solidFill>
            <a:srgbClr val="0B3C5D"/>
          </a:solidFill>
          <a:ln w="12700">
            <a:solidFill>
              <a:srgbClr val="0B3C5D"/>
            </a:solidFill>
            <a:prstDash val="solid"/>
          </a:ln>
        </p:spPr>
      </p:sp>
      <p:pic>
        <p:nvPicPr>
          <p:cNvPr id="6" name="icon FaEye" descr="preencoded.png">    </p:cNvPr>
          <p:cNvPicPr>
            <a:picLocks noChangeAspect="1"/>
          </p:cNvPicPr>
          <p:nvPr/>
        </p:nvPicPr>
        <p:blipFill>
          <a:blip r:embed="rId1"/>
          <a:stretch>
            <a:fillRect/>
          </a:stretch>
        </p:blipFill>
        <p:spPr>
          <a:xfrm>
            <a:off x="960120" y="2176272"/>
            <a:ext cx="292608" cy="292608"/>
          </a:xfrm>
          <a:prstGeom prst="rect">
            <a:avLst/>
          </a:prstGeom>
        </p:spPr>
      </p:pic>
      <p:sp>
        <p:nvSpPr>
          <p:cNvPr id="7" name="Text 4"/>
          <p:cNvSpPr txBox="1"/>
          <p:nvPr/>
        </p:nvSpPr>
        <p:spPr>
          <a:xfrm>
            <a:off x="822960" y="2770632"/>
            <a:ext cx="3017520" cy="384048"/>
          </a:xfrm>
          <a:prstGeom prst="rect">
            <a:avLst/>
          </a:prstGeom>
          <a:noFill/>
          <a:ln/>
        </p:spPr>
        <p:txBody>
          <a:bodyPr wrap="square" lIns="0" tIns="0" rIns="0" bIns="0" rtlCol="0" anchor="t"/>
          <a:lstStyle/>
          <a:p>
            <a:pPr indent="0" marL="0">
              <a:buNone/>
            </a:pPr>
            <a:r>
              <a:rPr lang="en-US" sz="1400" b="1" dirty="0">
                <a:solidFill>
                  <a:schemeClr val="tx1"/>
                </a:solidFill>
              </a:rPr>
              <a:t>찾기: 드론 사진의 드론 GPS가 곧 쓰레기 위치</a:t>
            </a:r>
            <a:endParaRPr lang="en-US" sz="1400" dirty="0"/>
          </a:p>
        </p:txBody>
      </p:sp>
      <p:sp>
        <p:nvSpPr>
          <p:cNvPr id="8" name="Text 5"/>
          <p:cNvSpPr txBox="1"/>
          <p:nvPr/>
        </p:nvSpPr>
        <p:spPr>
          <a:xfrm>
            <a:off x="822960" y="3209544"/>
            <a:ext cx="3017520" cy="1874520"/>
          </a:xfrm>
          <a:prstGeom prst="rect">
            <a:avLst/>
          </a:prstGeom>
          <a:noFill/>
          <a:ln/>
        </p:spPr>
        <p:txBody>
          <a:bodyPr wrap="square" lIns="0" tIns="0" rIns="0" bIns="0" rtlCol="0" anchor="t"/>
          <a:lstStyle/>
          <a:p>
            <a:pPr indent="0" marL="0">
              <a:spcAft>
                <a:spcPts val="400"/>
              </a:spcAft>
              <a:buNone/>
            </a:pPr>
            <a:r>
              <a:rPr lang="en-US" sz="1200" dirty="0">
                <a:solidFill>
                  <a:schemeClr val="accent4"/>
                </a:solidFill>
              </a:rPr>
              <a:t>화면 가장자리 쓰레기도 드론 좌표로 기록되고 비스듬히 찍은 사진은 수십 m 앞을 가리킵니다. 현장에서 50 m씩 어긋나 수거자가 헤맵니다.</a:t>
            </a:r>
            <a:endParaRPr lang="en-US" sz="1200" dirty="0"/>
          </a:p>
        </p:txBody>
      </p:sp>
      <p:sp>
        <p:nvSpPr>
          <p:cNvPr id="9" name="tag"/>
          <p:cNvSpPr/>
          <p:nvPr/>
        </p:nvSpPr>
        <p:spPr>
          <a:xfrm>
            <a:off x="822960" y="4800600"/>
            <a:ext cx="2011680" cy="274320"/>
          </a:xfrm>
          <a:prstGeom prst="roundRect">
            <a:avLst>
              <a:gd name="adj" fmla="val 50000"/>
            </a:avLst>
          </a:prstGeom>
          <a:solidFill>
            <a:srgbClr val="F26B21"/>
          </a:solidFill>
          <a:ln w="12700">
            <a:solidFill>
              <a:srgbClr val="F26B21"/>
            </a:solidFill>
            <a:prstDash val="solid"/>
          </a:ln>
        </p:spPr>
      </p:sp>
      <p:sp>
        <p:nvSpPr>
          <p:cNvPr id="10" name="Text 7"/>
          <p:cNvSpPr txBox="1"/>
          <p:nvPr/>
        </p:nvSpPr>
        <p:spPr>
          <a:xfrm>
            <a:off x="822960" y="4800600"/>
            <a:ext cx="2011680" cy="274320"/>
          </a:xfrm>
          <a:prstGeom prst="rect">
            <a:avLst/>
          </a:prstGeom>
          <a:noFill/>
          <a:ln/>
        </p:spPr>
        <p:txBody>
          <a:bodyPr wrap="square" lIns="0" tIns="0" rIns="0" bIns="0" rtlCol="0" anchor="ctr"/>
          <a:lstStyle/>
          <a:p>
            <a:pPr algn="ctr" indent="0" marL="0">
              <a:buNone/>
            </a:pPr>
            <a:r>
              <a:rPr lang="en-US" sz="950" b="1" dirty="0">
                <a:solidFill>
                  <a:schemeClr val="bg1"/>
                </a:solidFill>
              </a:rPr>
              <a:t>50 m 오차</a:t>
            </a:r>
            <a:endParaRPr lang="en-US" sz="950" dirty="0"/>
          </a:p>
        </p:txBody>
      </p:sp>
      <p:sp>
        <p:nvSpPr>
          <p:cNvPr id="11" name="card 무게: 라벨 면적 × 재질 계수"/>
          <p:cNvSpPr/>
          <p:nvPr/>
        </p:nvSpPr>
        <p:spPr>
          <a:xfrm>
            <a:off x="4297680" y="1783080"/>
            <a:ext cx="3566160" cy="3429000"/>
          </a:xfrm>
          <a:prstGeom prst="roundRect">
            <a:avLst>
              <a:gd name="adj" fmla="val 32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2" name="icon circle"/>
          <p:cNvSpPr/>
          <p:nvPr/>
        </p:nvSpPr>
        <p:spPr>
          <a:xfrm>
            <a:off x="4572000" y="2039112"/>
            <a:ext cx="566928" cy="566928"/>
          </a:xfrm>
          <a:prstGeom prst="ellipse">
            <a:avLst/>
          </a:prstGeom>
          <a:solidFill>
            <a:srgbClr val="0B3C5D"/>
          </a:solidFill>
          <a:ln w="12700">
            <a:solidFill>
              <a:srgbClr val="0B3C5D"/>
            </a:solidFill>
            <a:prstDash val="solid"/>
          </a:ln>
        </p:spPr>
      </p:sp>
      <p:pic>
        <p:nvPicPr>
          <p:cNvPr id="13" name="icon FaCalculator" descr="preencoded.png">    </p:cNvPr>
          <p:cNvPicPr>
            <a:picLocks noChangeAspect="1"/>
          </p:cNvPicPr>
          <p:nvPr/>
        </p:nvPicPr>
        <p:blipFill>
          <a:blip r:embed="rId2"/>
          <a:stretch>
            <a:fillRect/>
          </a:stretch>
        </p:blipFill>
        <p:spPr>
          <a:xfrm>
            <a:off x="4709160" y="2176272"/>
            <a:ext cx="292608" cy="292608"/>
          </a:xfrm>
          <a:prstGeom prst="rect">
            <a:avLst/>
          </a:prstGeom>
        </p:spPr>
      </p:pic>
      <p:sp>
        <p:nvSpPr>
          <p:cNvPr id="14" name="Text 10"/>
          <p:cNvSpPr txBox="1"/>
          <p:nvPr/>
        </p:nvSpPr>
        <p:spPr>
          <a:xfrm>
            <a:off x="4572000" y="2770632"/>
            <a:ext cx="3017520" cy="384048"/>
          </a:xfrm>
          <a:prstGeom prst="rect">
            <a:avLst/>
          </a:prstGeom>
          <a:noFill/>
          <a:ln/>
        </p:spPr>
        <p:txBody>
          <a:bodyPr wrap="square" lIns="0" tIns="0" rIns="0" bIns="0" rtlCol="0" anchor="t"/>
          <a:lstStyle/>
          <a:p>
            <a:pPr indent="0" marL="0">
              <a:buNone/>
            </a:pPr>
            <a:r>
              <a:rPr lang="en-US" sz="1400" b="1" dirty="0">
                <a:solidFill>
                  <a:schemeClr val="tx1"/>
                </a:solidFill>
              </a:rPr>
              <a:t>무게: 라벨 면적 × 재질 계수</a:t>
            </a:r>
            <a:endParaRPr lang="en-US" sz="1400" dirty="0"/>
          </a:p>
        </p:txBody>
      </p:sp>
      <p:sp>
        <p:nvSpPr>
          <p:cNvPr id="15" name="Text 11"/>
          <p:cNvSpPr txBox="1"/>
          <p:nvPr/>
        </p:nvSpPr>
        <p:spPr>
          <a:xfrm>
            <a:off x="4572000" y="3209544"/>
            <a:ext cx="3017520" cy="1874520"/>
          </a:xfrm>
          <a:prstGeom prst="rect">
            <a:avLst/>
          </a:prstGeom>
          <a:noFill/>
          <a:ln/>
        </p:spPr>
        <p:txBody>
          <a:bodyPr wrap="square" lIns="0" tIns="0" rIns="0" bIns="0" rtlCol="0" anchor="t"/>
          <a:lstStyle/>
          <a:p>
            <a:pPr indent="0" marL="0">
              <a:spcAft>
                <a:spcPts val="400"/>
              </a:spcAft>
              <a:buNone/>
            </a:pPr>
            <a:r>
              <a:rPr lang="en-US" sz="1200" dirty="0">
                <a:solidFill>
                  <a:schemeClr val="accent4"/>
                </a:solidFill>
              </a:rPr>
              <a:t>스티로폼 0.012, 로프·어망 0.024, 플라스틱 0.020 kg/m². 높이(두께)가 없으니 1.54 m² 스티로폼 더미가 18 g으로 기록됩니다.</a:t>
            </a:r>
            <a:endParaRPr lang="en-US" sz="1200" dirty="0"/>
          </a:p>
        </p:txBody>
      </p:sp>
      <p:sp>
        <p:nvSpPr>
          <p:cNvPr id="16" name="tag"/>
          <p:cNvSpPr/>
          <p:nvPr/>
        </p:nvSpPr>
        <p:spPr>
          <a:xfrm>
            <a:off x="4572000" y="4800600"/>
            <a:ext cx="2011680" cy="274320"/>
          </a:xfrm>
          <a:prstGeom prst="roundRect">
            <a:avLst>
              <a:gd name="adj" fmla="val 50000"/>
            </a:avLst>
          </a:prstGeom>
          <a:solidFill>
            <a:srgbClr val="F26B21"/>
          </a:solidFill>
          <a:ln w="12700">
            <a:solidFill>
              <a:srgbClr val="F26B21"/>
            </a:solidFill>
            <a:prstDash val="solid"/>
          </a:ln>
        </p:spPr>
      </p:sp>
      <p:sp>
        <p:nvSpPr>
          <p:cNvPr id="17" name="Text 13"/>
          <p:cNvSpPr txBox="1"/>
          <p:nvPr/>
        </p:nvSpPr>
        <p:spPr>
          <a:xfrm>
            <a:off x="4572000" y="4800600"/>
            <a:ext cx="2011680" cy="274320"/>
          </a:xfrm>
          <a:prstGeom prst="rect">
            <a:avLst/>
          </a:prstGeom>
          <a:noFill/>
          <a:ln/>
        </p:spPr>
        <p:txBody>
          <a:bodyPr wrap="square" lIns="0" tIns="0" rIns="0" bIns="0" rtlCol="0" anchor="ctr"/>
          <a:lstStyle/>
          <a:p>
            <a:pPr algn="ctr" indent="0" marL="0">
              <a:buNone/>
            </a:pPr>
            <a:r>
              <a:rPr lang="en-US" sz="950" b="1" dirty="0">
                <a:solidFill>
                  <a:schemeClr val="bg1"/>
                </a:solidFill>
              </a:rPr>
              <a:t>42개 합계 1.3 kg</a:t>
            </a:r>
            <a:endParaRPr lang="en-US" sz="950" dirty="0"/>
          </a:p>
        </p:txBody>
      </p:sp>
      <p:sp>
        <p:nvSpPr>
          <p:cNvPr id="18" name="card 배차: 경험으로 트럭·마대·인원"/>
          <p:cNvSpPr/>
          <p:nvPr/>
        </p:nvSpPr>
        <p:spPr>
          <a:xfrm>
            <a:off x="8046720" y="1783080"/>
            <a:ext cx="3566160" cy="3429000"/>
          </a:xfrm>
          <a:prstGeom prst="roundRect">
            <a:avLst>
              <a:gd name="adj" fmla="val 32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9" name="icon circle"/>
          <p:cNvSpPr/>
          <p:nvPr/>
        </p:nvSpPr>
        <p:spPr>
          <a:xfrm>
            <a:off x="8321040" y="2039112"/>
            <a:ext cx="566928" cy="566928"/>
          </a:xfrm>
          <a:prstGeom prst="ellipse">
            <a:avLst/>
          </a:prstGeom>
          <a:solidFill>
            <a:srgbClr val="0B3C5D"/>
          </a:solidFill>
          <a:ln w="12700">
            <a:solidFill>
              <a:srgbClr val="0B3C5D"/>
            </a:solidFill>
            <a:prstDash val="solid"/>
          </a:ln>
        </p:spPr>
      </p:sp>
      <p:pic>
        <p:nvPicPr>
          <p:cNvPr id="20" name="icon FaTruck" descr="preencoded.png">    </p:cNvPr>
          <p:cNvPicPr>
            <a:picLocks noChangeAspect="1"/>
          </p:cNvPicPr>
          <p:nvPr/>
        </p:nvPicPr>
        <p:blipFill>
          <a:blip r:embed="rId3"/>
          <a:stretch>
            <a:fillRect/>
          </a:stretch>
        </p:blipFill>
        <p:spPr>
          <a:xfrm>
            <a:off x="8458200" y="2176272"/>
            <a:ext cx="292608" cy="292608"/>
          </a:xfrm>
          <a:prstGeom prst="rect">
            <a:avLst/>
          </a:prstGeom>
        </p:spPr>
      </p:pic>
      <p:sp>
        <p:nvSpPr>
          <p:cNvPr id="21" name="Text 16"/>
          <p:cNvSpPr txBox="1"/>
          <p:nvPr/>
        </p:nvSpPr>
        <p:spPr>
          <a:xfrm>
            <a:off x="8321040" y="2770632"/>
            <a:ext cx="3017520" cy="384048"/>
          </a:xfrm>
          <a:prstGeom prst="rect">
            <a:avLst/>
          </a:prstGeom>
          <a:noFill/>
          <a:ln/>
        </p:spPr>
        <p:txBody>
          <a:bodyPr wrap="square" lIns="0" tIns="0" rIns="0" bIns="0" rtlCol="0" anchor="t"/>
          <a:lstStyle/>
          <a:p>
            <a:pPr indent="0" marL="0">
              <a:buNone/>
            </a:pPr>
            <a:r>
              <a:rPr lang="en-US" sz="1400" b="1" dirty="0">
                <a:solidFill>
                  <a:schemeClr val="tx1"/>
                </a:solidFill>
              </a:rPr>
              <a:t>배차: 경험으로 트럭·마대·인원</a:t>
            </a:r>
            <a:endParaRPr lang="en-US" sz="1400" dirty="0"/>
          </a:p>
        </p:txBody>
      </p:sp>
      <p:sp>
        <p:nvSpPr>
          <p:cNvPr id="22" name="Text 17"/>
          <p:cNvSpPr txBox="1"/>
          <p:nvPr/>
        </p:nvSpPr>
        <p:spPr>
          <a:xfrm>
            <a:off x="8321040" y="3209544"/>
            <a:ext cx="3017520" cy="1874520"/>
          </a:xfrm>
          <a:prstGeom prst="rect">
            <a:avLst/>
          </a:prstGeom>
          <a:noFill/>
          <a:ln/>
        </p:spPr>
        <p:txBody>
          <a:bodyPr wrap="square" lIns="0" tIns="0" rIns="0" bIns="0" rtlCol="0" anchor="t"/>
          <a:lstStyle/>
          <a:p>
            <a:pPr indent="0" marL="0">
              <a:spcAft>
                <a:spcPts val="400"/>
              </a:spcAft>
              <a:buNone/>
            </a:pPr>
            <a:r>
              <a:rPr lang="en-US" sz="1200" dirty="0">
                <a:solidFill>
                  <a:schemeClr val="accent4"/>
                </a:solidFill>
              </a:rPr>
              <a:t>많으면 트럭을 다시 부르고, 적으면 장비가 놀고, 못 찾으면 다시 옵니다. 폭우 뒤에는 추정 그대로 굴삭기·차량을 투입합니다.</a:t>
            </a:r>
            <a:endParaRPr lang="en-US" sz="1200" dirty="0"/>
          </a:p>
        </p:txBody>
      </p:sp>
      <p:sp>
        <p:nvSpPr>
          <p:cNvPr id="23" name="tag"/>
          <p:cNvSpPr/>
          <p:nvPr/>
        </p:nvSpPr>
        <p:spPr>
          <a:xfrm>
            <a:off x="8321040" y="4800600"/>
            <a:ext cx="2011680" cy="274320"/>
          </a:xfrm>
          <a:prstGeom prst="roundRect">
            <a:avLst>
              <a:gd name="adj" fmla="val 50000"/>
            </a:avLst>
          </a:prstGeom>
          <a:solidFill>
            <a:srgbClr val="F26B21"/>
          </a:solidFill>
          <a:ln w="12700">
            <a:solidFill>
              <a:srgbClr val="F26B21"/>
            </a:solidFill>
            <a:prstDash val="solid"/>
          </a:ln>
        </p:spPr>
      </p:sp>
      <p:sp>
        <p:nvSpPr>
          <p:cNvPr id="24" name="Text 19"/>
          <p:cNvSpPr txBox="1"/>
          <p:nvPr/>
        </p:nvSpPr>
        <p:spPr>
          <a:xfrm>
            <a:off x="8321040" y="4800600"/>
            <a:ext cx="2011680" cy="274320"/>
          </a:xfrm>
          <a:prstGeom prst="rect">
            <a:avLst/>
          </a:prstGeom>
          <a:noFill/>
          <a:ln/>
        </p:spPr>
        <p:txBody>
          <a:bodyPr wrap="square" lIns="0" tIns="0" rIns="0" bIns="0" rtlCol="0" anchor="ctr"/>
          <a:lstStyle/>
          <a:p>
            <a:pPr algn="ctr" indent="0" marL="0">
              <a:buNone/>
            </a:pPr>
            <a:r>
              <a:rPr lang="en-US" sz="950" b="1" dirty="0">
                <a:solidFill>
                  <a:schemeClr val="bg1"/>
                </a:solidFill>
              </a:rPr>
              <a:t>재방문 · 재배차</a:t>
            </a:r>
            <a:endParaRPr lang="en-US" sz="950" dirty="0"/>
          </a:p>
        </p:txBody>
      </p:sp>
      <p:sp>
        <p:nvSpPr>
          <p:cNvPr id="25" name="callout"/>
          <p:cNvSpPr/>
          <p:nvPr/>
        </p:nvSpPr>
        <p:spPr>
          <a:xfrm>
            <a:off x="548640" y="5394960"/>
            <a:ext cx="11091672" cy="594360"/>
          </a:xfrm>
          <a:prstGeom prst="roundRect">
            <a:avLst>
              <a:gd name="adj" fmla="val 15385"/>
            </a:avLst>
          </a:prstGeom>
          <a:solidFill>
            <a:srgbClr val="FFD9C2"/>
          </a:solidFill>
          <a:ln w="12700">
            <a:solidFill>
              <a:srgbClr val="FFD9C2"/>
            </a:solidFill>
            <a:prstDash val="solid"/>
          </a:ln>
        </p:spPr>
      </p:sp>
      <p:sp>
        <p:nvSpPr>
          <p:cNvPr id="26" name="Text 21"/>
          <p:cNvSpPr txBox="1"/>
          <p:nvPr/>
        </p:nvSpPr>
        <p:spPr>
          <a:xfrm>
            <a:off x="777240" y="5394960"/>
            <a:ext cx="10607040" cy="594360"/>
          </a:xfrm>
          <a:prstGeom prst="rect">
            <a:avLst/>
          </a:prstGeom>
          <a:noFill/>
          <a:ln/>
        </p:spPr>
        <p:txBody>
          <a:bodyPr wrap="square" lIns="0" tIns="0" rIns="0" bIns="0" rtlCol="0" anchor="ctr"/>
          <a:lstStyle/>
          <a:p>
            <a:pPr indent="0" marL="0">
              <a:buNone/>
            </a:pPr>
            <a:r>
              <a:rPr lang="en-US" sz="1200" b="1" dirty="0">
                <a:solidFill>
                  <a:schemeClr val="tx2"/>
                </a:solidFill>
              </a:rPr>
              <a:t>세 단계 모두 '어디에 얼마나'라는 같은 숫자를 쓰는데, 그 숫자가 눈과 곱셈에서 나옵니다. 그래서 위치가 틀리면 동선이, 무게가 틀리면 트럭이 틀립니다.</a:t>
            </a:r>
            <a:endParaRPr lang="en-US" sz="1200" dirty="0"/>
          </a:p>
        </p:txBody>
      </p:sp>
      <p:sp>
        <p:nvSpPr>
          <p:cNvPr id="27"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출처: 업체 제보(방향정리 문서 0절, 2026-09-30) · 업체 라벨 자료(문갑도 MGD, 42개) · 경남도 2026년 8월 집중호우 대응 보도</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bg1"/>
                </a:solidFill>
              </a:rPr>
              <a:t>업체 데이터의 오류: 같은 42개가 기록으로는 1.3 kg, 3D로 재면 101 kg</a:t>
            </a:r>
            <a:endParaRPr lang="en-US" sz="28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400" dirty="0">
                <a:solidFill>
                  <a:schemeClr val="accent5"/>
                </a:solidFill>
              </a:rPr>
              <a:t>문갑도 업체 라벨의 weight_kg는 실측이 아니라 '면적 × 계수'입니다. 같은 물체를 3D 부피 × 겉보기밀도로 계산하면 78배 커지고, 현실적 두께 범위로는 115~1,355 kg입니다.</a:t>
            </a:r>
            <a:endParaRPr lang="en-US" sz="1400" dirty="0"/>
          </a:p>
        </p:txBody>
      </p:sp>
      <p:pic>
        <p:nvPicPr>
          <p:cNvPr id="4" name="업체 라벨 기록 무게 vs 현실 범위" descr="/tmp/claude-0/-home-user-hsr1m/6022f0b4-b8f8-52b0-8810-837ebd6bfbe9/scratchpad/deck/img/fig_12_업체라벨_기록무게_vs_현실범위.jpg">    </p:cNvPr>
          <p:cNvPicPr>
            <a:picLocks noChangeAspect="1"/>
          </p:cNvPicPr>
          <p:nvPr/>
        </p:nvPicPr>
        <p:blipFill>
          <a:blip r:embed="rId1"/>
          <a:srcRect l="0" r="0" t="0" b="0"/>
          <a:stretch/>
        </p:blipFill>
        <p:spPr>
          <a:xfrm>
            <a:off x="548640" y="1783080"/>
            <a:ext cx="6766560" cy="2615184"/>
          </a:xfrm>
          <a:prstGeom prst="rect">
            <a:avLst/>
          </a:prstGeom>
        </p:spPr>
      </p:pic>
      <p:sp>
        <p:nvSpPr>
          <p:cNvPr id="5" name="Text 2"/>
          <p:cNvSpPr txBox="1"/>
          <p:nvPr/>
        </p:nvSpPr>
        <p:spPr>
          <a:xfrm>
            <a:off x="548640" y="4434840"/>
            <a:ext cx="6766560" cy="411480"/>
          </a:xfrm>
          <a:prstGeom prst="rect">
            <a:avLst/>
          </a:prstGeom>
          <a:noFill/>
          <a:ln/>
        </p:spPr>
        <p:txBody>
          <a:bodyPr wrap="square" lIns="0" tIns="0" rIns="0" bIns="0" rtlCol="0" anchor="t"/>
          <a:lstStyle/>
          <a:p>
            <a:pPr indent="0" marL="0">
              <a:buNone/>
            </a:pPr>
            <a:r>
              <a:rPr lang="en-US" sz="950" dirty="0">
                <a:solidFill>
                  <a:schemeClr val="accent5"/>
                </a:solidFill>
              </a:rPr>
              <a:t>왼쪽: 라벨 42개의 기록 무게 분포(합계 1.32 kg, 최대 0.25 kg). 오른쪽: 같은 면적의 현실적 범위(두께 2~35 cm × 재질 밀도, 로그 눈금).</a:t>
            </a:r>
            <a:endParaRPr lang="en-US" sz="950" dirty="0"/>
          </a:p>
        </p:txBody>
      </p:sp>
      <p:sp>
        <p:nvSpPr>
          <p:cNvPr id="6" name="stat 업체 기록 합계"/>
          <p:cNvSpPr/>
          <p:nvPr/>
        </p:nvSpPr>
        <p:spPr>
          <a:xfrm>
            <a:off x="7589520" y="1783080"/>
            <a:ext cx="1920240" cy="1508760"/>
          </a:xfrm>
          <a:prstGeom prst="roundRect">
            <a:avLst>
              <a:gd name="adj" fmla="val 7273"/>
            </a:avLst>
          </a:prstGeom>
          <a:solidFill>
            <a:srgbClr val="124A6E"/>
          </a:solidFill>
          <a:ln w="12700">
            <a:solidFill>
              <a:srgbClr val="124A6E"/>
            </a:solidFill>
            <a:prstDash val="solid"/>
          </a:ln>
        </p:spPr>
      </p:sp>
      <p:sp>
        <p:nvSpPr>
          <p:cNvPr id="7" name="Text 4"/>
          <p:cNvSpPr txBox="1"/>
          <p:nvPr/>
        </p:nvSpPr>
        <p:spPr>
          <a:xfrm>
            <a:off x="7845552" y="1984248"/>
            <a:ext cx="1463040" cy="310896"/>
          </a:xfrm>
          <a:prstGeom prst="rect">
            <a:avLst/>
          </a:prstGeom>
          <a:noFill/>
          <a:ln/>
        </p:spPr>
        <p:txBody>
          <a:bodyPr wrap="square" lIns="0" tIns="0" rIns="0" bIns="0" rtlCol="0" anchor="ctr"/>
          <a:lstStyle/>
          <a:p>
            <a:pPr indent="0" marL="0">
              <a:buNone/>
            </a:pPr>
            <a:r>
              <a:rPr lang="en-US" sz="1100" dirty="0">
                <a:solidFill>
                  <a:schemeClr val="accent5"/>
                </a:solidFill>
              </a:rPr>
              <a:t>업체 기록 합계</a:t>
            </a:r>
            <a:endParaRPr lang="en-US" sz="1100" dirty="0"/>
          </a:p>
        </p:txBody>
      </p:sp>
      <p:sp>
        <p:nvSpPr>
          <p:cNvPr id="8" name="Text 5"/>
          <p:cNvSpPr txBox="1"/>
          <p:nvPr/>
        </p:nvSpPr>
        <p:spPr>
          <a:xfrm>
            <a:off x="7845552" y="2286000"/>
            <a:ext cx="1463040" cy="685800"/>
          </a:xfrm>
          <a:prstGeom prst="rect">
            <a:avLst/>
          </a:prstGeom>
          <a:noFill/>
          <a:ln/>
        </p:spPr>
        <p:txBody>
          <a:bodyPr wrap="square" lIns="0" tIns="0" rIns="0" bIns="0" rtlCol="0" anchor="ctr"/>
          <a:lstStyle/>
          <a:p>
            <a:pPr indent="0" marL="0">
              <a:buNone/>
            </a:pPr>
            <a:r>
              <a:rPr lang="en-US" sz="3000" b="1" dirty="0">
                <a:solidFill>
                  <a:schemeClr val="bg1"/>
                </a:solidFill>
              </a:rPr>
              <a:t>1.3</a:t>
            </a:r>
            <a:pPr indent="0" marL="0">
              <a:buNone/>
            </a:pPr>
            <a:r>
              <a:rPr lang="en-US" sz="1300" b="1" dirty="0">
                <a:solidFill>
                  <a:schemeClr val="accent5"/>
                </a:solidFill>
              </a:rPr>
              <a:t> kg</a:t>
            </a:r>
            <a:endParaRPr lang="en-US" sz="3000" dirty="0"/>
          </a:p>
        </p:txBody>
      </p:sp>
      <p:sp>
        <p:nvSpPr>
          <p:cNvPr id="9" name="Text 6"/>
          <p:cNvSpPr txBox="1"/>
          <p:nvPr/>
        </p:nvSpPr>
        <p:spPr>
          <a:xfrm>
            <a:off x="7845552" y="2990088"/>
            <a:ext cx="1463040" cy="182880"/>
          </a:xfrm>
          <a:prstGeom prst="rect">
            <a:avLst/>
          </a:prstGeom>
          <a:noFill/>
          <a:ln/>
        </p:spPr>
        <p:txBody>
          <a:bodyPr wrap="square" lIns="0" tIns="0" rIns="0" bIns="0" rtlCol="0" anchor="t"/>
          <a:lstStyle/>
          <a:p>
            <a:pPr indent="0" marL="0">
              <a:buNone/>
            </a:pPr>
            <a:r>
              <a:rPr lang="en-US" sz="1050" dirty="0">
                <a:solidFill>
                  <a:schemeClr val="accent5"/>
                </a:solidFill>
              </a:rPr>
              <a:t>면적 × 계수</a:t>
            </a:r>
            <a:endParaRPr lang="en-US" sz="1050" dirty="0"/>
          </a:p>
        </p:txBody>
      </p:sp>
      <p:sp>
        <p:nvSpPr>
          <p:cNvPr id="10" name="stat 3D 부피 × 밀도"/>
          <p:cNvSpPr/>
          <p:nvPr/>
        </p:nvSpPr>
        <p:spPr>
          <a:xfrm>
            <a:off x="9720072" y="1783080"/>
            <a:ext cx="1920240" cy="1508760"/>
          </a:xfrm>
          <a:prstGeom prst="roundRect">
            <a:avLst>
              <a:gd name="adj" fmla="val 7273"/>
            </a:avLst>
          </a:prstGeom>
          <a:solidFill>
            <a:srgbClr val="124A6E"/>
          </a:solidFill>
          <a:ln w="12700">
            <a:solidFill>
              <a:srgbClr val="124A6E"/>
            </a:solidFill>
            <a:prstDash val="solid"/>
          </a:ln>
        </p:spPr>
      </p:sp>
      <p:sp>
        <p:nvSpPr>
          <p:cNvPr id="11" name="Text 8"/>
          <p:cNvSpPr txBox="1"/>
          <p:nvPr/>
        </p:nvSpPr>
        <p:spPr>
          <a:xfrm>
            <a:off x="9976104" y="1984248"/>
            <a:ext cx="1463040" cy="310896"/>
          </a:xfrm>
          <a:prstGeom prst="rect">
            <a:avLst/>
          </a:prstGeom>
          <a:noFill/>
          <a:ln/>
        </p:spPr>
        <p:txBody>
          <a:bodyPr wrap="square" lIns="0" tIns="0" rIns="0" bIns="0" rtlCol="0" anchor="ctr"/>
          <a:lstStyle/>
          <a:p>
            <a:pPr indent="0" marL="0">
              <a:buNone/>
            </a:pPr>
            <a:r>
              <a:rPr lang="en-US" sz="1100" dirty="0">
                <a:solidFill>
                  <a:schemeClr val="accent5"/>
                </a:solidFill>
              </a:rPr>
              <a:t>3D 부피 × 밀도</a:t>
            </a:r>
            <a:endParaRPr lang="en-US" sz="1100" dirty="0"/>
          </a:p>
        </p:txBody>
      </p:sp>
      <p:sp>
        <p:nvSpPr>
          <p:cNvPr id="12" name="Text 9"/>
          <p:cNvSpPr txBox="1"/>
          <p:nvPr/>
        </p:nvSpPr>
        <p:spPr>
          <a:xfrm>
            <a:off x="9976104" y="2286000"/>
            <a:ext cx="1463040" cy="685800"/>
          </a:xfrm>
          <a:prstGeom prst="rect">
            <a:avLst/>
          </a:prstGeom>
          <a:noFill/>
          <a:ln/>
        </p:spPr>
        <p:txBody>
          <a:bodyPr wrap="square" lIns="0" tIns="0" rIns="0" bIns="0" rtlCol="0" anchor="ctr"/>
          <a:lstStyle/>
          <a:p>
            <a:pPr indent="0" marL="0">
              <a:buNone/>
            </a:pPr>
            <a:r>
              <a:rPr lang="en-US" sz="3000" b="1" dirty="0">
                <a:solidFill>
                  <a:schemeClr val="accent2"/>
                </a:solidFill>
              </a:rPr>
              <a:t>101</a:t>
            </a:r>
            <a:pPr indent="0" marL="0">
              <a:buNone/>
            </a:pPr>
            <a:r>
              <a:rPr lang="en-US" sz="1300" b="1" dirty="0">
                <a:solidFill>
                  <a:schemeClr val="accent5"/>
                </a:solidFill>
              </a:rPr>
              <a:t> kg</a:t>
            </a:r>
            <a:endParaRPr lang="en-US" sz="3000" dirty="0"/>
          </a:p>
        </p:txBody>
      </p:sp>
      <p:sp>
        <p:nvSpPr>
          <p:cNvPr id="13" name="Text 10"/>
          <p:cNvSpPr txBox="1"/>
          <p:nvPr/>
        </p:nvSpPr>
        <p:spPr>
          <a:xfrm>
            <a:off x="9976104" y="2990088"/>
            <a:ext cx="1463040" cy="182880"/>
          </a:xfrm>
          <a:prstGeom prst="rect">
            <a:avLst/>
          </a:prstGeom>
          <a:noFill/>
          <a:ln/>
        </p:spPr>
        <p:txBody>
          <a:bodyPr wrap="square" lIns="0" tIns="0" rIns="0" bIns="0" rtlCol="0" anchor="t"/>
          <a:lstStyle/>
          <a:p>
            <a:pPr indent="0" marL="0">
              <a:buNone/>
            </a:pPr>
            <a:r>
              <a:rPr lang="en-US" sz="1050" dirty="0">
                <a:solidFill>
                  <a:schemeClr val="accent5"/>
                </a:solidFill>
              </a:rPr>
              <a:t>범위 15~1,328 kg</a:t>
            </a:r>
            <a:endParaRPr lang="en-US" sz="1050" dirty="0"/>
          </a:p>
        </p:txBody>
      </p:sp>
      <p:sp>
        <p:nvSpPr>
          <p:cNvPr id="14" name="stat 차이"/>
          <p:cNvSpPr/>
          <p:nvPr/>
        </p:nvSpPr>
        <p:spPr>
          <a:xfrm>
            <a:off x="7589520" y="3429000"/>
            <a:ext cx="1920240" cy="1417320"/>
          </a:xfrm>
          <a:prstGeom prst="roundRect">
            <a:avLst>
              <a:gd name="adj" fmla="val 7742"/>
            </a:avLst>
          </a:prstGeom>
          <a:solidFill>
            <a:srgbClr val="124A6E"/>
          </a:solidFill>
          <a:ln w="12700">
            <a:solidFill>
              <a:srgbClr val="124A6E"/>
            </a:solidFill>
            <a:prstDash val="solid"/>
          </a:ln>
        </p:spPr>
      </p:sp>
      <p:sp>
        <p:nvSpPr>
          <p:cNvPr id="15" name="Text 12"/>
          <p:cNvSpPr txBox="1"/>
          <p:nvPr/>
        </p:nvSpPr>
        <p:spPr>
          <a:xfrm>
            <a:off x="7845552" y="3630168"/>
            <a:ext cx="1463040" cy="310896"/>
          </a:xfrm>
          <a:prstGeom prst="rect">
            <a:avLst/>
          </a:prstGeom>
          <a:noFill/>
          <a:ln/>
        </p:spPr>
        <p:txBody>
          <a:bodyPr wrap="square" lIns="0" tIns="0" rIns="0" bIns="0" rtlCol="0" anchor="ctr"/>
          <a:lstStyle/>
          <a:p>
            <a:pPr indent="0" marL="0">
              <a:buNone/>
            </a:pPr>
            <a:r>
              <a:rPr lang="en-US" sz="1100" dirty="0">
                <a:solidFill>
                  <a:schemeClr val="accent5"/>
                </a:solidFill>
              </a:rPr>
              <a:t>차이</a:t>
            </a:r>
            <a:endParaRPr lang="en-US" sz="1100" dirty="0"/>
          </a:p>
        </p:txBody>
      </p:sp>
      <p:sp>
        <p:nvSpPr>
          <p:cNvPr id="16" name="Text 13"/>
          <p:cNvSpPr txBox="1"/>
          <p:nvPr/>
        </p:nvSpPr>
        <p:spPr>
          <a:xfrm>
            <a:off x="7845552" y="3931920"/>
            <a:ext cx="1463040" cy="685800"/>
          </a:xfrm>
          <a:prstGeom prst="rect">
            <a:avLst/>
          </a:prstGeom>
          <a:noFill/>
          <a:ln/>
        </p:spPr>
        <p:txBody>
          <a:bodyPr wrap="square" lIns="0" tIns="0" rIns="0" bIns="0" rtlCol="0" anchor="ctr"/>
          <a:lstStyle/>
          <a:p>
            <a:pPr indent="0" marL="0">
              <a:buNone/>
            </a:pPr>
            <a:r>
              <a:rPr lang="en-US" sz="3000" b="1" dirty="0">
                <a:solidFill>
                  <a:schemeClr val="bg1"/>
                </a:solidFill>
              </a:rPr>
              <a:t>78</a:t>
            </a:r>
            <a:pPr indent="0" marL="0">
              <a:buNone/>
            </a:pPr>
            <a:r>
              <a:rPr lang="en-US" sz="1300" b="1" dirty="0">
                <a:solidFill>
                  <a:schemeClr val="accent5"/>
                </a:solidFill>
              </a:rPr>
              <a:t> 배</a:t>
            </a:r>
            <a:endParaRPr lang="en-US" sz="3000" dirty="0"/>
          </a:p>
        </p:txBody>
      </p:sp>
      <p:sp>
        <p:nvSpPr>
          <p:cNvPr id="17" name="Text 14"/>
          <p:cNvSpPr txBox="1"/>
          <p:nvPr/>
        </p:nvSpPr>
        <p:spPr>
          <a:xfrm>
            <a:off x="7845552" y="4636008"/>
            <a:ext cx="1463040" cy="91440"/>
          </a:xfrm>
          <a:prstGeom prst="rect">
            <a:avLst/>
          </a:prstGeom>
          <a:noFill/>
          <a:ln/>
        </p:spPr>
        <p:txBody>
          <a:bodyPr wrap="square" lIns="0" tIns="0" rIns="0" bIns="0" rtlCol="0" anchor="t"/>
          <a:lstStyle/>
          <a:p>
            <a:pPr indent="0" marL="0">
              <a:buNone/>
            </a:pPr>
            <a:r>
              <a:rPr lang="en-US" sz="1050" dirty="0">
                <a:solidFill>
                  <a:schemeClr val="accent5"/>
                </a:solidFill>
              </a:rPr>
              <a:t>1.54 m² 더미: 18 g vs 0.3~17 kg</a:t>
            </a:r>
            <a:endParaRPr lang="en-US" sz="1050" dirty="0"/>
          </a:p>
        </p:txBody>
      </p:sp>
      <p:sp>
        <p:nvSpPr>
          <p:cNvPr id="18" name="stat 마대 계획 (20 kg 기준)"/>
          <p:cNvSpPr/>
          <p:nvPr/>
        </p:nvSpPr>
        <p:spPr>
          <a:xfrm>
            <a:off x="9720072" y="3429000"/>
            <a:ext cx="1920240" cy="1417320"/>
          </a:xfrm>
          <a:prstGeom prst="roundRect">
            <a:avLst>
              <a:gd name="adj" fmla="val 7742"/>
            </a:avLst>
          </a:prstGeom>
          <a:solidFill>
            <a:srgbClr val="124A6E"/>
          </a:solidFill>
          <a:ln w="12700">
            <a:solidFill>
              <a:srgbClr val="124A6E"/>
            </a:solidFill>
            <a:prstDash val="solid"/>
          </a:ln>
        </p:spPr>
      </p:sp>
      <p:sp>
        <p:nvSpPr>
          <p:cNvPr id="19" name="Text 16"/>
          <p:cNvSpPr txBox="1"/>
          <p:nvPr/>
        </p:nvSpPr>
        <p:spPr>
          <a:xfrm>
            <a:off x="9976104" y="3630168"/>
            <a:ext cx="1463040" cy="310896"/>
          </a:xfrm>
          <a:prstGeom prst="rect">
            <a:avLst/>
          </a:prstGeom>
          <a:noFill/>
          <a:ln/>
        </p:spPr>
        <p:txBody>
          <a:bodyPr wrap="square" lIns="0" tIns="0" rIns="0" bIns="0" rtlCol="0" anchor="ctr"/>
          <a:lstStyle/>
          <a:p>
            <a:pPr indent="0" marL="0">
              <a:buNone/>
            </a:pPr>
            <a:r>
              <a:rPr lang="en-US" sz="1100" dirty="0">
                <a:solidFill>
                  <a:schemeClr val="accent5"/>
                </a:solidFill>
              </a:rPr>
              <a:t>마대 계획 (20 kg 기준)</a:t>
            </a:r>
            <a:endParaRPr lang="en-US" sz="1100" dirty="0"/>
          </a:p>
        </p:txBody>
      </p:sp>
      <p:sp>
        <p:nvSpPr>
          <p:cNvPr id="20" name="Text 17"/>
          <p:cNvSpPr txBox="1"/>
          <p:nvPr/>
        </p:nvSpPr>
        <p:spPr>
          <a:xfrm>
            <a:off x="9976104" y="3931920"/>
            <a:ext cx="1463040" cy="685800"/>
          </a:xfrm>
          <a:prstGeom prst="rect">
            <a:avLst/>
          </a:prstGeom>
          <a:noFill/>
          <a:ln/>
        </p:spPr>
        <p:txBody>
          <a:bodyPr wrap="square" lIns="0" tIns="0" rIns="0" bIns="0" rtlCol="0" anchor="ctr"/>
          <a:lstStyle/>
          <a:p>
            <a:pPr indent="0" marL="0">
              <a:buNone/>
            </a:pPr>
            <a:r>
              <a:rPr lang="en-US" sz="2600" b="1" dirty="0">
                <a:solidFill>
                  <a:schemeClr val="bg1"/>
                </a:solidFill>
              </a:rPr>
              <a:t>1 → 6</a:t>
            </a:r>
            <a:pPr indent="0" marL="0">
              <a:buNone/>
            </a:pPr>
            <a:r>
              <a:rPr lang="en-US" sz="1300" b="1" dirty="0">
                <a:solidFill>
                  <a:schemeClr val="accent5"/>
                </a:solidFill>
              </a:rPr>
              <a:t> 장</a:t>
            </a:r>
            <a:endParaRPr lang="en-US" sz="2600" dirty="0"/>
          </a:p>
        </p:txBody>
      </p:sp>
      <p:sp>
        <p:nvSpPr>
          <p:cNvPr id="21" name="Text 18"/>
          <p:cNvSpPr txBox="1"/>
          <p:nvPr/>
        </p:nvSpPr>
        <p:spPr>
          <a:xfrm>
            <a:off x="9976104" y="4636008"/>
            <a:ext cx="1463040" cy="91440"/>
          </a:xfrm>
          <a:prstGeom prst="rect">
            <a:avLst/>
          </a:prstGeom>
          <a:noFill/>
          <a:ln/>
        </p:spPr>
        <p:txBody>
          <a:bodyPr wrap="square" lIns="0" tIns="0" rIns="0" bIns="0" rtlCol="0" anchor="t"/>
          <a:lstStyle/>
          <a:p>
            <a:pPr indent="0" marL="0">
              <a:buNone/>
            </a:pPr>
            <a:r>
              <a:rPr lang="en-US" sz="1050" dirty="0">
                <a:solidFill>
                  <a:schemeClr val="accent5"/>
                </a:solidFill>
              </a:rPr>
              <a:t>트럭·인원 계획이 통째로 틀어짐</a:t>
            </a:r>
            <a:endParaRPr lang="en-US" sz="1050" dirty="0"/>
          </a:p>
        </p:txBody>
      </p:sp>
      <p:sp>
        <p:nvSpPr>
          <p:cNvPr id="22" name="money card"/>
          <p:cNvSpPr/>
          <p:nvPr/>
        </p:nvSpPr>
        <p:spPr>
          <a:xfrm>
            <a:off x="548640" y="4983480"/>
            <a:ext cx="11091672" cy="1005840"/>
          </a:xfrm>
          <a:prstGeom prst="roundRect">
            <a:avLst>
              <a:gd name="adj" fmla="val 10909"/>
            </a:avLst>
          </a:prstGeom>
          <a:solidFill>
            <a:srgbClr val="124A6E"/>
          </a:solidFill>
          <a:ln w="12700">
            <a:solidFill>
              <a:srgbClr val="124A6E"/>
            </a:solidFill>
            <a:prstDash val="solid"/>
          </a:ln>
        </p:spPr>
      </p:sp>
      <p:pic>
        <p:nvPicPr>
          <p:cNvPr id="23" name="icon coins" descr="preencoded.png">    </p:cNvPr>
          <p:cNvPicPr>
            <a:picLocks noChangeAspect="1"/>
          </p:cNvPicPr>
          <p:nvPr/>
        </p:nvPicPr>
        <p:blipFill>
          <a:blip r:embed="rId2"/>
          <a:stretch>
            <a:fillRect/>
          </a:stretch>
        </p:blipFill>
        <p:spPr>
          <a:xfrm>
            <a:off x="868680" y="5257800"/>
            <a:ext cx="457200" cy="457200"/>
          </a:xfrm>
          <a:prstGeom prst="rect">
            <a:avLst/>
          </a:prstGeom>
        </p:spPr>
      </p:pic>
      <p:sp>
        <p:nvSpPr>
          <p:cNvPr id="24" name="Text 20"/>
          <p:cNvSpPr txBox="1"/>
          <p:nvPr/>
        </p:nvSpPr>
        <p:spPr>
          <a:xfrm>
            <a:off x="1554480" y="5047488"/>
            <a:ext cx="9875520" cy="320040"/>
          </a:xfrm>
          <a:prstGeom prst="rect">
            <a:avLst/>
          </a:prstGeom>
          <a:noFill/>
          <a:ln/>
        </p:spPr>
        <p:txBody>
          <a:bodyPr wrap="square" lIns="0" tIns="0" rIns="0" bIns="0" rtlCol="0" anchor="ctr"/>
          <a:lstStyle/>
          <a:p>
            <a:pPr indent="0" marL="0">
              <a:buNone/>
            </a:pPr>
            <a:r>
              <a:rPr lang="en-US" sz="1300" b="1" dirty="0">
                <a:solidFill>
                  <a:schemeClr val="bg1"/>
                </a:solidFill>
              </a:rPr>
              <a:t>돈으로 환산하면</a:t>
            </a:r>
            <a:endParaRPr lang="en-US" sz="1300" dirty="0"/>
          </a:p>
        </p:txBody>
      </p:sp>
      <p:sp>
        <p:nvSpPr>
          <p:cNvPr id="25" name="Text 21"/>
          <p:cNvSpPr txBox="1"/>
          <p:nvPr/>
        </p:nvSpPr>
        <p:spPr>
          <a:xfrm>
            <a:off x="1554480" y="5367528"/>
            <a:ext cx="9875520" cy="594360"/>
          </a:xfrm>
          <a:prstGeom prst="rect">
            <a:avLst/>
          </a:prstGeom>
          <a:noFill/>
          <a:ln/>
        </p:spPr>
        <p:txBody>
          <a:bodyPr wrap="square" lIns="0" tIns="0" rIns="0" bIns="0" rtlCol="0" anchor="t"/>
          <a:lstStyle/>
          <a:p>
            <a:pPr indent="0" marL="0">
              <a:buNone/>
            </a:pPr>
            <a:r>
              <a:rPr lang="en-US" sz="1100" dirty="0">
                <a:solidFill>
                  <a:schemeClr val="accent5"/>
                </a:solidFill>
              </a:rPr>
              <a:t>해양쓰레기 처리 단가는 톤당 약 50만 원(전남). 무게를 100 t 잘못 잡으면 5천만 원, 트럭 한 대를 더 부르면 하루 인력·장비가 추가됩니다. 지금 기록 방식으로는 이 오차가 수십~수백 배 단위로 들어 있습니다.</a:t>
            </a:r>
            <a:endParaRPr lang="en-US" sz="1100" dirty="0"/>
          </a:p>
        </p:txBody>
      </p:sp>
      <p:sp>
        <p:nvSpPr>
          <p:cNvPr id="26"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5"/>
                </a:solidFill>
              </a:rPr>
              <a:t>출처: 업체 라벨 자료(문갑도 MGD 42개)와 팀 분석 · 서비스 수거계획 산출(demo-mungap, 가정 밀도) · 처리 단가 한국일보(2018·2019, 전남 톤당 50만 원)</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왜 공공이 돈을 쓰는 일인가: 수거량은 5년간 19.8% 늘었다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해양쓰레기 수거는 지자체와 공단이 발주하는 공공 사업입니다. 2025년 14.5만 톤 수거는 연간 발생량 추정치와 같아, 치워도 현존량이 줄지 않습니다.</a:t>
            </a:r>
            <a:endParaRPr lang="en-US" sz="1400" dirty="0"/>
          </a:p>
        </p:txBody>
      </p:sp>
      <p:sp>
        <p:nvSpPr>
          <p:cNvPr id="4" name="chart card"/>
          <p:cNvSpPr/>
          <p:nvPr/>
        </p:nvSpPr>
        <p:spPr>
          <a:xfrm>
            <a:off x="548640" y="1783080"/>
            <a:ext cx="6949440" cy="4114800"/>
          </a:xfrm>
          <a:prstGeom prst="roundRect">
            <a:avLst>
              <a:gd name="adj" fmla="val 266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Text 3"/>
          <p:cNvSpPr txBox="1"/>
          <p:nvPr/>
        </p:nvSpPr>
        <p:spPr>
          <a:xfrm>
            <a:off x="822960" y="1920240"/>
            <a:ext cx="6400800" cy="320040"/>
          </a:xfrm>
          <a:prstGeom prst="rect">
            <a:avLst/>
          </a:prstGeom>
          <a:noFill/>
          <a:ln/>
        </p:spPr>
        <p:txBody>
          <a:bodyPr wrap="square" lIns="0" tIns="0" rIns="0" bIns="0" rtlCol="0" anchor="ctr"/>
          <a:lstStyle/>
          <a:p>
            <a:pPr indent="0" marL="0">
              <a:buNone/>
            </a:pPr>
            <a:r>
              <a:rPr lang="en-US" sz="1200" b="1" dirty="0">
                <a:solidFill>
                  <a:schemeClr val="tx1"/>
                </a:solidFill>
              </a:rPr>
              <a:t>연도별 해양폐기물 수거량 (톤)</a:t>
            </a:r>
            <a:endParaRPr lang="en-US" sz="1200" dirty="0"/>
          </a:p>
        </p:txBody>
      </p:sp>
      <p:graphicFrame>
        <p:nvGraphicFramePr>
          <p:cNvPr id="6" name="Chart 0" descr=""/>
          <p:cNvGraphicFramePr/>
          <p:nvPr/>
        </p:nvGraphicFramePr>
        <p:xfrm>
          <a:off x="731520" y="2286000"/>
          <a:ext cx="6583680" cy="3520440"/>
        </p:xfrm>
        <a:graphic xmlns:a="http://schemas.openxmlformats.org/drawingml/2006/main">
          <a:graphicData uri="http://schemas.openxmlformats.org/drawingml/2006/chart">
            <c:chart xmlns:c="http://schemas.openxmlformats.org/drawingml/2006/chart" r:id="rId1"/>
          </a:graphicData>
        </a:graphic>
      </p:graphicFrame>
      <p:sp>
        <p:nvSpPr>
          <p:cNvPr id="7" name="stat 연간 해양쓰레기 발생량 추정"/>
          <p:cNvSpPr/>
          <p:nvPr/>
        </p:nvSpPr>
        <p:spPr>
          <a:xfrm>
            <a:off x="7772400" y="1783080"/>
            <a:ext cx="3867912"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8" name="Text 5"/>
          <p:cNvSpPr txBox="1"/>
          <p:nvPr/>
        </p:nvSpPr>
        <p:spPr>
          <a:xfrm>
            <a:off x="8028432" y="1984248"/>
            <a:ext cx="3410712" cy="310896"/>
          </a:xfrm>
          <a:prstGeom prst="rect">
            <a:avLst/>
          </a:prstGeom>
          <a:noFill/>
          <a:ln/>
        </p:spPr>
        <p:txBody>
          <a:bodyPr wrap="square" lIns="0" tIns="0" rIns="0" bIns="0" rtlCol="0" anchor="ctr"/>
          <a:lstStyle/>
          <a:p>
            <a:pPr indent="0" marL="0">
              <a:buNone/>
            </a:pPr>
            <a:r>
              <a:rPr lang="en-US" sz="1100" dirty="0">
                <a:solidFill>
                  <a:schemeClr val="accent4"/>
                </a:solidFill>
              </a:rPr>
              <a:t>연간 해양쓰레기 발생량 추정</a:t>
            </a:r>
            <a:endParaRPr lang="en-US" sz="1100" dirty="0"/>
          </a:p>
        </p:txBody>
      </p:sp>
      <p:sp>
        <p:nvSpPr>
          <p:cNvPr id="9" name="Text 6"/>
          <p:cNvSpPr txBox="1"/>
          <p:nvPr/>
        </p:nvSpPr>
        <p:spPr>
          <a:xfrm>
            <a:off x="8028432" y="2286000"/>
            <a:ext cx="3410712" cy="685800"/>
          </a:xfrm>
          <a:prstGeom prst="rect">
            <a:avLst/>
          </a:prstGeom>
          <a:noFill/>
          <a:ln/>
        </p:spPr>
        <p:txBody>
          <a:bodyPr wrap="square" lIns="0" tIns="0" rIns="0" bIns="0" rtlCol="0" anchor="ctr"/>
          <a:lstStyle/>
          <a:p>
            <a:pPr indent="0" marL="0">
              <a:buNone/>
            </a:pPr>
            <a:r>
              <a:rPr lang="en-US" sz="3400" b="1" dirty="0">
                <a:solidFill>
                  <a:schemeClr val="tx2"/>
                </a:solidFill>
              </a:rPr>
              <a:t>14.5만</a:t>
            </a:r>
            <a:pPr indent="0" marL="0">
              <a:buNone/>
            </a:pPr>
            <a:r>
              <a:rPr lang="en-US" sz="1300" b="1" dirty="0">
                <a:solidFill>
                  <a:schemeClr val="accent4"/>
                </a:solidFill>
              </a:rPr>
              <a:t> t / 년</a:t>
            </a:r>
            <a:endParaRPr lang="en-US" sz="3400" dirty="0"/>
          </a:p>
        </p:txBody>
      </p:sp>
      <p:sp>
        <p:nvSpPr>
          <p:cNvPr id="10" name="Text 7"/>
          <p:cNvSpPr txBox="1"/>
          <p:nvPr/>
        </p:nvSpPr>
        <p:spPr>
          <a:xfrm>
            <a:off x="8028432" y="2990088"/>
            <a:ext cx="3410712" cy="-45720"/>
          </a:xfrm>
          <a:prstGeom prst="rect">
            <a:avLst/>
          </a:prstGeom>
          <a:noFill/>
          <a:ln/>
        </p:spPr>
        <p:txBody>
          <a:bodyPr wrap="square" lIns="0" tIns="0" rIns="0" bIns="0" rtlCol="0" anchor="t"/>
          <a:lstStyle/>
          <a:p>
            <a:pPr indent="0" marL="0">
              <a:buNone/>
            </a:pPr>
            <a:r>
              <a:rPr lang="en-US" sz="1050" dirty="0">
                <a:solidFill>
                  <a:schemeClr val="accent4"/>
                </a:solidFill>
              </a:rPr>
              <a:t>육상 기인 65.3% · 해상 기인 34.7%</a:t>
            </a:r>
            <a:endParaRPr lang="en-US" sz="1050" dirty="0"/>
          </a:p>
        </p:txBody>
      </p:sp>
      <p:sp>
        <p:nvSpPr>
          <p:cNvPr id="11" name="stat 해양에 남아 있는 현존량"/>
          <p:cNvSpPr/>
          <p:nvPr/>
        </p:nvSpPr>
        <p:spPr>
          <a:xfrm>
            <a:off x="7772400" y="3200400"/>
            <a:ext cx="3867912"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2" name="Text 9"/>
          <p:cNvSpPr txBox="1"/>
          <p:nvPr/>
        </p:nvSpPr>
        <p:spPr>
          <a:xfrm>
            <a:off x="8028432" y="3401568"/>
            <a:ext cx="3410712" cy="310896"/>
          </a:xfrm>
          <a:prstGeom prst="rect">
            <a:avLst/>
          </a:prstGeom>
          <a:noFill/>
          <a:ln/>
        </p:spPr>
        <p:txBody>
          <a:bodyPr wrap="square" lIns="0" tIns="0" rIns="0" bIns="0" rtlCol="0" anchor="ctr"/>
          <a:lstStyle/>
          <a:p>
            <a:pPr indent="0" marL="0">
              <a:buNone/>
            </a:pPr>
            <a:r>
              <a:rPr lang="en-US" sz="1100" dirty="0">
                <a:solidFill>
                  <a:schemeClr val="accent4"/>
                </a:solidFill>
              </a:rPr>
              <a:t>해양에 남아 있는 현존량</a:t>
            </a:r>
            <a:endParaRPr lang="en-US" sz="1100" dirty="0"/>
          </a:p>
        </p:txBody>
      </p:sp>
      <p:sp>
        <p:nvSpPr>
          <p:cNvPr id="13" name="Text 10"/>
          <p:cNvSpPr txBox="1"/>
          <p:nvPr/>
        </p:nvSpPr>
        <p:spPr>
          <a:xfrm>
            <a:off x="8028432" y="3703320"/>
            <a:ext cx="3410712" cy="685800"/>
          </a:xfrm>
          <a:prstGeom prst="rect">
            <a:avLst/>
          </a:prstGeom>
          <a:noFill/>
          <a:ln/>
        </p:spPr>
        <p:txBody>
          <a:bodyPr wrap="square" lIns="0" tIns="0" rIns="0" bIns="0" rtlCol="0" anchor="ctr"/>
          <a:lstStyle/>
          <a:p>
            <a:pPr indent="0" marL="0">
              <a:buNone/>
            </a:pPr>
            <a:r>
              <a:rPr lang="en-US" sz="3400" b="1" dirty="0">
                <a:solidFill>
                  <a:schemeClr val="tx2"/>
                </a:solidFill>
              </a:rPr>
              <a:t>15.2만</a:t>
            </a:r>
            <a:pPr indent="0" marL="0">
              <a:buNone/>
            </a:pPr>
            <a:r>
              <a:rPr lang="en-US" sz="1300" b="1" dirty="0">
                <a:solidFill>
                  <a:schemeClr val="accent4"/>
                </a:solidFill>
              </a:rPr>
              <a:t> t</a:t>
            </a:r>
            <a:endParaRPr lang="en-US" sz="3400" dirty="0"/>
          </a:p>
        </p:txBody>
      </p:sp>
      <p:sp>
        <p:nvSpPr>
          <p:cNvPr id="14" name="Text 11"/>
          <p:cNvSpPr txBox="1"/>
          <p:nvPr/>
        </p:nvSpPr>
        <p:spPr>
          <a:xfrm>
            <a:off x="8028432" y="4407408"/>
            <a:ext cx="3410712" cy="-45720"/>
          </a:xfrm>
          <a:prstGeom prst="rect">
            <a:avLst/>
          </a:prstGeom>
          <a:noFill/>
          <a:ln/>
        </p:spPr>
        <p:txBody>
          <a:bodyPr wrap="square" lIns="0" tIns="0" rIns="0" bIns="0" rtlCol="0" anchor="t"/>
          <a:lstStyle/>
          <a:p>
            <a:pPr indent="0" marL="0">
              <a:buNone/>
            </a:pPr>
            <a:r>
              <a:rPr lang="en-US" sz="1050" dirty="0">
                <a:solidFill>
                  <a:schemeClr val="accent4"/>
                </a:solidFill>
              </a:rPr>
              <a:t>침적 13.8만 · 해변 1.2만 · 부유 0.2만 t</a:t>
            </a:r>
            <a:endParaRPr lang="en-US" sz="1050" dirty="0"/>
          </a:p>
        </p:txBody>
      </p:sp>
      <p:sp>
        <p:nvSpPr>
          <p:cNvPr id="15" name="stat 2026년 해양폐기물 처리 예산"/>
          <p:cNvSpPr/>
          <p:nvPr/>
        </p:nvSpPr>
        <p:spPr>
          <a:xfrm>
            <a:off x="7772400" y="4617720"/>
            <a:ext cx="3867912"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6" name="Text 13"/>
          <p:cNvSpPr txBox="1"/>
          <p:nvPr/>
        </p:nvSpPr>
        <p:spPr>
          <a:xfrm>
            <a:off x="8028432" y="4818888"/>
            <a:ext cx="3410712" cy="310896"/>
          </a:xfrm>
          <a:prstGeom prst="rect">
            <a:avLst/>
          </a:prstGeom>
          <a:noFill/>
          <a:ln/>
        </p:spPr>
        <p:txBody>
          <a:bodyPr wrap="square" lIns="0" tIns="0" rIns="0" bIns="0" rtlCol="0" anchor="ctr"/>
          <a:lstStyle/>
          <a:p>
            <a:pPr indent="0" marL="0">
              <a:buNone/>
            </a:pPr>
            <a:r>
              <a:rPr lang="en-US" sz="1100" dirty="0">
                <a:solidFill>
                  <a:schemeClr val="accent4"/>
                </a:solidFill>
              </a:rPr>
              <a:t>2026년 해양폐기물 처리 예산</a:t>
            </a:r>
            <a:endParaRPr lang="en-US" sz="1100" dirty="0"/>
          </a:p>
        </p:txBody>
      </p:sp>
      <p:sp>
        <p:nvSpPr>
          <p:cNvPr id="17" name="Text 14"/>
          <p:cNvSpPr txBox="1"/>
          <p:nvPr/>
        </p:nvSpPr>
        <p:spPr>
          <a:xfrm>
            <a:off x="8028432" y="5120640"/>
            <a:ext cx="3410712" cy="685800"/>
          </a:xfrm>
          <a:prstGeom prst="rect">
            <a:avLst/>
          </a:prstGeom>
          <a:noFill/>
          <a:ln/>
        </p:spPr>
        <p:txBody>
          <a:bodyPr wrap="square" lIns="0" tIns="0" rIns="0" bIns="0" rtlCol="0" anchor="ctr"/>
          <a:lstStyle/>
          <a:p>
            <a:pPr indent="0" marL="0">
              <a:buNone/>
            </a:pPr>
            <a:r>
              <a:rPr lang="en-US" sz="3400" b="1" dirty="0">
                <a:solidFill>
                  <a:schemeClr val="accent2"/>
                </a:solidFill>
              </a:rPr>
              <a:t>1,114</a:t>
            </a:r>
            <a:pPr indent="0" marL="0">
              <a:buNone/>
            </a:pPr>
            <a:r>
              <a:rPr lang="en-US" sz="1300" b="1" dirty="0">
                <a:solidFill>
                  <a:schemeClr val="accent4"/>
                </a:solidFill>
              </a:rPr>
              <a:t> 억 원</a:t>
            </a:r>
            <a:endParaRPr lang="en-US" sz="3400" dirty="0"/>
          </a:p>
        </p:txBody>
      </p:sp>
      <p:sp>
        <p:nvSpPr>
          <p:cNvPr id="18" name="Text 15"/>
          <p:cNvSpPr txBox="1"/>
          <p:nvPr/>
        </p:nvSpPr>
        <p:spPr>
          <a:xfrm>
            <a:off x="8028432" y="5824728"/>
            <a:ext cx="3410712" cy="-45720"/>
          </a:xfrm>
          <a:prstGeom prst="rect">
            <a:avLst/>
          </a:prstGeom>
          <a:noFill/>
          <a:ln/>
        </p:spPr>
        <p:txBody>
          <a:bodyPr wrap="square" lIns="0" tIns="0" rIns="0" bIns="0" rtlCol="0" anchor="t"/>
          <a:lstStyle/>
          <a:p>
            <a:pPr indent="0" marL="0">
              <a:buNone/>
            </a:pPr>
            <a:r>
              <a:rPr lang="en-US" sz="1050" dirty="0">
                <a:solidFill>
                  <a:schemeClr val="accent4"/>
                </a:solidFill>
              </a:rPr>
              <a:t>해안쓰레기가 수거량의 76%</a:t>
            </a:r>
            <a:endParaRPr lang="en-US" sz="1050" dirty="0"/>
          </a:p>
        </p:txBody>
      </p:sp>
      <p:sp>
        <p:nvSpPr>
          <p:cNvPr id="19"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출처: 해양수산부 자료(김선교 의원실, 2026.09) 연도별 수거량 · 해양수산부 「해양폐기물 저감 대책」 발생량·현존량 추정 · 2026년 처리 예산 1,114억 원(해양수산부, 2026.09)</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수거 비용은 지자체 몫이고, 추정이 곧 예산이다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그 수거의 90%를 지자체가 수행하고 업체에 발주합니다. 톤 단위 추정 오차가 곧 수천만 원이라, 발주처도 업체도 '미리 재는 것'이 예산 그 자체입니다.</a:t>
            </a:r>
            <a:endParaRPr lang="en-US" sz="1400" dirty="0"/>
          </a:p>
        </p:txBody>
      </p:sp>
      <p:sp>
        <p:nvSpPr>
          <p:cNvPr id="4" name="chart card"/>
          <p:cNvSpPr/>
          <p:nvPr/>
        </p:nvSpPr>
        <p:spPr>
          <a:xfrm>
            <a:off x="548640" y="1783080"/>
            <a:ext cx="5669280" cy="4114800"/>
          </a:xfrm>
          <a:prstGeom prst="roundRect">
            <a:avLst>
              <a:gd name="adj" fmla="val 266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Text 3"/>
          <p:cNvSpPr txBox="1"/>
          <p:nvPr/>
        </p:nvSpPr>
        <p:spPr>
          <a:xfrm>
            <a:off x="822960" y="1920240"/>
            <a:ext cx="5303520" cy="320040"/>
          </a:xfrm>
          <a:prstGeom prst="rect">
            <a:avLst/>
          </a:prstGeom>
          <a:noFill/>
          <a:ln/>
        </p:spPr>
        <p:txBody>
          <a:bodyPr wrap="square" lIns="0" tIns="0" rIns="0" bIns="0" rtlCol="0" anchor="ctr"/>
          <a:lstStyle/>
          <a:p>
            <a:pPr indent="0" marL="0">
              <a:buNone/>
            </a:pPr>
            <a:r>
              <a:rPr lang="en-US" sz="1200" b="1" dirty="0">
                <a:solidFill>
                  <a:schemeClr val="tx1"/>
                </a:solidFill>
              </a:rPr>
              <a:t>유형별 수거량, 2021~2025 누계 (톤)</a:t>
            </a:r>
            <a:endParaRPr lang="en-US" sz="1200" dirty="0"/>
          </a:p>
        </p:txBody>
      </p:sp>
      <p:graphicFrame>
        <p:nvGraphicFramePr>
          <p:cNvPr id="6" name="Chart 0" descr=""/>
          <p:cNvGraphicFramePr/>
          <p:nvPr/>
        </p:nvGraphicFramePr>
        <p:xfrm>
          <a:off x="731520" y="2286000"/>
          <a:ext cx="5303520" cy="3474720"/>
        </p:xfrm>
        <a:graphic xmlns:a="http://schemas.openxmlformats.org/drawingml/2006/main">
          <a:graphicData uri="http://schemas.openxmlformats.org/drawingml/2006/chart">
            <c:chart xmlns:c="http://schemas.openxmlformats.org/drawingml/2006/chart" r:id="rId1"/>
          </a:graphicData>
        </a:graphic>
      </p:graphicFrame>
      <p:sp>
        <p:nvSpPr>
          <p:cNvPr id="7" name="stat 지자체 수거예산 2017~2022 누계"/>
          <p:cNvSpPr/>
          <p:nvPr/>
        </p:nvSpPr>
        <p:spPr>
          <a:xfrm>
            <a:off x="6492240" y="1783080"/>
            <a:ext cx="246888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8" name="Text 5"/>
          <p:cNvSpPr txBox="1"/>
          <p:nvPr/>
        </p:nvSpPr>
        <p:spPr>
          <a:xfrm>
            <a:off x="6748272" y="1984248"/>
            <a:ext cx="2011680" cy="310896"/>
          </a:xfrm>
          <a:prstGeom prst="rect">
            <a:avLst/>
          </a:prstGeom>
          <a:noFill/>
          <a:ln/>
        </p:spPr>
        <p:txBody>
          <a:bodyPr wrap="square" lIns="0" tIns="0" rIns="0" bIns="0" rtlCol="0" anchor="ctr"/>
          <a:lstStyle/>
          <a:p>
            <a:pPr indent="0" marL="0">
              <a:buNone/>
            </a:pPr>
            <a:r>
              <a:rPr lang="en-US" sz="1100" dirty="0">
                <a:solidFill>
                  <a:schemeClr val="accent4"/>
                </a:solidFill>
              </a:rPr>
              <a:t>지자체 수거예산 2017~2022 누계</a:t>
            </a:r>
            <a:endParaRPr lang="en-US" sz="1100" dirty="0"/>
          </a:p>
        </p:txBody>
      </p:sp>
      <p:sp>
        <p:nvSpPr>
          <p:cNvPr id="9" name="Text 6"/>
          <p:cNvSpPr txBox="1"/>
          <p:nvPr/>
        </p:nvSpPr>
        <p:spPr>
          <a:xfrm>
            <a:off x="6748272" y="2286000"/>
            <a:ext cx="2011680" cy="685800"/>
          </a:xfrm>
          <a:prstGeom prst="rect">
            <a:avLst/>
          </a:prstGeom>
          <a:noFill/>
          <a:ln/>
        </p:spPr>
        <p:txBody>
          <a:bodyPr wrap="square" lIns="0" tIns="0" rIns="0" bIns="0" rtlCol="0" anchor="ctr"/>
          <a:lstStyle/>
          <a:p>
            <a:pPr indent="0" marL="0">
              <a:buNone/>
            </a:pPr>
            <a:r>
              <a:rPr lang="en-US" sz="3400" b="1" dirty="0">
                <a:solidFill>
                  <a:schemeClr val="tx2"/>
                </a:solidFill>
              </a:rPr>
              <a:t>3,654</a:t>
            </a:r>
            <a:pPr indent="0" marL="0">
              <a:buNone/>
            </a:pPr>
            <a:r>
              <a:rPr lang="en-US" sz="1300" b="1" dirty="0">
                <a:solidFill>
                  <a:schemeClr val="accent4"/>
                </a:solidFill>
              </a:rPr>
              <a:t> 억 원</a:t>
            </a:r>
            <a:endParaRPr lang="en-US" sz="3400" dirty="0"/>
          </a:p>
        </p:txBody>
      </p:sp>
      <p:sp>
        <p:nvSpPr>
          <p:cNvPr id="10" name="Text 7"/>
          <p:cNvSpPr txBox="1"/>
          <p:nvPr/>
        </p:nvSpPr>
        <p:spPr>
          <a:xfrm>
            <a:off x="6748272" y="2990088"/>
            <a:ext cx="2011680" cy="640080"/>
          </a:xfrm>
          <a:prstGeom prst="rect">
            <a:avLst/>
          </a:prstGeom>
          <a:noFill/>
          <a:ln/>
        </p:spPr>
        <p:txBody>
          <a:bodyPr wrap="square" lIns="0" tIns="0" rIns="0" bIns="0" rtlCol="0" anchor="t"/>
          <a:lstStyle/>
          <a:p>
            <a:pPr indent="0" marL="0">
              <a:buNone/>
            </a:pPr>
            <a:r>
              <a:rPr lang="en-US" sz="1050" dirty="0">
                <a:solidFill>
                  <a:schemeClr val="accent4"/>
                </a:solidFill>
              </a:rPr>
              <a:t>같은 기간 3.5배 증가</a:t>
            </a:r>
            <a:endParaRPr lang="en-US" sz="1050" dirty="0"/>
          </a:p>
        </p:txBody>
      </p:sp>
      <p:sp>
        <p:nvSpPr>
          <p:cNvPr id="11" name="stat 수거비 국비 : 지방비"/>
          <p:cNvSpPr/>
          <p:nvPr/>
        </p:nvSpPr>
        <p:spPr>
          <a:xfrm>
            <a:off x="9171432" y="1783080"/>
            <a:ext cx="246888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2" name="Text 9"/>
          <p:cNvSpPr txBox="1"/>
          <p:nvPr/>
        </p:nvSpPr>
        <p:spPr>
          <a:xfrm>
            <a:off x="9427464" y="1984248"/>
            <a:ext cx="2011680" cy="310896"/>
          </a:xfrm>
          <a:prstGeom prst="rect">
            <a:avLst/>
          </a:prstGeom>
          <a:noFill/>
          <a:ln/>
        </p:spPr>
        <p:txBody>
          <a:bodyPr wrap="square" lIns="0" tIns="0" rIns="0" bIns="0" rtlCol="0" anchor="ctr"/>
          <a:lstStyle/>
          <a:p>
            <a:pPr indent="0" marL="0">
              <a:buNone/>
            </a:pPr>
            <a:r>
              <a:rPr lang="en-US" sz="1100" dirty="0">
                <a:solidFill>
                  <a:schemeClr val="accent4"/>
                </a:solidFill>
              </a:rPr>
              <a:t>수거비 국비 : 지방비</a:t>
            </a:r>
            <a:endParaRPr lang="en-US" sz="1100" dirty="0"/>
          </a:p>
        </p:txBody>
      </p:sp>
      <p:sp>
        <p:nvSpPr>
          <p:cNvPr id="13" name="Text 10"/>
          <p:cNvSpPr txBox="1"/>
          <p:nvPr/>
        </p:nvSpPr>
        <p:spPr>
          <a:xfrm>
            <a:off x="9427464" y="2286000"/>
            <a:ext cx="2011680" cy="685800"/>
          </a:xfrm>
          <a:prstGeom prst="rect">
            <a:avLst/>
          </a:prstGeom>
          <a:noFill/>
          <a:ln/>
        </p:spPr>
        <p:txBody>
          <a:bodyPr wrap="square" lIns="0" tIns="0" rIns="0" bIns="0" rtlCol="0" anchor="ctr"/>
          <a:lstStyle/>
          <a:p>
            <a:pPr indent="0" marL="0">
              <a:buNone/>
            </a:pPr>
            <a:r>
              <a:rPr lang="en-US" sz="3400" b="1" dirty="0">
                <a:solidFill>
                  <a:schemeClr val="tx2"/>
                </a:solidFill>
              </a:rPr>
              <a:t>50 : 50</a:t>
            </a:r>
            <a:pPr indent="0" marL="0">
              <a:buNone/>
            </a:pPr>
            <a:endParaRPr lang="en-US" sz="3400" dirty="0"/>
          </a:p>
        </p:txBody>
      </p:sp>
      <p:sp>
        <p:nvSpPr>
          <p:cNvPr id="14" name="Text 11"/>
          <p:cNvSpPr txBox="1"/>
          <p:nvPr/>
        </p:nvSpPr>
        <p:spPr>
          <a:xfrm>
            <a:off x="9427464" y="2990088"/>
            <a:ext cx="2011680" cy="640080"/>
          </a:xfrm>
          <a:prstGeom prst="rect">
            <a:avLst/>
          </a:prstGeom>
          <a:noFill/>
          <a:ln/>
        </p:spPr>
        <p:txBody>
          <a:bodyPr wrap="square" lIns="0" tIns="0" rIns="0" bIns="0" rtlCol="0" anchor="t"/>
          <a:lstStyle/>
          <a:p>
            <a:pPr indent="0" marL="0">
              <a:buNone/>
            </a:pPr>
            <a:r>
              <a:rPr lang="en-US" sz="1050" dirty="0">
                <a:solidFill>
                  <a:schemeClr val="accent4"/>
                </a:solidFill>
              </a:rPr>
              <a:t>지방비는 다시 도비·시군비로 나뉨</a:t>
            </a:r>
            <a:endParaRPr lang="en-US" sz="1050" dirty="0"/>
          </a:p>
        </p:txBody>
      </p:sp>
      <p:sp>
        <p:nvSpPr>
          <p:cNvPr id="15" name="stat 지자체가 처리하는 수거량 비중"/>
          <p:cNvSpPr/>
          <p:nvPr/>
        </p:nvSpPr>
        <p:spPr>
          <a:xfrm>
            <a:off x="6492240" y="3931920"/>
            <a:ext cx="246888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6" name="Text 13"/>
          <p:cNvSpPr txBox="1"/>
          <p:nvPr/>
        </p:nvSpPr>
        <p:spPr>
          <a:xfrm>
            <a:off x="6748272" y="4133088"/>
            <a:ext cx="2011680" cy="310896"/>
          </a:xfrm>
          <a:prstGeom prst="rect">
            <a:avLst/>
          </a:prstGeom>
          <a:noFill/>
          <a:ln/>
        </p:spPr>
        <p:txBody>
          <a:bodyPr wrap="square" lIns="0" tIns="0" rIns="0" bIns="0" rtlCol="0" anchor="ctr"/>
          <a:lstStyle/>
          <a:p>
            <a:pPr indent="0" marL="0">
              <a:buNone/>
            </a:pPr>
            <a:r>
              <a:rPr lang="en-US" sz="1100" dirty="0">
                <a:solidFill>
                  <a:schemeClr val="accent4"/>
                </a:solidFill>
              </a:rPr>
              <a:t>지자체가 처리하는 수거량 비중</a:t>
            </a:r>
            <a:endParaRPr lang="en-US" sz="1100" dirty="0"/>
          </a:p>
        </p:txBody>
      </p:sp>
      <p:sp>
        <p:nvSpPr>
          <p:cNvPr id="17" name="Text 14"/>
          <p:cNvSpPr txBox="1"/>
          <p:nvPr/>
        </p:nvSpPr>
        <p:spPr>
          <a:xfrm>
            <a:off x="6748272" y="4434840"/>
            <a:ext cx="2011680" cy="685800"/>
          </a:xfrm>
          <a:prstGeom prst="rect">
            <a:avLst/>
          </a:prstGeom>
          <a:noFill/>
          <a:ln/>
        </p:spPr>
        <p:txBody>
          <a:bodyPr wrap="square" lIns="0" tIns="0" rIns="0" bIns="0" rtlCol="0" anchor="ctr"/>
          <a:lstStyle/>
          <a:p>
            <a:pPr indent="0" marL="0">
              <a:buNone/>
            </a:pPr>
            <a:r>
              <a:rPr lang="en-US" sz="3400" b="1" dirty="0">
                <a:solidFill>
                  <a:schemeClr val="accent2"/>
                </a:solidFill>
              </a:rPr>
              <a:t>90</a:t>
            </a:r>
            <a:pPr indent="0" marL="0">
              <a:buNone/>
            </a:pPr>
            <a:r>
              <a:rPr lang="en-US" sz="1300" b="1" dirty="0">
                <a:solidFill>
                  <a:schemeClr val="accent4"/>
                </a:solidFill>
              </a:rPr>
              <a:t> %</a:t>
            </a:r>
            <a:endParaRPr lang="en-US" sz="3400" dirty="0"/>
          </a:p>
        </p:txBody>
      </p:sp>
      <p:sp>
        <p:nvSpPr>
          <p:cNvPr id="18" name="Text 15"/>
          <p:cNvSpPr txBox="1"/>
          <p:nvPr/>
        </p:nvSpPr>
        <p:spPr>
          <a:xfrm>
            <a:off x="6748272" y="5138928"/>
            <a:ext cx="2011680" cy="640080"/>
          </a:xfrm>
          <a:prstGeom prst="rect">
            <a:avLst/>
          </a:prstGeom>
          <a:noFill/>
          <a:ln/>
        </p:spPr>
        <p:txBody>
          <a:bodyPr wrap="square" lIns="0" tIns="0" rIns="0" bIns="0" rtlCol="0" anchor="t"/>
          <a:lstStyle/>
          <a:p>
            <a:pPr indent="0" marL="0">
              <a:buNone/>
            </a:pPr>
            <a:r>
              <a:rPr lang="en-US" sz="1050" dirty="0">
                <a:solidFill>
                  <a:schemeClr val="accent4"/>
                </a:solidFill>
              </a:rPr>
              <a:t>공공기관 처리는 10%</a:t>
            </a:r>
            <a:endParaRPr lang="en-US" sz="1050" dirty="0"/>
          </a:p>
        </p:txBody>
      </p:sp>
      <p:sp>
        <p:nvSpPr>
          <p:cNvPr id="19" name="stat 처리 단가 (전남, 약)"/>
          <p:cNvSpPr/>
          <p:nvPr/>
        </p:nvSpPr>
        <p:spPr>
          <a:xfrm>
            <a:off x="9171432" y="3931920"/>
            <a:ext cx="246888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0" name="Text 17"/>
          <p:cNvSpPr txBox="1"/>
          <p:nvPr/>
        </p:nvSpPr>
        <p:spPr>
          <a:xfrm>
            <a:off x="9427464" y="4133088"/>
            <a:ext cx="2011680" cy="310896"/>
          </a:xfrm>
          <a:prstGeom prst="rect">
            <a:avLst/>
          </a:prstGeom>
          <a:noFill/>
          <a:ln/>
        </p:spPr>
        <p:txBody>
          <a:bodyPr wrap="square" lIns="0" tIns="0" rIns="0" bIns="0" rtlCol="0" anchor="ctr"/>
          <a:lstStyle/>
          <a:p>
            <a:pPr indent="0" marL="0">
              <a:buNone/>
            </a:pPr>
            <a:r>
              <a:rPr lang="en-US" sz="1100" dirty="0">
                <a:solidFill>
                  <a:schemeClr val="accent4"/>
                </a:solidFill>
              </a:rPr>
              <a:t>처리 단가 (전남, 약)</a:t>
            </a:r>
            <a:endParaRPr lang="en-US" sz="1100" dirty="0"/>
          </a:p>
        </p:txBody>
      </p:sp>
      <p:sp>
        <p:nvSpPr>
          <p:cNvPr id="21" name="Text 18"/>
          <p:cNvSpPr txBox="1"/>
          <p:nvPr/>
        </p:nvSpPr>
        <p:spPr>
          <a:xfrm>
            <a:off x="9427464" y="4434840"/>
            <a:ext cx="2011680" cy="685800"/>
          </a:xfrm>
          <a:prstGeom prst="rect">
            <a:avLst/>
          </a:prstGeom>
          <a:noFill/>
          <a:ln/>
        </p:spPr>
        <p:txBody>
          <a:bodyPr wrap="square" lIns="0" tIns="0" rIns="0" bIns="0" rtlCol="0" anchor="ctr"/>
          <a:lstStyle/>
          <a:p>
            <a:pPr indent="0" marL="0">
              <a:buNone/>
            </a:pPr>
            <a:r>
              <a:rPr lang="en-US" sz="3000" b="1" dirty="0">
                <a:solidFill>
                  <a:schemeClr val="tx2"/>
                </a:solidFill>
              </a:rPr>
              <a:t>50만</a:t>
            </a:r>
            <a:pPr indent="0" marL="0">
              <a:buNone/>
            </a:pPr>
            <a:r>
              <a:rPr lang="en-US" sz="1300" b="1" dirty="0">
                <a:solidFill>
                  <a:schemeClr val="accent4"/>
                </a:solidFill>
              </a:rPr>
              <a:t> 원/t</a:t>
            </a:r>
            <a:endParaRPr lang="en-US" sz="3000" dirty="0"/>
          </a:p>
        </p:txBody>
      </p:sp>
      <p:sp>
        <p:nvSpPr>
          <p:cNvPr id="22" name="Text 19"/>
          <p:cNvSpPr txBox="1"/>
          <p:nvPr/>
        </p:nvSpPr>
        <p:spPr>
          <a:xfrm>
            <a:off x="9427464" y="5138928"/>
            <a:ext cx="2011680" cy="640080"/>
          </a:xfrm>
          <a:prstGeom prst="rect">
            <a:avLst/>
          </a:prstGeom>
          <a:noFill/>
          <a:ln/>
        </p:spPr>
        <p:txBody>
          <a:bodyPr wrap="square" lIns="0" tIns="0" rIns="0" bIns="0" rtlCol="0" anchor="t"/>
          <a:lstStyle/>
          <a:p>
            <a:pPr indent="0" marL="0">
              <a:buNone/>
            </a:pPr>
            <a:r>
              <a:rPr lang="en-US" sz="1050" dirty="0">
                <a:solidFill>
                  <a:schemeClr val="accent4"/>
                </a:solidFill>
              </a:rPr>
              <a:t>100 t 오차 = 5천만 원</a:t>
            </a:r>
            <a:endParaRPr lang="en-US" sz="1050" dirty="0"/>
          </a:p>
        </p:txBody>
      </p:sp>
      <p:sp>
        <p:nvSpPr>
          <p:cNvPr id="23"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출처: 유형별 수거량 해양수산부(2026.09) · 지자체 수거예산·국비 분담·처리 비중 에너지데일리(국회 자료, 2017~2022) · 처리 단가 한국일보(2018·2019, 전남 톤당 50만 원)</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bg1"/>
                </a:solidFill>
              </a:rPr>
              <a:t>한 번의 폭우가 1,180 t을 보낸다: 경남, 2026년 8월</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5"/>
                </a:solidFill>
              </a:rPr>
              <a:t>광복절 연휴 폭우로 경남 연안에 1,180 t이 유입됐고 거제·통영이 80%를 차지했습니다. 유입량 추정은 육안과 경험에 기대고, 그 추정이 장비·인력·마대를 정합니다.</a:t>
            </a:r>
            <a:endParaRPr lang="en-US" sz="1400" dirty="0"/>
          </a:p>
        </p:txBody>
      </p:sp>
      <p:sp>
        <p:nvSpPr>
          <p:cNvPr id="4" name="stat 유입량 추정 (경남 연안)"/>
          <p:cNvSpPr/>
          <p:nvPr/>
        </p:nvSpPr>
        <p:spPr>
          <a:xfrm>
            <a:off x="548640" y="1828800"/>
            <a:ext cx="2651760" cy="1828800"/>
          </a:xfrm>
          <a:prstGeom prst="roundRect">
            <a:avLst>
              <a:gd name="adj" fmla="val 6000"/>
            </a:avLst>
          </a:prstGeom>
          <a:solidFill>
            <a:srgbClr val="124A6E"/>
          </a:solidFill>
          <a:ln w="12700">
            <a:solidFill>
              <a:srgbClr val="124A6E"/>
            </a:solidFill>
            <a:prstDash val="solid"/>
          </a:ln>
        </p:spPr>
      </p:sp>
      <p:sp>
        <p:nvSpPr>
          <p:cNvPr id="5" name="Text 3"/>
          <p:cNvSpPr txBox="1"/>
          <p:nvPr/>
        </p:nvSpPr>
        <p:spPr>
          <a:xfrm>
            <a:off x="804672" y="2029968"/>
            <a:ext cx="2194560" cy="310896"/>
          </a:xfrm>
          <a:prstGeom prst="rect">
            <a:avLst/>
          </a:prstGeom>
          <a:noFill/>
          <a:ln/>
        </p:spPr>
        <p:txBody>
          <a:bodyPr wrap="square" lIns="0" tIns="0" rIns="0" bIns="0" rtlCol="0" anchor="ctr"/>
          <a:lstStyle/>
          <a:p>
            <a:pPr indent="0" marL="0">
              <a:buNone/>
            </a:pPr>
            <a:r>
              <a:rPr lang="en-US" sz="1100" dirty="0">
                <a:solidFill>
                  <a:schemeClr val="accent5"/>
                </a:solidFill>
              </a:rPr>
              <a:t>유입량 추정 (경남 연안)</a:t>
            </a:r>
            <a:endParaRPr lang="en-US" sz="1100" dirty="0"/>
          </a:p>
        </p:txBody>
      </p:sp>
      <p:sp>
        <p:nvSpPr>
          <p:cNvPr id="6" name="Text 4"/>
          <p:cNvSpPr txBox="1"/>
          <p:nvPr/>
        </p:nvSpPr>
        <p:spPr>
          <a:xfrm>
            <a:off x="804672" y="2331720"/>
            <a:ext cx="2194560" cy="685800"/>
          </a:xfrm>
          <a:prstGeom prst="rect">
            <a:avLst/>
          </a:prstGeom>
          <a:noFill/>
          <a:ln/>
        </p:spPr>
        <p:txBody>
          <a:bodyPr wrap="square" lIns="0" tIns="0" rIns="0" bIns="0" rtlCol="0" anchor="ctr"/>
          <a:lstStyle/>
          <a:p>
            <a:pPr indent="0" marL="0">
              <a:buNone/>
            </a:pPr>
            <a:r>
              <a:rPr lang="en-US" sz="3400" b="1" dirty="0">
                <a:solidFill>
                  <a:schemeClr val="bg1"/>
                </a:solidFill>
              </a:rPr>
              <a:t>1,180</a:t>
            </a:r>
            <a:pPr indent="0" marL="0">
              <a:buNone/>
            </a:pPr>
            <a:r>
              <a:rPr lang="en-US" sz="1300" b="1" dirty="0">
                <a:solidFill>
                  <a:schemeClr val="accent5"/>
                </a:solidFill>
              </a:rPr>
              <a:t> t</a:t>
            </a:r>
            <a:endParaRPr lang="en-US" sz="3400" dirty="0"/>
          </a:p>
        </p:txBody>
      </p:sp>
      <p:sp>
        <p:nvSpPr>
          <p:cNvPr id="7" name="Text 5"/>
          <p:cNvSpPr txBox="1"/>
          <p:nvPr/>
        </p:nvSpPr>
        <p:spPr>
          <a:xfrm>
            <a:off x="804672" y="3035808"/>
            <a:ext cx="2194560" cy="502920"/>
          </a:xfrm>
          <a:prstGeom prst="rect">
            <a:avLst/>
          </a:prstGeom>
          <a:noFill/>
          <a:ln/>
        </p:spPr>
        <p:txBody>
          <a:bodyPr wrap="square" lIns="0" tIns="0" rIns="0" bIns="0" rtlCol="0" anchor="t"/>
          <a:lstStyle/>
          <a:p>
            <a:pPr indent="0" marL="0">
              <a:buNone/>
            </a:pPr>
            <a:r>
              <a:rPr lang="en-US" sz="1050" dirty="0">
                <a:solidFill>
                  <a:schemeClr val="accent5"/>
                </a:solidFill>
              </a:rPr>
              <a:t>육안·경험 기반 집계</a:t>
            </a:r>
            <a:endParaRPr lang="en-US" sz="1050" dirty="0"/>
          </a:p>
        </p:txBody>
      </p:sp>
      <p:sp>
        <p:nvSpPr>
          <p:cNvPr id="8" name="stat 거제 (통영 190 t)"/>
          <p:cNvSpPr/>
          <p:nvPr/>
        </p:nvSpPr>
        <p:spPr>
          <a:xfrm>
            <a:off x="3383280" y="1828800"/>
            <a:ext cx="2651760" cy="1828800"/>
          </a:xfrm>
          <a:prstGeom prst="roundRect">
            <a:avLst>
              <a:gd name="adj" fmla="val 6000"/>
            </a:avLst>
          </a:prstGeom>
          <a:solidFill>
            <a:srgbClr val="124A6E"/>
          </a:solidFill>
          <a:ln w="12700">
            <a:solidFill>
              <a:srgbClr val="124A6E"/>
            </a:solidFill>
            <a:prstDash val="solid"/>
          </a:ln>
        </p:spPr>
      </p:sp>
      <p:sp>
        <p:nvSpPr>
          <p:cNvPr id="9" name="Text 7"/>
          <p:cNvSpPr txBox="1"/>
          <p:nvPr/>
        </p:nvSpPr>
        <p:spPr>
          <a:xfrm>
            <a:off x="3639312" y="2029968"/>
            <a:ext cx="2194560" cy="310896"/>
          </a:xfrm>
          <a:prstGeom prst="rect">
            <a:avLst/>
          </a:prstGeom>
          <a:noFill/>
          <a:ln/>
        </p:spPr>
        <p:txBody>
          <a:bodyPr wrap="square" lIns="0" tIns="0" rIns="0" bIns="0" rtlCol="0" anchor="ctr"/>
          <a:lstStyle/>
          <a:p>
            <a:pPr indent="0" marL="0">
              <a:buNone/>
            </a:pPr>
            <a:r>
              <a:rPr lang="en-US" sz="1100" dirty="0">
                <a:solidFill>
                  <a:schemeClr val="accent5"/>
                </a:solidFill>
              </a:rPr>
              <a:t>거제 (통영 190 t)</a:t>
            </a:r>
            <a:endParaRPr lang="en-US" sz="1100" dirty="0"/>
          </a:p>
        </p:txBody>
      </p:sp>
      <p:sp>
        <p:nvSpPr>
          <p:cNvPr id="10" name="Text 8"/>
          <p:cNvSpPr txBox="1"/>
          <p:nvPr/>
        </p:nvSpPr>
        <p:spPr>
          <a:xfrm>
            <a:off x="3639312" y="2331720"/>
            <a:ext cx="2194560" cy="685800"/>
          </a:xfrm>
          <a:prstGeom prst="rect">
            <a:avLst/>
          </a:prstGeom>
          <a:noFill/>
          <a:ln/>
        </p:spPr>
        <p:txBody>
          <a:bodyPr wrap="square" lIns="0" tIns="0" rIns="0" bIns="0" rtlCol="0" anchor="ctr"/>
          <a:lstStyle/>
          <a:p>
            <a:pPr indent="0" marL="0">
              <a:buNone/>
            </a:pPr>
            <a:r>
              <a:rPr lang="en-US" sz="3400" b="1" dirty="0">
                <a:solidFill>
                  <a:schemeClr val="accent2"/>
                </a:solidFill>
              </a:rPr>
              <a:t>757</a:t>
            </a:r>
            <a:pPr indent="0" marL="0">
              <a:buNone/>
            </a:pPr>
            <a:r>
              <a:rPr lang="en-US" sz="1300" b="1" dirty="0">
                <a:solidFill>
                  <a:schemeClr val="accent5"/>
                </a:solidFill>
              </a:rPr>
              <a:t> t</a:t>
            </a:r>
            <a:endParaRPr lang="en-US" sz="3400" dirty="0"/>
          </a:p>
        </p:txBody>
      </p:sp>
      <p:sp>
        <p:nvSpPr>
          <p:cNvPr id="11" name="Text 9"/>
          <p:cNvSpPr txBox="1"/>
          <p:nvPr/>
        </p:nvSpPr>
        <p:spPr>
          <a:xfrm>
            <a:off x="3639312" y="3035808"/>
            <a:ext cx="2194560" cy="502920"/>
          </a:xfrm>
          <a:prstGeom prst="rect">
            <a:avLst/>
          </a:prstGeom>
          <a:noFill/>
          <a:ln/>
        </p:spPr>
        <p:txBody>
          <a:bodyPr wrap="square" lIns="0" tIns="0" rIns="0" bIns="0" rtlCol="0" anchor="t"/>
          <a:lstStyle/>
          <a:p>
            <a:pPr indent="0" marL="0">
              <a:buNone/>
            </a:pPr>
            <a:r>
              <a:rPr lang="en-US" sz="1050" dirty="0">
                <a:solidFill>
                  <a:schemeClr val="accent5"/>
                </a:solidFill>
              </a:rPr>
              <a:t>두 시군이 전체의 80%</a:t>
            </a:r>
            <a:endParaRPr lang="en-US" sz="1050" dirty="0"/>
          </a:p>
        </p:txBody>
      </p:sp>
      <p:sp>
        <p:nvSpPr>
          <p:cNvPr id="12" name="stat 96% 수거까지 걸린 시간"/>
          <p:cNvSpPr/>
          <p:nvPr/>
        </p:nvSpPr>
        <p:spPr>
          <a:xfrm>
            <a:off x="6217920" y="1828800"/>
            <a:ext cx="2651760" cy="1828800"/>
          </a:xfrm>
          <a:prstGeom prst="roundRect">
            <a:avLst>
              <a:gd name="adj" fmla="val 6000"/>
            </a:avLst>
          </a:prstGeom>
          <a:solidFill>
            <a:srgbClr val="124A6E"/>
          </a:solidFill>
          <a:ln w="12700">
            <a:solidFill>
              <a:srgbClr val="124A6E"/>
            </a:solidFill>
            <a:prstDash val="solid"/>
          </a:ln>
        </p:spPr>
      </p:sp>
      <p:sp>
        <p:nvSpPr>
          <p:cNvPr id="13" name="Text 11"/>
          <p:cNvSpPr txBox="1"/>
          <p:nvPr/>
        </p:nvSpPr>
        <p:spPr>
          <a:xfrm>
            <a:off x="6473952" y="2029968"/>
            <a:ext cx="2194560" cy="310896"/>
          </a:xfrm>
          <a:prstGeom prst="rect">
            <a:avLst/>
          </a:prstGeom>
          <a:noFill/>
          <a:ln/>
        </p:spPr>
        <p:txBody>
          <a:bodyPr wrap="square" lIns="0" tIns="0" rIns="0" bIns="0" rtlCol="0" anchor="ctr"/>
          <a:lstStyle/>
          <a:p>
            <a:pPr indent="0" marL="0">
              <a:buNone/>
            </a:pPr>
            <a:r>
              <a:rPr lang="en-US" sz="1100" dirty="0">
                <a:solidFill>
                  <a:schemeClr val="accent5"/>
                </a:solidFill>
              </a:rPr>
              <a:t>96% 수거까지 걸린 시간</a:t>
            </a:r>
            <a:endParaRPr lang="en-US" sz="1100" dirty="0"/>
          </a:p>
        </p:txBody>
      </p:sp>
      <p:sp>
        <p:nvSpPr>
          <p:cNvPr id="14" name="Text 12"/>
          <p:cNvSpPr txBox="1"/>
          <p:nvPr/>
        </p:nvSpPr>
        <p:spPr>
          <a:xfrm>
            <a:off x="6473952" y="2331720"/>
            <a:ext cx="2194560" cy="685800"/>
          </a:xfrm>
          <a:prstGeom prst="rect">
            <a:avLst/>
          </a:prstGeom>
          <a:noFill/>
          <a:ln/>
        </p:spPr>
        <p:txBody>
          <a:bodyPr wrap="square" lIns="0" tIns="0" rIns="0" bIns="0" rtlCol="0" anchor="ctr"/>
          <a:lstStyle/>
          <a:p>
            <a:pPr indent="0" marL="0">
              <a:buNone/>
            </a:pPr>
            <a:r>
              <a:rPr lang="en-US" sz="3400" b="1" dirty="0">
                <a:solidFill>
                  <a:schemeClr val="bg1"/>
                </a:solidFill>
              </a:rPr>
              <a:t>3주</a:t>
            </a:r>
            <a:pPr indent="0" marL="0">
              <a:buNone/>
            </a:pPr>
            <a:endParaRPr lang="en-US" sz="3400" dirty="0"/>
          </a:p>
        </p:txBody>
      </p:sp>
      <p:sp>
        <p:nvSpPr>
          <p:cNvPr id="15" name="Text 13"/>
          <p:cNvSpPr txBox="1"/>
          <p:nvPr/>
        </p:nvSpPr>
        <p:spPr>
          <a:xfrm>
            <a:off x="6473952" y="3035808"/>
            <a:ext cx="2194560" cy="502920"/>
          </a:xfrm>
          <a:prstGeom prst="rect">
            <a:avLst/>
          </a:prstGeom>
          <a:noFill/>
          <a:ln/>
        </p:spPr>
        <p:txBody>
          <a:bodyPr wrap="square" lIns="0" tIns="0" rIns="0" bIns="0" rtlCol="0" anchor="t"/>
          <a:lstStyle/>
          <a:p>
            <a:pPr indent="0" marL="0">
              <a:buNone/>
            </a:pPr>
            <a:r>
              <a:rPr lang="en-US" sz="1050" dirty="0">
                <a:solidFill>
                  <a:schemeClr val="accent5"/>
                </a:solidFill>
              </a:rPr>
              <a:t>장비·인력 상시 투입</a:t>
            </a:r>
            <a:endParaRPr lang="en-US" sz="1050" dirty="0"/>
          </a:p>
        </p:txBody>
      </p:sp>
      <p:sp>
        <p:nvSpPr>
          <p:cNvPr id="16" name="stat 2011년 거제 관광수입 손실"/>
          <p:cNvSpPr/>
          <p:nvPr/>
        </p:nvSpPr>
        <p:spPr>
          <a:xfrm>
            <a:off x="9052560" y="1828800"/>
            <a:ext cx="2587752" cy="1828800"/>
          </a:xfrm>
          <a:prstGeom prst="roundRect">
            <a:avLst>
              <a:gd name="adj" fmla="val 6000"/>
            </a:avLst>
          </a:prstGeom>
          <a:solidFill>
            <a:srgbClr val="124A6E"/>
          </a:solidFill>
          <a:ln w="12700">
            <a:solidFill>
              <a:srgbClr val="124A6E"/>
            </a:solidFill>
            <a:prstDash val="solid"/>
          </a:ln>
        </p:spPr>
      </p:sp>
      <p:sp>
        <p:nvSpPr>
          <p:cNvPr id="17" name="Text 15"/>
          <p:cNvSpPr txBox="1"/>
          <p:nvPr/>
        </p:nvSpPr>
        <p:spPr>
          <a:xfrm>
            <a:off x="9308592" y="2029968"/>
            <a:ext cx="2130552" cy="310896"/>
          </a:xfrm>
          <a:prstGeom prst="rect">
            <a:avLst/>
          </a:prstGeom>
          <a:noFill/>
          <a:ln/>
        </p:spPr>
        <p:txBody>
          <a:bodyPr wrap="square" lIns="0" tIns="0" rIns="0" bIns="0" rtlCol="0" anchor="ctr"/>
          <a:lstStyle/>
          <a:p>
            <a:pPr indent="0" marL="0">
              <a:buNone/>
            </a:pPr>
            <a:r>
              <a:rPr lang="en-US" sz="1100" dirty="0">
                <a:solidFill>
                  <a:schemeClr val="accent5"/>
                </a:solidFill>
              </a:rPr>
              <a:t>2011년 거제 관광수입 손실</a:t>
            </a:r>
            <a:endParaRPr lang="en-US" sz="1100" dirty="0"/>
          </a:p>
        </p:txBody>
      </p:sp>
      <p:sp>
        <p:nvSpPr>
          <p:cNvPr id="18" name="Text 16"/>
          <p:cNvSpPr txBox="1"/>
          <p:nvPr/>
        </p:nvSpPr>
        <p:spPr>
          <a:xfrm>
            <a:off x="9308592" y="2331720"/>
            <a:ext cx="2130552" cy="685800"/>
          </a:xfrm>
          <a:prstGeom prst="rect">
            <a:avLst/>
          </a:prstGeom>
          <a:noFill/>
          <a:ln/>
        </p:spPr>
        <p:txBody>
          <a:bodyPr wrap="square" lIns="0" tIns="0" rIns="0" bIns="0" rtlCol="0" anchor="ctr"/>
          <a:lstStyle/>
          <a:p>
            <a:pPr indent="0" marL="0">
              <a:buNone/>
            </a:pPr>
            <a:r>
              <a:rPr lang="en-US" sz="2800" b="1" dirty="0">
                <a:solidFill>
                  <a:schemeClr val="bg1"/>
                </a:solidFill>
              </a:rPr>
              <a:t>$29~37M</a:t>
            </a:r>
            <a:pPr indent="0" marL="0">
              <a:buNone/>
            </a:pPr>
            <a:endParaRPr lang="en-US" sz="2800" dirty="0"/>
          </a:p>
        </p:txBody>
      </p:sp>
      <p:sp>
        <p:nvSpPr>
          <p:cNvPr id="19" name="Text 17"/>
          <p:cNvSpPr txBox="1"/>
          <p:nvPr/>
        </p:nvSpPr>
        <p:spPr>
          <a:xfrm>
            <a:off x="9308592" y="3035808"/>
            <a:ext cx="2130552" cy="502920"/>
          </a:xfrm>
          <a:prstGeom prst="rect">
            <a:avLst/>
          </a:prstGeom>
          <a:noFill/>
          <a:ln/>
        </p:spPr>
        <p:txBody>
          <a:bodyPr wrap="square" lIns="0" tIns="0" rIns="0" bIns="0" rtlCol="0" anchor="t"/>
          <a:lstStyle/>
          <a:p>
            <a:pPr indent="0" marL="0">
              <a:buNone/>
            </a:pPr>
            <a:r>
              <a:rPr lang="en-US" sz="1050" dirty="0">
                <a:solidFill>
                  <a:schemeClr val="accent5"/>
                </a:solidFill>
              </a:rPr>
              <a:t>낙동강 유입 쓰레기, Jang et al. 2014</a:t>
            </a:r>
            <a:endParaRPr lang="en-US" sz="1050" dirty="0"/>
          </a:p>
        </p:txBody>
      </p:sp>
      <p:sp>
        <p:nvSpPr>
          <p:cNvPr id="20" name="insight card"/>
          <p:cNvSpPr/>
          <p:nvPr/>
        </p:nvSpPr>
        <p:spPr>
          <a:xfrm>
            <a:off x="548640" y="3886200"/>
            <a:ext cx="11091672" cy="1920240"/>
          </a:xfrm>
          <a:prstGeom prst="roundRect">
            <a:avLst>
              <a:gd name="adj" fmla="val 5714"/>
            </a:avLst>
          </a:prstGeom>
          <a:solidFill>
            <a:srgbClr val="124A6E"/>
          </a:solidFill>
          <a:ln w="12700">
            <a:solidFill>
              <a:srgbClr val="124A6E"/>
            </a:solidFill>
            <a:prstDash val="solid"/>
          </a:ln>
        </p:spPr>
      </p:sp>
      <p:sp>
        <p:nvSpPr>
          <p:cNvPr id="21" name="icon circle"/>
          <p:cNvSpPr/>
          <p:nvPr/>
        </p:nvSpPr>
        <p:spPr>
          <a:xfrm>
            <a:off x="868680" y="4206240"/>
            <a:ext cx="640080" cy="640080"/>
          </a:xfrm>
          <a:prstGeom prst="ellipse">
            <a:avLst/>
          </a:prstGeom>
          <a:solidFill>
            <a:srgbClr val="F26B21"/>
          </a:solidFill>
          <a:ln w="12700">
            <a:solidFill>
              <a:srgbClr val="F26B21"/>
            </a:solidFill>
            <a:prstDash val="solid"/>
          </a:ln>
        </p:spPr>
      </p:sp>
      <p:pic>
        <p:nvPicPr>
          <p:cNvPr id="22" name="icon truck" descr="preencoded.png">    </p:cNvPr>
          <p:cNvPicPr>
            <a:picLocks noChangeAspect="1"/>
          </p:cNvPicPr>
          <p:nvPr/>
        </p:nvPicPr>
        <p:blipFill>
          <a:blip r:embed="rId1"/>
          <a:stretch>
            <a:fillRect/>
          </a:stretch>
        </p:blipFill>
        <p:spPr>
          <a:xfrm>
            <a:off x="1024128" y="4361688"/>
            <a:ext cx="329184" cy="329184"/>
          </a:xfrm>
          <a:prstGeom prst="rect">
            <a:avLst/>
          </a:prstGeom>
        </p:spPr>
      </p:pic>
      <p:sp>
        <p:nvSpPr>
          <p:cNvPr id="23" name="Text 20"/>
          <p:cNvSpPr txBox="1"/>
          <p:nvPr/>
        </p:nvSpPr>
        <p:spPr>
          <a:xfrm>
            <a:off x="1783080" y="4160520"/>
            <a:ext cx="9601200" cy="411480"/>
          </a:xfrm>
          <a:prstGeom prst="rect">
            <a:avLst/>
          </a:prstGeom>
          <a:noFill/>
          <a:ln/>
        </p:spPr>
        <p:txBody>
          <a:bodyPr wrap="square" lIns="0" tIns="0" rIns="0" bIns="0" rtlCol="0" anchor="ctr"/>
          <a:lstStyle/>
          <a:p>
            <a:pPr indent="0" marL="0">
              <a:buNone/>
            </a:pPr>
            <a:r>
              <a:rPr lang="en-US" sz="1600" b="1" dirty="0">
                <a:solidFill>
                  <a:schemeClr val="bg1"/>
                </a:solidFill>
              </a:rPr>
              <a:t>남는 트럭과 모자라는 트럭이 동시에 생긴다</a:t>
            </a:r>
            <a:endParaRPr lang="en-US" sz="1600" dirty="0"/>
          </a:p>
        </p:txBody>
      </p:sp>
      <p:sp>
        <p:nvSpPr>
          <p:cNvPr id="24" name="Text 21"/>
          <p:cNvSpPr txBox="1"/>
          <p:nvPr/>
        </p:nvSpPr>
        <p:spPr>
          <a:xfrm>
            <a:off x="1783080" y="4617720"/>
            <a:ext cx="9601200" cy="1097280"/>
          </a:xfrm>
          <a:prstGeom prst="rect">
            <a:avLst/>
          </a:prstGeom>
          <a:noFill/>
          <a:ln/>
        </p:spPr>
        <p:txBody>
          <a:bodyPr wrap="square" lIns="0" tIns="0" rIns="0" bIns="0" rtlCol="0" anchor="t"/>
          <a:lstStyle/>
          <a:p>
            <a:pPr indent="0" marL="0">
              <a:buNone/>
            </a:pPr>
            <a:r>
              <a:rPr lang="en-US" sz="1250" dirty="0">
                <a:solidFill>
                  <a:schemeClr val="accent5"/>
                </a:solidFill>
              </a:rPr>
              <a:t>무게가 틀리면 마대·트럭 수가 틀리고, 위치가 틀리면 동선·인원이 틀립니다. 유입 직후 며칠 안에 '어디에 얼마나'를 재서 배차하면 장비 대기 일수와 처리비가 줄어듭니다. 거제는 2011년에도 같은 일을 겪었고, 작은 지자체일수록 수거 전에 재는 것이 예산 그 자체입니다.</a:t>
            </a:r>
            <a:endParaRPr lang="en-US" sz="1250" dirty="0"/>
          </a:p>
        </p:txBody>
      </p:sp>
      <p:sp>
        <p:nvSpPr>
          <p:cNvPr id="25"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5"/>
                </a:solidFill>
              </a:rPr>
              <a:t>출처: 서울신문 2026.09.09 「광복절 연휴 폭우 해양쓰레기, 경남 연안 96% 수거」(1,180 t 유입, 거제 757 t·통영 190 t) · Jang, Hong, Lee, Lee &amp; Shim (2014) Marine Pollution Bulletin 81:49–54</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ctr"/>
          <a:lstStyle/>
          <a:p>
            <a:pPr indent="0" marL="0">
              <a:buNone/>
            </a:pPr>
            <a:r>
              <a:rPr lang="en-US" sz="6000" b="1" dirty="0">
                <a:solidFill>
                  <a:schemeClr val="accent2"/>
                </a:solidFill>
              </a:rPr>
              <a:t>02</a:t>
            </a:r>
            <a:endParaRPr lang="en-US" sz="6000" dirty="0"/>
          </a:p>
        </p:txBody>
      </p:sp>
      <p:sp>
        <p:nvSpPr>
          <p:cNvPr id="3" name="Text 0"/>
          <p:cNvSpPr/>
          <p:nvPr>
            <p:ph idx="100" type="title" hasCustomPrompt="1"/>
          </p:nvPr>
        </p:nvSpPr>
        <p:spPr>
          <a:xfrm>
            <a:off x="731520" y="2743200"/>
            <a:ext cx="10515600" cy="1188720"/>
          </a:xfrm>
          <a:prstGeom prst="rect">
            <a:avLst/>
          </a:prstGeom>
          <a:noFill/>
          <a:ln/>
        </p:spPr>
        <p:txBody>
          <a:bodyPr wrap="square" lIns="0" tIns="0" rIns="0" bIns="0" rtlCol="0" anchor="b"/>
          <a:lstStyle/>
          <a:p>
            <a:pPr algn="l" indent="0" marL="0">
              <a:buNone/>
            </a:pPr>
            <a:r>
              <a:rPr lang="en-US" sz="4000" b="1" dirty="0">
                <a:solidFill>
                  <a:schemeClr val="bg1"/>
                </a:solidFill>
              </a:rPr>
              <a:t>우리가 받은 과제와 과정</a:t>
            </a:r>
            <a:endParaRPr lang="en-US" sz="4000" dirty="0"/>
          </a:p>
        </p:txBody>
      </p:sp>
      <p:sp>
        <p:nvSpPr>
          <p:cNvPr id="4" name="Text 0"/>
          <p:cNvSpPr/>
          <p:nvPr>
            <p:ph idx="101" type="body" hasCustomPrompt="1"/>
          </p:nvPr>
        </p:nvSpPr>
        <p:spPr>
          <a:xfrm>
            <a:off x="731520" y="4023360"/>
            <a:ext cx="10058400" cy="1097280"/>
          </a:xfrm>
          <a:prstGeom prst="rect">
            <a:avLst/>
          </a:prstGeom>
          <a:noFill/>
          <a:ln/>
        </p:spPr>
        <p:txBody>
          <a:bodyPr wrap="square" lIns="0" tIns="0" rIns="0" bIns="0" rtlCol="0" anchor="t"/>
          <a:lstStyle/>
          <a:p>
            <a:pPr algn="l" indent="0" marL="0">
              <a:buNone/>
            </a:pPr>
            <a:r>
              <a:rPr lang="en-US" sz="1600" dirty="0">
                <a:solidFill>
                  <a:schemeClr val="accent5"/>
                </a:solidFill>
              </a:rPr>
              <a:t>위성-드론 정합이라는 과제로 시작해, 업체의 두 마디로 주제가 바뀌었고, 이틀 동안 세 번 날렸습니다.</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받은 과제와 바뀐 주제</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처음 과제는 위성·드론 영상 정합과 변화탐지였습니다. 업체가 현장에서 겪는 문제 두 가지를 듣고, 정합을 '위치 엔진'으로 재활용하는 쪽으로 주제를 바꿨습니다.</a:t>
            </a:r>
            <a:endParaRPr lang="en-US" sz="1400" dirty="0"/>
          </a:p>
        </p:txBody>
      </p:sp>
      <p:sp>
        <p:nvSpPr>
          <p:cNvPr id="4" name="stage 처음 받은 과제"/>
          <p:cNvSpPr/>
          <p:nvPr/>
        </p:nvSpPr>
        <p:spPr>
          <a:xfrm>
            <a:off x="548640" y="1783080"/>
            <a:ext cx="3566160" cy="406908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icon circle"/>
          <p:cNvSpPr/>
          <p:nvPr/>
        </p:nvSpPr>
        <p:spPr>
          <a:xfrm>
            <a:off x="822960" y="2057400"/>
            <a:ext cx="566928" cy="566928"/>
          </a:xfrm>
          <a:prstGeom prst="ellipse">
            <a:avLst/>
          </a:prstGeom>
          <a:solidFill>
            <a:srgbClr val="0B3C5D"/>
          </a:solidFill>
          <a:ln w="12700">
            <a:solidFill>
              <a:srgbClr val="0B3C5D"/>
            </a:solidFill>
            <a:prstDash val="solid"/>
          </a:ln>
        </p:spPr>
      </p:sp>
      <p:pic>
        <p:nvPicPr>
          <p:cNvPr id="6" name="icon FaSatellite"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txBox="1"/>
          <p:nvPr/>
        </p:nvSpPr>
        <p:spPr>
          <a:xfrm>
            <a:off x="1508760" y="2103120"/>
            <a:ext cx="2377440" cy="457200"/>
          </a:xfrm>
          <a:prstGeom prst="rect">
            <a:avLst/>
          </a:prstGeom>
          <a:noFill/>
          <a:ln/>
        </p:spPr>
        <p:txBody>
          <a:bodyPr wrap="square" lIns="0" tIns="0" rIns="0" bIns="0" rtlCol="0" anchor="ctr"/>
          <a:lstStyle/>
          <a:p>
            <a:pPr indent="0" marL="0">
              <a:buNone/>
            </a:pPr>
            <a:r>
              <a:rPr lang="en-US" sz="1100" dirty="0">
                <a:solidFill>
                  <a:schemeClr val="accent4"/>
                </a:solidFill>
              </a:rPr>
              <a:t>처음 받은 과제</a:t>
            </a:r>
            <a:endParaRPr lang="en-US" sz="1100" dirty="0"/>
          </a:p>
        </p:txBody>
      </p:sp>
      <p:sp>
        <p:nvSpPr>
          <p:cNvPr id="8" name="Text 5"/>
          <p:cNvSpPr txBox="1"/>
          <p:nvPr/>
        </p:nvSpPr>
        <p:spPr>
          <a:xfrm>
            <a:off x="822960" y="2788920"/>
            <a:ext cx="3017520" cy="822960"/>
          </a:xfrm>
          <a:prstGeom prst="rect">
            <a:avLst/>
          </a:prstGeom>
          <a:noFill/>
          <a:ln/>
        </p:spPr>
        <p:txBody>
          <a:bodyPr wrap="square" lIns="0" tIns="0" rIns="0" bIns="0" rtlCol="0" anchor="t"/>
          <a:lstStyle/>
          <a:p>
            <a:pPr indent="0" marL="0">
              <a:buNone/>
            </a:pPr>
            <a:r>
              <a:rPr lang="en-US" sz="1400" b="1" dirty="0">
                <a:solidFill>
                  <a:schemeClr val="tx1"/>
                </a:solidFill>
              </a:rPr>
              <a:t>위성-드론 영상 정합과 변화탐지</a:t>
            </a:r>
            <a:endParaRPr lang="en-US" sz="1400" dirty="0"/>
          </a:p>
        </p:txBody>
      </p:sp>
      <p:sp>
        <p:nvSpPr>
          <p:cNvPr id="9" name="Text 6"/>
          <p:cNvSpPr txBox="1"/>
          <p:nvPr/>
        </p:nvSpPr>
        <p:spPr>
          <a:xfrm>
            <a:off x="822960" y="3703320"/>
            <a:ext cx="3017520" cy="2011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LoFTR·LightGlue 정합, Sentinel-2·SkySat</a:t>
            </a:r>
            <a:endParaRPr lang="en-US" sz="1100" dirty="0"/>
          </a:p>
          <a:p>
            <a:pPr marL="177800" indent="-177800">
              <a:spcAft>
                <a:spcPts val="600"/>
              </a:spcAft>
              <a:buSzPct val="100000"/>
              <a:buChar char="•"/>
            </a:pPr>
            <a:r>
              <a:rPr lang="en-US" sz="1100" dirty="0">
                <a:solidFill>
                  <a:schemeClr val="tx1"/>
                </a:solidFill>
              </a:rPr>
              <a:t>SkySat↔Sentinel-2 정합 인라이어 85%, 어긋남 5~8 m</a:t>
            </a:r>
            <a:endParaRPr lang="en-US" sz="1100" dirty="0"/>
          </a:p>
          <a:p>
            <a:pPr marL="177800" indent="-177800">
              <a:spcAft>
                <a:spcPts val="600"/>
              </a:spcAft>
              <a:buSzPct val="100000"/>
              <a:buChar char="•"/>
            </a:pPr>
            <a:r>
              <a:rPr lang="en-US" sz="1100" dirty="0">
                <a:solidFill>
                  <a:schemeClr val="tx1"/>
                </a:solidFill>
              </a:rPr>
              <a:t>변화탐지 파이프라인(07_change_detection)</a:t>
            </a:r>
            <a:endParaRPr lang="en-US" sz="1100" dirty="0"/>
          </a:p>
        </p:txBody>
      </p:sp>
      <p:sp>
        <p:nvSpPr>
          <p:cNvPr id="10" name="arrow"/>
          <p:cNvSpPr/>
          <p:nvPr/>
        </p:nvSpPr>
        <p:spPr>
          <a:xfrm>
            <a:off x="4133088" y="3611880"/>
            <a:ext cx="155448" cy="365760"/>
          </a:xfrm>
          <a:prstGeom prst="rightArrow">
            <a:avLst/>
          </a:prstGeom>
          <a:solidFill>
            <a:srgbClr val="F26B21"/>
          </a:solidFill>
          <a:ln w="12700">
            <a:solidFill>
              <a:srgbClr val="F26B21"/>
            </a:solidFill>
            <a:prstDash val="solid"/>
          </a:ln>
        </p:spPr>
      </p:sp>
      <p:sp>
        <p:nvSpPr>
          <p:cNvPr id="11" name="stage 업체가 말한 문제"/>
          <p:cNvSpPr/>
          <p:nvPr/>
        </p:nvSpPr>
        <p:spPr>
          <a:xfrm>
            <a:off x="4297680" y="1783080"/>
            <a:ext cx="3566160" cy="406908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2" name="icon circle"/>
          <p:cNvSpPr/>
          <p:nvPr/>
        </p:nvSpPr>
        <p:spPr>
          <a:xfrm>
            <a:off x="4572000" y="2057400"/>
            <a:ext cx="566928" cy="566928"/>
          </a:xfrm>
          <a:prstGeom prst="ellipse">
            <a:avLst/>
          </a:prstGeom>
          <a:solidFill>
            <a:srgbClr val="0B3C5D"/>
          </a:solidFill>
          <a:ln w="12700">
            <a:solidFill>
              <a:srgbClr val="0B3C5D"/>
            </a:solidFill>
            <a:prstDash val="solid"/>
          </a:ln>
        </p:spPr>
      </p:sp>
      <p:pic>
        <p:nvPicPr>
          <p:cNvPr id="13" name="icon FaComments" descr="preencoded.png">    </p:cNvPr>
          <p:cNvPicPr>
            <a:picLocks noChangeAspect="1"/>
          </p:cNvPicPr>
          <p:nvPr/>
        </p:nvPicPr>
        <p:blipFill>
          <a:blip r:embed="rId2"/>
          <a:stretch>
            <a:fillRect/>
          </a:stretch>
        </p:blipFill>
        <p:spPr>
          <a:xfrm>
            <a:off x="4709160" y="2194560"/>
            <a:ext cx="292608" cy="292608"/>
          </a:xfrm>
          <a:prstGeom prst="rect">
            <a:avLst/>
          </a:prstGeom>
        </p:spPr>
      </p:pic>
      <p:sp>
        <p:nvSpPr>
          <p:cNvPr id="14" name="Text 10"/>
          <p:cNvSpPr txBox="1"/>
          <p:nvPr/>
        </p:nvSpPr>
        <p:spPr>
          <a:xfrm>
            <a:off x="5257800" y="2103120"/>
            <a:ext cx="2377440" cy="457200"/>
          </a:xfrm>
          <a:prstGeom prst="rect">
            <a:avLst/>
          </a:prstGeom>
          <a:noFill/>
          <a:ln/>
        </p:spPr>
        <p:txBody>
          <a:bodyPr wrap="square" lIns="0" tIns="0" rIns="0" bIns="0" rtlCol="0" anchor="ctr"/>
          <a:lstStyle/>
          <a:p>
            <a:pPr indent="0" marL="0">
              <a:buNone/>
            </a:pPr>
            <a:r>
              <a:rPr lang="en-US" sz="1100" dirty="0">
                <a:solidFill>
                  <a:schemeClr val="accent4"/>
                </a:solidFill>
              </a:rPr>
              <a:t>업체가 말한 문제</a:t>
            </a:r>
            <a:endParaRPr lang="en-US" sz="1100" dirty="0"/>
          </a:p>
        </p:txBody>
      </p:sp>
      <p:sp>
        <p:nvSpPr>
          <p:cNvPr id="15" name="Text 11"/>
          <p:cNvSpPr txBox="1"/>
          <p:nvPr/>
        </p:nvSpPr>
        <p:spPr>
          <a:xfrm>
            <a:off x="4572000" y="2788920"/>
            <a:ext cx="3017520" cy="822960"/>
          </a:xfrm>
          <a:prstGeom prst="rect">
            <a:avLst/>
          </a:prstGeom>
          <a:noFill/>
          <a:ln/>
        </p:spPr>
        <p:txBody>
          <a:bodyPr wrap="square" lIns="0" tIns="0" rIns="0" bIns="0" rtlCol="0" anchor="t"/>
          <a:lstStyle/>
          <a:p>
            <a:pPr indent="0" marL="0">
              <a:buNone/>
            </a:pPr>
            <a:r>
              <a:rPr lang="en-US" sz="1400" b="1" dirty="0">
                <a:solidFill>
                  <a:schemeClr val="tx1"/>
                </a:solidFill>
              </a:rPr>
              <a:t>"위치가 50 m씩 어긋나고, 2D만 보고 가니 생각보다 크고 무겁다"</a:t>
            </a:r>
            <a:endParaRPr lang="en-US" sz="1400" dirty="0"/>
          </a:p>
        </p:txBody>
      </p:sp>
      <p:sp>
        <p:nvSpPr>
          <p:cNvPr id="16" name="Text 12"/>
          <p:cNvSpPr txBox="1"/>
          <p:nvPr/>
        </p:nvSpPr>
        <p:spPr>
          <a:xfrm>
            <a:off x="4572000" y="3703320"/>
            <a:ext cx="3017520" cy="2011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탐지 위치와 실제 위치가 50 m 차이</a:t>
            </a:r>
            <a:endParaRPr lang="en-US" sz="1100" dirty="0"/>
          </a:p>
          <a:p>
            <a:pPr marL="177800" indent="-177800">
              <a:spcAft>
                <a:spcPts val="600"/>
              </a:spcAft>
              <a:buSzPct val="100000"/>
              <a:buChar char="•"/>
            </a:pPr>
            <a:r>
              <a:rPr lang="en-US" sz="1100" dirty="0">
                <a:solidFill>
                  <a:schemeClr val="tx1"/>
                </a:solidFill>
              </a:rPr>
              <a:t>크기·무게를 몰라 트럭·마대가 틀림</a:t>
            </a:r>
            <a:endParaRPr lang="en-US" sz="1100" dirty="0"/>
          </a:p>
          <a:p>
            <a:pPr marL="177800" indent="-177800">
              <a:spcAft>
                <a:spcPts val="600"/>
              </a:spcAft>
              <a:buSzPct val="100000"/>
              <a:buChar char="•"/>
            </a:pPr>
            <a:r>
              <a:rPr lang="en-US" sz="1100" dirty="0">
                <a:solidFill>
                  <a:schemeClr val="tx1"/>
                </a:solidFill>
              </a:rPr>
              <a:t>업체 무게 기록은 면적 × 계수(실측 아님)</a:t>
            </a:r>
            <a:endParaRPr lang="en-US" sz="1100" dirty="0"/>
          </a:p>
        </p:txBody>
      </p:sp>
      <p:sp>
        <p:nvSpPr>
          <p:cNvPr id="17" name="arrow"/>
          <p:cNvSpPr/>
          <p:nvPr/>
        </p:nvSpPr>
        <p:spPr>
          <a:xfrm>
            <a:off x="7882128" y="3611880"/>
            <a:ext cx="155448" cy="365760"/>
          </a:xfrm>
          <a:prstGeom prst="rightArrow">
            <a:avLst/>
          </a:prstGeom>
          <a:solidFill>
            <a:srgbClr val="F26B21"/>
          </a:solidFill>
          <a:ln w="12700">
            <a:solidFill>
              <a:srgbClr val="F26B21"/>
            </a:solidFill>
            <a:prstDash val="solid"/>
          </a:ln>
        </p:spPr>
      </p:sp>
      <p:sp>
        <p:nvSpPr>
          <p:cNvPr id="18" name="stage 바뀐 주제"/>
          <p:cNvSpPr/>
          <p:nvPr/>
        </p:nvSpPr>
        <p:spPr>
          <a:xfrm>
            <a:off x="8046720" y="1783080"/>
            <a:ext cx="3566160" cy="4069080"/>
          </a:xfrm>
          <a:prstGeom prst="roundRect">
            <a:avLst>
              <a:gd name="adj" fmla="val 3077"/>
            </a:avLst>
          </a:prstGeom>
          <a:solidFill>
            <a:srgbClr val="0B3C5D"/>
          </a:solidFill>
          <a:ln w="12700">
            <a:solidFill>
              <a:srgbClr val="0B3C5D"/>
            </a:solidFill>
            <a:prstDash val="solid"/>
          </a:ln>
        </p:spPr>
      </p:sp>
      <p:sp>
        <p:nvSpPr>
          <p:cNvPr id="19" name="icon circle"/>
          <p:cNvSpPr/>
          <p:nvPr/>
        </p:nvSpPr>
        <p:spPr>
          <a:xfrm>
            <a:off x="8321040" y="2057400"/>
            <a:ext cx="566928" cy="566928"/>
          </a:xfrm>
          <a:prstGeom prst="ellipse">
            <a:avLst/>
          </a:prstGeom>
          <a:solidFill>
            <a:srgbClr val="F26B21"/>
          </a:solidFill>
          <a:ln w="12700">
            <a:solidFill>
              <a:srgbClr val="F26B21"/>
            </a:solidFill>
            <a:prstDash val="solid"/>
          </a:ln>
        </p:spPr>
      </p:sp>
      <p:pic>
        <p:nvPicPr>
          <p:cNvPr id="20" name="icon FaCubes" descr="preencoded.png">    </p:cNvPr>
          <p:cNvPicPr>
            <a:picLocks noChangeAspect="1"/>
          </p:cNvPicPr>
          <p:nvPr/>
        </p:nvPicPr>
        <p:blipFill>
          <a:blip r:embed="rId3"/>
          <a:stretch>
            <a:fillRect/>
          </a:stretch>
        </p:blipFill>
        <p:spPr>
          <a:xfrm>
            <a:off x="8458200" y="2194560"/>
            <a:ext cx="292608" cy="292608"/>
          </a:xfrm>
          <a:prstGeom prst="rect">
            <a:avLst/>
          </a:prstGeom>
        </p:spPr>
      </p:pic>
      <p:sp>
        <p:nvSpPr>
          <p:cNvPr id="21" name="Text 16"/>
          <p:cNvSpPr txBox="1"/>
          <p:nvPr/>
        </p:nvSpPr>
        <p:spPr>
          <a:xfrm>
            <a:off x="9006840" y="2103120"/>
            <a:ext cx="2377440" cy="457200"/>
          </a:xfrm>
          <a:prstGeom prst="rect">
            <a:avLst/>
          </a:prstGeom>
          <a:noFill/>
          <a:ln/>
        </p:spPr>
        <p:txBody>
          <a:bodyPr wrap="square" lIns="0" tIns="0" rIns="0" bIns="0" rtlCol="0" anchor="ctr"/>
          <a:lstStyle/>
          <a:p>
            <a:pPr indent="0" marL="0">
              <a:buNone/>
            </a:pPr>
            <a:r>
              <a:rPr lang="en-US" sz="1100" dirty="0">
                <a:solidFill>
                  <a:schemeClr val="accent5"/>
                </a:solidFill>
              </a:rPr>
              <a:t>바뀐 주제</a:t>
            </a:r>
            <a:endParaRPr lang="en-US" sz="1100" dirty="0"/>
          </a:p>
        </p:txBody>
      </p:sp>
      <p:sp>
        <p:nvSpPr>
          <p:cNvPr id="22" name="Text 17"/>
          <p:cNvSpPr txBox="1"/>
          <p:nvPr/>
        </p:nvSpPr>
        <p:spPr>
          <a:xfrm>
            <a:off x="8321040" y="2788920"/>
            <a:ext cx="3017520" cy="822960"/>
          </a:xfrm>
          <a:prstGeom prst="rect">
            <a:avLst/>
          </a:prstGeom>
          <a:noFill/>
          <a:ln/>
        </p:spPr>
        <p:txBody>
          <a:bodyPr wrap="square" lIns="0" tIns="0" rIns="0" bIns="0" rtlCol="0" anchor="t"/>
          <a:lstStyle/>
          <a:p>
            <a:pPr indent="0" marL="0">
              <a:buNone/>
            </a:pPr>
            <a:r>
              <a:rPr lang="en-US" sz="1400" b="1" dirty="0">
                <a:solidFill>
                  <a:schemeClr val="bg1"/>
                </a:solidFill>
              </a:rPr>
              <a:t>드론 영상 기반 위치·부피·무게 추정 → 수거계획</a:t>
            </a:r>
            <a:endParaRPr lang="en-US" sz="1400" dirty="0"/>
          </a:p>
        </p:txBody>
      </p:sp>
      <p:sp>
        <p:nvSpPr>
          <p:cNvPr id="23" name="Text 18"/>
          <p:cNvSpPr txBox="1"/>
          <p:nvPr/>
        </p:nvSpPr>
        <p:spPr>
          <a:xfrm>
            <a:off x="8321040" y="3703320"/>
            <a:ext cx="3017520" cy="2011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accent5"/>
                </a:solidFill>
              </a:rPr>
              <a:t>정합 기술은 3D 위치 정렬·위성 해안선 갱신에 재활용</a:t>
            </a:r>
            <a:endParaRPr lang="en-US" sz="1100" dirty="0"/>
          </a:p>
          <a:p>
            <a:pPr marL="177800" indent="-177800">
              <a:spcAft>
                <a:spcPts val="600"/>
              </a:spcAft>
              <a:buSzPct val="100000"/>
              <a:buChar char="•"/>
            </a:pPr>
            <a:r>
              <a:rPr lang="en-US" sz="1100" dirty="0">
                <a:solidFill>
                  <a:schemeClr val="accent5"/>
                </a:solidFill>
              </a:rPr>
              <a:t>위성은 '어디를 날지' 고르는 역할로</a:t>
            </a:r>
            <a:endParaRPr lang="en-US" sz="1100" dirty="0"/>
          </a:p>
          <a:p>
            <a:pPr marL="177800" indent="-177800">
              <a:spcAft>
                <a:spcPts val="600"/>
              </a:spcAft>
              <a:buSzPct val="100000"/>
              <a:buChar char="•"/>
            </a:pPr>
            <a:r>
              <a:rPr lang="en-US" sz="1100" dirty="0">
                <a:solidFill>
                  <a:schemeClr val="accent5"/>
                </a:solidFill>
              </a:rPr>
              <a:t>결과를 좌표 목록이 아니라 작업카드로</a:t>
            </a:r>
            <a:endParaRPr lang="en-US" sz="1100" dirty="0"/>
          </a:p>
        </p:txBody>
      </p:sp>
      <p:sp>
        <p:nvSpPr>
          <p:cNvPr id="24"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출처: 해안쓰레기_수거계획_방향정리.md(2026-09-30) 0~2절, 기술정리_전체.md 4절 · 업체 제보 2건</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이틀의 과정: 날리고, 재고, 고치고, 접은 것</a:t>
            </a:r>
            <a:endParaRPr lang="en-US" sz="2800" dirty="0"/>
          </a:p>
        </p:txBody>
      </p:sp>
      <p:sp>
        <p:nvSpPr>
          <p:cNvPr id="3" name="subtitle"/>
          <p:cNvSpPr txBox="1"/>
          <p:nvPr/>
        </p:nvSpPr>
        <p:spPr>
          <a:xfrm>
            <a:off x="548640" y="1207008"/>
            <a:ext cx="9509760" cy="411480"/>
          </a:xfrm>
          <a:prstGeom prst="rect">
            <a:avLst/>
          </a:prstGeom>
          <a:noFill/>
          <a:ln/>
        </p:spPr>
        <p:txBody>
          <a:bodyPr wrap="square" lIns="0" tIns="0" rIns="0" bIns="0" rtlCol="0" anchor="ctr"/>
          <a:lstStyle/>
          <a:p>
            <a:pPr indent="0" marL="0">
              <a:buNone/>
            </a:pPr>
            <a:r>
              <a:rPr lang="en-US" sz="1400" dirty="0">
                <a:solidFill>
                  <a:schemeClr val="accent4"/>
                </a:solidFill>
              </a:rPr>
              <a:t>줌 회의로 방향을 정하고 역할을 나눴습니다. 결과가 안 나온 것도 적었습니다.</a:t>
            </a:r>
            <a:endParaRPr lang="en-US" sz="1400" dirty="0"/>
          </a:p>
        </p:txBody>
      </p:sp>
      <p:sp>
        <p:nvSpPr>
          <p:cNvPr id="4" name="dot"/>
          <p:cNvSpPr/>
          <p:nvPr/>
        </p:nvSpPr>
        <p:spPr>
          <a:xfrm>
            <a:off x="640080" y="1874520"/>
            <a:ext cx="457200" cy="457200"/>
          </a:xfrm>
          <a:prstGeom prst="ellipse">
            <a:avLst/>
          </a:prstGeom>
          <a:solidFill>
            <a:srgbClr val="0B3C5D"/>
          </a:solidFill>
          <a:ln w="12700">
            <a:solidFill>
              <a:srgbClr val="0B3C5D"/>
            </a:solidFill>
            <a:prstDash val="solid"/>
          </a:ln>
        </p:spPr>
      </p:sp>
      <p:sp>
        <p:nvSpPr>
          <p:cNvPr id="5" name="line"/>
          <p:cNvSpPr/>
          <p:nvPr/>
        </p:nvSpPr>
        <p:spPr>
          <a:xfrm>
            <a:off x="1097280" y="2103120"/>
            <a:ext cx="2286000" cy="0"/>
          </a:xfrm>
          <a:prstGeom prst="line">
            <a:avLst/>
          </a:prstGeom>
          <a:noFill/>
          <a:ln w="25400">
            <a:solidFill>
              <a:srgbClr val="D5DEE4"/>
            </a:solidFill>
            <a:prstDash val="solid"/>
          </a:ln>
        </p:spPr>
      </p:sp>
      <p:sp>
        <p:nvSpPr>
          <p:cNvPr id="6" name="Text 4"/>
          <p:cNvSpPr txBox="1"/>
          <p:nvPr/>
        </p:nvSpPr>
        <p:spPr>
          <a:xfrm>
            <a:off x="1234440" y="1874520"/>
            <a:ext cx="2103120" cy="457200"/>
          </a:xfrm>
          <a:prstGeom prst="rect">
            <a:avLst/>
          </a:prstGeom>
          <a:noFill/>
          <a:ln/>
        </p:spPr>
        <p:txBody>
          <a:bodyPr wrap="square" lIns="0" tIns="0" rIns="0" bIns="0" rtlCol="0" anchor="ctr"/>
          <a:lstStyle/>
          <a:p>
            <a:pPr indent="0" marL="0">
              <a:buNone/>
            </a:pPr>
            <a:r>
              <a:rPr lang="en-US" sz="1300" b="1" dirty="0">
                <a:solidFill>
                  <a:schemeClr val="tx2"/>
                </a:solidFill>
              </a:rPr>
              <a:t>9/30</a:t>
            </a:r>
            <a:endParaRPr lang="en-US" sz="1300" dirty="0"/>
          </a:p>
        </p:txBody>
      </p:sp>
      <p:sp>
        <p:nvSpPr>
          <p:cNvPr id="7" name="tl 방향 전환"/>
          <p:cNvSpPr/>
          <p:nvPr/>
        </p:nvSpPr>
        <p:spPr>
          <a:xfrm>
            <a:off x="548640" y="2468880"/>
            <a:ext cx="265176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8" name="Text 6"/>
          <p:cNvSpPr txBox="1"/>
          <p:nvPr/>
        </p:nvSpPr>
        <p:spPr>
          <a:xfrm>
            <a:off x="731520" y="2560320"/>
            <a:ext cx="2286000" cy="320040"/>
          </a:xfrm>
          <a:prstGeom prst="rect">
            <a:avLst/>
          </a:prstGeom>
          <a:noFill/>
          <a:ln/>
        </p:spPr>
        <p:txBody>
          <a:bodyPr wrap="square" lIns="0" tIns="0" rIns="0" bIns="0" rtlCol="0" anchor="ctr"/>
          <a:lstStyle/>
          <a:p>
            <a:pPr indent="0" marL="0">
              <a:buNone/>
            </a:pPr>
            <a:r>
              <a:rPr lang="en-US" sz="1250" b="1" dirty="0">
                <a:solidFill>
                  <a:schemeClr val="tx1"/>
                </a:solidFill>
              </a:rPr>
              <a:t>방향 전환</a:t>
            </a:r>
            <a:endParaRPr lang="en-US" sz="1250" dirty="0"/>
          </a:p>
        </p:txBody>
      </p:sp>
      <p:sp>
        <p:nvSpPr>
          <p:cNvPr id="9" name="Text 7"/>
          <p:cNvSpPr txBox="1"/>
          <p:nvPr/>
        </p:nvSpPr>
        <p:spPr>
          <a:xfrm>
            <a:off x="731520" y="2880360"/>
            <a:ext cx="2286000" cy="1143000"/>
          </a:xfrm>
          <a:prstGeom prst="rect">
            <a:avLst/>
          </a:prstGeom>
          <a:noFill/>
          <a:ln/>
        </p:spPr>
        <p:txBody>
          <a:bodyPr wrap="square" lIns="0" tIns="0" rIns="0" bIns="0" rtlCol="0" anchor="t"/>
          <a:lstStyle/>
          <a:p>
            <a:pPr indent="0" marL="0">
              <a:buNone/>
            </a:pPr>
            <a:r>
              <a:rPr lang="en-US" sz="1050" dirty="0">
                <a:solidFill>
                  <a:schemeClr val="accent4"/>
                </a:solidFill>
              </a:rPr>
              <a:t>업체 문제 정리, 위치 오차 원인표, 무게 선행연구 빈칸 확인, 업체 확인 체크리스트</a:t>
            </a:r>
            <a:endParaRPr lang="en-US" sz="1050" dirty="0"/>
          </a:p>
        </p:txBody>
      </p:sp>
      <p:sp>
        <p:nvSpPr>
          <p:cNvPr id="10" name="dot"/>
          <p:cNvSpPr/>
          <p:nvPr/>
        </p:nvSpPr>
        <p:spPr>
          <a:xfrm>
            <a:off x="3451860" y="1874520"/>
            <a:ext cx="457200" cy="457200"/>
          </a:xfrm>
          <a:prstGeom prst="ellipse">
            <a:avLst/>
          </a:prstGeom>
          <a:solidFill>
            <a:srgbClr val="0B3C5D"/>
          </a:solidFill>
          <a:ln w="12700">
            <a:solidFill>
              <a:srgbClr val="0B3C5D"/>
            </a:solidFill>
            <a:prstDash val="solid"/>
          </a:ln>
        </p:spPr>
      </p:sp>
      <p:sp>
        <p:nvSpPr>
          <p:cNvPr id="11" name="line"/>
          <p:cNvSpPr/>
          <p:nvPr/>
        </p:nvSpPr>
        <p:spPr>
          <a:xfrm>
            <a:off x="3909060" y="2103120"/>
            <a:ext cx="2286000" cy="0"/>
          </a:xfrm>
          <a:prstGeom prst="line">
            <a:avLst/>
          </a:prstGeom>
          <a:noFill/>
          <a:ln w="25400">
            <a:solidFill>
              <a:srgbClr val="D5DEE4"/>
            </a:solidFill>
            <a:prstDash val="solid"/>
          </a:ln>
        </p:spPr>
      </p:sp>
      <p:sp>
        <p:nvSpPr>
          <p:cNvPr id="12" name="Text 10"/>
          <p:cNvSpPr txBox="1"/>
          <p:nvPr/>
        </p:nvSpPr>
        <p:spPr>
          <a:xfrm>
            <a:off x="4046220" y="1874520"/>
            <a:ext cx="2103120" cy="457200"/>
          </a:xfrm>
          <a:prstGeom prst="rect">
            <a:avLst/>
          </a:prstGeom>
          <a:noFill/>
          <a:ln/>
        </p:spPr>
        <p:txBody>
          <a:bodyPr wrap="square" lIns="0" tIns="0" rIns="0" bIns="0" rtlCol="0" anchor="ctr"/>
          <a:lstStyle/>
          <a:p>
            <a:pPr indent="0" marL="0">
              <a:buNone/>
            </a:pPr>
            <a:r>
              <a:rPr lang="en-US" sz="1300" b="1" dirty="0">
                <a:solidFill>
                  <a:schemeClr val="tx2"/>
                </a:solidFill>
              </a:rPr>
              <a:t>10/1 낮</a:t>
            </a:r>
            <a:endParaRPr lang="en-US" sz="1300" dirty="0"/>
          </a:p>
        </p:txBody>
      </p:sp>
      <p:sp>
        <p:nvSpPr>
          <p:cNvPr id="13" name="tl 송도 촬영 · 학습셋"/>
          <p:cNvSpPr/>
          <p:nvPr/>
        </p:nvSpPr>
        <p:spPr>
          <a:xfrm>
            <a:off x="3360420" y="2468880"/>
            <a:ext cx="265176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4" name="Text 12"/>
          <p:cNvSpPr txBox="1"/>
          <p:nvPr/>
        </p:nvSpPr>
        <p:spPr>
          <a:xfrm>
            <a:off x="3543300" y="2560320"/>
            <a:ext cx="2286000" cy="320040"/>
          </a:xfrm>
          <a:prstGeom prst="rect">
            <a:avLst/>
          </a:prstGeom>
          <a:noFill/>
          <a:ln/>
        </p:spPr>
        <p:txBody>
          <a:bodyPr wrap="square" lIns="0" tIns="0" rIns="0" bIns="0" rtlCol="0" anchor="ctr"/>
          <a:lstStyle/>
          <a:p>
            <a:pPr indent="0" marL="0">
              <a:buNone/>
            </a:pPr>
            <a:r>
              <a:rPr lang="en-US" sz="1250" b="1" dirty="0">
                <a:solidFill>
                  <a:schemeClr val="tx1"/>
                </a:solidFill>
              </a:rPr>
              <a:t>송도 촬영 · 학습셋</a:t>
            </a:r>
            <a:endParaRPr lang="en-US" sz="1250" dirty="0"/>
          </a:p>
        </p:txBody>
      </p:sp>
      <p:sp>
        <p:nvSpPr>
          <p:cNvPr id="15" name="Text 13"/>
          <p:cNvSpPr txBox="1"/>
          <p:nvPr/>
        </p:nvSpPr>
        <p:spPr>
          <a:xfrm>
            <a:off x="3543300" y="2880360"/>
            <a:ext cx="2286000" cy="1143000"/>
          </a:xfrm>
          <a:prstGeom prst="rect">
            <a:avLst/>
          </a:prstGeom>
          <a:noFill/>
          <a:ln/>
        </p:spPr>
        <p:txBody>
          <a:bodyPr wrap="square" lIns="0" tIns="0" rIns="0" bIns="0" rtlCol="0" anchor="t"/>
          <a:lstStyle/>
          <a:p>
            <a:pPr indent="0" marL="0">
              <a:buNone/>
            </a:pPr>
            <a:r>
              <a:rPr lang="en-US" sz="1050" dirty="0">
                <a:solidFill>
                  <a:schemeClr val="accent4"/>
                </a:solidFill>
              </a:rPr>
              <a:t>선회 0007(7 m)·골목 왕복 0010(2 m) 촬영, AI Hub 1.2만 장을 2~4 cm/px로 축소한 학습셋</a:t>
            </a:r>
            <a:endParaRPr lang="en-US" sz="1050" dirty="0"/>
          </a:p>
        </p:txBody>
      </p:sp>
      <p:sp>
        <p:nvSpPr>
          <p:cNvPr id="16" name="dot"/>
          <p:cNvSpPr/>
          <p:nvPr/>
        </p:nvSpPr>
        <p:spPr>
          <a:xfrm>
            <a:off x="6263640" y="1874520"/>
            <a:ext cx="457200" cy="457200"/>
          </a:xfrm>
          <a:prstGeom prst="ellipse">
            <a:avLst/>
          </a:prstGeom>
          <a:solidFill>
            <a:srgbClr val="0B3C5D"/>
          </a:solidFill>
          <a:ln w="12700">
            <a:solidFill>
              <a:srgbClr val="0B3C5D"/>
            </a:solidFill>
            <a:prstDash val="solid"/>
          </a:ln>
        </p:spPr>
      </p:sp>
      <p:sp>
        <p:nvSpPr>
          <p:cNvPr id="17" name="line"/>
          <p:cNvSpPr/>
          <p:nvPr/>
        </p:nvSpPr>
        <p:spPr>
          <a:xfrm>
            <a:off x="6720840" y="2103120"/>
            <a:ext cx="2286000" cy="0"/>
          </a:xfrm>
          <a:prstGeom prst="line">
            <a:avLst/>
          </a:prstGeom>
          <a:noFill/>
          <a:ln w="25400">
            <a:solidFill>
              <a:srgbClr val="D5DEE4"/>
            </a:solidFill>
            <a:prstDash val="solid"/>
          </a:ln>
        </p:spPr>
      </p:sp>
      <p:sp>
        <p:nvSpPr>
          <p:cNvPr id="18" name="Text 16"/>
          <p:cNvSpPr txBox="1"/>
          <p:nvPr/>
        </p:nvSpPr>
        <p:spPr>
          <a:xfrm>
            <a:off x="6858000" y="1874520"/>
            <a:ext cx="2103120" cy="457200"/>
          </a:xfrm>
          <a:prstGeom prst="rect">
            <a:avLst/>
          </a:prstGeom>
          <a:noFill/>
          <a:ln/>
        </p:spPr>
        <p:txBody>
          <a:bodyPr wrap="square" lIns="0" tIns="0" rIns="0" bIns="0" rtlCol="0" anchor="ctr"/>
          <a:lstStyle/>
          <a:p>
            <a:pPr indent="0" marL="0">
              <a:buNone/>
            </a:pPr>
            <a:r>
              <a:rPr lang="en-US" sz="1300" b="1" dirty="0">
                <a:solidFill>
                  <a:schemeClr val="tx2"/>
                </a:solidFill>
              </a:rPr>
              <a:t>10/1 밤</a:t>
            </a:r>
            <a:endParaRPr lang="en-US" sz="1300" dirty="0"/>
          </a:p>
        </p:txBody>
      </p:sp>
      <p:sp>
        <p:nvSpPr>
          <p:cNvPr id="19" name="tl 야간 촬영 · 3D v2"/>
          <p:cNvSpPr/>
          <p:nvPr/>
        </p:nvSpPr>
        <p:spPr>
          <a:xfrm>
            <a:off x="6172200" y="2468880"/>
            <a:ext cx="265176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0" name="Text 18"/>
          <p:cNvSpPr txBox="1"/>
          <p:nvPr/>
        </p:nvSpPr>
        <p:spPr>
          <a:xfrm>
            <a:off x="6355080" y="2560320"/>
            <a:ext cx="2286000" cy="320040"/>
          </a:xfrm>
          <a:prstGeom prst="rect">
            <a:avLst/>
          </a:prstGeom>
          <a:noFill/>
          <a:ln/>
        </p:spPr>
        <p:txBody>
          <a:bodyPr wrap="square" lIns="0" tIns="0" rIns="0" bIns="0" rtlCol="0" anchor="ctr"/>
          <a:lstStyle/>
          <a:p>
            <a:pPr indent="0" marL="0">
              <a:buNone/>
            </a:pPr>
            <a:r>
              <a:rPr lang="en-US" sz="1250" b="1" dirty="0">
                <a:solidFill>
                  <a:schemeClr val="tx1"/>
                </a:solidFill>
              </a:rPr>
              <a:t>야간 촬영 · 3D v2</a:t>
            </a:r>
            <a:endParaRPr lang="en-US" sz="1250" dirty="0"/>
          </a:p>
        </p:txBody>
      </p:sp>
      <p:sp>
        <p:nvSpPr>
          <p:cNvPr id="21" name="Text 19"/>
          <p:cNvSpPr txBox="1"/>
          <p:nvPr/>
        </p:nvSpPr>
        <p:spPr>
          <a:xfrm>
            <a:off x="6355080" y="2880360"/>
            <a:ext cx="2286000" cy="1143000"/>
          </a:xfrm>
          <a:prstGeom prst="rect">
            <a:avLst/>
          </a:prstGeom>
          <a:noFill/>
          <a:ln/>
        </p:spPr>
        <p:txBody>
          <a:bodyPr wrap="square" lIns="0" tIns="0" rIns="0" bIns="0" rtlCol="0" anchor="t"/>
          <a:lstStyle/>
          <a:p>
            <a:pPr indent="0" marL="0">
              <a:buNone/>
            </a:pPr>
            <a:r>
              <a:rPr lang="en-US" sz="1050" dirty="0">
                <a:solidFill>
                  <a:schemeClr val="accent4"/>
                </a:solidFill>
              </a:rPr>
              <a:t>야간 0015(10분) 촬영, SAM 2 마스크 투표 + 지역 바닥 평면, 조밀 복원 45분 → 3분 24초</a:t>
            </a:r>
            <a:endParaRPr lang="en-US" sz="1050" dirty="0"/>
          </a:p>
        </p:txBody>
      </p:sp>
      <p:sp>
        <p:nvSpPr>
          <p:cNvPr id="22" name="dot"/>
          <p:cNvSpPr/>
          <p:nvPr/>
        </p:nvSpPr>
        <p:spPr>
          <a:xfrm>
            <a:off x="9075420" y="1874520"/>
            <a:ext cx="457200" cy="457200"/>
          </a:xfrm>
          <a:prstGeom prst="ellipse">
            <a:avLst/>
          </a:prstGeom>
          <a:solidFill>
            <a:srgbClr val="F26B21"/>
          </a:solidFill>
          <a:ln w="12700">
            <a:solidFill>
              <a:srgbClr val="F26B21"/>
            </a:solidFill>
            <a:prstDash val="solid"/>
          </a:ln>
        </p:spPr>
      </p:sp>
      <p:sp>
        <p:nvSpPr>
          <p:cNvPr id="23" name="Text 21"/>
          <p:cNvSpPr txBox="1"/>
          <p:nvPr/>
        </p:nvSpPr>
        <p:spPr>
          <a:xfrm>
            <a:off x="9669780" y="1874520"/>
            <a:ext cx="2103120" cy="457200"/>
          </a:xfrm>
          <a:prstGeom prst="rect">
            <a:avLst/>
          </a:prstGeom>
          <a:noFill/>
          <a:ln/>
        </p:spPr>
        <p:txBody>
          <a:bodyPr wrap="square" lIns="0" tIns="0" rIns="0" bIns="0" rtlCol="0" anchor="ctr"/>
          <a:lstStyle/>
          <a:p>
            <a:pPr indent="0" marL="0">
              <a:buNone/>
            </a:pPr>
            <a:r>
              <a:rPr lang="en-US" sz="1300" b="1" dirty="0">
                <a:solidFill>
                  <a:schemeClr val="tx2"/>
                </a:solidFill>
              </a:rPr>
              <a:t>10/2</a:t>
            </a:r>
            <a:endParaRPr lang="en-US" sz="1300" dirty="0"/>
          </a:p>
        </p:txBody>
      </p:sp>
      <p:sp>
        <p:nvSpPr>
          <p:cNvPr id="24" name="tl 위성·해류 · 서비스"/>
          <p:cNvSpPr/>
          <p:nvPr/>
        </p:nvSpPr>
        <p:spPr>
          <a:xfrm>
            <a:off x="8983980" y="2468880"/>
            <a:ext cx="265176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5" name="Text 23"/>
          <p:cNvSpPr txBox="1"/>
          <p:nvPr/>
        </p:nvSpPr>
        <p:spPr>
          <a:xfrm>
            <a:off x="9166860" y="2560320"/>
            <a:ext cx="2286000" cy="320040"/>
          </a:xfrm>
          <a:prstGeom prst="rect">
            <a:avLst/>
          </a:prstGeom>
          <a:noFill/>
          <a:ln/>
        </p:spPr>
        <p:txBody>
          <a:bodyPr wrap="square" lIns="0" tIns="0" rIns="0" bIns="0" rtlCol="0" anchor="ctr"/>
          <a:lstStyle/>
          <a:p>
            <a:pPr indent="0" marL="0">
              <a:buNone/>
            </a:pPr>
            <a:r>
              <a:rPr lang="en-US" sz="1250" b="1" dirty="0">
                <a:solidFill>
                  <a:schemeClr val="tx1"/>
                </a:solidFill>
              </a:rPr>
              <a:t>위성·해류 · 서비스</a:t>
            </a:r>
            <a:endParaRPr lang="en-US" sz="1250" dirty="0"/>
          </a:p>
        </p:txBody>
      </p:sp>
      <p:sp>
        <p:nvSpPr>
          <p:cNvPr id="26" name="Text 24"/>
          <p:cNvSpPr txBox="1"/>
          <p:nvPr/>
        </p:nvSpPr>
        <p:spPr>
          <a:xfrm>
            <a:off x="9166860" y="2880360"/>
            <a:ext cx="2286000" cy="1143000"/>
          </a:xfrm>
          <a:prstGeom prst="rect">
            <a:avLst/>
          </a:prstGeom>
          <a:noFill/>
          <a:ln/>
        </p:spPr>
        <p:txBody>
          <a:bodyPr wrap="square" lIns="0" tIns="0" rIns="0" bIns="0" rtlCol="0" anchor="t"/>
          <a:lstStyle/>
          <a:p>
            <a:pPr indent="0" marL="0">
              <a:buNone/>
            </a:pPr>
            <a:r>
              <a:rPr lang="en-US" sz="1050" dirty="0">
                <a:solidFill>
                  <a:schemeClr val="accent4"/>
                </a:solidFill>
              </a:rPr>
              <a:t>위성 형상 점수와 전략 비교(니하우), OpenDrift 문갑도, 인천 조석 결합, 마스킹·KML 내보내기</a:t>
            </a:r>
            <a:endParaRPr lang="en-US" sz="1050" dirty="0"/>
          </a:p>
        </p:txBody>
      </p:sp>
      <p:sp>
        <p:nvSpPr>
          <p:cNvPr id="27" name="card 만들었다가 접은 것"/>
          <p:cNvSpPr/>
          <p:nvPr/>
        </p:nvSpPr>
        <p:spPr>
          <a:xfrm>
            <a:off x="548640" y="4251960"/>
            <a:ext cx="548640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8" name="icon circle"/>
          <p:cNvSpPr/>
          <p:nvPr/>
        </p:nvSpPr>
        <p:spPr>
          <a:xfrm>
            <a:off x="777240" y="4434840"/>
            <a:ext cx="420624" cy="420624"/>
          </a:xfrm>
          <a:prstGeom prst="ellipse">
            <a:avLst/>
          </a:prstGeom>
          <a:solidFill>
            <a:srgbClr val="6F8794"/>
          </a:solidFill>
          <a:ln w="12700">
            <a:solidFill>
              <a:srgbClr val="6F8794"/>
            </a:solidFill>
            <a:prstDash val="solid"/>
          </a:ln>
        </p:spPr>
      </p:sp>
      <p:pic>
        <p:nvPicPr>
          <p:cNvPr id="29" name="icon FaTimesCircle" descr="preencoded.png">    </p:cNvPr>
          <p:cNvPicPr>
            <a:picLocks noChangeAspect="1"/>
          </p:cNvPicPr>
          <p:nvPr/>
        </p:nvPicPr>
        <p:blipFill>
          <a:blip r:embed="rId1"/>
          <a:stretch>
            <a:fillRect/>
          </a:stretch>
        </p:blipFill>
        <p:spPr>
          <a:xfrm>
            <a:off x="877824" y="4535424"/>
            <a:ext cx="219456" cy="219456"/>
          </a:xfrm>
          <a:prstGeom prst="rect">
            <a:avLst/>
          </a:prstGeom>
        </p:spPr>
      </p:pic>
      <p:sp>
        <p:nvSpPr>
          <p:cNvPr id="30" name="Text 27"/>
          <p:cNvSpPr txBox="1"/>
          <p:nvPr/>
        </p:nvSpPr>
        <p:spPr>
          <a:xfrm>
            <a:off x="1325880" y="4416552"/>
            <a:ext cx="4480560" cy="457200"/>
          </a:xfrm>
          <a:prstGeom prst="rect">
            <a:avLst/>
          </a:prstGeom>
          <a:noFill/>
          <a:ln/>
        </p:spPr>
        <p:txBody>
          <a:bodyPr wrap="square" lIns="0" tIns="0" rIns="0" bIns="0" rtlCol="0" anchor="ctr"/>
          <a:lstStyle/>
          <a:p>
            <a:pPr indent="0" marL="0">
              <a:buNone/>
            </a:pPr>
            <a:r>
              <a:rPr lang="en-US" sz="1300" b="1" dirty="0">
                <a:solidFill>
                  <a:schemeClr val="tx1"/>
                </a:solidFill>
              </a:rPr>
              <a:t>만들었다가 접은 것</a:t>
            </a:r>
            <a:endParaRPr lang="en-US" sz="1300" dirty="0"/>
          </a:p>
        </p:txBody>
      </p:sp>
      <p:sp>
        <p:nvSpPr>
          <p:cNvPr id="31" name="Text 28"/>
          <p:cNvSpPr txBox="1"/>
          <p:nvPr/>
        </p:nvSpPr>
        <p:spPr>
          <a:xfrm>
            <a:off x="822960" y="4928616"/>
            <a:ext cx="4937760" cy="886968"/>
          </a:xfrm>
          <a:prstGeom prst="rect">
            <a:avLst/>
          </a:prstGeom>
          <a:noFill/>
          <a:ln/>
        </p:spPr>
        <p:txBody>
          <a:bodyPr wrap="square" lIns="0" tIns="0" rIns="0" bIns="0" rtlCol="0" anchor="t"/>
          <a:lstStyle/>
          <a:p>
            <a:pPr indent="0" marL="0">
              <a:spcAft>
                <a:spcPts val="400"/>
              </a:spcAft>
              <a:buNone/>
            </a:pPr>
            <a:r>
              <a:rPr lang="en-US" sz="1050" dirty="0">
                <a:solidFill>
                  <a:schemeClr val="accent4"/>
                </a:solidFill>
              </a:rPr>
              <a:t>실시간 미러링 탐지(live.py, 기체 SDK 없음) · VGGT·MASt3R·단안 깊이·3DGS(축척 불안정) · Isaac Sim(VRAM 16 GB) · 합성 해변 데이터(초기 검증용) · YOLO-World 범용 탐지(항공 작은 물체 0.01) · 정합·변화탐지 파이프라인(보류 → 위치 엔진으로)</a:t>
            </a:r>
            <a:endParaRPr lang="en-US" sz="1050" dirty="0"/>
          </a:p>
        </p:txBody>
      </p:sp>
      <p:sp>
        <p:nvSpPr>
          <p:cNvPr id="32" name="card 고친 것"/>
          <p:cNvSpPr/>
          <p:nvPr/>
        </p:nvSpPr>
        <p:spPr>
          <a:xfrm>
            <a:off x="6153912" y="4251960"/>
            <a:ext cx="5486400" cy="1691640"/>
          </a:xfrm>
          <a:prstGeom prst="roundRect">
            <a:avLst>
              <a:gd name="adj" fmla="val 648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33" name="icon circle"/>
          <p:cNvSpPr/>
          <p:nvPr/>
        </p:nvSpPr>
        <p:spPr>
          <a:xfrm>
            <a:off x="6382512" y="4434840"/>
            <a:ext cx="420624" cy="420624"/>
          </a:xfrm>
          <a:prstGeom prst="ellipse">
            <a:avLst/>
          </a:prstGeom>
          <a:solidFill>
            <a:srgbClr val="0B3C5D"/>
          </a:solidFill>
          <a:ln w="12700">
            <a:solidFill>
              <a:srgbClr val="0B3C5D"/>
            </a:solidFill>
            <a:prstDash val="solid"/>
          </a:ln>
        </p:spPr>
      </p:sp>
      <p:pic>
        <p:nvPicPr>
          <p:cNvPr id="34" name="icon FaSync" descr="preencoded.png">    </p:cNvPr>
          <p:cNvPicPr>
            <a:picLocks noChangeAspect="1"/>
          </p:cNvPicPr>
          <p:nvPr/>
        </p:nvPicPr>
        <p:blipFill>
          <a:blip r:embed="rId2"/>
          <a:stretch>
            <a:fillRect/>
          </a:stretch>
        </p:blipFill>
        <p:spPr>
          <a:xfrm>
            <a:off x="6483096" y="4535424"/>
            <a:ext cx="219456" cy="219456"/>
          </a:xfrm>
          <a:prstGeom prst="rect">
            <a:avLst/>
          </a:prstGeom>
        </p:spPr>
      </p:pic>
      <p:sp>
        <p:nvSpPr>
          <p:cNvPr id="35" name="Text 31"/>
          <p:cNvSpPr txBox="1"/>
          <p:nvPr/>
        </p:nvSpPr>
        <p:spPr>
          <a:xfrm>
            <a:off x="6931152" y="4416552"/>
            <a:ext cx="4480560" cy="457200"/>
          </a:xfrm>
          <a:prstGeom prst="rect">
            <a:avLst/>
          </a:prstGeom>
          <a:noFill/>
          <a:ln/>
        </p:spPr>
        <p:txBody>
          <a:bodyPr wrap="square" lIns="0" tIns="0" rIns="0" bIns="0" rtlCol="0" anchor="ctr"/>
          <a:lstStyle/>
          <a:p>
            <a:pPr indent="0" marL="0">
              <a:buNone/>
            </a:pPr>
            <a:r>
              <a:rPr lang="en-US" sz="1300" b="1" dirty="0">
                <a:solidFill>
                  <a:schemeClr val="tx1"/>
                </a:solidFill>
              </a:rPr>
              <a:t>고친 것</a:t>
            </a:r>
            <a:endParaRPr lang="en-US" sz="1300" dirty="0"/>
          </a:p>
        </p:txBody>
      </p:sp>
      <p:sp>
        <p:nvSpPr>
          <p:cNvPr id="36" name="Text 32"/>
          <p:cNvSpPr txBox="1"/>
          <p:nvPr/>
        </p:nvSpPr>
        <p:spPr>
          <a:xfrm>
            <a:off x="6428232" y="4928616"/>
            <a:ext cx="4937760" cy="886968"/>
          </a:xfrm>
          <a:prstGeom prst="rect">
            <a:avLst/>
          </a:prstGeom>
          <a:noFill/>
          <a:ln/>
        </p:spPr>
        <p:txBody>
          <a:bodyPr wrap="square" lIns="0" tIns="0" rIns="0" bIns="0" rtlCol="0" anchor="t"/>
          <a:lstStyle/>
          <a:p>
            <a:pPr indent="0" marL="0">
              <a:spcAft>
                <a:spcPts val="400"/>
              </a:spcAft>
              <a:buNone/>
            </a:pPr>
            <a:r>
              <a:rPr lang="en-US" sz="1050" dirty="0">
                <a:solidFill>
                  <a:schemeClr val="accent4"/>
                </a:solidFill>
              </a:rPr>
              <a:t>작은 상자 −3%는 바닥 잡음이 상쇄한 우연(v1) → v2 +19%로 정직하게 수정 · SRT 고도가 틀린 영상 2편(0010·0015)은 GPS 경로로 축척 자동 선택 · 탐지 모델은 현장별 엇갈림을 확인하고 단일 통합 모델 노선으로</a:t>
            </a:r>
            <a:endParaRPr lang="en-US" sz="1050" dirty="0"/>
          </a:p>
        </p:txBody>
      </p:sp>
      <p:sp>
        <p:nvSpPr>
          <p:cNvPr id="37"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출처: 기술정리_전체.md 4·5절, 파이프라인_결과정리.md, 미해결_과제.md(10-02). 줌 회의 일정·횟수는 팀이 기입.</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실제로 날려서 찍었다: 송도 선회 7 m · 골목 왕복 2 m · 야간 10분</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시뮬레이션만이 아닙니다. DJI 기본 기체로 2026년 10월 1일 세 번 비행했고, 아래 프레임이 그 영상에서 탐지·복원된 결과입니다.</a:t>
            </a:r>
            <a:endParaRPr lang="en-US" sz="1400" dirty="0"/>
          </a:p>
        </p:txBody>
      </p:sp>
      <p:pic>
        <p:nvPicPr>
          <p:cNvPr id="4" name="0007 탐지 결과 프레임" descr="/tmp/claude-0/-home-user-hsr1m/6022f0b4-b8f8-52b0-8810-837ebd6bfbe9/scratchpad/deck/img/fig_02_탐지결과_모음.jpg">    </p:cNvPr>
          <p:cNvPicPr>
            <a:picLocks noChangeAspect="1"/>
          </p:cNvPicPr>
          <p:nvPr/>
        </p:nvPicPr>
        <p:blipFill>
          <a:blip r:embed="rId1"/>
          <a:srcRect l="0" r="0" t="0" b="0"/>
          <a:stretch/>
        </p:blipFill>
        <p:spPr>
          <a:xfrm>
            <a:off x="548640" y="1783080"/>
            <a:ext cx="5760720" cy="3236976"/>
          </a:xfrm>
          <a:prstGeom prst="rect">
            <a:avLst/>
          </a:prstGeom>
        </p:spPr>
      </p:pic>
      <p:sp>
        <p:nvSpPr>
          <p:cNvPr id="5" name="Text 2"/>
          <p:cNvSpPr txBox="1"/>
          <p:nvPr/>
        </p:nvSpPr>
        <p:spPr>
          <a:xfrm>
            <a:off x="548640" y="5047488"/>
            <a:ext cx="5760720" cy="411480"/>
          </a:xfrm>
          <a:prstGeom prst="rect">
            <a:avLst/>
          </a:prstGeom>
          <a:noFill/>
          <a:ln/>
        </p:spPr>
        <p:txBody>
          <a:bodyPr wrap="square" lIns="0" tIns="0" rIns="0" bIns="0" rtlCol="0" anchor="t"/>
          <a:lstStyle/>
          <a:p>
            <a:pPr indent="0" marL="0">
              <a:buNone/>
            </a:pPr>
            <a:r>
              <a:rPr lang="en-US" sz="900" dirty="0">
                <a:solidFill>
                  <a:schemeClr val="accent4"/>
                </a:solidFill>
              </a:rPr>
              <a:t>0007 송도 선회(고도 7 m, 100프레임): 상자 2개와 사람·오토바이·자전거까지 탐지. 지도 핀이 상자 위치와 일치.</a:t>
            </a:r>
            <a:endParaRPr lang="en-US" sz="900" dirty="0"/>
          </a:p>
        </p:txBody>
      </p:sp>
      <p:pic>
        <p:nvPicPr>
          <p:cNvPr id="6" name="0007 큰 상자 SAM 마스크" descr="/tmp/claude-0/-home-user-hsr1m/6022f0b4-b8f8-52b0-8810-837ebd6bfbe9/scratchpad/deck/img/fig_13_0007_조밀_큰상자_마스크.jpg">    </p:cNvPr>
          <p:cNvPicPr>
            <a:picLocks noChangeAspect="1"/>
          </p:cNvPicPr>
          <p:nvPr/>
        </p:nvPicPr>
        <p:blipFill>
          <a:blip r:embed="rId2"/>
          <a:srcRect l="0" r="0" t="0" b="0"/>
          <a:stretch/>
        </p:blipFill>
        <p:spPr>
          <a:xfrm>
            <a:off x="6537960" y="1783080"/>
            <a:ext cx="5102352" cy="1280160"/>
          </a:xfrm>
          <a:prstGeom prst="rect">
            <a:avLst/>
          </a:prstGeom>
        </p:spPr>
      </p:pic>
      <p:sp>
        <p:nvSpPr>
          <p:cNvPr id="7" name="Text 3"/>
          <p:cNvSpPr txBox="1"/>
          <p:nvPr/>
        </p:nvSpPr>
        <p:spPr>
          <a:xfrm>
            <a:off x="6537960" y="3081528"/>
            <a:ext cx="5102352" cy="365760"/>
          </a:xfrm>
          <a:prstGeom prst="rect">
            <a:avLst/>
          </a:prstGeom>
          <a:noFill/>
          <a:ln/>
        </p:spPr>
        <p:txBody>
          <a:bodyPr wrap="square" lIns="0" tIns="0" rIns="0" bIns="0" rtlCol="0" anchor="t"/>
          <a:lstStyle/>
          <a:p>
            <a:pPr indent="0" marL="0">
              <a:buNone/>
            </a:pPr>
            <a:r>
              <a:rPr lang="en-US" sz="900" dirty="0">
                <a:solidFill>
                  <a:schemeClr val="accent4"/>
                </a:solidFill>
              </a:rPr>
              <a:t>0007 큰 상자(60×45×12 cm): 24프레임 SAM 2 마스크 투표로 점구름에서 상자 점만 분리 → 3D 62×49×13.5 cm</a:t>
            </a:r>
            <a:endParaRPr lang="en-US" sz="900" dirty="0"/>
          </a:p>
        </p:txBody>
      </p:sp>
      <p:pic>
        <p:nvPicPr>
          <p:cNvPr id="8" name="0010 키 큰 상자 마스크" descr="/tmp/claude-0/-home-user-hsr1m/6022f0b4-b8f8-52b0-8810-837ebd6bfbe9/scratchpad/deck/img/fig_15_0010_키큰상자_마스크_v2.jpg">    </p:cNvPr>
          <p:cNvPicPr>
            <a:picLocks noChangeAspect="1"/>
          </p:cNvPicPr>
          <p:nvPr/>
        </p:nvPicPr>
        <p:blipFill>
          <a:blip r:embed="rId3"/>
          <a:srcRect l="0" r="0" t="0" b="0"/>
          <a:stretch/>
        </p:blipFill>
        <p:spPr>
          <a:xfrm>
            <a:off x="6537960" y="3520440"/>
            <a:ext cx="5102352" cy="1280160"/>
          </a:xfrm>
          <a:prstGeom prst="rect">
            <a:avLst/>
          </a:prstGeom>
        </p:spPr>
      </p:pic>
      <p:sp>
        <p:nvSpPr>
          <p:cNvPr id="9" name="Text 4"/>
          <p:cNvSpPr txBox="1"/>
          <p:nvPr/>
        </p:nvSpPr>
        <p:spPr>
          <a:xfrm>
            <a:off x="6537960" y="4818888"/>
            <a:ext cx="5102352" cy="365760"/>
          </a:xfrm>
          <a:prstGeom prst="rect">
            <a:avLst/>
          </a:prstGeom>
          <a:noFill/>
          <a:ln/>
        </p:spPr>
        <p:txBody>
          <a:bodyPr wrap="square" lIns="0" tIns="0" rIns="0" bIns="0" rtlCol="0" anchor="t"/>
          <a:lstStyle/>
          <a:p>
            <a:pPr indent="0" marL="0">
              <a:buNone/>
            </a:pPr>
            <a:r>
              <a:rPr lang="en-US" sz="900" dirty="0">
                <a:solidFill>
                  <a:schemeClr val="accent4"/>
                </a:solidFill>
              </a:rPr>
              <a:t>0010 골목 왕복(고도 2 m): 키 큰 상자 42×32×39 cm → 3D 49×37×38 cm, 부피 −10%</a:t>
            </a:r>
            <a:endParaRPr lang="en-US" sz="900" dirty="0"/>
          </a:p>
        </p:txBody>
      </p:sp>
      <p:sp>
        <p:nvSpPr>
          <p:cNvPr id="10" name="night"/>
          <p:cNvSpPr/>
          <p:nvPr/>
        </p:nvSpPr>
        <p:spPr>
          <a:xfrm>
            <a:off x="6537960" y="5257800"/>
            <a:ext cx="5102352" cy="731520"/>
          </a:xfrm>
          <a:prstGeom prst="roundRect">
            <a:avLst>
              <a:gd name="adj" fmla="val 12500"/>
            </a:avLst>
          </a:prstGeom>
          <a:solidFill>
            <a:srgbClr val="EEF3F6"/>
          </a:solidFill>
          <a:ln w="12700">
            <a:solidFill>
              <a:srgbClr val="EEF3F6"/>
            </a:solidFill>
            <a:prstDash val="solid"/>
          </a:ln>
        </p:spPr>
      </p:sp>
      <p:sp>
        <p:nvSpPr>
          <p:cNvPr id="11" name="Text 6"/>
          <p:cNvSpPr txBox="1"/>
          <p:nvPr/>
        </p:nvSpPr>
        <p:spPr>
          <a:xfrm>
            <a:off x="6720840" y="5257800"/>
            <a:ext cx="4754880" cy="731520"/>
          </a:xfrm>
          <a:prstGeom prst="rect">
            <a:avLst/>
          </a:prstGeom>
          <a:noFill/>
          <a:ln/>
        </p:spPr>
        <p:txBody>
          <a:bodyPr wrap="square" lIns="0" tIns="0" rIns="0" bIns="0" rtlCol="0" anchor="ctr"/>
          <a:lstStyle/>
          <a:p>
            <a:pPr indent="0" marL="0">
              <a:buNone/>
            </a:pPr>
            <a:r>
              <a:rPr lang="en-US" sz="1050" b="1" dirty="0">
                <a:solidFill>
                  <a:schemeClr val="tx2"/>
                </a:solidFill>
              </a:rPr>
              <a:t>0015 야간 10분(4K 60 fps, 531 m): 종이상자 30개를 자동 지도화, 25구간 모두 3D 뼈대 성공. 밤에도 탐지·위치는 된다.</a:t>
            </a:r>
            <a:endParaRPr lang="en-US" sz="1050" dirty="0"/>
          </a:p>
        </p:txBody>
      </p:sp>
      <p:sp>
        <p:nvSpPr>
          <p:cNvPr id="12"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촬영: 2026-10-01 송도(37.3843, 126.6571) DJI Mini 5 Pro, SRT 비행기록 포함 · 그림: docs/figures/02·13·15, 0015_objects.csv</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ctr"/>
          <a:lstStyle/>
          <a:p>
            <a:pPr indent="0" marL="0">
              <a:buNone/>
            </a:pPr>
            <a:r>
              <a:rPr lang="en-US" sz="6000" b="1" dirty="0">
                <a:solidFill>
                  <a:schemeClr val="accent2"/>
                </a:solidFill>
              </a:rPr>
              <a:t>03</a:t>
            </a:r>
            <a:endParaRPr lang="en-US" sz="6000" dirty="0"/>
          </a:p>
        </p:txBody>
      </p:sp>
      <p:sp>
        <p:nvSpPr>
          <p:cNvPr id="3" name="Text 0"/>
          <p:cNvSpPr/>
          <p:nvPr>
            <p:ph idx="100" type="title" hasCustomPrompt="1"/>
          </p:nvPr>
        </p:nvSpPr>
        <p:spPr>
          <a:xfrm>
            <a:off x="731520" y="2743200"/>
            <a:ext cx="10515600" cy="1188720"/>
          </a:xfrm>
          <a:prstGeom prst="rect">
            <a:avLst/>
          </a:prstGeom>
          <a:noFill/>
          <a:ln/>
        </p:spPr>
        <p:txBody>
          <a:bodyPr wrap="square" lIns="0" tIns="0" rIns="0" bIns="0" rtlCol="0" anchor="b"/>
          <a:lstStyle/>
          <a:p>
            <a:pPr algn="l" indent="0" marL="0">
              <a:buNone/>
            </a:pPr>
            <a:r>
              <a:rPr lang="en-US" sz="4000" b="1" dirty="0">
                <a:solidFill>
                  <a:schemeClr val="bg1"/>
                </a:solidFill>
              </a:rPr>
              <a:t>솔루션: 기술 소개</a:t>
            </a:r>
            <a:endParaRPr lang="en-US" sz="4000" dirty="0"/>
          </a:p>
        </p:txBody>
      </p:sp>
      <p:sp>
        <p:nvSpPr>
          <p:cNvPr id="4" name="Text 0"/>
          <p:cNvSpPr/>
          <p:nvPr>
            <p:ph idx="101" type="body" hasCustomPrompt="1"/>
          </p:nvPr>
        </p:nvSpPr>
        <p:spPr>
          <a:xfrm>
            <a:off x="731520" y="4023360"/>
            <a:ext cx="10058400" cy="1097280"/>
          </a:xfrm>
          <a:prstGeom prst="rect">
            <a:avLst/>
          </a:prstGeom>
          <a:noFill/>
          <a:ln/>
        </p:spPr>
        <p:txBody>
          <a:bodyPr wrap="square" lIns="0" tIns="0" rIns="0" bIns="0" rtlCol="0" anchor="t"/>
          <a:lstStyle/>
          <a:p>
            <a:pPr algn="l" indent="0" marL="0">
              <a:buNone/>
            </a:pPr>
            <a:r>
              <a:rPr lang="en-US" sz="1600" dirty="0">
                <a:solidFill>
                  <a:schemeClr val="accent5"/>
                </a:solidFill>
              </a:rPr>
              <a:t>두 가지 기술입니다. 위성·해류로 어디를 날지 고르는 선별, 드론 영상 하나로 재는 3D 측정. 그 끝에 수거계획이 나옵니다.</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한 문장으로: 위성이 고르고, 드론이 재고, 소프트웨어가 배차한다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DroneSweep은 드론 영상(MP4)과 비행기록(SRT)을 받아 수거계획서를 내는 소프트웨어입니다. 비행은 조종자가 하고, 나머지 7단계는 노트북 한 대가 합니다.</a:t>
            </a:r>
            <a:endParaRPr lang="en-US" sz="1400" dirty="0"/>
          </a:p>
        </p:txBody>
      </p:sp>
      <p:sp>
        <p:nvSpPr>
          <p:cNvPr id="4" name="card 기술 A · 선별: 어디를 날지 고른다"/>
          <p:cNvSpPr/>
          <p:nvPr/>
        </p:nvSpPr>
        <p:spPr>
          <a:xfrm>
            <a:off x="548640" y="1783080"/>
            <a:ext cx="54864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icon circle"/>
          <p:cNvSpPr/>
          <p:nvPr/>
        </p:nvSpPr>
        <p:spPr>
          <a:xfrm>
            <a:off x="777240" y="1965960"/>
            <a:ext cx="420624" cy="420624"/>
          </a:xfrm>
          <a:prstGeom prst="ellipse">
            <a:avLst/>
          </a:prstGeom>
          <a:solidFill>
            <a:srgbClr val="0B3C5D"/>
          </a:solidFill>
          <a:ln w="12700">
            <a:solidFill>
              <a:srgbClr val="0B3C5D"/>
            </a:solidFill>
            <a:prstDash val="solid"/>
          </a:ln>
        </p:spPr>
      </p:sp>
      <p:pic>
        <p:nvPicPr>
          <p:cNvPr id="6" name="icon FaSatellite" descr="preencoded.png">    </p:cNvPr>
          <p:cNvPicPr>
            <a:picLocks noChangeAspect="1"/>
          </p:cNvPicPr>
          <p:nvPr/>
        </p:nvPicPr>
        <p:blipFill>
          <a:blip r:embed="rId1"/>
          <a:stretch>
            <a:fillRect/>
          </a:stretch>
        </p:blipFill>
        <p:spPr>
          <a:xfrm>
            <a:off x="877824" y="2066544"/>
            <a:ext cx="219456" cy="219456"/>
          </a:xfrm>
          <a:prstGeom prst="rect">
            <a:avLst/>
          </a:prstGeom>
        </p:spPr>
      </p:pic>
      <p:sp>
        <p:nvSpPr>
          <p:cNvPr id="7" name="Text 4"/>
          <p:cNvSpPr txBox="1"/>
          <p:nvPr/>
        </p:nvSpPr>
        <p:spPr>
          <a:xfrm>
            <a:off x="1325880" y="1947672"/>
            <a:ext cx="4480560" cy="457200"/>
          </a:xfrm>
          <a:prstGeom prst="rect">
            <a:avLst/>
          </a:prstGeom>
          <a:noFill/>
          <a:ln/>
        </p:spPr>
        <p:txBody>
          <a:bodyPr wrap="square" lIns="0" tIns="0" rIns="0" bIns="0" rtlCol="0" anchor="ctr"/>
          <a:lstStyle/>
          <a:p>
            <a:pPr indent="0" marL="0">
              <a:buNone/>
            </a:pPr>
            <a:r>
              <a:rPr lang="en-US" sz="1350" b="1" dirty="0">
                <a:solidFill>
                  <a:schemeClr val="tx1"/>
                </a:solidFill>
              </a:rPr>
              <a:t>기술 A · 선별: 어디를 날지 고른다</a:t>
            </a:r>
            <a:endParaRPr lang="en-US" sz="1350" dirty="0"/>
          </a:p>
        </p:txBody>
      </p:sp>
      <p:sp>
        <p:nvSpPr>
          <p:cNvPr id="8" name="Text 5"/>
          <p:cNvSpPr txBox="1"/>
          <p:nvPr/>
        </p:nvSpPr>
        <p:spPr>
          <a:xfrm>
            <a:off x="822960" y="2459736"/>
            <a:ext cx="4937760" cy="612648"/>
          </a:xfrm>
          <a:prstGeom prst="rect">
            <a:avLst/>
          </a:prstGeom>
          <a:noFill/>
          <a:ln/>
        </p:spPr>
        <p:txBody>
          <a:bodyPr wrap="square" lIns="0" tIns="0" rIns="0" bIns="0" rtlCol="0" anchor="t"/>
          <a:lstStyle/>
          <a:p>
            <a:pPr indent="0" marL="0">
              <a:spcAft>
                <a:spcPts val="400"/>
              </a:spcAft>
              <a:buNone/>
            </a:pPr>
            <a:r>
              <a:rPr lang="en-US" sz="1050" dirty="0">
                <a:solidFill>
                  <a:schemeClr val="accent4"/>
                </a:solidFill>
              </a:rPr>
              <a:t>위성 해안 형상(만입도·풍향 노출·띠 폭)과 해류·조석 방향으로 200 m 구간마다 점수를 매겨, 쌓이는 자리 상위 30%만 비행 경로(KML)로 만듭니다.</a:t>
            </a:r>
            <a:endParaRPr lang="en-US" sz="1050" dirty="0"/>
          </a:p>
        </p:txBody>
      </p:sp>
      <p:sp>
        <p:nvSpPr>
          <p:cNvPr id="9" name="card 기술 B · 측정: 무엇이 어디에 얼마나 있는지 잰다"/>
          <p:cNvSpPr/>
          <p:nvPr/>
        </p:nvSpPr>
        <p:spPr>
          <a:xfrm>
            <a:off x="6153912" y="1783080"/>
            <a:ext cx="54864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0" name="icon circle"/>
          <p:cNvSpPr/>
          <p:nvPr/>
        </p:nvSpPr>
        <p:spPr>
          <a:xfrm>
            <a:off x="6382512" y="1965960"/>
            <a:ext cx="420624" cy="420624"/>
          </a:xfrm>
          <a:prstGeom prst="ellipse">
            <a:avLst/>
          </a:prstGeom>
          <a:solidFill>
            <a:srgbClr val="0B3C5D"/>
          </a:solidFill>
          <a:ln w="12700">
            <a:solidFill>
              <a:srgbClr val="0B3C5D"/>
            </a:solidFill>
            <a:prstDash val="solid"/>
          </a:ln>
        </p:spPr>
      </p:sp>
      <p:pic>
        <p:nvPicPr>
          <p:cNvPr id="11" name="icon FaCubes" descr="preencoded.png">    </p:cNvPr>
          <p:cNvPicPr>
            <a:picLocks noChangeAspect="1"/>
          </p:cNvPicPr>
          <p:nvPr/>
        </p:nvPicPr>
        <p:blipFill>
          <a:blip r:embed="rId2"/>
          <a:stretch>
            <a:fillRect/>
          </a:stretch>
        </p:blipFill>
        <p:spPr>
          <a:xfrm>
            <a:off x="6483096" y="2066544"/>
            <a:ext cx="219456" cy="219456"/>
          </a:xfrm>
          <a:prstGeom prst="rect">
            <a:avLst/>
          </a:prstGeom>
        </p:spPr>
      </p:pic>
      <p:sp>
        <p:nvSpPr>
          <p:cNvPr id="12" name="Text 8"/>
          <p:cNvSpPr txBox="1"/>
          <p:nvPr/>
        </p:nvSpPr>
        <p:spPr>
          <a:xfrm>
            <a:off x="6931152" y="1947672"/>
            <a:ext cx="4480560" cy="457200"/>
          </a:xfrm>
          <a:prstGeom prst="rect">
            <a:avLst/>
          </a:prstGeom>
          <a:noFill/>
          <a:ln/>
        </p:spPr>
        <p:txBody>
          <a:bodyPr wrap="square" lIns="0" tIns="0" rIns="0" bIns="0" rtlCol="0" anchor="ctr"/>
          <a:lstStyle/>
          <a:p>
            <a:pPr indent="0" marL="0">
              <a:buNone/>
            </a:pPr>
            <a:r>
              <a:rPr lang="en-US" sz="1350" b="1" dirty="0">
                <a:solidFill>
                  <a:schemeClr val="tx1"/>
                </a:solidFill>
              </a:rPr>
              <a:t>기술 B · 측정: 무엇이 어디에 얼마나 있는지 잰다</a:t>
            </a:r>
            <a:endParaRPr lang="en-US" sz="1350" dirty="0"/>
          </a:p>
        </p:txBody>
      </p:sp>
      <p:sp>
        <p:nvSpPr>
          <p:cNvPr id="13" name="Text 9"/>
          <p:cNvSpPr txBox="1"/>
          <p:nvPr/>
        </p:nvSpPr>
        <p:spPr>
          <a:xfrm>
            <a:off x="6428232" y="2459736"/>
            <a:ext cx="4937760" cy="612648"/>
          </a:xfrm>
          <a:prstGeom prst="rect">
            <a:avLst/>
          </a:prstGeom>
          <a:noFill/>
          <a:ln/>
        </p:spPr>
        <p:txBody>
          <a:bodyPr wrap="square" lIns="0" tIns="0" rIns="0" bIns="0" rtlCol="0" anchor="t"/>
          <a:lstStyle/>
          <a:p>
            <a:pPr indent="0" marL="0">
              <a:spcAft>
                <a:spcPts val="400"/>
              </a:spcAft>
              <a:buNone/>
            </a:pPr>
            <a:r>
              <a:rPr lang="en-US" sz="1050" dirty="0">
                <a:solidFill>
                  <a:schemeClr val="accent4"/>
                </a:solidFill>
              </a:rPr>
              <a:t>영상에서 쓰레기를 탐지하고, 3D 카메라 자세로 위치를 정렬하고, SfM 점구름에서 부피를 재서 무게 구간을 냅니다. 정사영상·DSM 없이 영상 하나로.</a:t>
            </a:r>
            <a:endParaRPr lang="en-US" sz="1050" dirty="0"/>
          </a:p>
        </p:txBody>
      </p:sp>
      <p:sp>
        <p:nvSpPr>
          <p:cNvPr id="14" name="step 어디를 날지"/>
          <p:cNvSpPr/>
          <p:nvPr/>
        </p:nvSpPr>
        <p:spPr>
          <a:xfrm>
            <a:off x="548640" y="3337560"/>
            <a:ext cx="1525742" cy="1920240"/>
          </a:xfrm>
          <a:prstGeom prst="roundRect">
            <a:avLst>
              <a:gd name="adj" fmla="val 5993"/>
            </a:avLst>
          </a:prstGeom>
          <a:solidFill>
            <a:srgbClr val="EEF3F6"/>
          </a:solidFill>
          <a:ln w="12700">
            <a:solidFill>
              <a:srgbClr val="EEF3F6"/>
            </a:solidFill>
            <a:prstDash val="solid"/>
          </a:ln>
        </p:spPr>
      </p:sp>
      <p:sp>
        <p:nvSpPr>
          <p:cNvPr id="15" name="icon circle"/>
          <p:cNvSpPr/>
          <p:nvPr/>
        </p:nvSpPr>
        <p:spPr>
          <a:xfrm>
            <a:off x="1037191" y="3520440"/>
            <a:ext cx="548640" cy="548640"/>
          </a:xfrm>
          <a:prstGeom prst="ellipse">
            <a:avLst/>
          </a:prstGeom>
          <a:solidFill>
            <a:srgbClr val="0B3C5D"/>
          </a:solidFill>
          <a:ln w="12700">
            <a:solidFill>
              <a:srgbClr val="0B3C5D"/>
            </a:solidFill>
            <a:prstDash val="solid"/>
          </a:ln>
        </p:spPr>
      </p:sp>
      <p:pic>
        <p:nvPicPr>
          <p:cNvPr id="16" name="icon FaSatellite" descr="preencoded.png">    </p:cNvPr>
          <p:cNvPicPr>
            <a:picLocks noChangeAspect="1"/>
          </p:cNvPicPr>
          <p:nvPr/>
        </p:nvPicPr>
        <p:blipFill>
          <a:blip r:embed="rId3"/>
          <a:stretch>
            <a:fillRect/>
          </a:stretch>
        </p:blipFill>
        <p:spPr>
          <a:xfrm>
            <a:off x="1174351" y="3657600"/>
            <a:ext cx="274320" cy="274320"/>
          </a:xfrm>
          <a:prstGeom prst="rect">
            <a:avLst/>
          </a:prstGeom>
        </p:spPr>
      </p:pic>
      <p:sp>
        <p:nvSpPr>
          <p:cNvPr id="17" name="Text 12"/>
          <p:cNvSpPr txBox="1"/>
          <p:nvPr/>
        </p:nvSpPr>
        <p:spPr>
          <a:xfrm>
            <a:off x="621792" y="416052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1. 어디를 날지</a:t>
            </a:r>
            <a:endParaRPr lang="en-US" sz="1150" dirty="0"/>
          </a:p>
        </p:txBody>
      </p:sp>
      <p:sp>
        <p:nvSpPr>
          <p:cNvPr id="18" name="Text 13"/>
          <p:cNvSpPr txBox="1"/>
          <p:nvPr/>
        </p:nvSpPr>
        <p:spPr>
          <a:xfrm>
            <a:off x="640080" y="4489704"/>
            <a:ext cx="1342862" cy="676656"/>
          </a:xfrm>
          <a:prstGeom prst="rect">
            <a:avLst/>
          </a:prstGeom>
          <a:noFill/>
          <a:ln/>
        </p:spPr>
        <p:txBody>
          <a:bodyPr wrap="square" lIns="0" tIns="0" rIns="0" bIns="0" rtlCol="0" anchor="t"/>
          <a:lstStyle/>
          <a:p>
            <a:pPr algn="ctr" indent="0" marL="0">
              <a:buNone/>
            </a:pPr>
            <a:r>
              <a:rPr lang="en-US" sz="950" dirty="0">
                <a:solidFill>
                  <a:schemeClr val="accent4"/>
                </a:solidFill>
              </a:rPr>
              <a:t>위성 형상 점수 + 해류·조석 방향</a:t>
            </a:r>
            <a:endParaRPr lang="en-US" sz="950" dirty="0"/>
          </a:p>
        </p:txBody>
      </p:sp>
      <p:sp>
        <p:nvSpPr>
          <p:cNvPr id="19" name="step 조종자 비행"/>
          <p:cNvSpPr/>
          <p:nvPr/>
        </p:nvSpPr>
        <p:spPr>
          <a:xfrm>
            <a:off x="2142962" y="3337560"/>
            <a:ext cx="1525742" cy="1920240"/>
          </a:xfrm>
          <a:prstGeom prst="roundRect">
            <a:avLst>
              <a:gd name="adj" fmla="val 5993"/>
            </a:avLst>
          </a:prstGeom>
          <a:solidFill>
            <a:srgbClr val="EEF3F6"/>
          </a:solidFill>
          <a:ln w="12700">
            <a:solidFill>
              <a:srgbClr val="EEF3F6"/>
            </a:solidFill>
            <a:prstDash val="solid"/>
          </a:ln>
        </p:spPr>
      </p:sp>
      <p:sp>
        <p:nvSpPr>
          <p:cNvPr id="20" name="icon circle"/>
          <p:cNvSpPr/>
          <p:nvPr/>
        </p:nvSpPr>
        <p:spPr>
          <a:xfrm>
            <a:off x="2631513" y="3520440"/>
            <a:ext cx="548640" cy="548640"/>
          </a:xfrm>
          <a:prstGeom prst="ellipse">
            <a:avLst/>
          </a:prstGeom>
          <a:solidFill>
            <a:srgbClr val="0B3C5D"/>
          </a:solidFill>
          <a:ln w="12700">
            <a:solidFill>
              <a:srgbClr val="0B3C5D"/>
            </a:solidFill>
            <a:prstDash val="solid"/>
          </a:ln>
        </p:spPr>
      </p:sp>
      <p:pic>
        <p:nvPicPr>
          <p:cNvPr id="21" name="icon FaPlane" descr="preencoded.png">    </p:cNvPr>
          <p:cNvPicPr>
            <a:picLocks noChangeAspect="1"/>
          </p:cNvPicPr>
          <p:nvPr/>
        </p:nvPicPr>
        <p:blipFill>
          <a:blip r:embed="rId4"/>
          <a:stretch>
            <a:fillRect/>
          </a:stretch>
        </p:blipFill>
        <p:spPr>
          <a:xfrm>
            <a:off x="2768673" y="3657600"/>
            <a:ext cx="274320" cy="274320"/>
          </a:xfrm>
          <a:prstGeom prst="rect">
            <a:avLst/>
          </a:prstGeom>
        </p:spPr>
      </p:pic>
      <p:sp>
        <p:nvSpPr>
          <p:cNvPr id="22" name="Text 16"/>
          <p:cNvSpPr txBox="1"/>
          <p:nvPr/>
        </p:nvSpPr>
        <p:spPr>
          <a:xfrm>
            <a:off x="2216114" y="416052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2. 조종자 비행</a:t>
            </a:r>
            <a:endParaRPr lang="en-US" sz="1150" dirty="0"/>
          </a:p>
        </p:txBody>
      </p:sp>
      <p:sp>
        <p:nvSpPr>
          <p:cNvPr id="23" name="Text 17"/>
          <p:cNvSpPr txBox="1"/>
          <p:nvPr/>
        </p:nvSpPr>
        <p:spPr>
          <a:xfrm>
            <a:off x="2234402" y="4489704"/>
            <a:ext cx="1342862" cy="676656"/>
          </a:xfrm>
          <a:prstGeom prst="rect">
            <a:avLst/>
          </a:prstGeom>
          <a:noFill/>
          <a:ln/>
        </p:spPr>
        <p:txBody>
          <a:bodyPr wrap="square" lIns="0" tIns="0" rIns="0" bIns="0" rtlCol="0" anchor="t"/>
          <a:lstStyle/>
          <a:p>
            <a:pPr algn="ctr" indent="0" marL="0">
              <a:buNone/>
            </a:pPr>
            <a:r>
              <a:rPr lang="en-US" sz="950" dirty="0">
                <a:solidFill>
                  <a:schemeClr val="accent4"/>
                </a:solidFill>
              </a:rPr>
              <a:t>KML 경로, 고도 20 m, 애매한 곳 8 m</a:t>
            </a:r>
            <a:endParaRPr lang="en-US" sz="950" dirty="0"/>
          </a:p>
        </p:txBody>
      </p:sp>
      <p:sp>
        <p:nvSpPr>
          <p:cNvPr id="24" name="step 탐지"/>
          <p:cNvSpPr/>
          <p:nvPr/>
        </p:nvSpPr>
        <p:spPr>
          <a:xfrm>
            <a:off x="3737283" y="3337560"/>
            <a:ext cx="1525742" cy="1920240"/>
          </a:xfrm>
          <a:prstGeom prst="roundRect">
            <a:avLst>
              <a:gd name="adj" fmla="val 5993"/>
            </a:avLst>
          </a:prstGeom>
          <a:solidFill>
            <a:srgbClr val="EEF3F6"/>
          </a:solidFill>
          <a:ln w="12700">
            <a:solidFill>
              <a:srgbClr val="EEF3F6"/>
            </a:solidFill>
            <a:prstDash val="solid"/>
          </a:ln>
        </p:spPr>
      </p:sp>
      <p:sp>
        <p:nvSpPr>
          <p:cNvPr id="25" name="icon circle"/>
          <p:cNvSpPr/>
          <p:nvPr/>
        </p:nvSpPr>
        <p:spPr>
          <a:xfrm>
            <a:off x="4225834" y="3520440"/>
            <a:ext cx="548640" cy="548640"/>
          </a:xfrm>
          <a:prstGeom prst="ellipse">
            <a:avLst/>
          </a:prstGeom>
          <a:solidFill>
            <a:srgbClr val="0B3C5D"/>
          </a:solidFill>
          <a:ln w="12700">
            <a:solidFill>
              <a:srgbClr val="0B3C5D"/>
            </a:solidFill>
            <a:prstDash val="solid"/>
          </a:ln>
        </p:spPr>
      </p:sp>
      <p:pic>
        <p:nvPicPr>
          <p:cNvPr id="26" name="icon FaSearchLocation" descr="preencoded.png">    </p:cNvPr>
          <p:cNvPicPr>
            <a:picLocks noChangeAspect="1"/>
          </p:cNvPicPr>
          <p:nvPr/>
        </p:nvPicPr>
        <p:blipFill>
          <a:blip r:embed="rId5"/>
          <a:stretch>
            <a:fillRect/>
          </a:stretch>
        </p:blipFill>
        <p:spPr>
          <a:xfrm>
            <a:off x="4362994" y="3657600"/>
            <a:ext cx="274320" cy="274320"/>
          </a:xfrm>
          <a:prstGeom prst="rect">
            <a:avLst/>
          </a:prstGeom>
        </p:spPr>
      </p:pic>
      <p:sp>
        <p:nvSpPr>
          <p:cNvPr id="27" name="Text 20"/>
          <p:cNvSpPr txBox="1"/>
          <p:nvPr/>
        </p:nvSpPr>
        <p:spPr>
          <a:xfrm>
            <a:off x="3810435" y="416052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3. 탐지</a:t>
            </a:r>
            <a:endParaRPr lang="en-US" sz="1150" dirty="0"/>
          </a:p>
        </p:txBody>
      </p:sp>
      <p:sp>
        <p:nvSpPr>
          <p:cNvPr id="28" name="Text 21"/>
          <p:cNvSpPr txBox="1"/>
          <p:nvPr/>
        </p:nvSpPr>
        <p:spPr>
          <a:xfrm>
            <a:off x="3828723" y="4489704"/>
            <a:ext cx="1342862" cy="676656"/>
          </a:xfrm>
          <a:prstGeom prst="rect">
            <a:avLst/>
          </a:prstGeom>
          <a:noFill/>
          <a:ln/>
        </p:spPr>
        <p:txBody>
          <a:bodyPr wrap="square" lIns="0" tIns="0" rIns="0" bIns="0" rtlCol="0" anchor="t"/>
          <a:lstStyle/>
          <a:p>
            <a:pPr algn="ctr" indent="0" marL="0">
              <a:buNone/>
            </a:pPr>
            <a:r>
              <a:rPr lang="en-US" sz="950" dirty="0">
                <a:solidFill>
                  <a:schemeClr val="accent4"/>
                </a:solidFill>
              </a:rPr>
              <a:t>YOLO11-s 타일 추론, 통합 학습셋</a:t>
            </a:r>
            <a:endParaRPr lang="en-US" sz="950" dirty="0"/>
          </a:p>
        </p:txBody>
      </p:sp>
      <p:sp>
        <p:nvSpPr>
          <p:cNvPr id="29" name="step 위치"/>
          <p:cNvSpPr/>
          <p:nvPr/>
        </p:nvSpPr>
        <p:spPr>
          <a:xfrm>
            <a:off x="5331605" y="3337560"/>
            <a:ext cx="1525742" cy="1920240"/>
          </a:xfrm>
          <a:prstGeom prst="roundRect">
            <a:avLst>
              <a:gd name="adj" fmla="val 5993"/>
            </a:avLst>
          </a:prstGeom>
          <a:solidFill>
            <a:srgbClr val="EEF3F6"/>
          </a:solidFill>
          <a:ln w="12700">
            <a:solidFill>
              <a:srgbClr val="EEF3F6"/>
            </a:solidFill>
            <a:prstDash val="solid"/>
          </a:ln>
        </p:spPr>
      </p:sp>
      <p:sp>
        <p:nvSpPr>
          <p:cNvPr id="30" name="icon circle"/>
          <p:cNvSpPr/>
          <p:nvPr/>
        </p:nvSpPr>
        <p:spPr>
          <a:xfrm>
            <a:off x="5820156" y="3520440"/>
            <a:ext cx="548640" cy="548640"/>
          </a:xfrm>
          <a:prstGeom prst="ellipse">
            <a:avLst/>
          </a:prstGeom>
          <a:solidFill>
            <a:srgbClr val="0B3C5D"/>
          </a:solidFill>
          <a:ln w="12700">
            <a:solidFill>
              <a:srgbClr val="0B3C5D"/>
            </a:solidFill>
            <a:prstDash val="solid"/>
          </a:ln>
        </p:spPr>
      </p:sp>
      <p:pic>
        <p:nvPicPr>
          <p:cNvPr id="31" name="icon FaCrosshairs" descr="preencoded.png">    </p:cNvPr>
          <p:cNvPicPr>
            <a:picLocks noChangeAspect="1"/>
          </p:cNvPicPr>
          <p:nvPr/>
        </p:nvPicPr>
        <p:blipFill>
          <a:blip r:embed="rId6"/>
          <a:stretch>
            <a:fillRect/>
          </a:stretch>
        </p:blipFill>
        <p:spPr>
          <a:xfrm>
            <a:off x="5957316" y="3657600"/>
            <a:ext cx="274320" cy="274320"/>
          </a:xfrm>
          <a:prstGeom prst="rect">
            <a:avLst/>
          </a:prstGeom>
        </p:spPr>
      </p:pic>
      <p:sp>
        <p:nvSpPr>
          <p:cNvPr id="32" name="Text 24"/>
          <p:cNvSpPr txBox="1"/>
          <p:nvPr/>
        </p:nvSpPr>
        <p:spPr>
          <a:xfrm>
            <a:off x="5404757" y="416052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4. 위치</a:t>
            </a:r>
            <a:endParaRPr lang="en-US" sz="1150" dirty="0"/>
          </a:p>
        </p:txBody>
      </p:sp>
      <p:sp>
        <p:nvSpPr>
          <p:cNvPr id="33" name="Text 25"/>
          <p:cNvSpPr txBox="1"/>
          <p:nvPr/>
        </p:nvSpPr>
        <p:spPr>
          <a:xfrm>
            <a:off x="5423045" y="4489704"/>
            <a:ext cx="1342862" cy="676656"/>
          </a:xfrm>
          <a:prstGeom prst="rect">
            <a:avLst/>
          </a:prstGeom>
          <a:noFill/>
          <a:ln/>
        </p:spPr>
        <p:txBody>
          <a:bodyPr wrap="square" lIns="0" tIns="0" rIns="0" bIns="0" rtlCol="0" anchor="t"/>
          <a:lstStyle/>
          <a:p>
            <a:pPr algn="ctr" indent="0" marL="0">
              <a:buNone/>
            </a:pPr>
            <a:r>
              <a:rPr lang="en-US" sz="950" dirty="0">
                <a:solidFill>
                  <a:schemeClr val="accent4"/>
                </a:solidFill>
              </a:rPr>
              <a:t>3D 카메라 자세 광선 교차 → GPS</a:t>
            </a:r>
            <a:endParaRPr lang="en-US" sz="950" dirty="0"/>
          </a:p>
        </p:txBody>
      </p:sp>
      <p:sp>
        <p:nvSpPr>
          <p:cNvPr id="34" name="step 부피"/>
          <p:cNvSpPr/>
          <p:nvPr/>
        </p:nvSpPr>
        <p:spPr>
          <a:xfrm>
            <a:off x="6925927" y="3337560"/>
            <a:ext cx="1525742" cy="1920240"/>
          </a:xfrm>
          <a:prstGeom prst="roundRect">
            <a:avLst>
              <a:gd name="adj" fmla="val 5993"/>
            </a:avLst>
          </a:prstGeom>
          <a:solidFill>
            <a:srgbClr val="EEF3F6"/>
          </a:solidFill>
          <a:ln w="12700">
            <a:solidFill>
              <a:srgbClr val="EEF3F6"/>
            </a:solidFill>
            <a:prstDash val="solid"/>
          </a:ln>
        </p:spPr>
      </p:sp>
      <p:sp>
        <p:nvSpPr>
          <p:cNvPr id="35" name="icon circle"/>
          <p:cNvSpPr/>
          <p:nvPr/>
        </p:nvSpPr>
        <p:spPr>
          <a:xfrm>
            <a:off x="7414478" y="3520440"/>
            <a:ext cx="548640" cy="548640"/>
          </a:xfrm>
          <a:prstGeom prst="ellipse">
            <a:avLst/>
          </a:prstGeom>
          <a:solidFill>
            <a:srgbClr val="0B3C5D"/>
          </a:solidFill>
          <a:ln w="12700">
            <a:solidFill>
              <a:srgbClr val="0B3C5D"/>
            </a:solidFill>
            <a:prstDash val="solid"/>
          </a:ln>
        </p:spPr>
      </p:sp>
      <p:pic>
        <p:nvPicPr>
          <p:cNvPr id="36" name="icon FaCubes" descr="preencoded.png">    </p:cNvPr>
          <p:cNvPicPr>
            <a:picLocks noChangeAspect="1"/>
          </p:cNvPicPr>
          <p:nvPr/>
        </p:nvPicPr>
        <p:blipFill>
          <a:blip r:embed="rId7"/>
          <a:stretch>
            <a:fillRect/>
          </a:stretch>
        </p:blipFill>
        <p:spPr>
          <a:xfrm>
            <a:off x="7551638" y="3657600"/>
            <a:ext cx="274320" cy="274320"/>
          </a:xfrm>
          <a:prstGeom prst="rect">
            <a:avLst/>
          </a:prstGeom>
        </p:spPr>
      </p:pic>
      <p:sp>
        <p:nvSpPr>
          <p:cNvPr id="37" name="Text 28"/>
          <p:cNvSpPr txBox="1"/>
          <p:nvPr/>
        </p:nvSpPr>
        <p:spPr>
          <a:xfrm>
            <a:off x="6999079" y="416052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5. 부피</a:t>
            </a:r>
            <a:endParaRPr lang="en-US" sz="1150" dirty="0"/>
          </a:p>
        </p:txBody>
      </p:sp>
      <p:sp>
        <p:nvSpPr>
          <p:cNvPr id="38" name="Text 29"/>
          <p:cNvSpPr txBox="1"/>
          <p:nvPr/>
        </p:nvSpPr>
        <p:spPr>
          <a:xfrm>
            <a:off x="7017367" y="4489704"/>
            <a:ext cx="1342862" cy="676656"/>
          </a:xfrm>
          <a:prstGeom prst="rect">
            <a:avLst/>
          </a:prstGeom>
          <a:noFill/>
          <a:ln/>
        </p:spPr>
        <p:txBody>
          <a:bodyPr wrap="square" lIns="0" tIns="0" rIns="0" bIns="0" rtlCol="0" anchor="t"/>
          <a:lstStyle/>
          <a:p>
            <a:pPr algn="ctr" indent="0" marL="0">
              <a:buNone/>
            </a:pPr>
            <a:r>
              <a:rPr lang="en-US" sz="950" dirty="0">
                <a:solidFill>
                  <a:schemeClr val="accent4"/>
                </a:solidFill>
              </a:rPr>
              <a:t>SfM+MVS, SAM 2 투표, 높이지도</a:t>
            </a:r>
            <a:endParaRPr lang="en-US" sz="950" dirty="0"/>
          </a:p>
        </p:txBody>
      </p:sp>
      <p:sp>
        <p:nvSpPr>
          <p:cNvPr id="39" name="step 무게 구간"/>
          <p:cNvSpPr/>
          <p:nvPr/>
        </p:nvSpPr>
        <p:spPr>
          <a:xfrm>
            <a:off x="8520249" y="3337560"/>
            <a:ext cx="1525742" cy="1920240"/>
          </a:xfrm>
          <a:prstGeom prst="roundRect">
            <a:avLst>
              <a:gd name="adj" fmla="val 5993"/>
            </a:avLst>
          </a:prstGeom>
          <a:solidFill>
            <a:srgbClr val="EEF3F6"/>
          </a:solidFill>
          <a:ln w="12700">
            <a:solidFill>
              <a:srgbClr val="EEF3F6"/>
            </a:solidFill>
            <a:prstDash val="solid"/>
          </a:ln>
        </p:spPr>
      </p:sp>
      <p:sp>
        <p:nvSpPr>
          <p:cNvPr id="40" name="icon circle"/>
          <p:cNvSpPr/>
          <p:nvPr/>
        </p:nvSpPr>
        <p:spPr>
          <a:xfrm>
            <a:off x="9008799" y="3520440"/>
            <a:ext cx="548640" cy="548640"/>
          </a:xfrm>
          <a:prstGeom prst="ellipse">
            <a:avLst/>
          </a:prstGeom>
          <a:solidFill>
            <a:srgbClr val="0B3C5D"/>
          </a:solidFill>
          <a:ln w="12700">
            <a:solidFill>
              <a:srgbClr val="0B3C5D"/>
            </a:solidFill>
            <a:prstDash val="solid"/>
          </a:ln>
        </p:spPr>
      </p:sp>
      <p:pic>
        <p:nvPicPr>
          <p:cNvPr id="41" name="icon FaRulerCombined" descr="preencoded.png">    </p:cNvPr>
          <p:cNvPicPr>
            <a:picLocks noChangeAspect="1"/>
          </p:cNvPicPr>
          <p:nvPr/>
        </p:nvPicPr>
        <p:blipFill>
          <a:blip r:embed="rId8"/>
          <a:stretch>
            <a:fillRect/>
          </a:stretch>
        </p:blipFill>
        <p:spPr>
          <a:xfrm>
            <a:off x="9145959" y="3657600"/>
            <a:ext cx="274320" cy="274320"/>
          </a:xfrm>
          <a:prstGeom prst="rect">
            <a:avLst/>
          </a:prstGeom>
        </p:spPr>
      </p:pic>
      <p:sp>
        <p:nvSpPr>
          <p:cNvPr id="42" name="Text 32"/>
          <p:cNvSpPr txBox="1"/>
          <p:nvPr/>
        </p:nvSpPr>
        <p:spPr>
          <a:xfrm>
            <a:off x="8593401" y="416052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6. 무게 구간</a:t>
            </a:r>
            <a:endParaRPr lang="en-US" sz="1150" dirty="0"/>
          </a:p>
        </p:txBody>
      </p:sp>
      <p:sp>
        <p:nvSpPr>
          <p:cNvPr id="43" name="Text 33"/>
          <p:cNvSpPr txBox="1"/>
          <p:nvPr/>
        </p:nvSpPr>
        <p:spPr>
          <a:xfrm>
            <a:off x="8611689" y="4489704"/>
            <a:ext cx="1342862" cy="676656"/>
          </a:xfrm>
          <a:prstGeom prst="rect">
            <a:avLst/>
          </a:prstGeom>
          <a:noFill/>
          <a:ln/>
        </p:spPr>
        <p:txBody>
          <a:bodyPr wrap="square" lIns="0" tIns="0" rIns="0" bIns="0" rtlCol="0" anchor="t"/>
          <a:lstStyle/>
          <a:p>
            <a:pPr algn="ctr" indent="0" marL="0">
              <a:buNone/>
            </a:pPr>
            <a:r>
              <a:rPr lang="en-US" sz="950" dirty="0">
                <a:solidFill>
                  <a:schemeClr val="accent4"/>
                </a:solidFill>
              </a:rPr>
              <a:t>겉보기밀도 × 젖음·압축 계수</a:t>
            </a:r>
            <a:endParaRPr lang="en-US" sz="950" dirty="0"/>
          </a:p>
        </p:txBody>
      </p:sp>
      <p:sp>
        <p:nvSpPr>
          <p:cNvPr id="44" name="step 수거계획"/>
          <p:cNvSpPr/>
          <p:nvPr/>
        </p:nvSpPr>
        <p:spPr>
          <a:xfrm>
            <a:off x="10114570" y="3337560"/>
            <a:ext cx="1525742" cy="1920240"/>
          </a:xfrm>
          <a:prstGeom prst="roundRect">
            <a:avLst>
              <a:gd name="adj" fmla="val 5993"/>
            </a:avLst>
          </a:prstGeom>
          <a:solidFill>
            <a:srgbClr val="0B3C5D"/>
          </a:solidFill>
          <a:ln w="12700">
            <a:solidFill>
              <a:srgbClr val="0B3C5D"/>
            </a:solidFill>
            <a:prstDash val="solid"/>
          </a:ln>
        </p:spPr>
      </p:sp>
      <p:sp>
        <p:nvSpPr>
          <p:cNvPr id="45" name="icon circle"/>
          <p:cNvSpPr/>
          <p:nvPr/>
        </p:nvSpPr>
        <p:spPr>
          <a:xfrm>
            <a:off x="10603121" y="3520440"/>
            <a:ext cx="548640" cy="548640"/>
          </a:xfrm>
          <a:prstGeom prst="ellipse">
            <a:avLst/>
          </a:prstGeom>
          <a:solidFill>
            <a:srgbClr val="F26B21"/>
          </a:solidFill>
          <a:ln w="12700">
            <a:solidFill>
              <a:srgbClr val="F26B21"/>
            </a:solidFill>
            <a:prstDash val="solid"/>
          </a:ln>
        </p:spPr>
      </p:sp>
      <p:pic>
        <p:nvPicPr>
          <p:cNvPr id="46" name="icon FaTruck" descr="preencoded.png">    </p:cNvPr>
          <p:cNvPicPr>
            <a:picLocks noChangeAspect="1"/>
          </p:cNvPicPr>
          <p:nvPr/>
        </p:nvPicPr>
        <p:blipFill>
          <a:blip r:embed="rId9"/>
          <a:stretch>
            <a:fillRect/>
          </a:stretch>
        </p:blipFill>
        <p:spPr>
          <a:xfrm>
            <a:off x="10740281" y="3657600"/>
            <a:ext cx="274320" cy="274320"/>
          </a:xfrm>
          <a:prstGeom prst="rect">
            <a:avLst/>
          </a:prstGeom>
        </p:spPr>
      </p:pic>
      <p:sp>
        <p:nvSpPr>
          <p:cNvPr id="47" name="Text 36"/>
          <p:cNvSpPr txBox="1"/>
          <p:nvPr/>
        </p:nvSpPr>
        <p:spPr>
          <a:xfrm>
            <a:off x="10187722" y="4160520"/>
            <a:ext cx="1379438" cy="320040"/>
          </a:xfrm>
          <a:prstGeom prst="rect">
            <a:avLst/>
          </a:prstGeom>
          <a:noFill/>
          <a:ln/>
        </p:spPr>
        <p:txBody>
          <a:bodyPr wrap="square" lIns="0" tIns="0" rIns="0" bIns="0" rtlCol="0" anchor="ctr"/>
          <a:lstStyle/>
          <a:p>
            <a:pPr algn="ctr" indent="0" marL="0">
              <a:buNone/>
            </a:pPr>
            <a:r>
              <a:rPr lang="en-US" sz="1150" b="1" dirty="0">
                <a:solidFill>
                  <a:schemeClr val="bg1"/>
                </a:solidFill>
              </a:rPr>
              <a:t>7. 수거계획</a:t>
            </a:r>
            <a:endParaRPr lang="en-US" sz="1150" dirty="0"/>
          </a:p>
        </p:txBody>
      </p:sp>
      <p:sp>
        <p:nvSpPr>
          <p:cNvPr id="48" name="Text 37"/>
          <p:cNvSpPr txBox="1"/>
          <p:nvPr/>
        </p:nvSpPr>
        <p:spPr>
          <a:xfrm>
            <a:off x="10206010" y="4489704"/>
            <a:ext cx="1342862" cy="676656"/>
          </a:xfrm>
          <a:prstGeom prst="rect">
            <a:avLst/>
          </a:prstGeom>
          <a:noFill/>
          <a:ln/>
        </p:spPr>
        <p:txBody>
          <a:bodyPr wrap="square" lIns="0" tIns="0" rIns="0" bIns="0" rtlCol="0" anchor="t"/>
          <a:lstStyle/>
          <a:p>
            <a:pPr algn="ctr" indent="0" marL="0">
              <a:buNone/>
            </a:pPr>
            <a:r>
              <a:rPr lang="en-US" sz="950" dirty="0">
                <a:solidFill>
                  <a:schemeClr val="accent5"/>
                </a:solidFill>
              </a:rPr>
              <a:t>정거장·마대·트럭·인력·경로 작업카드</a:t>
            </a:r>
            <a:endParaRPr lang="en-US" sz="950" dirty="0"/>
          </a:p>
        </p:txBody>
      </p:sp>
      <p:sp>
        <p:nvSpPr>
          <p:cNvPr id="49" name="io"/>
          <p:cNvSpPr/>
          <p:nvPr/>
        </p:nvSpPr>
        <p:spPr>
          <a:xfrm>
            <a:off x="548640" y="5367528"/>
            <a:ext cx="11091672" cy="621792"/>
          </a:xfrm>
          <a:prstGeom prst="roundRect">
            <a:avLst>
              <a:gd name="adj" fmla="val 14706"/>
            </a:avLst>
          </a:prstGeom>
          <a:solidFill>
            <a:srgbClr val="FFD9C2"/>
          </a:solidFill>
          <a:ln w="12700">
            <a:solidFill>
              <a:srgbClr val="FFD9C2"/>
            </a:solidFill>
            <a:prstDash val="solid"/>
          </a:ln>
        </p:spPr>
      </p:sp>
      <p:sp>
        <p:nvSpPr>
          <p:cNvPr id="50" name="Text 39"/>
          <p:cNvSpPr txBox="1"/>
          <p:nvPr/>
        </p:nvSpPr>
        <p:spPr>
          <a:xfrm>
            <a:off x="777240" y="5367528"/>
            <a:ext cx="10607040" cy="621792"/>
          </a:xfrm>
          <a:prstGeom prst="rect">
            <a:avLst/>
          </a:prstGeom>
          <a:noFill/>
          <a:ln/>
        </p:spPr>
        <p:txBody>
          <a:bodyPr wrap="square" lIns="0" tIns="0" rIns="0" bIns="0" rtlCol="0" anchor="ctr"/>
          <a:lstStyle/>
          <a:p>
            <a:pPr indent="0" marL="0">
              <a:buNone/>
            </a:pPr>
            <a:r>
              <a:rPr lang="en-US" sz="1050" b="1" dirty="0">
                <a:solidFill>
                  <a:schemeClr val="tx2"/>
                </a:solidFill>
              </a:rPr>
              <a:t>입력: 드론 영상 + 비행기록(SRT)  ·  출력: 지도 핀(위치·오차반경) · 물체 목록(부피·무게 구간 CSV/GeoJSON) · 정거장별 작업카드(인력·마대·트럭·경로) · 비행 경로 KML. 3DLabs 위성 ARD는 1단계(해안선 갱신·형상 점수)에 들어갑니다.</a:t>
            </a:r>
            <a:endParaRPr lang="en-US" sz="10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기술 A · 어디를 날지: 위성 해안 형상 점수</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위성 10 m 픽셀로는 쓰레기가 안 보입니다. 대신 해안선의 '모양'을 재서 쌓이기 쉬운 구간을 점수화하고, 드론 정밀 촬영은 점수 상위 구간에만 씁니다.</a:t>
            </a:r>
            <a:endParaRPr lang="en-US" sz="1400" dirty="0"/>
          </a:p>
        </p:txBody>
      </p:sp>
      <p:pic>
        <p:nvPicPr>
          <p:cNvPr id="4" name="문갑도 우선 구간 비행경로" descr="/tmp/claude-0/-home-user-hsr1m/6022f0b4-b8f8-52b0-8810-837ebd6bfbe9/scratchpad/deck/img/fig_26_문갑도_우선구간_비행경로.jpg">    </p:cNvPr>
          <p:cNvPicPr>
            <a:picLocks noChangeAspect="1"/>
          </p:cNvPicPr>
          <p:nvPr/>
        </p:nvPicPr>
        <p:blipFill>
          <a:blip r:embed="rId1"/>
          <a:srcRect l="0" r="0" t="0" b="0"/>
          <a:stretch/>
        </p:blipFill>
        <p:spPr>
          <a:xfrm>
            <a:off x="548640" y="1783080"/>
            <a:ext cx="3657600" cy="4041648"/>
          </a:xfrm>
          <a:prstGeom prst="rect">
            <a:avLst/>
          </a:prstGeom>
        </p:spPr>
      </p:pic>
      <p:sp>
        <p:nvSpPr>
          <p:cNvPr id="5" name="Text 2"/>
          <p:cNvSpPr txBox="1"/>
          <p:nvPr/>
        </p:nvSpPr>
        <p:spPr>
          <a:xfrm>
            <a:off x="548640" y="5833872"/>
            <a:ext cx="3657600" cy="274320"/>
          </a:xfrm>
          <a:prstGeom prst="rect">
            <a:avLst/>
          </a:prstGeom>
          <a:noFill/>
          <a:ln/>
        </p:spPr>
        <p:txBody>
          <a:bodyPr wrap="square" lIns="0" tIns="0" rIns="0" bIns="0" rtlCol="0" anchor="t"/>
          <a:lstStyle/>
          <a:p>
            <a:pPr indent="0" marL="0">
              <a:buNone/>
            </a:pPr>
            <a:r>
              <a:rPr lang="en-US" sz="900" dirty="0">
                <a:solidFill>
                  <a:schemeClr val="accent4"/>
                </a:solidFill>
              </a:rPr>
              <a:t>문갑도: 점수 상위 30%(주황)와 소티별 코리더 경로, 집결지·이륙점.</a:t>
            </a:r>
            <a:endParaRPr lang="en-US" sz="900" dirty="0"/>
          </a:p>
        </p:txBody>
      </p:sp>
      <p:sp>
        <p:nvSpPr>
          <p:cNvPr id="6" name="fs Sentinel-2 L2A"/>
          <p:cNvSpPr/>
          <p:nvPr/>
        </p:nvSpPr>
        <p:spPr>
          <a:xfrm>
            <a:off x="4434840" y="1783080"/>
            <a:ext cx="7205472"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7" name="Text 4"/>
          <p:cNvSpPr txBox="1"/>
          <p:nvPr/>
        </p:nvSpPr>
        <p:spPr>
          <a:xfrm>
            <a:off x="4617720" y="1783080"/>
            <a:ext cx="457200" cy="914400"/>
          </a:xfrm>
          <a:prstGeom prst="rect">
            <a:avLst/>
          </a:prstGeom>
          <a:noFill/>
          <a:ln/>
        </p:spPr>
        <p:txBody>
          <a:bodyPr wrap="square" lIns="0" tIns="0" rIns="0" bIns="0" rtlCol="0" anchor="ctr"/>
          <a:lstStyle/>
          <a:p>
            <a:pPr indent="0" marL="0">
              <a:buNone/>
            </a:pPr>
            <a:r>
              <a:rPr lang="en-US" sz="2200" b="1" dirty="0">
                <a:solidFill>
                  <a:schemeClr val="accent2"/>
                </a:solidFill>
              </a:rPr>
              <a:t>1</a:t>
            </a:r>
            <a:endParaRPr lang="en-US" sz="2200" dirty="0"/>
          </a:p>
        </p:txBody>
      </p:sp>
      <p:sp>
        <p:nvSpPr>
          <p:cNvPr id="8" name="Text 5"/>
          <p:cNvSpPr txBox="1"/>
          <p:nvPr/>
        </p:nvSpPr>
        <p:spPr>
          <a:xfrm>
            <a:off x="5120640" y="1892808"/>
            <a:ext cx="6400800" cy="274320"/>
          </a:xfrm>
          <a:prstGeom prst="rect">
            <a:avLst/>
          </a:prstGeom>
          <a:noFill/>
          <a:ln/>
        </p:spPr>
        <p:txBody>
          <a:bodyPr wrap="square" lIns="0" tIns="0" rIns="0" bIns="0" rtlCol="0" anchor="ctr"/>
          <a:lstStyle/>
          <a:p>
            <a:pPr indent="0" marL="0">
              <a:buNone/>
            </a:pPr>
            <a:r>
              <a:rPr lang="en-US" sz="1250" b="1" dirty="0">
                <a:solidFill>
                  <a:schemeClr val="tx1"/>
                </a:solidFill>
              </a:rPr>
              <a:t>Sentinel-2 L2A</a:t>
            </a:r>
            <a:endParaRPr lang="en-US" sz="1250" dirty="0"/>
          </a:p>
        </p:txBody>
      </p:sp>
      <p:sp>
        <p:nvSpPr>
          <p:cNvPr id="9" name="Text 6"/>
          <p:cNvSpPr txBox="1"/>
          <p:nvPr/>
        </p:nvSpPr>
        <p:spPr>
          <a:xfrm>
            <a:off x="5120640" y="2167128"/>
            <a:ext cx="6400800" cy="502920"/>
          </a:xfrm>
          <a:prstGeom prst="rect">
            <a:avLst/>
          </a:prstGeom>
          <a:noFill/>
          <a:ln/>
        </p:spPr>
        <p:txBody>
          <a:bodyPr wrap="square" lIns="0" tIns="0" rIns="0" bIns="0" rtlCol="0" anchor="t"/>
          <a:lstStyle/>
          <a:p>
            <a:pPr indent="0" marL="0">
              <a:buNone/>
            </a:pPr>
            <a:r>
              <a:rPr lang="en-US" sz="1050" dirty="0">
                <a:solidFill>
                  <a:schemeClr val="accent4"/>
                </a:solidFill>
              </a:rPr>
              <a:t>맑은 장면 3개를 NDWI 최댓값으로 합성해 육지·물을 가르고 해안선을 10 m 표본점으로 뽑습니다.</a:t>
            </a:r>
            <a:endParaRPr lang="en-US" sz="1050" dirty="0"/>
          </a:p>
        </p:txBody>
      </p:sp>
      <p:sp>
        <p:nvSpPr>
          <p:cNvPr id="10" name="fs 세 가지 형상 특징"/>
          <p:cNvSpPr/>
          <p:nvPr/>
        </p:nvSpPr>
        <p:spPr>
          <a:xfrm>
            <a:off x="4434840" y="2807208"/>
            <a:ext cx="7205472"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1" name="Text 8"/>
          <p:cNvSpPr txBox="1"/>
          <p:nvPr/>
        </p:nvSpPr>
        <p:spPr>
          <a:xfrm>
            <a:off x="4617720" y="2807208"/>
            <a:ext cx="457200" cy="914400"/>
          </a:xfrm>
          <a:prstGeom prst="rect">
            <a:avLst/>
          </a:prstGeom>
          <a:noFill/>
          <a:ln/>
        </p:spPr>
        <p:txBody>
          <a:bodyPr wrap="square" lIns="0" tIns="0" rIns="0" bIns="0" rtlCol="0" anchor="ctr"/>
          <a:lstStyle/>
          <a:p>
            <a:pPr indent="0" marL="0">
              <a:buNone/>
            </a:pPr>
            <a:r>
              <a:rPr lang="en-US" sz="2200" b="1" dirty="0">
                <a:solidFill>
                  <a:schemeClr val="accent2"/>
                </a:solidFill>
              </a:rPr>
              <a:t>2</a:t>
            </a:r>
            <a:endParaRPr lang="en-US" sz="2200" dirty="0"/>
          </a:p>
        </p:txBody>
      </p:sp>
      <p:sp>
        <p:nvSpPr>
          <p:cNvPr id="12" name="Text 9"/>
          <p:cNvSpPr txBox="1"/>
          <p:nvPr/>
        </p:nvSpPr>
        <p:spPr>
          <a:xfrm>
            <a:off x="5120640" y="2916936"/>
            <a:ext cx="6400800" cy="274320"/>
          </a:xfrm>
          <a:prstGeom prst="rect">
            <a:avLst/>
          </a:prstGeom>
          <a:noFill/>
          <a:ln/>
        </p:spPr>
        <p:txBody>
          <a:bodyPr wrap="square" lIns="0" tIns="0" rIns="0" bIns="0" rtlCol="0" anchor="ctr"/>
          <a:lstStyle/>
          <a:p>
            <a:pPr indent="0" marL="0">
              <a:buNone/>
            </a:pPr>
            <a:r>
              <a:rPr lang="en-US" sz="1250" b="1" dirty="0">
                <a:solidFill>
                  <a:schemeClr val="tx1"/>
                </a:solidFill>
              </a:rPr>
              <a:t>세 가지 형상 특징</a:t>
            </a:r>
            <a:endParaRPr lang="en-US" sz="1250" dirty="0"/>
          </a:p>
        </p:txBody>
      </p:sp>
      <p:sp>
        <p:nvSpPr>
          <p:cNvPr id="13" name="Text 10"/>
          <p:cNvSpPr txBox="1"/>
          <p:nvPr/>
        </p:nvSpPr>
        <p:spPr>
          <a:xfrm>
            <a:off x="5120640" y="3191256"/>
            <a:ext cx="6400800" cy="502920"/>
          </a:xfrm>
          <a:prstGeom prst="rect">
            <a:avLst/>
          </a:prstGeom>
          <a:noFill/>
          <a:ln/>
        </p:spPr>
        <p:txBody>
          <a:bodyPr wrap="square" lIns="0" tIns="0" rIns="0" bIns="0" rtlCol="0" anchor="t"/>
          <a:lstStyle/>
          <a:p>
            <a:pPr indent="0" marL="0">
              <a:buNone/>
            </a:pPr>
            <a:r>
              <a:rPr lang="en-US" sz="1050" dirty="0">
                <a:solidFill>
                  <a:schemeClr val="accent4"/>
                </a:solidFill>
              </a:rPr>
              <a:t>만입도 = 1 − 반경 150 m 안 물 비율(오목할수록 큼) · 노출 = cos(법선 방위 − 풍향) · 띠 폭 = 물도 식생도 아닌 안쪽 길이(NDVI)</a:t>
            </a:r>
            <a:endParaRPr lang="en-US" sz="1050" dirty="0"/>
          </a:p>
        </p:txBody>
      </p:sp>
      <p:sp>
        <p:nvSpPr>
          <p:cNvPr id="14" name="fs 점수와 구간"/>
          <p:cNvSpPr/>
          <p:nvPr/>
        </p:nvSpPr>
        <p:spPr>
          <a:xfrm>
            <a:off x="4434840" y="3831336"/>
            <a:ext cx="7205472"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5" name="Text 12"/>
          <p:cNvSpPr txBox="1"/>
          <p:nvPr/>
        </p:nvSpPr>
        <p:spPr>
          <a:xfrm>
            <a:off x="4617720" y="3831336"/>
            <a:ext cx="457200" cy="914400"/>
          </a:xfrm>
          <a:prstGeom prst="rect">
            <a:avLst/>
          </a:prstGeom>
          <a:noFill/>
          <a:ln/>
        </p:spPr>
        <p:txBody>
          <a:bodyPr wrap="square" lIns="0" tIns="0" rIns="0" bIns="0" rtlCol="0" anchor="ctr"/>
          <a:lstStyle/>
          <a:p>
            <a:pPr indent="0" marL="0">
              <a:buNone/>
            </a:pPr>
            <a:r>
              <a:rPr lang="en-US" sz="2200" b="1" dirty="0">
                <a:solidFill>
                  <a:schemeClr val="accent2"/>
                </a:solidFill>
              </a:rPr>
              <a:t>3</a:t>
            </a:r>
            <a:endParaRPr lang="en-US" sz="2200" dirty="0"/>
          </a:p>
        </p:txBody>
      </p:sp>
      <p:sp>
        <p:nvSpPr>
          <p:cNvPr id="16" name="Text 13"/>
          <p:cNvSpPr txBox="1"/>
          <p:nvPr/>
        </p:nvSpPr>
        <p:spPr>
          <a:xfrm>
            <a:off x="5120640" y="3941064"/>
            <a:ext cx="6400800" cy="274320"/>
          </a:xfrm>
          <a:prstGeom prst="rect">
            <a:avLst/>
          </a:prstGeom>
          <a:noFill/>
          <a:ln/>
        </p:spPr>
        <p:txBody>
          <a:bodyPr wrap="square" lIns="0" tIns="0" rIns="0" bIns="0" rtlCol="0" anchor="ctr"/>
          <a:lstStyle/>
          <a:p>
            <a:pPr indent="0" marL="0">
              <a:buNone/>
            </a:pPr>
            <a:r>
              <a:rPr lang="en-US" sz="1250" b="1" dirty="0">
                <a:solidFill>
                  <a:schemeClr val="tx1"/>
                </a:solidFill>
              </a:rPr>
              <a:t>점수와 구간</a:t>
            </a:r>
            <a:endParaRPr lang="en-US" sz="1250" dirty="0"/>
          </a:p>
        </p:txBody>
      </p:sp>
      <p:sp>
        <p:nvSpPr>
          <p:cNvPr id="17" name="Text 14"/>
          <p:cNvSpPr txBox="1"/>
          <p:nvPr/>
        </p:nvSpPr>
        <p:spPr>
          <a:xfrm>
            <a:off x="5120640" y="4215384"/>
            <a:ext cx="6400800" cy="502920"/>
          </a:xfrm>
          <a:prstGeom prst="rect">
            <a:avLst/>
          </a:prstGeom>
          <a:noFill/>
          <a:ln/>
        </p:spPr>
        <p:txBody>
          <a:bodyPr wrap="square" lIns="0" tIns="0" rIns="0" bIns="0" rtlCol="0" anchor="t"/>
          <a:lstStyle/>
          <a:p>
            <a:pPr indent="0" marL="0">
              <a:buNone/>
            </a:pPr>
            <a:r>
              <a:rPr lang="en-US" sz="1050" dirty="0">
                <a:solidFill>
                  <a:schemeClr val="accent4"/>
                </a:solidFill>
              </a:rPr>
              <a:t>점수 = z(만입도) + 0.5 z(노출) + 0.5 z(log 띠 폭), 해안선 방향 100 m 이동평균 → 200 m 구간 → 점수 순으로 길이 예산(30%)을 채움</a:t>
            </a:r>
            <a:endParaRPr lang="en-US" sz="1050" dirty="0"/>
          </a:p>
        </p:txBody>
      </p:sp>
      <p:sp>
        <p:nvSpPr>
          <p:cNvPr id="18" name="fs 경로와 소티"/>
          <p:cNvSpPr/>
          <p:nvPr/>
        </p:nvSpPr>
        <p:spPr>
          <a:xfrm>
            <a:off x="4434840" y="4855464"/>
            <a:ext cx="7205472" cy="914400"/>
          </a:xfrm>
          <a:prstGeom prst="roundRect">
            <a:avLst>
              <a:gd name="adj" fmla="val 10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9" name="Text 16"/>
          <p:cNvSpPr txBox="1"/>
          <p:nvPr/>
        </p:nvSpPr>
        <p:spPr>
          <a:xfrm>
            <a:off x="4617720" y="4855464"/>
            <a:ext cx="457200" cy="914400"/>
          </a:xfrm>
          <a:prstGeom prst="rect">
            <a:avLst/>
          </a:prstGeom>
          <a:noFill/>
          <a:ln/>
        </p:spPr>
        <p:txBody>
          <a:bodyPr wrap="square" lIns="0" tIns="0" rIns="0" bIns="0" rtlCol="0" anchor="ctr"/>
          <a:lstStyle/>
          <a:p>
            <a:pPr indent="0" marL="0">
              <a:buNone/>
            </a:pPr>
            <a:r>
              <a:rPr lang="en-US" sz="2200" b="1" dirty="0">
                <a:solidFill>
                  <a:schemeClr val="accent2"/>
                </a:solidFill>
              </a:rPr>
              <a:t>4</a:t>
            </a:r>
            <a:endParaRPr lang="en-US" sz="2200" dirty="0"/>
          </a:p>
        </p:txBody>
      </p:sp>
      <p:sp>
        <p:nvSpPr>
          <p:cNvPr id="20" name="Text 17"/>
          <p:cNvSpPr txBox="1"/>
          <p:nvPr/>
        </p:nvSpPr>
        <p:spPr>
          <a:xfrm>
            <a:off x="5120640" y="4965192"/>
            <a:ext cx="6400800" cy="274320"/>
          </a:xfrm>
          <a:prstGeom prst="rect">
            <a:avLst/>
          </a:prstGeom>
          <a:noFill/>
          <a:ln/>
        </p:spPr>
        <p:txBody>
          <a:bodyPr wrap="square" lIns="0" tIns="0" rIns="0" bIns="0" rtlCol="0" anchor="ctr"/>
          <a:lstStyle/>
          <a:p>
            <a:pPr indent="0" marL="0">
              <a:buNone/>
            </a:pPr>
            <a:r>
              <a:rPr lang="en-US" sz="1250" b="1" dirty="0">
                <a:solidFill>
                  <a:schemeClr val="tx1"/>
                </a:solidFill>
              </a:rPr>
              <a:t>경로와 소티</a:t>
            </a:r>
            <a:endParaRPr lang="en-US" sz="1250" dirty="0"/>
          </a:p>
        </p:txBody>
      </p:sp>
      <p:sp>
        <p:nvSpPr>
          <p:cNvPr id="21" name="Text 18"/>
          <p:cNvSpPr txBox="1"/>
          <p:nvPr/>
        </p:nvSpPr>
        <p:spPr>
          <a:xfrm>
            <a:off x="5120640" y="5239512"/>
            <a:ext cx="6400800" cy="502920"/>
          </a:xfrm>
          <a:prstGeom prst="rect">
            <a:avLst/>
          </a:prstGeom>
          <a:noFill/>
          <a:ln/>
        </p:spPr>
        <p:txBody>
          <a:bodyPr wrap="square" lIns="0" tIns="0" rIns="0" bIns="0" rtlCol="0" anchor="t"/>
          <a:lstStyle/>
          <a:p>
            <a:pPr indent="0" marL="0">
              <a:buNone/>
            </a:pPr>
            <a:r>
              <a:rPr lang="en-US" sz="1050" dirty="0">
                <a:solidFill>
                  <a:schemeClr val="accent4"/>
                </a:solidFill>
              </a:rPr>
              <a:t>선택 구간마다 해안선을 안쪽으로 밀어 코리더 웨이포인트 → 최근접 이웃 + 2-opt → 소티당 비행거리 예산(기본 5 km)으로 자름 → KML</a:t>
            </a:r>
            <a:endParaRPr lang="en-US" sz="1050" dirty="0"/>
          </a:p>
        </p:txBody>
      </p:sp>
      <p:sp>
        <p:nvSpPr>
          <p:cNvPr id="22"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코드: route_optimization/litter3d/priority.py · 입력은 Sentinel-2 공개 자료(AWS COG)라 비용 0, 상용 고해상 위성(3DLabs ARD)은 띠 폭·해안선 정확도를 올리는 상위 입력</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기술 A · 해류·조석 분석: 어느 면에 쌓이는가</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형상 점수는 '어느 200 m'를 고르고, 해류·조석은 '어느 섬·어느 면'을 고릅니다. 두 층을 겹쳐 씁니다.</a:t>
            </a:r>
            <a:endParaRPr lang="en-US" sz="1400" dirty="0"/>
          </a:p>
        </p:txBody>
      </p:sp>
      <p:pic>
        <p:nvPicPr>
          <p:cNvPr id="4" name="인천·강화 조류 흐름" descr="/tmp/claude-0/-home-user-hsr1m/6022f0b4-b8f8-52b0-8810-837ebd6bfbe9/scratchpad/deck/img/fig_frame_00390.jpg">    </p:cNvPr>
          <p:cNvPicPr>
            <a:picLocks noChangeAspect="1"/>
          </p:cNvPicPr>
          <p:nvPr/>
        </p:nvPicPr>
        <p:blipFill>
          <a:blip r:embed="rId1"/>
          <a:srcRect l="0" r="0" t="0" b="0"/>
          <a:stretch/>
        </p:blipFill>
        <p:spPr>
          <a:xfrm>
            <a:off x="548640" y="1783080"/>
            <a:ext cx="3200400" cy="1801368"/>
          </a:xfrm>
          <a:prstGeom prst="rect">
            <a:avLst/>
          </a:prstGeom>
        </p:spPr>
      </p:pic>
      <p:sp>
        <p:nvSpPr>
          <p:cNvPr id="5" name="Text 2"/>
          <p:cNvSpPr txBox="1"/>
          <p:nvPr/>
        </p:nvSpPr>
        <p:spPr>
          <a:xfrm>
            <a:off x="548640" y="3602736"/>
            <a:ext cx="3200400" cy="329184"/>
          </a:xfrm>
          <a:prstGeom prst="rect">
            <a:avLst/>
          </a:prstGeom>
          <a:noFill/>
          <a:ln/>
        </p:spPr>
        <p:txBody>
          <a:bodyPr wrap="square" lIns="0" tIns="0" rIns="0" bIns="0" rtlCol="0" anchor="t"/>
          <a:lstStyle/>
          <a:p>
            <a:pPr indent="0" marL="0">
              <a:buNone/>
            </a:pPr>
            <a:r>
              <a:rPr lang="en-US" sz="900" dirty="0">
                <a:solidFill>
                  <a:schemeClr val="accent4"/>
                </a:solidFill>
              </a:rPr>
              <a:t>① 우리 조석 모델(M2+S2 연속방정식): 인천·강화 200 m 격자의 조류 흐름장, 입자 15,000개·30일.</a:t>
            </a:r>
            <a:endParaRPr lang="en-US" sz="900" dirty="0"/>
          </a:p>
        </p:txBody>
      </p:sp>
      <p:pic>
        <p:nvPicPr>
          <p:cNvPr id="6" name="집적 예상 해안" descr="/tmp/claude-0/-home-user-hsr1m/6022f0b4-b8f8-52b0-8810-837ebd6bfbe9/scratchpad/deck/img/fig_frame_01811.jpg">    </p:cNvPr>
          <p:cNvPicPr>
            <a:picLocks noChangeAspect="1"/>
          </p:cNvPicPr>
          <p:nvPr/>
        </p:nvPicPr>
        <p:blipFill>
          <a:blip r:embed="rId2"/>
          <a:srcRect l="0" r="0" t="0" b="0"/>
          <a:stretch/>
        </p:blipFill>
        <p:spPr>
          <a:xfrm>
            <a:off x="548640" y="3950208"/>
            <a:ext cx="3200400" cy="1801368"/>
          </a:xfrm>
          <a:prstGeom prst="rect">
            <a:avLst/>
          </a:prstGeom>
        </p:spPr>
      </p:pic>
      <p:sp>
        <p:nvSpPr>
          <p:cNvPr id="7" name="Text 3"/>
          <p:cNvSpPr txBox="1"/>
          <p:nvPr/>
        </p:nvSpPr>
        <p:spPr>
          <a:xfrm>
            <a:off x="548640" y="5769864"/>
            <a:ext cx="3200400" cy="256032"/>
          </a:xfrm>
          <a:prstGeom prst="rect">
            <a:avLst/>
          </a:prstGeom>
          <a:noFill/>
          <a:ln/>
        </p:spPr>
        <p:txBody>
          <a:bodyPr wrap="square" lIns="0" tIns="0" rIns="0" bIns="0" rtlCol="0" anchor="t"/>
          <a:lstStyle/>
          <a:p>
            <a:pPr indent="0" marL="0">
              <a:buNone/>
            </a:pPr>
            <a:r>
              <a:rPr lang="en-US" sz="900" dirty="0">
                <a:solidFill>
                  <a:schemeClr val="accent4"/>
                </a:solidFill>
              </a:rPr>
              <a:t>① 30일 뒤 좌초 분포 → 집적 해안 상위 구간(붉은색).</a:t>
            </a:r>
            <a:endParaRPr lang="en-US" sz="900" dirty="0"/>
          </a:p>
        </p:txBody>
      </p:sp>
      <p:pic>
        <p:nvPicPr>
          <p:cNvPr id="8" name="경기만 OpenDrift 좌초 밀도" descr="/tmp/claude-0/-home-user-hsr1m/6022f0b4-b8f8-52b0-8810-837ebd6bfbe9/scratchpad/deck/img/fig_40_stranding_density_map.jpg">    </p:cNvPr>
          <p:cNvPicPr>
            <a:picLocks noChangeAspect="1"/>
          </p:cNvPicPr>
          <p:nvPr/>
        </p:nvPicPr>
        <p:blipFill>
          <a:blip r:embed="rId3"/>
          <a:srcRect l="0" r="0" t="0" b="0"/>
          <a:stretch/>
        </p:blipFill>
        <p:spPr>
          <a:xfrm>
            <a:off x="3931920" y="1783080"/>
            <a:ext cx="3840480" cy="2432304"/>
          </a:xfrm>
          <a:prstGeom prst="rect">
            <a:avLst/>
          </a:prstGeom>
        </p:spPr>
      </p:pic>
      <p:sp>
        <p:nvSpPr>
          <p:cNvPr id="9" name="Text 4"/>
          <p:cNvSpPr txBox="1"/>
          <p:nvPr/>
        </p:nvSpPr>
        <p:spPr>
          <a:xfrm>
            <a:off x="3931920" y="4233672"/>
            <a:ext cx="3840480" cy="438912"/>
          </a:xfrm>
          <a:prstGeom prst="rect">
            <a:avLst/>
          </a:prstGeom>
          <a:noFill/>
          <a:ln/>
        </p:spPr>
        <p:txBody>
          <a:bodyPr wrap="square" lIns="0" tIns="0" rIns="0" bIns="0" rtlCol="0" anchor="t"/>
          <a:lstStyle/>
          <a:p>
            <a:pPr indent="0" marL="0">
              <a:buNone/>
            </a:pPr>
            <a:r>
              <a:rPr lang="en-US" sz="900" dirty="0">
                <a:solidFill>
                  <a:schemeClr val="accent4"/>
                </a:solidFill>
              </a:rPr>
              <a:t>② OpenDrift(Open-Meteo·Copernicus SMOC 1/12°, 조석 포함): 90일 표류·좌초, 해안 200 m 구간 밀도 → 집적 해안 상위 15%.</a:t>
            </a:r>
            <a:endParaRPr lang="en-US" sz="900" dirty="0"/>
          </a:p>
        </p:txBody>
      </p:sp>
      <p:sp>
        <p:nvSpPr>
          <p:cNvPr id="10" name="card 쓰임: 두 층 규칙"/>
          <p:cNvSpPr/>
          <p:nvPr/>
        </p:nvSpPr>
        <p:spPr>
          <a:xfrm>
            <a:off x="3931920" y="4709160"/>
            <a:ext cx="384048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1" name="Text 6"/>
          <p:cNvSpPr txBox="1"/>
          <p:nvPr/>
        </p:nvSpPr>
        <p:spPr>
          <a:xfrm>
            <a:off x="4206240" y="4965192"/>
            <a:ext cx="3291840" cy="384048"/>
          </a:xfrm>
          <a:prstGeom prst="rect">
            <a:avLst/>
          </a:prstGeom>
          <a:noFill/>
          <a:ln/>
        </p:spPr>
        <p:txBody>
          <a:bodyPr wrap="square" lIns="0" tIns="0" rIns="0" bIns="0" rtlCol="0" anchor="t"/>
          <a:lstStyle/>
          <a:p>
            <a:pPr indent="0" marL="0">
              <a:buNone/>
            </a:pPr>
            <a:r>
              <a:rPr lang="en-US" sz="1250" b="1" dirty="0">
                <a:solidFill>
                  <a:schemeClr val="tx1"/>
                </a:solidFill>
              </a:rPr>
              <a:t>쓰임: 두 층 규칙</a:t>
            </a:r>
            <a:endParaRPr lang="en-US" sz="1250" dirty="0"/>
          </a:p>
        </p:txBody>
      </p:sp>
      <p:sp>
        <p:nvSpPr>
          <p:cNvPr id="12" name="Text 7"/>
          <p:cNvSpPr txBox="1"/>
          <p:nvPr/>
        </p:nvSpPr>
        <p:spPr>
          <a:xfrm>
            <a:off x="4206240" y="5404104"/>
            <a:ext cx="3291840" cy="457200"/>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광역 층(조석 모델·해류 통계)이 어느 섬·어느 면인지를, 국지 층(위성 형상)이 그 면 안의 어느 200 m인지를 정합니다. 해류에서 뽑은 풍향·잔차류 방향은 형상 점수의 '노출' 입력이 됩니다.</a:t>
            </a:r>
            <a:endParaRPr lang="en-US" sz="1000" dirty="0"/>
          </a:p>
        </p:txBody>
      </p:sp>
      <p:pic>
        <p:nvPicPr>
          <p:cNvPr id="13" name="문갑도 OpenDrift 좌초 vs 라벨" descr="/tmp/claude-0/-home-user-hsr1m/6022f0b4-b8f8-52b0-8810-837ebd6bfbe9/scratchpad/deck/img/fig_50_mungap_stranding_vs_labels_map.jpg">    </p:cNvPr>
          <p:cNvPicPr>
            <a:picLocks noChangeAspect="1"/>
          </p:cNvPicPr>
          <p:nvPr/>
        </p:nvPicPr>
        <p:blipFill>
          <a:blip r:embed="rId4"/>
          <a:srcRect l="0" r="0" t="0" b="0"/>
          <a:stretch/>
        </p:blipFill>
        <p:spPr>
          <a:xfrm>
            <a:off x="7955280" y="1783080"/>
            <a:ext cx="3685032" cy="3538728"/>
          </a:xfrm>
          <a:prstGeom prst="rect">
            <a:avLst/>
          </a:prstGeom>
        </p:spPr>
      </p:pic>
      <p:sp>
        <p:nvSpPr>
          <p:cNvPr id="14" name="Text 8"/>
          <p:cNvSpPr txBox="1"/>
          <p:nvPr/>
        </p:nvSpPr>
        <p:spPr>
          <a:xfrm>
            <a:off x="7955280" y="5349240"/>
            <a:ext cx="3685032" cy="548640"/>
          </a:xfrm>
          <a:prstGeom prst="rect">
            <a:avLst/>
          </a:prstGeom>
          <a:noFill/>
          <a:ln/>
        </p:spPr>
        <p:txBody>
          <a:bodyPr wrap="square" lIns="0" tIns="0" rIns="0" bIns="0" rtlCol="0" anchor="t"/>
          <a:lstStyle/>
          <a:p>
            <a:pPr indent="0" marL="0">
              <a:buNone/>
            </a:pPr>
            <a:r>
              <a:rPr lang="en-US" sz="900" dirty="0">
                <a:solidFill>
                  <a:schemeClr val="accent4"/>
                </a:solidFill>
              </a:rPr>
              <a:t>③ 문갑도: 조사일 전 8주 입자 16,000개 좌초(주황)와 업체 라벨 42개(별). KHOA 조류예보로 위상·회전·유속 보정.</a:t>
            </a:r>
            <a:endParaRPr lang="en-US" sz="900" dirty="0"/>
          </a:p>
        </p:txBody>
      </p:sp>
      <p:sp>
        <p:nvSpPr>
          <p:cNvPr id="15"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모델: incheon_debris_sim(조석 연속방정식) · OpenDrift 1.14(RK4 20분, 풍압 2%, 확산 10 m²/s) · 자료: Open-Meteo Marine(SMOC), ERA5 바람, KHOA 조류예보, Sentinel-2 해안선</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기술 B · 촬영 거리는 물체 크기에서 역산했다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계획을 바꾸는 물체(어망·부표·스티로폼 더미, 수십 cm)는 20 m에서 잡히고, 부피를 재야 하는 물체는 3~8 m 선회에서 3D가 선다. 두 고도가 한 비행 안에 있습니다.</a:t>
            </a:r>
            <a:endParaRPr lang="en-US" sz="1400" dirty="0"/>
          </a:p>
        </p:txBody>
      </p:sp>
      <p:sp>
        <p:nvSpPr>
          <p:cNvPr id="4" name="gsd card"/>
          <p:cNvSpPr/>
          <p:nvPr/>
        </p:nvSpPr>
        <p:spPr>
          <a:xfrm>
            <a:off x="548640" y="1783080"/>
            <a:ext cx="6675120" cy="2880360"/>
          </a:xfrm>
          <a:prstGeom prst="roundRect">
            <a:avLst>
              <a:gd name="adj" fmla="val 381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Text 3"/>
          <p:cNvSpPr txBox="1"/>
          <p:nvPr/>
        </p:nvSpPr>
        <p:spPr>
          <a:xfrm>
            <a:off x="777240" y="1874520"/>
            <a:ext cx="6309360" cy="274320"/>
          </a:xfrm>
          <a:prstGeom prst="rect">
            <a:avLst/>
          </a:prstGeom>
          <a:noFill/>
          <a:ln/>
        </p:spPr>
        <p:txBody>
          <a:bodyPr wrap="square" lIns="0" tIns="0" rIns="0" bIns="0" rtlCol="0" anchor="ctr"/>
          <a:lstStyle/>
          <a:p>
            <a:pPr indent="0" marL="0">
              <a:buNone/>
            </a:pPr>
            <a:r>
              <a:rPr lang="en-US" sz="1150" b="1" dirty="0">
                <a:solidFill>
                  <a:schemeClr val="tx1"/>
                </a:solidFill>
              </a:rPr>
              <a:t>고도별 지상 해상도와 물체 크기 (4K 3840 px, 24 mm 상당 화각 73.7° 기준 계산값)</a:t>
            </a:r>
            <a:endParaRPr lang="en-US" sz="1150" dirty="0"/>
          </a:p>
        </p:txBody>
      </p:sp>
      <p:graphicFrame>
        <p:nvGraphicFramePr>
          <p:cNvPr id="19" name="gsd table"/>
          <p:cNvGraphicFramePr>
            <a:graphicFrameLocks noGrp="1"/>
          </p:cNvGraphicFramePr>
          <p:nvPr>
            <p:extLst>
              <p:ext uri="{D42A27DB-BD31-4B8C-83A1-F6EECF244321}">
                <p14:modId xmlns:p14="http://schemas.microsoft.com/office/powerpoint/2010/main" val="1579011935"/>
              </p:ext>
            </p:extLst>
          </p:nvPr>
        </p:nvGraphicFramePr>
        <p:xfrm>
          <a:off x="777240" y="2194560"/>
          <a:ext cx="6217920" cy="914400"/>
        </p:xfrm>
        <a:graphic>
          <a:graphicData uri="http://schemas.openxmlformats.org/drawingml/2006/table">
            <a:tbl>
              <a:tblPr/>
              <a:tblGrid>
                <a:gridCol w="685800"/>
                <a:gridCol w="1005840"/>
                <a:gridCol w="914400"/>
                <a:gridCol w="914400"/>
                <a:gridCol w="960120"/>
                <a:gridCol w="1737360"/>
              </a:tblGrid>
              <a:tr h="329184">
                <a:tc>
                  <a:txBody>
                    <a:bodyPr/>
                    <a:lstStyle/>
                    <a:p>
                      <a:pPr indent="0" marL="0">
                        <a:buNone/>
                      </a:pPr>
                      <a:r>
                        <a:rPr lang="en-US" sz="1000" b="1" dirty="0">
                          <a:solidFill>
                            <a:srgbClr val="0B3C5D"/>
                          </a:solidFill>
                        </a:rPr>
                        <a:t>고도</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GSD (cm/px)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2.5 cm 물체</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10 cm 물체</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40 cm 물체</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용도</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r>
              <a:tr h="329184">
                <a:tc>
                  <a:txBody>
                    <a:bodyPr/>
                    <a:lstStyle/>
                    <a:p>
                      <a:pPr indent="0" marL="0">
                        <a:buNone/>
                      </a:pPr>
                      <a:r>
                        <a:rPr lang="en-US" sz="1000" dirty="0">
                          <a:solidFill>
                            <a:srgbClr val="10212E"/>
                          </a:solidFill>
                        </a:rPr>
                        <a:t>20 m</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0.78</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3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13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51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1차 커버리지: 큰 물체 탐지</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12E"/>
                          </a:solidFill>
                        </a:rPr>
                        <a:t>8 m</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0.31</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8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32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128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애매한 후보 재방문 확정</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12E"/>
                          </a:solidFill>
                        </a:rPr>
                        <a:t>3~4 m</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0.12~0.16</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16~21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64~85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250~340 px</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선회 3D 부피·무게</a:t>
                      </a:r>
                      <a:endParaRPr lang="en-US" sz="1000" dirty="0"/>
                    </a:p>
                  </a:txBody>
                  <a:tcPr marL="45720" marR="45720" marT="45720" marB="45720">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77240" y="3886200"/>
            <a:ext cx="6217920" cy="731520"/>
          </a:xfrm>
          <a:prstGeom prst="rect">
            <a:avLst/>
          </a:prstGeom>
          <a:noFill/>
          <a:ln/>
        </p:spPr>
        <p:txBody>
          <a:bodyPr wrap="square" lIns="0" tIns="0" rIns="0" bIns="0" rtlCol="0" anchor="t"/>
          <a:lstStyle/>
          <a:p>
            <a:pPr indent="0" marL="0">
              <a:buNone/>
            </a:pPr>
            <a:r>
              <a:rPr lang="en-US" sz="1050" dirty="0">
                <a:solidFill>
                  <a:schemeClr val="accent4"/>
                </a:solidFill>
              </a:rPr>
              <a:t>문헌 권고 GSD 0.5~1.25 cm/px 안에 1차 비행(0.78)이 들어가고, 선회 비행은 그보다 4~6배 촘촘합니다. 매크로쓰레기 정의는 2.5 cm 이상, 해변 플라스틱 조각 중앙값은 약 9.7 cm입니다.</a:t>
            </a:r>
            <a:endParaRPr lang="en-US" sz="1050" dirty="0"/>
          </a:p>
        </p:txBody>
      </p:sp>
      <p:sp>
        <p:nvSpPr>
          <p:cNvPr id="8" name="card 탐지: 권고 GSD 0.5~1.25 cm/px"/>
          <p:cNvSpPr/>
          <p:nvPr/>
        </p:nvSpPr>
        <p:spPr>
          <a:xfrm>
            <a:off x="7498080" y="1783080"/>
            <a:ext cx="4142232"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9" name="Text 6"/>
          <p:cNvSpPr txBox="1"/>
          <p:nvPr/>
        </p:nvSpPr>
        <p:spPr>
          <a:xfrm>
            <a:off x="7772400" y="2039112"/>
            <a:ext cx="3593592" cy="384048"/>
          </a:xfrm>
          <a:prstGeom prst="rect">
            <a:avLst/>
          </a:prstGeom>
          <a:noFill/>
          <a:ln/>
        </p:spPr>
        <p:txBody>
          <a:bodyPr wrap="square" lIns="0" tIns="0" rIns="0" bIns="0" rtlCol="0" anchor="t"/>
          <a:lstStyle/>
          <a:p>
            <a:pPr indent="0" marL="0">
              <a:buNone/>
            </a:pPr>
            <a:r>
              <a:rPr lang="en-US" sz="1250" b="1" dirty="0">
                <a:solidFill>
                  <a:schemeClr val="tx1"/>
                </a:solidFill>
              </a:rPr>
              <a:t>탐지: 권고 GSD 0.5~1.25 cm/px</a:t>
            </a:r>
            <a:endParaRPr lang="en-US" sz="1250" dirty="0"/>
          </a:p>
        </p:txBody>
      </p:sp>
      <p:sp>
        <p:nvSpPr>
          <p:cNvPr id="10" name="Text 7"/>
          <p:cNvSpPr txBox="1"/>
          <p:nvPr/>
        </p:nvSpPr>
        <p:spPr>
          <a:xfrm>
            <a:off x="7772400" y="2478024"/>
            <a:ext cx="3593592" cy="548640"/>
          </a:xfrm>
          <a:prstGeom prst="rect">
            <a:avLst/>
          </a:prstGeom>
          <a:noFill/>
          <a:ln/>
        </p:spPr>
        <p:txBody>
          <a:bodyPr wrap="square" lIns="0" tIns="0" rIns="0" bIns="0" rtlCol="0" anchor="t"/>
          <a:lstStyle/>
          <a:p>
            <a:pPr indent="0" marL="0">
              <a:spcAft>
                <a:spcPts val="400"/>
              </a:spcAft>
              <a:buNone/>
            </a:pPr>
            <a:r>
              <a:rPr lang="en-US" sz="1050" dirty="0">
                <a:solidFill>
                  <a:schemeClr val="accent4"/>
                </a:solidFill>
              </a:rPr>
              <a:t>15개 드론 해안쓰레기 연구의 평균 고도 약 20 m. 10 m에서 5 cm 이상 물체 탐지 90% 초과, 2.5 cm는 73~81%.</a:t>
            </a:r>
            <a:endParaRPr lang="en-US" sz="1050" dirty="0"/>
          </a:p>
        </p:txBody>
      </p:sp>
      <p:sp>
        <p:nvSpPr>
          <p:cNvPr id="11" name="card 3D 부피: 17 m·5 mm/px로 충분 (Kako 2020)"/>
          <p:cNvSpPr/>
          <p:nvPr/>
        </p:nvSpPr>
        <p:spPr>
          <a:xfrm>
            <a:off x="7498080" y="3291840"/>
            <a:ext cx="4142232"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2" name="Text 9"/>
          <p:cNvSpPr txBox="1"/>
          <p:nvPr/>
        </p:nvSpPr>
        <p:spPr>
          <a:xfrm>
            <a:off x="7772400" y="3547872"/>
            <a:ext cx="3593592" cy="384048"/>
          </a:xfrm>
          <a:prstGeom prst="rect">
            <a:avLst/>
          </a:prstGeom>
          <a:noFill/>
          <a:ln/>
        </p:spPr>
        <p:txBody>
          <a:bodyPr wrap="square" lIns="0" tIns="0" rIns="0" bIns="0" rtlCol="0" anchor="t"/>
          <a:lstStyle/>
          <a:p>
            <a:pPr indent="0" marL="0">
              <a:buNone/>
            </a:pPr>
            <a:r>
              <a:rPr lang="en-US" sz="1250" b="1" dirty="0">
                <a:solidFill>
                  <a:schemeClr val="tx1"/>
                </a:solidFill>
              </a:rPr>
              <a:t>3D 부피: 17 m·5 mm/px로 충분 (Kako 2020)</a:t>
            </a:r>
            <a:endParaRPr lang="en-US" sz="1250" dirty="0"/>
          </a:p>
        </p:txBody>
      </p:sp>
      <p:sp>
        <p:nvSpPr>
          <p:cNvPr id="13" name="Text 10"/>
          <p:cNvSpPr txBox="1"/>
          <p:nvPr/>
        </p:nvSpPr>
        <p:spPr>
          <a:xfrm>
            <a:off x="7772400" y="3986784"/>
            <a:ext cx="3593592" cy="548640"/>
          </a:xfrm>
          <a:prstGeom prst="rect">
            <a:avLst/>
          </a:prstGeom>
          <a:noFill/>
          <a:ln/>
        </p:spPr>
        <p:txBody>
          <a:bodyPr wrap="square" lIns="0" tIns="0" rIns="0" bIns="0" rtlCol="0" anchor="t"/>
          <a:lstStyle/>
          <a:p>
            <a:pPr indent="0" marL="0">
              <a:spcAft>
                <a:spcPts val="400"/>
              </a:spcAft>
              <a:buNone/>
            </a:pPr>
            <a:r>
              <a:rPr lang="en-US" sz="1050" dirty="0">
                <a:solidFill>
                  <a:schemeClr val="accent4"/>
                </a:solidFill>
              </a:rPr>
              <a:t>우리는 더 가까운 3~8 m 선회. 1초 간격 3프레임 시차가 10 m에서 약 53°, 20 m에서 28°라 삼각측량·SfM이 안정적.</a:t>
            </a:r>
            <a:endParaRPr lang="en-US" sz="1050" dirty="0"/>
          </a:p>
        </p:txBody>
      </p:sp>
      <p:sp>
        <p:nvSpPr>
          <p:cNvPr id="14" name="guide card"/>
          <p:cNvSpPr/>
          <p:nvPr/>
        </p:nvSpPr>
        <p:spPr>
          <a:xfrm>
            <a:off x="548640" y="4846320"/>
            <a:ext cx="11091672" cy="1097280"/>
          </a:xfrm>
          <a:prstGeom prst="roundRect">
            <a:avLst>
              <a:gd name="adj" fmla="val 10000"/>
            </a:avLst>
          </a:prstGeom>
          <a:solidFill>
            <a:srgbClr val="0B3C5D"/>
          </a:solidFill>
          <a:ln w="12700">
            <a:solidFill>
              <a:srgbClr val="0B3C5D"/>
            </a:solidFill>
            <a:prstDash val="solid"/>
          </a:ln>
        </p:spPr>
      </p:sp>
      <p:pic>
        <p:nvPicPr>
          <p:cNvPr id="15" name="icon camera" descr="preencoded.png">    </p:cNvPr>
          <p:cNvPicPr>
            <a:picLocks noChangeAspect="1"/>
          </p:cNvPicPr>
          <p:nvPr/>
        </p:nvPicPr>
        <p:blipFill>
          <a:blip r:embed="rId1"/>
          <a:stretch>
            <a:fillRect/>
          </a:stretch>
        </p:blipFill>
        <p:spPr>
          <a:xfrm>
            <a:off x="868680" y="5120640"/>
            <a:ext cx="457200" cy="457200"/>
          </a:xfrm>
          <a:prstGeom prst="rect">
            <a:avLst/>
          </a:prstGeom>
        </p:spPr>
      </p:pic>
      <p:sp>
        <p:nvSpPr>
          <p:cNvPr id="16" name="Text 12"/>
          <p:cNvSpPr txBox="1"/>
          <p:nvPr/>
        </p:nvSpPr>
        <p:spPr>
          <a:xfrm>
            <a:off x="1554480" y="4956048"/>
            <a:ext cx="9601200" cy="320040"/>
          </a:xfrm>
          <a:prstGeom prst="rect">
            <a:avLst/>
          </a:prstGeom>
          <a:noFill/>
          <a:ln/>
        </p:spPr>
        <p:txBody>
          <a:bodyPr wrap="square" lIns="0" tIns="0" rIns="0" bIns="0" rtlCol="0" anchor="ctr"/>
          <a:lstStyle/>
          <a:p>
            <a:pPr indent="0" marL="0">
              <a:buNone/>
            </a:pPr>
            <a:r>
              <a:rPr lang="en-US" sz="1300" b="1" dirty="0">
                <a:solidFill>
                  <a:schemeClr val="bg1"/>
                </a:solidFill>
              </a:rPr>
              <a:t>선회 촬영 가이드</a:t>
            </a:r>
            <a:endParaRPr lang="en-US" sz="1300" dirty="0"/>
          </a:p>
        </p:txBody>
      </p:sp>
      <p:sp>
        <p:nvSpPr>
          <p:cNvPr id="17" name="Text 13"/>
          <p:cNvSpPr txBox="1"/>
          <p:nvPr/>
        </p:nvSpPr>
        <p:spPr>
          <a:xfrm>
            <a:off x="1554480" y="5285232"/>
            <a:ext cx="9875520" cy="640080"/>
          </a:xfrm>
          <a:prstGeom prst="rect">
            <a:avLst/>
          </a:prstGeom>
          <a:noFill/>
          <a:ln/>
        </p:spPr>
        <p:txBody>
          <a:bodyPr wrap="square" lIns="0" tIns="0" rIns="0" bIns="0" rtlCol="0" anchor="t"/>
          <a:lstStyle/>
          <a:p>
            <a:pPr indent="0" marL="0">
              <a:buNone/>
            </a:pPr>
            <a:r>
              <a:rPr lang="en-US" sz="1050" dirty="0">
                <a:solidFill>
                  <a:schemeClr val="accent5"/>
                </a:solidFill>
              </a:rPr>
              <a:t>고도 3~4 m · 반경 3 m · 짐벌 45° 한 바퀴 + 수직 1장 · SRT 켜기 · 기준 물체 1개. 1차 커버리지는 20 m 통과 비행으로 충분하고(야간 10분 비행에서 상자 30개 탐지·지도화), 부피가 필요한 물체만 선회합니다. 3·5·7 m 선회 통제 실험으로 고도별 편향을 확정할 예정.</a:t>
            </a:r>
            <a:endParaRPr lang="en-US" sz="1050" dirty="0"/>
          </a:p>
        </p:txBody>
      </p:sp>
      <p:sp>
        <p:nvSpPr>
          <p:cNvPr id="18"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근거: Andriolo, Topouzelis, van Emmerik et al. (2023) Marine Pollution Bulletin 195:115521 · Andriolo &amp; Gonçalves (2022) Environmental Pollution 315:120370 · Kako, Morita &amp; Taneda (2020) MPB 155:111127</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기술 B · 탐지와 3D 위치: 영상 한 편에서 핀을 찍는다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프레임마다 쓰레기를 찾고, 영상 전체로 3D 카메라 자세를 복원한 뒤, 탐지 박스에서 광선을 쏴 지면과 만나는 점을 GPS에 정렬합니다.</a:t>
            </a:r>
            <a:endParaRPr lang="en-US" sz="1400" dirty="0"/>
          </a:p>
        </p:txBody>
      </p:sp>
      <p:pic>
        <p:nvPicPr>
          <p:cNvPr id="4" name="탐지 물체 위치 3D 기준" descr="/tmp/claude-0/-home-user-hsr1m/6022f0b4-b8f8-52b0-8810-837ebd6bfbe9/scratchpad/deck/img/fig_04_물체위치_개요.jpg">    </p:cNvPr>
          <p:cNvPicPr>
            <a:picLocks noChangeAspect="1"/>
          </p:cNvPicPr>
          <p:nvPr/>
        </p:nvPicPr>
        <p:blipFill>
          <a:blip r:embed="rId1"/>
          <a:srcRect l="0" r="0" t="0" b="0"/>
          <a:stretch/>
        </p:blipFill>
        <p:spPr>
          <a:xfrm>
            <a:off x="548640" y="1783080"/>
            <a:ext cx="3657600" cy="3657600"/>
          </a:xfrm>
          <a:prstGeom prst="rect">
            <a:avLst/>
          </a:prstGeom>
        </p:spPr>
      </p:pic>
      <p:sp>
        <p:nvSpPr>
          <p:cNvPr id="5" name="Text 2"/>
          <p:cNvSpPr txBox="1"/>
          <p:nvPr/>
        </p:nvSpPr>
        <p:spPr>
          <a:xfrm>
            <a:off x="548640" y="5458968"/>
            <a:ext cx="3657600" cy="411480"/>
          </a:xfrm>
          <a:prstGeom prst="rect">
            <a:avLst/>
          </a:prstGeom>
          <a:noFill/>
          <a:ln/>
        </p:spPr>
        <p:txBody>
          <a:bodyPr wrap="square" lIns="0" tIns="0" rIns="0" bIns="0" rtlCol="0" anchor="t"/>
          <a:lstStyle/>
          <a:p>
            <a:pPr indent="0" marL="0">
              <a:buNone/>
            </a:pPr>
            <a:r>
              <a:rPr lang="en-US" sz="900" dirty="0">
                <a:solidFill>
                  <a:schemeClr val="accent4"/>
                </a:solidFill>
              </a:rPr>
              <a:t>0007: 3D로 복원한 드론 경로(선)와 탐지 물체 위치(점). 상자 2개가 지도 핀과 일치.</a:t>
            </a:r>
            <a:endParaRPr lang="en-US" sz="900" dirty="0"/>
          </a:p>
        </p:txBody>
      </p:sp>
      <p:sp>
        <p:nvSpPr>
          <p:cNvPr id="6" name="card 탐지: YOLO11-s 타일 추론"/>
          <p:cNvSpPr/>
          <p:nvPr/>
        </p:nvSpPr>
        <p:spPr>
          <a:xfrm>
            <a:off x="4434840" y="1783080"/>
            <a:ext cx="7205472"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7" name="icon circle"/>
          <p:cNvSpPr/>
          <p:nvPr/>
        </p:nvSpPr>
        <p:spPr>
          <a:xfrm>
            <a:off x="4663440" y="1965960"/>
            <a:ext cx="420624" cy="420624"/>
          </a:xfrm>
          <a:prstGeom prst="ellipse">
            <a:avLst/>
          </a:prstGeom>
          <a:solidFill>
            <a:srgbClr val="0B3C5D"/>
          </a:solidFill>
          <a:ln w="12700">
            <a:solidFill>
              <a:srgbClr val="0B3C5D"/>
            </a:solidFill>
            <a:prstDash val="solid"/>
          </a:ln>
        </p:spPr>
      </p:sp>
      <p:pic>
        <p:nvPicPr>
          <p:cNvPr id="8" name="icon FaSearchLocation" descr="preencoded.png">    </p:cNvPr>
          <p:cNvPicPr>
            <a:picLocks noChangeAspect="1"/>
          </p:cNvPicPr>
          <p:nvPr/>
        </p:nvPicPr>
        <p:blipFill>
          <a:blip r:embed="rId2"/>
          <a:stretch>
            <a:fillRect/>
          </a:stretch>
        </p:blipFill>
        <p:spPr>
          <a:xfrm>
            <a:off x="4764024" y="2066544"/>
            <a:ext cx="219456" cy="219456"/>
          </a:xfrm>
          <a:prstGeom prst="rect">
            <a:avLst/>
          </a:prstGeom>
        </p:spPr>
      </p:pic>
      <p:sp>
        <p:nvSpPr>
          <p:cNvPr id="9" name="Text 5"/>
          <p:cNvSpPr txBox="1"/>
          <p:nvPr/>
        </p:nvSpPr>
        <p:spPr>
          <a:xfrm>
            <a:off x="5212080" y="1947672"/>
            <a:ext cx="6199632" cy="457200"/>
          </a:xfrm>
          <a:prstGeom prst="rect">
            <a:avLst/>
          </a:prstGeom>
          <a:noFill/>
          <a:ln/>
        </p:spPr>
        <p:txBody>
          <a:bodyPr wrap="square" lIns="0" tIns="0" rIns="0" bIns="0" rtlCol="0" anchor="ctr"/>
          <a:lstStyle/>
          <a:p>
            <a:pPr indent="0" marL="0">
              <a:buNone/>
            </a:pPr>
            <a:r>
              <a:rPr lang="en-US" sz="1250" b="1" dirty="0">
                <a:solidFill>
                  <a:schemeClr val="tx1"/>
                </a:solidFill>
              </a:rPr>
              <a:t>탐지: YOLO11-s 타일 추론</a:t>
            </a:r>
            <a:endParaRPr lang="en-US" sz="1250" dirty="0"/>
          </a:p>
        </p:txBody>
      </p:sp>
      <p:sp>
        <p:nvSpPr>
          <p:cNvPr id="10" name="Text 6"/>
          <p:cNvSpPr txBox="1"/>
          <p:nvPr/>
        </p:nvSpPr>
        <p:spPr>
          <a:xfrm>
            <a:off x="4709160" y="2459736"/>
            <a:ext cx="6656832" cy="566928"/>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4K 프레임을 1024 타일(겹침 0.2)로 나눠 추론 후 병합. 학습셋은 AI Hub 2,375 + 하와이 1,109 + 튀니지 1,900 + 문갑도 21 = 5,405장·13클래스 통합(운용 고도 해상도 2~4 cm/px로 축소). 현장 신종은 개방형 탐지로 이름만 추가.</a:t>
            </a:r>
            <a:endParaRPr lang="en-US" sz="1000" dirty="0"/>
          </a:p>
        </p:txBody>
      </p:sp>
      <p:sp>
        <p:nvSpPr>
          <p:cNvPr id="11" name="card 3D 위치: 카메라 자세 → 광선 → 지면"/>
          <p:cNvSpPr/>
          <p:nvPr/>
        </p:nvSpPr>
        <p:spPr>
          <a:xfrm>
            <a:off x="4434840" y="3218688"/>
            <a:ext cx="7205472"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2" name="icon circle"/>
          <p:cNvSpPr/>
          <p:nvPr/>
        </p:nvSpPr>
        <p:spPr>
          <a:xfrm>
            <a:off x="4663440" y="3401568"/>
            <a:ext cx="420624" cy="420624"/>
          </a:xfrm>
          <a:prstGeom prst="ellipse">
            <a:avLst/>
          </a:prstGeom>
          <a:solidFill>
            <a:srgbClr val="0B3C5D"/>
          </a:solidFill>
          <a:ln w="12700">
            <a:solidFill>
              <a:srgbClr val="0B3C5D"/>
            </a:solidFill>
            <a:prstDash val="solid"/>
          </a:ln>
        </p:spPr>
      </p:sp>
      <p:pic>
        <p:nvPicPr>
          <p:cNvPr id="13" name="icon FaCrosshairs" descr="preencoded.png">    </p:cNvPr>
          <p:cNvPicPr>
            <a:picLocks noChangeAspect="1"/>
          </p:cNvPicPr>
          <p:nvPr/>
        </p:nvPicPr>
        <p:blipFill>
          <a:blip r:embed="rId3"/>
          <a:stretch>
            <a:fillRect/>
          </a:stretch>
        </p:blipFill>
        <p:spPr>
          <a:xfrm>
            <a:off x="4764024" y="3502152"/>
            <a:ext cx="219456" cy="219456"/>
          </a:xfrm>
          <a:prstGeom prst="rect">
            <a:avLst/>
          </a:prstGeom>
        </p:spPr>
      </p:pic>
      <p:sp>
        <p:nvSpPr>
          <p:cNvPr id="14" name="Text 9"/>
          <p:cNvSpPr txBox="1"/>
          <p:nvPr/>
        </p:nvSpPr>
        <p:spPr>
          <a:xfrm>
            <a:off x="5212080" y="3383280"/>
            <a:ext cx="6199632" cy="457200"/>
          </a:xfrm>
          <a:prstGeom prst="rect">
            <a:avLst/>
          </a:prstGeom>
          <a:noFill/>
          <a:ln/>
        </p:spPr>
        <p:txBody>
          <a:bodyPr wrap="square" lIns="0" tIns="0" rIns="0" bIns="0" rtlCol="0" anchor="ctr"/>
          <a:lstStyle/>
          <a:p>
            <a:pPr indent="0" marL="0">
              <a:buNone/>
            </a:pPr>
            <a:r>
              <a:rPr lang="en-US" sz="1250" b="1" dirty="0">
                <a:solidFill>
                  <a:schemeClr val="tx1"/>
                </a:solidFill>
              </a:rPr>
              <a:t>3D 위치: 카메라 자세 → 광선 → 지면</a:t>
            </a:r>
            <a:endParaRPr lang="en-US" sz="1250" dirty="0"/>
          </a:p>
        </p:txBody>
      </p:sp>
      <p:sp>
        <p:nvSpPr>
          <p:cNvPr id="15" name="Text 10"/>
          <p:cNvSpPr txBox="1"/>
          <p:nvPr/>
        </p:nvSpPr>
        <p:spPr>
          <a:xfrm>
            <a:off x="4709160" y="3895344"/>
            <a:ext cx="6656832" cy="566928"/>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pycolmap SfM으로 100프레임 카메라 자세 복원 → 탐지 박스 중심 광선을 지면과 교차 → GPS 경로에 정렬. 축척은 SRT 고도·GPS 경로 중 자동 선택, 호버링(시차 5° 미만)은 평면 교차로 복귀, 물체마다 오차반경(r95) 기록.</a:t>
            </a:r>
            <a:endParaRPr lang="en-US" sz="1000" dirty="0"/>
          </a:p>
        </p:txBody>
      </p:sp>
      <p:sp>
        <p:nvSpPr>
          <p:cNvPr id="16" name="card 출력: 지도 핀 + 사진 카드"/>
          <p:cNvSpPr/>
          <p:nvPr/>
        </p:nvSpPr>
        <p:spPr>
          <a:xfrm>
            <a:off x="4434840" y="4654296"/>
            <a:ext cx="7205472"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7" name="icon circle"/>
          <p:cNvSpPr/>
          <p:nvPr/>
        </p:nvSpPr>
        <p:spPr>
          <a:xfrm>
            <a:off x="4663440" y="4837176"/>
            <a:ext cx="420624" cy="420624"/>
          </a:xfrm>
          <a:prstGeom prst="ellipse">
            <a:avLst/>
          </a:prstGeom>
          <a:solidFill>
            <a:srgbClr val="0B3C5D"/>
          </a:solidFill>
          <a:ln w="12700">
            <a:solidFill>
              <a:srgbClr val="0B3C5D"/>
            </a:solidFill>
            <a:prstDash val="solid"/>
          </a:ln>
        </p:spPr>
      </p:sp>
      <p:pic>
        <p:nvPicPr>
          <p:cNvPr id="18" name="icon FaMapMarkerAlt" descr="preencoded.png">    </p:cNvPr>
          <p:cNvPicPr>
            <a:picLocks noChangeAspect="1"/>
          </p:cNvPicPr>
          <p:nvPr/>
        </p:nvPicPr>
        <p:blipFill>
          <a:blip r:embed="rId4"/>
          <a:stretch>
            <a:fillRect/>
          </a:stretch>
        </p:blipFill>
        <p:spPr>
          <a:xfrm>
            <a:off x="4764024" y="4937760"/>
            <a:ext cx="219456" cy="219456"/>
          </a:xfrm>
          <a:prstGeom prst="rect">
            <a:avLst/>
          </a:prstGeom>
        </p:spPr>
      </p:pic>
      <p:sp>
        <p:nvSpPr>
          <p:cNvPr id="19" name="Text 13"/>
          <p:cNvSpPr txBox="1"/>
          <p:nvPr/>
        </p:nvSpPr>
        <p:spPr>
          <a:xfrm>
            <a:off x="5212080" y="4818888"/>
            <a:ext cx="6199632" cy="457200"/>
          </a:xfrm>
          <a:prstGeom prst="rect">
            <a:avLst/>
          </a:prstGeom>
          <a:noFill/>
          <a:ln/>
        </p:spPr>
        <p:txBody>
          <a:bodyPr wrap="square" lIns="0" tIns="0" rIns="0" bIns="0" rtlCol="0" anchor="ctr"/>
          <a:lstStyle/>
          <a:p>
            <a:pPr indent="0" marL="0">
              <a:buNone/>
            </a:pPr>
            <a:r>
              <a:rPr lang="en-US" sz="1250" b="1" dirty="0">
                <a:solidFill>
                  <a:schemeClr val="tx1"/>
                </a:solidFill>
              </a:rPr>
              <a:t>출력: 지도 핀 + 사진 카드</a:t>
            </a:r>
            <a:endParaRPr lang="en-US" sz="1250" dirty="0"/>
          </a:p>
        </p:txBody>
      </p:sp>
      <p:sp>
        <p:nvSpPr>
          <p:cNvPr id="20" name="Text 14"/>
          <p:cNvSpPr txBox="1"/>
          <p:nvPr/>
        </p:nvSpPr>
        <p:spPr>
          <a:xfrm>
            <a:off x="4709160" y="5330952"/>
            <a:ext cx="6656832" cy="566928"/>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Leaflet 위성지도에 핀·썸네일, objects.csv/geojson. 수거자가 도착해서 눈으로 찾도록 주변 표지물이 보이는 사진을 함께 냅니다.</a:t>
            </a:r>
            <a:endParaRPr lang="en-US" sz="1000" dirty="0"/>
          </a:p>
        </p:txBody>
      </p:sp>
      <p:sp>
        <p:nvSpPr>
          <p:cNvPr id="21"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코드: litter/seg.py, orbit3d.py(pycolmap), orbit_map.py, triangulate.py · 근거: Martin et al. 2018 MPB 131 · Fallati et al. 2019 STOTEN 693 · Hartley &amp; Sturm 1997 CVIU 68</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기술 B · 부피와 무게: 점구름에서 물체 점만 남겨 높이를 잰다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핵심 차별점. 정사영상·DSM을 따로 만들지 않고 영상 하나로 3D 부피까지 갑니다. 무게는 점이 아니라 구간으로 냅니다.</a:t>
            </a:r>
            <a:endParaRPr lang="en-US" sz="1400" dirty="0"/>
          </a:p>
        </p:txBody>
      </p:sp>
      <p:pic>
        <p:nvPicPr>
          <p:cNvPr id="4" name="SAM 2 마스크 투표" descr="/tmp/claude-0/-home-user-hsr1m/6022f0b4-b8f8-52b0-8810-837ebd6bfbe9/scratchpad/deck/img/fig_13_0007_조밀_큰상자_마스크.jpg">    </p:cNvPr>
          <p:cNvPicPr>
            <a:picLocks noChangeAspect="1"/>
          </p:cNvPicPr>
          <p:nvPr/>
        </p:nvPicPr>
        <p:blipFill>
          <a:blip r:embed="rId1"/>
          <a:srcRect l="0" r="0" t="0" b="0"/>
          <a:stretch/>
        </p:blipFill>
        <p:spPr>
          <a:xfrm>
            <a:off x="548640" y="1783080"/>
            <a:ext cx="6675120" cy="1664208"/>
          </a:xfrm>
          <a:prstGeom prst="rect">
            <a:avLst/>
          </a:prstGeom>
        </p:spPr>
      </p:pic>
      <p:sp>
        <p:nvSpPr>
          <p:cNvPr id="5" name="Text 2"/>
          <p:cNvSpPr txBox="1"/>
          <p:nvPr/>
        </p:nvSpPr>
        <p:spPr>
          <a:xfrm>
            <a:off x="548640" y="3474720"/>
            <a:ext cx="6675120" cy="365760"/>
          </a:xfrm>
          <a:prstGeom prst="rect">
            <a:avLst/>
          </a:prstGeom>
          <a:noFill/>
          <a:ln/>
        </p:spPr>
        <p:txBody>
          <a:bodyPr wrap="square" lIns="0" tIns="0" rIns="0" bIns="0" rtlCol="0" anchor="t"/>
          <a:lstStyle/>
          <a:p>
            <a:pPr indent="0" marL="0">
              <a:buNone/>
            </a:pPr>
            <a:r>
              <a:rPr lang="en-US" sz="900" dirty="0">
                <a:solidFill>
                  <a:schemeClr val="accent4"/>
                </a:solidFill>
              </a:rPr>
              <a:t>같은 상자를 24프레임에서 SAM 2로 마스킹하고, 각 3D 점이 마스크 안에 든 비율로 투표(70% 이상)해 상자 점만 남깁니다.</a:t>
            </a:r>
            <a:endParaRPr lang="en-US" sz="900" dirty="0"/>
          </a:p>
        </p:txBody>
      </p:sp>
      <p:sp>
        <p:nvSpPr>
          <p:cNvPr id="6" name="Text 3"/>
          <p:cNvSpPr txBox="1"/>
          <p:nvPr/>
        </p:nvSpPr>
        <p:spPr>
          <a:xfrm>
            <a:off x="548640" y="3931920"/>
            <a:ext cx="365760" cy="457200"/>
          </a:xfrm>
          <a:prstGeom prst="rect">
            <a:avLst/>
          </a:prstGeom>
          <a:noFill/>
          <a:ln/>
        </p:spPr>
        <p:txBody>
          <a:bodyPr wrap="square" lIns="0" tIns="0" rIns="0" bIns="0" rtlCol="0" anchor="ctr"/>
          <a:lstStyle/>
          <a:p>
            <a:pPr indent="0" marL="0">
              <a:buNone/>
            </a:pPr>
            <a:r>
              <a:rPr lang="en-US" sz="1600" b="1" dirty="0">
                <a:solidFill>
                  <a:schemeClr val="accent2"/>
                </a:solidFill>
              </a:rPr>
              <a:t>1</a:t>
            </a:r>
            <a:endParaRPr lang="en-US" sz="1600" dirty="0"/>
          </a:p>
        </p:txBody>
      </p:sp>
      <p:sp>
        <p:nvSpPr>
          <p:cNvPr id="7" name="Text 4"/>
          <p:cNvSpPr txBox="1"/>
          <p:nvPr/>
        </p:nvSpPr>
        <p:spPr>
          <a:xfrm>
            <a:off x="960120" y="3931920"/>
            <a:ext cx="1463040" cy="457200"/>
          </a:xfrm>
          <a:prstGeom prst="rect">
            <a:avLst/>
          </a:prstGeom>
          <a:noFill/>
          <a:ln/>
        </p:spPr>
        <p:txBody>
          <a:bodyPr wrap="square" lIns="0" tIns="0" rIns="0" bIns="0" rtlCol="0" anchor="ctr"/>
          <a:lstStyle/>
          <a:p>
            <a:pPr indent="0" marL="0">
              <a:buNone/>
            </a:pPr>
            <a:r>
              <a:rPr lang="en-US" sz="1100" b="1" dirty="0">
                <a:solidFill>
                  <a:schemeClr val="tx1"/>
                </a:solidFill>
              </a:rPr>
              <a:t>조밀 점구름</a:t>
            </a:r>
            <a:endParaRPr lang="en-US" sz="1100" dirty="0"/>
          </a:p>
        </p:txBody>
      </p:sp>
      <p:sp>
        <p:nvSpPr>
          <p:cNvPr id="8" name="Text 5"/>
          <p:cNvSpPr txBox="1"/>
          <p:nvPr/>
        </p:nvSpPr>
        <p:spPr>
          <a:xfrm>
            <a:off x="2468880" y="3931920"/>
            <a:ext cx="4754880" cy="457200"/>
          </a:xfrm>
          <a:prstGeom prst="rect">
            <a:avLst/>
          </a:prstGeom>
          <a:noFill/>
          <a:ln/>
        </p:spPr>
        <p:txBody>
          <a:bodyPr wrap="square" lIns="0" tIns="0" rIns="0" bIns="0" rtlCol="0" anchor="ctr"/>
          <a:lstStyle/>
          <a:p>
            <a:pPr indent="0" marL="0">
              <a:buNone/>
            </a:pPr>
            <a:r>
              <a:rPr lang="en-US" sz="950" dirty="0">
                <a:solidFill>
                  <a:schemeClr val="accent4"/>
                </a:solidFill>
              </a:rPr>
              <a:t>COLMAP PatchMatch(GPU) 243만 점. 빠른 설정으로 45분 → 3분 24초, RAM 16 GB 노트북에서 안정</a:t>
            </a:r>
            <a:endParaRPr lang="en-US" sz="950" dirty="0"/>
          </a:p>
        </p:txBody>
      </p:sp>
      <p:sp>
        <p:nvSpPr>
          <p:cNvPr id="9" name="Text 6"/>
          <p:cNvSpPr txBox="1"/>
          <p:nvPr/>
        </p:nvSpPr>
        <p:spPr>
          <a:xfrm>
            <a:off x="548640" y="4443984"/>
            <a:ext cx="365760" cy="457200"/>
          </a:xfrm>
          <a:prstGeom prst="rect">
            <a:avLst/>
          </a:prstGeom>
          <a:noFill/>
          <a:ln/>
        </p:spPr>
        <p:txBody>
          <a:bodyPr wrap="square" lIns="0" tIns="0" rIns="0" bIns="0" rtlCol="0" anchor="ctr"/>
          <a:lstStyle/>
          <a:p>
            <a:pPr indent="0" marL="0">
              <a:buNone/>
            </a:pPr>
            <a:r>
              <a:rPr lang="en-US" sz="1600" b="1" dirty="0">
                <a:solidFill>
                  <a:schemeClr val="accent2"/>
                </a:solidFill>
              </a:rPr>
              <a:t>2</a:t>
            </a:r>
            <a:endParaRPr lang="en-US" sz="1600" dirty="0"/>
          </a:p>
        </p:txBody>
      </p:sp>
      <p:sp>
        <p:nvSpPr>
          <p:cNvPr id="10" name="Text 7"/>
          <p:cNvSpPr txBox="1"/>
          <p:nvPr/>
        </p:nvSpPr>
        <p:spPr>
          <a:xfrm>
            <a:off x="960120" y="4443984"/>
            <a:ext cx="1463040" cy="457200"/>
          </a:xfrm>
          <a:prstGeom prst="rect">
            <a:avLst/>
          </a:prstGeom>
          <a:noFill/>
          <a:ln/>
        </p:spPr>
        <p:txBody>
          <a:bodyPr wrap="square" lIns="0" tIns="0" rIns="0" bIns="0" rtlCol="0" anchor="ctr"/>
          <a:lstStyle/>
          <a:p>
            <a:pPr indent="0" marL="0">
              <a:buNone/>
            </a:pPr>
            <a:r>
              <a:rPr lang="en-US" sz="1100" b="1" dirty="0">
                <a:solidFill>
                  <a:schemeClr val="tx1"/>
                </a:solidFill>
              </a:rPr>
              <a:t>마스크 투표</a:t>
            </a:r>
            <a:endParaRPr lang="en-US" sz="1100" dirty="0"/>
          </a:p>
        </p:txBody>
      </p:sp>
      <p:sp>
        <p:nvSpPr>
          <p:cNvPr id="11" name="Text 8"/>
          <p:cNvSpPr txBox="1"/>
          <p:nvPr/>
        </p:nvSpPr>
        <p:spPr>
          <a:xfrm>
            <a:off x="2468880" y="4443984"/>
            <a:ext cx="4754880" cy="457200"/>
          </a:xfrm>
          <a:prstGeom prst="rect">
            <a:avLst/>
          </a:prstGeom>
          <a:noFill/>
          <a:ln/>
        </p:spPr>
        <p:txBody>
          <a:bodyPr wrap="square" lIns="0" tIns="0" rIns="0" bIns="0" rtlCol="0" anchor="ctr"/>
          <a:lstStyle/>
          <a:p>
            <a:pPr indent="0" marL="0">
              <a:buNone/>
            </a:pPr>
            <a:r>
              <a:rPr lang="en-US" sz="950" dirty="0">
                <a:solidFill>
                  <a:schemeClr val="accent4"/>
                </a:solidFill>
              </a:rPr>
              <a:t>SAM 2.1 점 프롬프트 24프레임 → 마스크 일치율 70% 이상인 점만 물체</a:t>
            </a:r>
            <a:endParaRPr lang="en-US" sz="950" dirty="0"/>
          </a:p>
        </p:txBody>
      </p:sp>
      <p:sp>
        <p:nvSpPr>
          <p:cNvPr id="12" name="Text 9"/>
          <p:cNvSpPr txBox="1"/>
          <p:nvPr/>
        </p:nvSpPr>
        <p:spPr>
          <a:xfrm>
            <a:off x="548640" y="4956048"/>
            <a:ext cx="365760" cy="457200"/>
          </a:xfrm>
          <a:prstGeom prst="rect">
            <a:avLst/>
          </a:prstGeom>
          <a:noFill/>
          <a:ln/>
        </p:spPr>
        <p:txBody>
          <a:bodyPr wrap="square" lIns="0" tIns="0" rIns="0" bIns="0" rtlCol="0" anchor="ctr"/>
          <a:lstStyle/>
          <a:p>
            <a:pPr indent="0" marL="0">
              <a:buNone/>
            </a:pPr>
            <a:r>
              <a:rPr lang="en-US" sz="1600" b="1" dirty="0">
                <a:solidFill>
                  <a:schemeClr val="accent2"/>
                </a:solidFill>
              </a:rPr>
              <a:t>3</a:t>
            </a:r>
            <a:endParaRPr lang="en-US" sz="1600" dirty="0"/>
          </a:p>
        </p:txBody>
      </p:sp>
      <p:sp>
        <p:nvSpPr>
          <p:cNvPr id="13" name="Text 10"/>
          <p:cNvSpPr txBox="1"/>
          <p:nvPr/>
        </p:nvSpPr>
        <p:spPr>
          <a:xfrm>
            <a:off x="960120" y="4956048"/>
            <a:ext cx="1463040" cy="457200"/>
          </a:xfrm>
          <a:prstGeom prst="rect">
            <a:avLst/>
          </a:prstGeom>
          <a:noFill/>
          <a:ln/>
        </p:spPr>
        <p:txBody>
          <a:bodyPr wrap="square" lIns="0" tIns="0" rIns="0" bIns="0" rtlCol="0" anchor="ctr"/>
          <a:lstStyle/>
          <a:p>
            <a:pPr indent="0" marL="0">
              <a:buNone/>
            </a:pPr>
            <a:r>
              <a:rPr lang="en-US" sz="1100" b="1" dirty="0">
                <a:solidFill>
                  <a:schemeClr val="tx1"/>
                </a:solidFill>
              </a:rPr>
              <a:t>지역 바닥 평면</a:t>
            </a:r>
            <a:endParaRPr lang="en-US" sz="1100" dirty="0"/>
          </a:p>
        </p:txBody>
      </p:sp>
      <p:sp>
        <p:nvSpPr>
          <p:cNvPr id="14" name="Text 11"/>
          <p:cNvSpPr txBox="1"/>
          <p:nvPr/>
        </p:nvSpPr>
        <p:spPr>
          <a:xfrm>
            <a:off x="2468880" y="4956048"/>
            <a:ext cx="4754880" cy="457200"/>
          </a:xfrm>
          <a:prstGeom prst="rect">
            <a:avLst/>
          </a:prstGeom>
          <a:noFill/>
          <a:ln/>
        </p:spPr>
        <p:txBody>
          <a:bodyPr wrap="square" lIns="0" tIns="0" rIns="0" bIns="0" rtlCol="0" anchor="ctr"/>
          <a:lstStyle/>
          <a:p>
            <a:pPr indent="0" marL="0">
              <a:buNone/>
            </a:pPr>
            <a:r>
              <a:rPr lang="en-US" sz="950" dirty="0">
                <a:solidFill>
                  <a:schemeClr val="accent4"/>
                </a:solidFill>
              </a:rPr>
              <a:t>링 점 RANSAC 평면 기준 높이, 바닥점(&lt;3 cm) 제거, 뒤집힌 카메라 포즈 자동 제외</a:t>
            </a:r>
            <a:endParaRPr lang="en-US" sz="950" dirty="0"/>
          </a:p>
        </p:txBody>
      </p:sp>
      <p:sp>
        <p:nvSpPr>
          <p:cNvPr id="15" name="Text 12"/>
          <p:cNvSpPr txBox="1"/>
          <p:nvPr/>
        </p:nvSpPr>
        <p:spPr>
          <a:xfrm>
            <a:off x="548640" y="5468112"/>
            <a:ext cx="365760" cy="457200"/>
          </a:xfrm>
          <a:prstGeom prst="rect">
            <a:avLst/>
          </a:prstGeom>
          <a:noFill/>
          <a:ln/>
        </p:spPr>
        <p:txBody>
          <a:bodyPr wrap="square" lIns="0" tIns="0" rIns="0" bIns="0" rtlCol="0" anchor="ctr"/>
          <a:lstStyle/>
          <a:p>
            <a:pPr indent="0" marL="0">
              <a:buNone/>
            </a:pPr>
            <a:r>
              <a:rPr lang="en-US" sz="1600" b="1" dirty="0">
                <a:solidFill>
                  <a:schemeClr val="accent2"/>
                </a:solidFill>
              </a:rPr>
              <a:t>4</a:t>
            </a:r>
            <a:endParaRPr lang="en-US" sz="1600" dirty="0"/>
          </a:p>
        </p:txBody>
      </p:sp>
      <p:sp>
        <p:nvSpPr>
          <p:cNvPr id="16" name="Text 13"/>
          <p:cNvSpPr txBox="1"/>
          <p:nvPr/>
        </p:nvSpPr>
        <p:spPr>
          <a:xfrm>
            <a:off x="960120" y="5468112"/>
            <a:ext cx="1463040" cy="457200"/>
          </a:xfrm>
          <a:prstGeom prst="rect">
            <a:avLst/>
          </a:prstGeom>
          <a:noFill/>
          <a:ln/>
        </p:spPr>
        <p:txBody>
          <a:bodyPr wrap="square" lIns="0" tIns="0" rIns="0" bIns="0" rtlCol="0" anchor="ctr"/>
          <a:lstStyle/>
          <a:p>
            <a:pPr indent="0" marL="0">
              <a:buNone/>
            </a:pPr>
            <a:r>
              <a:rPr lang="en-US" sz="1100" b="1" dirty="0">
                <a:solidFill>
                  <a:schemeClr val="tx1"/>
                </a:solidFill>
              </a:rPr>
              <a:t>높이지도 부피</a:t>
            </a:r>
            <a:endParaRPr lang="en-US" sz="1100" dirty="0"/>
          </a:p>
        </p:txBody>
      </p:sp>
      <p:sp>
        <p:nvSpPr>
          <p:cNvPr id="17" name="Text 14"/>
          <p:cNvSpPr txBox="1"/>
          <p:nvPr/>
        </p:nvSpPr>
        <p:spPr>
          <a:xfrm>
            <a:off x="2468880" y="5468112"/>
            <a:ext cx="4754880" cy="457200"/>
          </a:xfrm>
          <a:prstGeom prst="rect">
            <a:avLst/>
          </a:prstGeom>
          <a:noFill/>
          <a:ln/>
        </p:spPr>
        <p:txBody>
          <a:bodyPr wrap="square" lIns="0" tIns="0" rIns="0" bIns="0" rtlCol="0" anchor="ctr"/>
          <a:lstStyle/>
          <a:p>
            <a:pPr indent="0" marL="0">
              <a:buNone/>
            </a:pPr>
            <a:r>
              <a:rPr lang="en-US" sz="950" dirty="0">
                <a:solidFill>
                  <a:schemeClr val="accent4"/>
                </a:solidFill>
              </a:rPr>
              <a:t>격자별 높이 합. 윗면 높이는 히스토그램 상단 봉우리(볼록껍질은 +60% 과대라 폐기)</a:t>
            </a:r>
            <a:endParaRPr lang="en-US" sz="950" dirty="0"/>
          </a:p>
        </p:txBody>
      </p:sp>
      <p:sp>
        <p:nvSpPr>
          <p:cNvPr id="18" name="card 무게 = 부피 × 겉보기밀도 → 구간"/>
          <p:cNvSpPr/>
          <p:nvPr/>
        </p:nvSpPr>
        <p:spPr>
          <a:xfrm>
            <a:off x="7498080" y="1783080"/>
            <a:ext cx="4142232"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9" name="icon circle"/>
          <p:cNvSpPr/>
          <p:nvPr/>
        </p:nvSpPr>
        <p:spPr>
          <a:xfrm>
            <a:off x="7772400" y="2039112"/>
            <a:ext cx="566928" cy="566928"/>
          </a:xfrm>
          <a:prstGeom prst="ellipse">
            <a:avLst/>
          </a:prstGeom>
          <a:solidFill>
            <a:srgbClr val="0B3C5D"/>
          </a:solidFill>
          <a:ln w="12700">
            <a:solidFill>
              <a:srgbClr val="0B3C5D"/>
            </a:solidFill>
            <a:prstDash val="solid"/>
          </a:ln>
        </p:spPr>
      </p:sp>
      <p:pic>
        <p:nvPicPr>
          <p:cNvPr id="20" name="icon FaRulerCombined" descr="preencoded.png">    </p:cNvPr>
          <p:cNvPicPr>
            <a:picLocks noChangeAspect="1"/>
          </p:cNvPicPr>
          <p:nvPr/>
        </p:nvPicPr>
        <p:blipFill>
          <a:blip r:embed="rId2"/>
          <a:stretch>
            <a:fillRect/>
          </a:stretch>
        </p:blipFill>
        <p:spPr>
          <a:xfrm>
            <a:off x="7909560" y="2176272"/>
            <a:ext cx="292608" cy="292608"/>
          </a:xfrm>
          <a:prstGeom prst="rect">
            <a:avLst/>
          </a:prstGeom>
        </p:spPr>
      </p:pic>
      <p:sp>
        <p:nvSpPr>
          <p:cNvPr id="21" name="Text 17"/>
          <p:cNvSpPr txBox="1"/>
          <p:nvPr/>
        </p:nvSpPr>
        <p:spPr>
          <a:xfrm>
            <a:off x="7772400" y="2770632"/>
            <a:ext cx="3593592" cy="384048"/>
          </a:xfrm>
          <a:prstGeom prst="rect">
            <a:avLst/>
          </a:prstGeom>
          <a:noFill/>
          <a:ln/>
        </p:spPr>
        <p:txBody>
          <a:bodyPr wrap="square" lIns="0" tIns="0" rIns="0" bIns="0" rtlCol="0" anchor="t"/>
          <a:lstStyle/>
          <a:p>
            <a:pPr indent="0" marL="0">
              <a:buNone/>
            </a:pPr>
            <a:r>
              <a:rPr lang="en-US" sz="1250" b="1" dirty="0">
                <a:solidFill>
                  <a:schemeClr val="tx1"/>
                </a:solidFill>
              </a:rPr>
              <a:t>무게 = 부피 × 겉보기밀도 → 구간</a:t>
            </a:r>
            <a:endParaRPr lang="en-US" sz="1250" dirty="0"/>
          </a:p>
        </p:txBody>
      </p:sp>
      <p:sp>
        <p:nvSpPr>
          <p:cNvPr id="22" name="Text 18"/>
          <p:cNvSpPr txBox="1"/>
          <p:nvPr/>
        </p:nvSpPr>
        <p:spPr>
          <a:xfrm>
            <a:off x="7772400" y="3209544"/>
            <a:ext cx="3593592" cy="411480"/>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스티로폼 20~25, 플라스틱 60, 어망·로프 100~400 kg/m³에 젖음 계수(어망 2.0)·마대 압축비. 실측 30개가 모이면 conformal 예측구간(포함확률 90%)으로 교체(코드 완료).</a:t>
            </a:r>
            <a:endParaRPr lang="en-US" sz="1000" dirty="0"/>
          </a:p>
        </p:txBody>
      </p:sp>
      <p:sp>
        <p:nvSpPr>
          <p:cNvPr id="23" name="card 구간이 있어야 '다시 갈 곳'이 정해진다"/>
          <p:cNvSpPr/>
          <p:nvPr/>
        </p:nvSpPr>
        <p:spPr>
          <a:xfrm>
            <a:off x="7498080" y="3886200"/>
            <a:ext cx="4142232" cy="2057400"/>
          </a:xfrm>
          <a:prstGeom prst="roundRect">
            <a:avLst>
              <a:gd name="adj" fmla="val 5333"/>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4" name="icon circle"/>
          <p:cNvSpPr/>
          <p:nvPr/>
        </p:nvSpPr>
        <p:spPr>
          <a:xfrm>
            <a:off x="7772400" y="4142232"/>
            <a:ext cx="566928" cy="566928"/>
          </a:xfrm>
          <a:prstGeom prst="ellipse">
            <a:avLst/>
          </a:prstGeom>
          <a:solidFill>
            <a:srgbClr val="0B3C5D"/>
          </a:solidFill>
          <a:ln w="12700">
            <a:solidFill>
              <a:srgbClr val="0B3C5D"/>
            </a:solidFill>
            <a:prstDash val="solid"/>
          </a:ln>
        </p:spPr>
      </p:sp>
      <p:pic>
        <p:nvPicPr>
          <p:cNvPr id="25" name="icon FaBullseye" descr="preencoded.png">    </p:cNvPr>
          <p:cNvPicPr>
            <a:picLocks noChangeAspect="1"/>
          </p:cNvPicPr>
          <p:nvPr/>
        </p:nvPicPr>
        <p:blipFill>
          <a:blip r:embed="rId3"/>
          <a:stretch>
            <a:fillRect/>
          </a:stretch>
        </p:blipFill>
        <p:spPr>
          <a:xfrm>
            <a:off x="7909560" y="4279392"/>
            <a:ext cx="292608" cy="292608"/>
          </a:xfrm>
          <a:prstGeom prst="rect">
            <a:avLst/>
          </a:prstGeom>
        </p:spPr>
      </p:pic>
      <p:sp>
        <p:nvSpPr>
          <p:cNvPr id="26" name="Text 21"/>
          <p:cNvSpPr txBox="1"/>
          <p:nvPr/>
        </p:nvSpPr>
        <p:spPr>
          <a:xfrm>
            <a:off x="7772400" y="4873752"/>
            <a:ext cx="3593592" cy="384048"/>
          </a:xfrm>
          <a:prstGeom prst="rect">
            <a:avLst/>
          </a:prstGeom>
          <a:noFill/>
          <a:ln/>
        </p:spPr>
        <p:txBody>
          <a:bodyPr wrap="square" lIns="0" tIns="0" rIns="0" bIns="0" rtlCol="0" anchor="t"/>
          <a:lstStyle/>
          <a:p>
            <a:pPr indent="0" marL="0">
              <a:buNone/>
            </a:pPr>
            <a:r>
              <a:rPr lang="en-US" sz="1250" b="1" dirty="0">
                <a:solidFill>
                  <a:schemeClr val="tx1"/>
                </a:solidFill>
              </a:rPr>
              <a:t>구간이 있어야 '다시 갈 곳'이 정해진다</a:t>
            </a:r>
            <a:endParaRPr lang="en-US" sz="1250" dirty="0"/>
          </a:p>
        </p:txBody>
      </p:sp>
      <p:sp>
        <p:nvSpPr>
          <p:cNvPr id="27" name="Text 22"/>
          <p:cNvSpPr txBox="1"/>
          <p:nvPr/>
        </p:nvSpPr>
        <p:spPr>
          <a:xfrm>
            <a:off x="7772400" y="5312664"/>
            <a:ext cx="3593592" cy="502920"/>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구간 상한이 1인 운반 한계 23 kg(NIOSH)·마대·트럭 적재 경계를 넘나드는 물체만 2차 선회. 면적은 넓은데 높이가 없으면 '묻힘 의심' 태그. 2 kg짜리가 1인지 3인지는 안 가고, 20 kg짜리가 23을 넘는지는 갑니다.</a:t>
            </a:r>
            <a:endParaRPr lang="en-US" sz="1000" dirty="0"/>
          </a:p>
        </p:txBody>
      </p:sp>
      <p:sp>
        <p:nvSpPr>
          <p:cNvPr id="28"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코드: litter/objvol.py v2, volume.py, weight.py · 근거: Westoby et al. 2012 Geomorphology 179 · Kako et al. 2020 MPB 155 · Angelopoulos &amp; Bates 2023 Found. Trends ML 16</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기술 C · 수거계획과 운용: 비행은 조종자, 나머지는 소프트웨어</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물체 목록이 작업카드가 되기까지. 자동비행은 제품 전제에서 뺐고, 비행 구역은 위성 타일로 자동 마스킹합니다.</a:t>
            </a:r>
            <a:endParaRPr lang="en-US" sz="1400" dirty="0"/>
          </a:p>
        </p:txBody>
      </p:sp>
      <p:pic>
        <p:nvPicPr>
          <p:cNvPr id="4" name="니하우 수거계획 출력 예시" descr="/tmp/claude-0/-home-user-hsr1m/6022f0b4-b8f8-52b0-8810-837ebd6bfbe9/scratchpad/deck/img/fig_18_하와이_niihau_지도_수거계획.jpg">    </p:cNvPr>
          <p:cNvPicPr>
            <a:picLocks noChangeAspect="1"/>
          </p:cNvPicPr>
          <p:nvPr/>
        </p:nvPicPr>
        <p:blipFill>
          <a:blip r:embed="rId1"/>
          <a:srcRect l="0" r="0" t="0" b="0"/>
          <a:stretch/>
        </p:blipFill>
        <p:spPr>
          <a:xfrm>
            <a:off x="548640" y="1783080"/>
            <a:ext cx="5760720" cy="2542032"/>
          </a:xfrm>
          <a:prstGeom prst="rect">
            <a:avLst/>
          </a:prstGeom>
        </p:spPr>
      </p:pic>
      <p:sp>
        <p:nvSpPr>
          <p:cNvPr id="5" name="Text 2"/>
          <p:cNvSpPr txBox="1"/>
          <p:nvPr/>
        </p:nvSpPr>
        <p:spPr>
          <a:xfrm>
            <a:off x="548640" y="4343400"/>
            <a:ext cx="5760720" cy="365760"/>
          </a:xfrm>
          <a:prstGeom prst="rect">
            <a:avLst/>
          </a:prstGeom>
          <a:noFill/>
          <a:ln/>
        </p:spPr>
        <p:txBody>
          <a:bodyPr wrap="square" lIns="0" tIns="0" rIns="0" bIns="0" rtlCol="0" anchor="t"/>
          <a:lstStyle/>
          <a:p>
            <a:pPr indent="0" marL="0">
              <a:buNone/>
            </a:pPr>
            <a:r>
              <a:rPr lang="en-US" sz="900" dirty="0">
                <a:solidFill>
                  <a:schemeClr val="accent4"/>
                </a:solidFill>
              </a:rPr>
              <a:t>출력 예시(니하우): 섬 해안 물체와 수거 경로(왼쪽), 가장 밀집한 120×120 m 구간의 재질별 점(오른쪽).</a:t>
            </a:r>
            <a:endParaRPr lang="en-US" sz="900" dirty="0"/>
          </a:p>
        </p:txBody>
      </p:sp>
      <p:sp>
        <p:nvSpPr>
          <p:cNvPr id="6" name="card 작업카드 (plan.py · report.py)"/>
          <p:cNvSpPr/>
          <p:nvPr/>
        </p:nvSpPr>
        <p:spPr>
          <a:xfrm>
            <a:off x="548640" y="4754880"/>
            <a:ext cx="5760720" cy="1188720"/>
          </a:xfrm>
          <a:prstGeom prst="roundRect">
            <a:avLst>
              <a:gd name="adj" fmla="val 923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7" name="Text 4"/>
          <p:cNvSpPr txBox="1"/>
          <p:nvPr/>
        </p:nvSpPr>
        <p:spPr>
          <a:xfrm>
            <a:off x="822960" y="5010912"/>
            <a:ext cx="5212080" cy="384048"/>
          </a:xfrm>
          <a:prstGeom prst="rect">
            <a:avLst/>
          </a:prstGeom>
          <a:noFill/>
          <a:ln/>
        </p:spPr>
        <p:txBody>
          <a:bodyPr wrap="square" lIns="0" tIns="0" rIns="0" bIns="0" rtlCol="0" anchor="t"/>
          <a:lstStyle/>
          <a:p>
            <a:pPr indent="0" marL="0">
              <a:buNone/>
            </a:pPr>
            <a:r>
              <a:rPr lang="en-US" sz="1200" b="1" dirty="0">
                <a:solidFill>
                  <a:schemeClr val="tx1"/>
                </a:solidFill>
              </a:rPr>
              <a:t>작업카드 (plan.py · report.py)</a:t>
            </a:r>
            <a:endParaRPr lang="en-US" sz="1200" dirty="0"/>
          </a:p>
        </p:txBody>
      </p:sp>
      <p:sp>
        <p:nvSpPr>
          <p:cNvPr id="8" name="Text 5"/>
          <p:cNvSpPr txBox="1"/>
          <p:nvPr/>
        </p:nvSpPr>
        <p:spPr>
          <a:xfrm>
            <a:off x="822960" y="5449824"/>
            <a:ext cx="5212080" cy="365760"/>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반경 기반 클러스터 → 정거장 → 정거장별 인력(1인/2인/장비)·마대(압축 후 부피·무게)·1톤 트럭 → 집하장 출발 최근접 이웃 + 2-opt 순회 경로 → HTML 카드(썸네일·위경도·추정/최대 kg·휴대폰 길찾기)</a:t>
            </a:r>
            <a:endParaRPr lang="en-US" sz="1000" dirty="0"/>
          </a:p>
        </p:txBody>
      </p:sp>
      <p:sp>
        <p:nvSpPr>
          <p:cNvPr id="9" name="card 조종자 비행 + KML 내보내기"/>
          <p:cNvSpPr/>
          <p:nvPr/>
        </p:nvSpPr>
        <p:spPr>
          <a:xfrm>
            <a:off x="6537960" y="1783080"/>
            <a:ext cx="5102352"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0" name="icon circle"/>
          <p:cNvSpPr/>
          <p:nvPr/>
        </p:nvSpPr>
        <p:spPr>
          <a:xfrm>
            <a:off x="6766560" y="1965960"/>
            <a:ext cx="420624" cy="420624"/>
          </a:xfrm>
          <a:prstGeom prst="ellipse">
            <a:avLst/>
          </a:prstGeom>
          <a:solidFill>
            <a:srgbClr val="0B3C5D"/>
          </a:solidFill>
          <a:ln w="12700">
            <a:solidFill>
              <a:srgbClr val="0B3C5D"/>
            </a:solidFill>
            <a:prstDash val="solid"/>
          </a:ln>
        </p:spPr>
      </p:sp>
      <p:pic>
        <p:nvPicPr>
          <p:cNvPr id="11" name="icon FaPlane" descr="preencoded.png">    </p:cNvPr>
          <p:cNvPicPr>
            <a:picLocks noChangeAspect="1"/>
          </p:cNvPicPr>
          <p:nvPr/>
        </p:nvPicPr>
        <p:blipFill>
          <a:blip r:embed="rId2"/>
          <a:stretch>
            <a:fillRect/>
          </a:stretch>
        </p:blipFill>
        <p:spPr>
          <a:xfrm>
            <a:off x="6867144" y="2066544"/>
            <a:ext cx="219456" cy="219456"/>
          </a:xfrm>
          <a:prstGeom prst="rect">
            <a:avLst/>
          </a:prstGeom>
        </p:spPr>
      </p:pic>
      <p:sp>
        <p:nvSpPr>
          <p:cNvPr id="12" name="Text 8"/>
          <p:cNvSpPr txBox="1"/>
          <p:nvPr/>
        </p:nvSpPr>
        <p:spPr>
          <a:xfrm>
            <a:off x="7315200" y="1947672"/>
            <a:ext cx="4096512" cy="457200"/>
          </a:xfrm>
          <a:prstGeom prst="rect">
            <a:avLst/>
          </a:prstGeom>
          <a:noFill/>
          <a:ln/>
        </p:spPr>
        <p:txBody>
          <a:bodyPr wrap="square" lIns="0" tIns="0" rIns="0" bIns="0" rtlCol="0" anchor="ctr"/>
          <a:lstStyle/>
          <a:p>
            <a:pPr indent="0" marL="0">
              <a:buNone/>
            </a:pPr>
            <a:r>
              <a:rPr lang="en-US" sz="1200" b="1" dirty="0">
                <a:solidFill>
                  <a:schemeClr val="tx1"/>
                </a:solidFill>
              </a:rPr>
              <a:t>조종자 비행 + KML 내보내기</a:t>
            </a:r>
            <a:endParaRPr lang="en-US" sz="1200" dirty="0"/>
          </a:p>
        </p:txBody>
      </p:sp>
      <p:sp>
        <p:nvSpPr>
          <p:cNvPr id="13" name="Text 9"/>
          <p:cNvSpPr txBox="1"/>
          <p:nvPr/>
        </p:nvSpPr>
        <p:spPr>
          <a:xfrm>
            <a:off x="6812280" y="2459736"/>
            <a:ext cx="4553712" cy="521208"/>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핫스팟 경로를 KML로 내보내 Google Earth·Litchi에서 열고 조종자가 비행. DJI Fly용 KMZ 변환은 확인 전. 배터리는 소티당 비행거리 예산 한 변수.</a:t>
            </a:r>
            <a:endParaRPr lang="en-US" sz="1000" dirty="0"/>
          </a:p>
        </p:txBody>
      </p:sp>
      <p:sp>
        <p:nvSpPr>
          <p:cNvPr id="14" name="card 비행 구역 자동 마스킹 (구현)"/>
          <p:cNvSpPr/>
          <p:nvPr/>
        </p:nvSpPr>
        <p:spPr>
          <a:xfrm>
            <a:off x="6537960" y="3218688"/>
            <a:ext cx="5102352"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5" name="icon circle"/>
          <p:cNvSpPr/>
          <p:nvPr/>
        </p:nvSpPr>
        <p:spPr>
          <a:xfrm>
            <a:off x="6766560" y="3401568"/>
            <a:ext cx="420624" cy="420624"/>
          </a:xfrm>
          <a:prstGeom prst="ellipse">
            <a:avLst/>
          </a:prstGeom>
          <a:solidFill>
            <a:srgbClr val="0B3C5D"/>
          </a:solidFill>
          <a:ln w="12700">
            <a:solidFill>
              <a:srgbClr val="0B3C5D"/>
            </a:solidFill>
            <a:prstDash val="solid"/>
          </a:ln>
        </p:spPr>
      </p:sp>
      <p:pic>
        <p:nvPicPr>
          <p:cNvPr id="16" name="icon FaLayerGroup" descr="preencoded.png">    </p:cNvPr>
          <p:cNvPicPr>
            <a:picLocks noChangeAspect="1"/>
          </p:cNvPicPr>
          <p:nvPr/>
        </p:nvPicPr>
        <p:blipFill>
          <a:blip r:embed="rId3"/>
          <a:stretch>
            <a:fillRect/>
          </a:stretch>
        </p:blipFill>
        <p:spPr>
          <a:xfrm>
            <a:off x="6867144" y="3502152"/>
            <a:ext cx="219456" cy="219456"/>
          </a:xfrm>
          <a:prstGeom prst="rect">
            <a:avLst/>
          </a:prstGeom>
        </p:spPr>
      </p:pic>
      <p:sp>
        <p:nvSpPr>
          <p:cNvPr id="17" name="Text 12"/>
          <p:cNvSpPr txBox="1"/>
          <p:nvPr/>
        </p:nvSpPr>
        <p:spPr>
          <a:xfrm>
            <a:off x="7315200" y="3383280"/>
            <a:ext cx="4096512" cy="457200"/>
          </a:xfrm>
          <a:prstGeom prst="rect">
            <a:avLst/>
          </a:prstGeom>
          <a:noFill/>
          <a:ln/>
        </p:spPr>
        <p:txBody>
          <a:bodyPr wrap="square" lIns="0" tIns="0" rIns="0" bIns="0" rtlCol="0" anchor="ctr"/>
          <a:lstStyle/>
          <a:p>
            <a:pPr indent="0" marL="0">
              <a:buNone/>
            </a:pPr>
            <a:r>
              <a:rPr lang="en-US" sz="1200" b="1" dirty="0">
                <a:solidFill>
                  <a:schemeClr val="tx1"/>
                </a:solidFill>
              </a:rPr>
              <a:t>비행 구역 자동 마스킹 (구현)</a:t>
            </a:r>
            <a:endParaRPr lang="en-US" sz="1200" dirty="0"/>
          </a:p>
        </p:txBody>
      </p:sp>
      <p:sp>
        <p:nvSpPr>
          <p:cNvPr id="18" name="Text 13"/>
          <p:cNvSpPr txBox="1"/>
          <p:nvPr/>
        </p:nvSpPr>
        <p:spPr>
          <a:xfrm>
            <a:off x="6812280" y="3895344"/>
            <a:ext cx="4553712" cy="521208"/>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위성 타일(약 1 m/px) 지형분류로 바다·갯벌·숲을 빼고 물에 닿은 땅의 외곽선만 해안선(100 m 구간)으로. 해안 띠 밖 사진은 쓸모없고 배터리를 낭비하며 바다 추락은 기체 손실이라서.</a:t>
            </a:r>
            <a:endParaRPr lang="en-US" sz="1000" dirty="0"/>
          </a:p>
        </p:txBody>
      </p:sp>
      <p:sp>
        <p:nvSpPr>
          <p:cNvPr id="19" name="card 능동 재방문 + 노트북 한 대"/>
          <p:cNvSpPr/>
          <p:nvPr/>
        </p:nvSpPr>
        <p:spPr>
          <a:xfrm>
            <a:off x="6537960" y="4654296"/>
            <a:ext cx="5102352" cy="1289304"/>
          </a:xfrm>
          <a:prstGeom prst="roundRect">
            <a:avLst>
              <a:gd name="adj" fmla="val 851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0" name="icon circle"/>
          <p:cNvSpPr/>
          <p:nvPr/>
        </p:nvSpPr>
        <p:spPr>
          <a:xfrm>
            <a:off x="6766560" y="4837176"/>
            <a:ext cx="420624" cy="420624"/>
          </a:xfrm>
          <a:prstGeom prst="ellipse">
            <a:avLst/>
          </a:prstGeom>
          <a:solidFill>
            <a:srgbClr val="0B3C5D"/>
          </a:solidFill>
          <a:ln w="12700">
            <a:solidFill>
              <a:srgbClr val="0B3C5D"/>
            </a:solidFill>
            <a:prstDash val="solid"/>
          </a:ln>
        </p:spPr>
      </p:sp>
      <p:pic>
        <p:nvPicPr>
          <p:cNvPr id="21" name="icon FaRedo" descr="preencoded.png">    </p:cNvPr>
          <p:cNvPicPr>
            <a:picLocks noChangeAspect="1"/>
          </p:cNvPicPr>
          <p:nvPr/>
        </p:nvPicPr>
        <p:blipFill>
          <a:blip r:embed="rId4"/>
          <a:stretch>
            <a:fillRect/>
          </a:stretch>
        </p:blipFill>
        <p:spPr>
          <a:xfrm>
            <a:off x="6867144" y="4937760"/>
            <a:ext cx="219456" cy="219456"/>
          </a:xfrm>
          <a:prstGeom prst="rect">
            <a:avLst/>
          </a:prstGeom>
        </p:spPr>
      </p:pic>
      <p:sp>
        <p:nvSpPr>
          <p:cNvPr id="22" name="Text 16"/>
          <p:cNvSpPr txBox="1"/>
          <p:nvPr/>
        </p:nvSpPr>
        <p:spPr>
          <a:xfrm>
            <a:off x="7315200" y="4818888"/>
            <a:ext cx="4096512" cy="457200"/>
          </a:xfrm>
          <a:prstGeom prst="rect">
            <a:avLst/>
          </a:prstGeom>
          <a:noFill/>
          <a:ln/>
        </p:spPr>
        <p:txBody>
          <a:bodyPr wrap="square" lIns="0" tIns="0" rIns="0" bIns="0" rtlCol="0" anchor="ctr"/>
          <a:lstStyle/>
          <a:p>
            <a:pPr indent="0" marL="0">
              <a:buNone/>
            </a:pPr>
            <a:r>
              <a:rPr lang="en-US" sz="1200" b="1" dirty="0">
                <a:solidFill>
                  <a:schemeClr val="tx1"/>
                </a:solidFill>
              </a:rPr>
              <a:t>능동 재방문 + 노트북 한 대</a:t>
            </a:r>
            <a:endParaRPr lang="en-US" sz="1200" dirty="0"/>
          </a:p>
        </p:txBody>
      </p:sp>
      <p:sp>
        <p:nvSpPr>
          <p:cNvPr id="23" name="Text 17"/>
          <p:cNvSpPr txBox="1"/>
          <p:nvPr/>
        </p:nvSpPr>
        <p:spPr>
          <a:xfrm>
            <a:off x="6812280" y="5330952"/>
            <a:ext cx="4553712" cy="484632"/>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애매한 후보(신뢰도 0.25~0.5)는 8 m로 내려가 3장 재촬영 후 확정·기각. 탐지·3D·작업카드는 RTX 4060 8 GB·RAM 16 GB 노트북에서 돌아갑니다.</a:t>
            </a:r>
            <a:endParaRPr lang="en-US" sz="1000" dirty="0"/>
          </a:p>
        </p:txBody>
      </p:sp>
      <p:sp>
        <p:nvSpPr>
          <p:cNvPr id="24"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코드: litter/plan.py, report.py, fromvideo.py, sim_ortho.py · 서비스 app/region.py(마스킹), route.kml 내보내기</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ctr"/>
          <a:lstStyle/>
          <a:p>
            <a:pPr indent="0" marL="0">
              <a:buNone/>
            </a:pPr>
            <a:r>
              <a:rPr lang="en-US" sz="6000" b="1" dirty="0">
                <a:solidFill>
                  <a:schemeClr val="accent2"/>
                </a:solidFill>
              </a:rPr>
              <a:t>04</a:t>
            </a:r>
            <a:endParaRPr lang="en-US" sz="6000" dirty="0"/>
          </a:p>
        </p:txBody>
      </p:sp>
      <p:sp>
        <p:nvSpPr>
          <p:cNvPr id="3" name="Text 0"/>
          <p:cNvSpPr/>
          <p:nvPr>
            <p:ph idx="100" type="title" hasCustomPrompt="1"/>
          </p:nvPr>
        </p:nvSpPr>
        <p:spPr>
          <a:xfrm>
            <a:off x="731520" y="2743200"/>
            <a:ext cx="10515600" cy="1188720"/>
          </a:xfrm>
          <a:prstGeom prst="rect">
            <a:avLst/>
          </a:prstGeom>
          <a:noFill/>
          <a:ln/>
        </p:spPr>
        <p:txBody>
          <a:bodyPr wrap="square" lIns="0" tIns="0" rIns="0" bIns="0" rtlCol="0" anchor="b"/>
          <a:lstStyle/>
          <a:p>
            <a:pPr algn="l" indent="0" marL="0">
              <a:buNone/>
            </a:pPr>
            <a:r>
              <a:rPr lang="en-US" sz="4000" b="1" dirty="0">
                <a:solidFill>
                  <a:schemeClr val="bg1"/>
                </a:solidFill>
              </a:rPr>
              <a:t>검증</a:t>
            </a:r>
            <a:endParaRPr lang="en-US" sz="4000" dirty="0"/>
          </a:p>
        </p:txBody>
      </p:sp>
      <p:sp>
        <p:nvSpPr>
          <p:cNvPr id="4" name="Text 0"/>
          <p:cNvSpPr/>
          <p:nvPr>
            <p:ph idx="101" type="body" hasCustomPrompt="1"/>
          </p:nvPr>
        </p:nvSpPr>
        <p:spPr>
          <a:xfrm>
            <a:off x="731520" y="4023360"/>
            <a:ext cx="10058400" cy="1097280"/>
          </a:xfrm>
          <a:prstGeom prst="rect">
            <a:avLst/>
          </a:prstGeom>
          <a:noFill/>
          <a:ln/>
        </p:spPr>
        <p:txBody>
          <a:bodyPr wrap="square" lIns="0" tIns="0" rIns="0" bIns="0" rtlCol="0" anchor="t"/>
          <a:lstStyle/>
          <a:p>
            <a:pPr algn="l" indent="0" marL="0">
              <a:buNone/>
            </a:pPr>
            <a:r>
              <a:rPr lang="en-US" sz="1600" dirty="0">
                <a:solidFill>
                  <a:schemeClr val="accent5"/>
                </a:solidFill>
              </a:rPr>
              <a:t>7단계 중 6단계를 실제 데이터로 확인했습니다. 상자 3개, 영상 3편, 해안 3곳.</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검증 맵: 파이프라인의 어디를 무엇으로 확인했나</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초록 = 실제 데이터로 확인. 회색 = 실측 데이터를 기다리는 중.</a:t>
            </a:r>
            <a:endParaRPr lang="en-US" sz="1400" dirty="0"/>
          </a:p>
        </p:txBody>
      </p:sp>
      <p:sp>
        <p:nvSpPr>
          <p:cNvPr id="4" name="step 어디를 날지"/>
          <p:cNvSpPr/>
          <p:nvPr/>
        </p:nvSpPr>
        <p:spPr>
          <a:xfrm>
            <a:off x="548640" y="1783080"/>
            <a:ext cx="1525742" cy="2514600"/>
          </a:xfrm>
          <a:prstGeom prst="roundRect">
            <a:avLst>
              <a:gd name="adj" fmla="val 5993"/>
            </a:avLst>
          </a:prstGeom>
          <a:solidFill>
            <a:srgbClr val="EEF3F6"/>
          </a:solidFill>
          <a:ln w="12700">
            <a:solidFill>
              <a:srgbClr val="EEF3F6"/>
            </a:solidFill>
            <a:prstDash val="solid"/>
          </a:ln>
        </p:spPr>
      </p:sp>
      <p:sp>
        <p:nvSpPr>
          <p:cNvPr id="5" name="icon circle"/>
          <p:cNvSpPr/>
          <p:nvPr/>
        </p:nvSpPr>
        <p:spPr>
          <a:xfrm>
            <a:off x="1037191" y="1965960"/>
            <a:ext cx="548640" cy="548640"/>
          </a:xfrm>
          <a:prstGeom prst="ellipse">
            <a:avLst/>
          </a:prstGeom>
          <a:solidFill>
            <a:srgbClr val="0B3C5D"/>
          </a:solidFill>
          <a:ln w="12700">
            <a:solidFill>
              <a:srgbClr val="0B3C5D"/>
            </a:solidFill>
            <a:prstDash val="solid"/>
          </a:ln>
        </p:spPr>
      </p:sp>
      <p:pic>
        <p:nvPicPr>
          <p:cNvPr id="6" name="icon FaSatellite" descr="preencoded.png">    </p:cNvPr>
          <p:cNvPicPr>
            <a:picLocks noChangeAspect="1"/>
          </p:cNvPicPr>
          <p:nvPr/>
        </p:nvPicPr>
        <p:blipFill>
          <a:blip r:embed="rId1"/>
          <a:stretch>
            <a:fillRect/>
          </a:stretch>
        </p:blipFill>
        <p:spPr>
          <a:xfrm>
            <a:off x="1174351" y="2103120"/>
            <a:ext cx="274320" cy="274320"/>
          </a:xfrm>
          <a:prstGeom prst="rect">
            <a:avLst/>
          </a:prstGeom>
        </p:spPr>
      </p:pic>
      <p:sp>
        <p:nvSpPr>
          <p:cNvPr id="7" name="Text 4"/>
          <p:cNvSpPr txBox="1"/>
          <p:nvPr/>
        </p:nvSpPr>
        <p:spPr>
          <a:xfrm>
            <a:off x="621792" y="260604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1. 어디를 날지</a:t>
            </a:r>
            <a:endParaRPr lang="en-US" sz="1150" dirty="0"/>
          </a:p>
        </p:txBody>
      </p:sp>
      <p:sp>
        <p:nvSpPr>
          <p:cNvPr id="8" name="Text 5"/>
          <p:cNvSpPr txBox="1"/>
          <p:nvPr/>
        </p:nvSpPr>
        <p:spPr>
          <a:xfrm>
            <a:off x="640080" y="2935224"/>
            <a:ext cx="1342862" cy="1271016"/>
          </a:xfrm>
          <a:prstGeom prst="rect">
            <a:avLst/>
          </a:prstGeom>
          <a:noFill/>
          <a:ln/>
        </p:spPr>
        <p:txBody>
          <a:bodyPr wrap="square" lIns="0" tIns="0" rIns="0" bIns="0" rtlCol="0" anchor="t"/>
          <a:lstStyle/>
          <a:p>
            <a:pPr algn="ctr" indent="0" marL="0">
              <a:buNone/>
            </a:pPr>
            <a:r>
              <a:rPr lang="en-US" sz="950" dirty="0">
                <a:solidFill>
                  <a:schemeClr val="accent4"/>
                </a:solidFill>
              </a:rPr>
              <a:t>니하우 상위 30% 길이에 67%</a:t>
            </a:r>
            <a:endParaRPr lang="en-US" sz="950" dirty="0"/>
          </a:p>
          <a:p>
            <a:pPr algn="ctr" indent="0" marL="0">
              <a:buNone/>
            </a:pPr>
            <a:r>
              <a:rPr lang="en-US" sz="950" dirty="0">
                <a:solidFill>
                  <a:schemeClr val="accent4"/>
                </a:solidFill>
              </a:rPr>
              <a:t>문갑도 라벨 62%</a:t>
            </a:r>
            <a:endParaRPr lang="en-US" sz="950" dirty="0"/>
          </a:p>
          <a:p>
            <a:pPr algn="ctr" indent="0" marL="0">
              <a:buNone/>
            </a:pPr>
            <a:r>
              <a:rPr lang="en-US" sz="950" dirty="0">
                <a:solidFill>
                  <a:schemeClr val="accent4"/>
                </a:solidFill>
              </a:rPr>
              <a:t>인천 하구 조석 모델 99%</a:t>
            </a:r>
            <a:endParaRPr lang="en-US" sz="950" dirty="0"/>
          </a:p>
        </p:txBody>
      </p:sp>
      <p:sp>
        <p:nvSpPr>
          <p:cNvPr id="9" name="step 비행"/>
          <p:cNvSpPr/>
          <p:nvPr/>
        </p:nvSpPr>
        <p:spPr>
          <a:xfrm>
            <a:off x="2142962" y="1783080"/>
            <a:ext cx="1525742" cy="2514600"/>
          </a:xfrm>
          <a:prstGeom prst="roundRect">
            <a:avLst>
              <a:gd name="adj" fmla="val 5993"/>
            </a:avLst>
          </a:prstGeom>
          <a:solidFill>
            <a:srgbClr val="EEF3F6"/>
          </a:solidFill>
          <a:ln w="12700">
            <a:solidFill>
              <a:srgbClr val="EEF3F6"/>
            </a:solidFill>
            <a:prstDash val="solid"/>
          </a:ln>
        </p:spPr>
      </p:sp>
      <p:sp>
        <p:nvSpPr>
          <p:cNvPr id="10" name="icon circle"/>
          <p:cNvSpPr/>
          <p:nvPr/>
        </p:nvSpPr>
        <p:spPr>
          <a:xfrm>
            <a:off x="2631513" y="1965960"/>
            <a:ext cx="548640" cy="548640"/>
          </a:xfrm>
          <a:prstGeom prst="ellipse">
            <a:avLst/>
          </a:prstGeom>
          <a:solidFill>
            <a:srgbClr val="0B3C5D"/>
          </a:solidFill>
          <a:ln w="12700">
            <a:solidFill>
              <a:srgbClr val="0B3C5D"/>
            </a:solidFill>
            <a:prstDash val="solid"/>
          </a:ln>
        </p:spPr>
      </p:sp>
      <p:pic>
        <p:nvPicPr>
          <p:cNvPr id="11" name="icon FaPlane" descr="preencoded.png">    </p:cNvPr>
          <p:cNvPicPr>
            <a:picLocks noChangeAspect="1"/>
          </p:cNvPicPr>
          <p:nvPr/>
        </p:nvPicPr>
        <p:blipFill>
          <a:blip r:embed="rId2"/>
          <a:stretch>
            <a:fillRect/>
          </a:stretch>
        </p:blipFill>
        <p:spPr>
          <a:xfrm>
            <a:off x="2768673" y="2103120"/>
            <a:ext cx="274320" cy="274320"/>
          </a:xfrm>
          <a:prstGeom prst="rect">
            <a:avLst/>
          </a:prstGeom>
        </p:spPr>
      </p:pic>
      <p:sp>
        <p:nvSpPr>
          <p:cNvPr id="12" name="Text 8"/>
          <p:cNvSpPr txBox="1"/>
          <p:nvPr/>
        </p:nvSpPr>
        <p:spPr>
          <a:xfrm>
            <a:off x="2216114" y="260604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2. 비행</a:t>
            </a:r>
            <a:endParaRPr lang="en-US" sz="1150" dirty="0"/>
          </a:p>
        </p:txBody>
      </p:sp>
      <p:sp>
        <p:nvSpPr>
          <p:cNvPr id="13" name="Text 9"/>
          <p:cNvSpPr txBox="1"/>
          <p:nvPr/>
        </p:nvSpPr>
        <p:spPr>
          <a:xfrm>
            <a:off x="2234402" y="2935224"/>
            <a:ext cx="1342862" cy="1271016"/>
          </a:xfrm>
          <a:prstGeom prst="rect">
            <a:avLst/>
          </a:prstGeom>
          <a:noFill/>
          <a:ln/>
        </p:spPr>
        <p:txBody>
          <a:bodyPr wrap="square" lIns="0" tIns="0" rIns="0" bIns="0" rtlCol="0" anchor="t"/>
          <a:lstStyle/>
          <a:p>
            <a:pPr algn="ctr" indent="0" marL="0">
              <a:buNone/>
            </a:pPr>
            <a:r>
              <a:rPr lang="en-US" sz="950" dirty="0">
                <a:solidFill>
                  <a:schemeClr val="accent4"/>
                </a:solidFill>
              </a:rPr>
              <a:t>야간 10분 통과 비행으로</a:t>
            </a:r>
            <a:endParaRPr lang="en-US" sz="950" dirty="0"/>
          </a:p>
          <a:p>
            <a:pPr algn="ctr" indent="0" marL="0">
              <a:buNone/>
            </a:pPr>
            <a:r>
              <a:rPr lang="en-US" sz="950" dirty="0">
                <a:solidFill>
                  <a:schemeClr val="accent4"/>
                </a:solidFill>
              </a:rPr>
              <a:t>상자 30개 지도화</a:t>
            </a:r>
            <a:endParaRPr lang="en-US" sz="950" dirty="0"/>
          </a:p>
          <a:p>
            <a:pPr algn="ctr" indent="0" marL="0">
              <a:buNone/>
            </a:pPr>
            <a:r>
              <a:rPr lang="en-US" sz="950" dirty="0">
                <a:solidFill>
                  <a:schemeClr val="accent4"/>
                </a:solidFill>
              </a:rPr>
              <a:t>3D 뼈대 25/25 구간</a:t>
            </a:r>
            <a:endParaRPr lang="en-US" sz="950" dirty="0"/>
          </a:p>
        </p:txBody>
      </p:sp>
      <p:sp>
        <p:nvSpPr>
          <p:cNvPr id="14" name="step 탐지"/>
          <p:cNvSpPr/>
          <p:nvPr/>
        </p:nvSpPr>
        <p:spPr>
          <a:xfrm>
            <a:off x="3737283" y="1783080"/>
            <a:ext cx="1525742" cy="2514600"/>
          </a:xfrm>
          <a:prstGeom prst="roundRect">
            <a:avLst>
              <a:gd name="adj" fmla="val 5993"/>
            </a:avLst>
          </a:prstGeom>
          <a:solidFill>
            <a:srgbClr val="EEF3F6"/>
          </a:solidFill>
          <a:ln w="12700">
            <a:solidFill>
              <a:srgbClr val="EEF3F6"/>
            </a:solidFill>
            <a:prstDash val="solid"/>
          </a:ln>
        </p:spPr>
      </p:sp>
      <p:sp>
        <p:nvSpPr>
          <p:cNvPr id="15" name="icon circle"/>
          <p:cNvSpPr/>
          <p:nvPr/>
        </p:nvSpPr>
        <p:spPr>
          <a:xfrm>
            <a:off x="4225834" y="1965960"/>
            <a:ext cx="548640" cy="548640"/>
          </a:xfrm>
          <a:prstGeom prst="ellipse">
            <a:avLst/>
          </a:prstGeom>
          <a:solidFill>
            <a:srgbClr val="0B3C5D"/>
          </a:solidFill>
          <a:ln w="12700">
            <a:solidFill>
              <a:srgbClr val="0B3C5D"/>
            </a:solidFill>
            <a:prstDash val="solid"/>
          </a:ln>
        </p:spPr>
      </p:sp>
      <p:pic>
        <p:nvPicPr>
          <p:cNvPr id="16" name="icon FaSearchLocation" descr="preencoded.png">    </p:cNvPr>
          <p:cNvPicPr>
            <a:picLocks noChangeAspect="1"/>
          </p:cNvPicPr>
          <p:nvPr/>
        </p:nvPicPr>
        <p:blipFill>
          <a:blip r:embed="rId3"/>
          <a:stretch>
            <a:fillRect/>
          </a:stretch>
        </p:blipFill>
        <p:spPr>
          <a:xfrm>
            <a:off x="4362994" y="2103120"/>
            <a:ext cx="274320" cy="274320"/>
          </a:xfrm>
          <a:prstGeom prst="rect">
            <a:avLst/>
          </a:prstGeom>
        </p:spPr>
      </p:pic>
      <p:sp>
        <p:nvSpPr>
          <p:cNvPr id="17" name="Text 12"/>
          <p:cNvSpPr txBox="1"/>
          <p:nvPr/>
        </p:nvSpPr>
        <p:spPr>
          <a:xfrm>
            <a:off x="3810435" y="260604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3. 탐지</a:t>
            </a:r>
            <a:endParaRPr lang="en-US" sz="1150" dirty="0"/>
          </a:p>
        </p:txBody>
      </p:sp>
      <p:sp>
        <p:nvSpPr>
          <p:cNvPr id="18" name="Text 13"/>
          <p:cNvSpPr txBox="1"/>
          <p:nvPr/>
        </p:nvSpPr>
        <p:spPr>
          <a:xfrm>
            <a:off x="3828723" y="2935224"/>
            <a:ext cx="1342862" cy="1271016"/>
          </a:xfrm>
          <a:prstGeom prst="rect">
            <a:avLst/>
          </a:prstGeom>
          <a:noFill/>
          <a:ln/>
        </p:spPr>
        <p:txBody>
          <a:bodyPr wrap="square" lIns="0" tIns="0" rIns="0" bIns="0" rtlCol="0" anchor="t"/>
          <a:lstStyle/>
          <a:p>
            <a:pPr algn="ctr" indent="0" marL="0">
              <a:buNone/>
            </a:pPr>
            <a:r>
              <a:rPr lang="en-US" sz="950" dirty="0">
                <a:solidFill>
                  <a:schemeClr val="accent4"/>
                </a:solidFill>
              </a:rPr>
              <a:t>문갑도 재현율 0.72</a:t>
            </a:r>
            <a:endParaRPr lang="en-US" sz="950" dirty="0"/>
          </a:p>
          <a:p>
            <a:pPr algn="ctr" indent="0" marL="0">
              <a:buNone/>
            </a:pPr>
            <a:r>
              <a:rPr lang="en-US" sz="950" dirty="0">
                <a:solidFill>
                  <a:schemeClr val="accent4"/>
                </a:solidFill>
              </a:rPr>
              <a:t>(공개 모델 0.28)</a:t>
            </a:r>
            <a:endParaRPr lang="en-US" sz="950" dirty="0"/>
          </a:p>
          <a:p>
            <a:pPr algn="ctr" indent="0" marL="0">
              <a:buNone/>
            </a:pPr>
            <a:r>
              <a:rPr lang="en-US" sz="950" dirty="0">
                <a:solidFill>
                  <a:schemeClr val="accent4"/>
                </a:solidFill>
              </a:rPr>
              <a:t>하와이 미세조정 0.69</a:t>
            </a:r>
            <a:endParaRPr lang="en-US" sz="950" dirty="0"/>
          </a:p>
        </p:txBody>
      </p:sp>
      <p:sp>
        <p:nvSpPr>
          <p:cNvPr id="19" name="step 위치"/>
          <p:cNvSpPr/>
          <p:nvPr/>
        </p:nvSpPr>
        <p:spPr>
          <a:xfrm>
            <a:off x="5331605" y="1783080"/>
            <a:ext cx="1525742" cy="2514600"/>
          </a:xfrm>
          <a:prstGeom prst="roundRect">
            <a:avLst>
              <a:gd name="adj" fmla="val 5993"/>
            </a:avLst>
          </a:prstGeom>
          <a:solidFill>
            <a:srgbClr val="EEF3F6"/>
          </a:solidFill>
          <a:ln w="12700">
            <a:solidFill>
              <a:srgbClr val="EEF3F6"/>
            </a:solidFill>
            <a:prstDash val="solid"/>
          </a:ln>
        </p:spPr>
      </p:sp>
      <p:sp>
        <p:nvSpPr>
          <p:cNvPr id="20" name="icon circle"/>
          <p:cNvSpPr/>
          <p:nvPr/>
        </p:nvSpPr>
        <p:spPr>
          <a:xfrm>
            <a:off x="5820156" y="1965960"/>
            <a:ext cx="548640" cy="548640"/>
          </a:xfrm>
          <a:prstGeom prst="ellipse">
            <a:avLst/>
          </a:prstGeom>
          <a:solidFill>
            <a:srgbClr val="0B3C5D"/>
          </a:solidFill>
          <a:ln w="12700">
            <a:solidFill>
              <a:srgbClr val="0B3C5D"/>
            </a:solidFill>
            <a:prstDash val="solid"/>
          </a:ln>
        </p:spPr>
      </p:sp>
      <p:pic>
        <p:nvPicPr>
          <p:cNvPr id="21" name="icon FaCrosshairs" descr="preencoded.png">    </p:cNvPr>
          <p:cNvPicPr>
            <a:picLocks noChangeAspect="1"/>
          </p:cNvPicPr>
          <p:nvPr/>
        </p:nvPicPr>
        <p:blipFill>
          <a:blip r:embed="rId4"/>
          <a:stretch>
            <a:fillRect/>
          </a:stretch>
        </p:blipFill>
        <p:spPr>
          <a:xfrm>
            <a:off x="5957316" y="2103120"/>
            <a:ext cx="274320" cy="274320"/>
          </a:xfrm>
          <a:prstGeom prst="rect">
            <a:avLst/>
          </a:prstGeom>
        </p:spPr>
      </p:pic>
      <p:sp>
        <p:nvSpPr>
          <p:cNvPr id="22" name="Text 16"/>
          <p:cNvSpPr txBox="1"/>
          <p:nvPr/>
        </p:nvSpPr>
        <p:spPr>
          <a:xfrm>
            <a:off x="5404757" y="260604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4. 위치</a:t>
            </a:r>
            <a:endParaRPr lang="en-US" sz="1150" dirty="0"/>
          </a:p>
        </p:txBody>
      </p:sp>
      <p:sp>
        <p:nvSpPr>
          <p:cNvPr id="23" name="Text 17"/>
          <p:cNvSpPr txBox="1"/>
          <p:nvPr/>
        </p:nvSpPr>
        <p:spPr>
          <a:xfrm>
            <a:off x="5423045" y="2935224"/>
            <a:ext cx="1342862" cy="1271016"/>
          </a:xfrm>
          <a:prstGeom prst="rect">
            <a:avLst/>
          </a:prstGeom>
          <a:noFill/>
          <a:ln/>
        </p:spPr>
        <p:txBody>
          <a:bodyPr wrap="square" lIns="0" tIns="0" rIns="0" bIns="0" rtlCol="0" anchor="t"/>
          <a:lstStyle/>
          <a:p>
            <a:pPr algn="ctr" indent="0" marL="0">
              <a:buNone/>
            </a:pPr>
            <a:r>
              <a:rPr lang="en-US" sz="950" dirty="0">
                <a:solidFill>
                  <a:schemeClr val="accent4"/>
                </a:solidFill>
              </a:rPr>
              <a:t>3D↔GPS 잔차 1.16 m</a:t>
            </a:r>
            <a:endParaRPr lang="en-US" sz="950" dirty="0"/>
          </a:p>
          <a:p>
            <a:pPr algn="ctr" indent="0" marL="0">
              <a:buNone/>
            </a:pPr>
            <a:r>
              <a:rPr lang="en-US" sz="950" dirty="0">
                <a:solidFill>
                  <a:schemeClr val="accent4"/>
                </a:solidFill>
              </a:rPr>
              <a:t>축척 자동 8.07→0.51 m</a:t>
            </a:r>
            <a:endParaRPr lang="en-US" sz="950" dirty="0"/>
          </a:p>
          <a:p>
            <a:pPr algn="ctr" indent="0" marL="0">
              <a:buNone/>
            </a:pPr>
            <a:r>
              <a:rPr lang="en-US" sz="950" dirty="0">
                <a:solidFill>
                  <a:schemeClr val="accent4"/>
                </a:solidFill>
              </a:rPr>
              <a:t>합성 7개 0.01~0.11 m</a:t>
            </a:r>
            <a:endParaRPr lang="en-US" sz="950" dirty="0"/>
          </a:p>
        </p:txBody>
      </p:sp>
      <p:sp>
        <p:nvSpPr>
          <p:cNvPr id="24" name="step 부피"/>
          <p:cNvSpPr/>
          <p:nvPr/>
        </p:nvSpPr>
        <p:spPr>
          <a:xfrm>
            <a:off x="6925927" y="1783080"/>
            <a:ext cx="1525742" cy="2514600"/>
          </a:xfrm>
          <a:prstGeom prst="roundRect">
            <a:avLst>
              <a:gd name="adj" fmla="val 5993"/>
            </a:avLst>
          </a:prstGeom>
          <a:solidFill>
            <a:srgbClr val="EEF3F6"/>
          </a:solidFill>
          <a:ln w="12700">
            <a:solidFill>
              <a:srgbClr val="EEF3F6"/>
            </a:solidFill>
            <a:prstDash val="solid"/>
          </a:ln>
        </p:spPr>
      </p:sp>
      <p:sp>
        <p:nvSpPr>
          <p:cNvPr id="25" name="icon circle"/>
          <p:cNvSpPr/>
          <p:nvPr/>
        </p:nvSpPr>
        <p:spPr>
          <a:xfrm>
            <a:off x="7414478" y="1965960"/>
            <a:ext cx="548640" cy="548640"/>
          </a:xfrm>
          <a:prstGeom prst="ellipse">
            <a:avLst/>
          </a:prstGeom>
          <a:solidFill>
            <a:srgbClr val="0B3C5D"/>
          </a:solidFill>
          <a:ln w="12700">
            <a:solidFill>
              <a:srgbClr val="0B3C5D"/>
            </a:solidFill>
            <a:prstDash val="solid"/>
          </a:ln>
        </p:spPr>
      </p:sp>
      <p:pic>
        <p:nvPicPr>
          <p:cNvPr id="26" name="icon FaCubes" descr="preencoded.png">    </p:cNvPr>
          <p:cNvPicPr>
            <a:picLocks noChangeAspect="1"/>
          </p:cNvPicPr>
          <p:nvPr/>
        </p:nvPicPr>
        <p:blipFill>
          <a:blip r:embed="rId5"/>
          <a:stretch>
            <a:fillRect/>
          </a:stretch>
        </p:blipFill>
        <p:spPr>
          <a:xfrm>
            <a:off x="7551638" y="2103120"/>
            <a:ext cx="274320" cy="274320"/>
          </a:xfrm>
          <a:prstGeom prst="rect">
            <a:avLst/>
          </a:prstGeom>
        </p:spPr>
      </p:pic>
      <p:sp>
        <p:nvSpPr>
          <p:cNvPr id="27" name="Text 20"/>
          <p:cNvSpPr txBox="1"/>
          <p:nvPr/>
        </p:nvSpPr>
        <p:spPr>
          <a:xfrm>
            <a:off x="6999079" y="260604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5. 부피</a:t>
            </a:r>
            <a:endParaRPr lang="en-US" sz="1150" dirty="0"/>
          </a:p>
        </p:txBody>
      </p:sp>
      <p:sp>
        <p:nvSpPr>
          <p:cNvPr id="28" name="Text 21"/>
          <p:cNvSpPr txBox="1"/>
          <p:nvPr/>
        </p:nvSpPr>
        <p:spPr>
          <a:xfrm>
            <a:off x="7017367" y="2935224"/>
            <a:ext cx="1342862" cy="1271016"/>
          </a:xfrm>
          <a:prstGeom prst="rect">
            <a:avLst/>
          </a:prstGeom>
          <a:noFill/>
          <a:ln/>
        </p:spPr>
        <p:txBody>
          <a:bodyPr wrap="square" lIns="0" tIns="0" rIns="0" bIns="0" rtlCol="0" anchor="t"/>
          <a:lstStyle/>
          <a:p>
            <a:pPr algn="ctr" indent="0" marL="0">
              <a:buNone/>
            </a:pPr>
            <a:r>
              <a:rPr lang="en-US" sz="950" dirty="0">
                <a:solidFill>
                  <a:schemeClr val="accent4"/>
                </a:solidFill>
              </a:rPr>
              <a:t>상자 3개 ±20% 안</a:t>
            </a:r>
            <a:endParaRPr lang="en-US" sz="950" dirty="0"/>
          </a:p>
          <a:p>
            <a:pPr algn="ctr" indent="0" marL="0">
              <a:buNone/>
            </a:pPr>
            <a:r>
              <a:rPr lang="en-US" sz="950" dirty="0">
                <a:solidFill>
                  <a:schemeClr val="accent4"/>
                </a:solidFill>
              </a:rPr>
              <a:t>+19 / +20 / −10%</a:t>
            </a:r>
            <a:endParaRPr lang="en-US" sz="950" dirty="0"/>
          </a:p>
          <a:p>
            <a:pPr algn="ctr" indent="0" marL="0">
              <a:buNone/>
            </a:pPr>
            <a:r>
              <a:rPr lang="en-US" sz="950" dirty="0">
                <a:solidFill>
                  <a:schemeClr val="accent4"/>
                </a:solidFill>
              </a:rPr>
              <a:t>업체 방식 1/112·1/180</a:t>
            </a:r>
            <a:endParaRPr lang="en-US" sz="950" dirty="0"/>
          </a:p>
        </p:txBody>
      </p:sp>
      <p:sp>
        <p:nvSpPr>
          <p:cNvPr id="29" name="step 무게 구간"/>
          <p:cNvSpPr/>
          <p:nvPr/>
        </p:nvSpPr>
        <p:spPr>
          <a:xfrm>
            <a:off x="8520249" y="1783080"/>
            <a:ext cx="1525742" cy="2514600"/>
          </a:xfrm>
          <a:prstGeom prst="roundRect">
            <a:avLst>
              <a:gd name="adj" fmla="val 5993"/>
            </a:avLst>
          </a:prstGeom>
          <a:solidFill>
            <a:srgbClr val="EEF3F6"/>
          </a:solidFill>
          <a:ln w="12700">
            <a:solidFill>
              <a:srgbClr val="EEF3F6"/>
            </a:solidFill>
            <a:prstDash val="solid"/>
          </a:ln>
        </p:spPr>
      </p:sp>
      <p:sp>
        <p:nvSpPr>
          <p:cNvPr id="30" name="icon circle"/>
          <p:cNvSpPr/>
          <p:nvPr/>
        </p:nvSpPr>
        <p:spPr>
          <a:xfrm>
            <a:off x="9008799" y="1965960"/>
            <a:ext cx="548640" cy="548640"/>
          </a:xfrm>
          <a:prstGeom prst="ellipse">
            <a:avLst/>
          </a:prstGeom>
          <a:solidFill>
            <a:srgbClr val="6F8794"/>
          </a:solidFill>
          <a:ln w="12700">
            <a:solidFill>
              <a:srgbClr val="6F8794"/>
            </a:solidFill>
            <a:prstDash val="solid"/>
          </a:ln>
        </p:spPr>
      </p:sp>
      <p:pic>
        <p:nvPicPr>
          <p:cNvPr id="31" name="icon FaRulerCombined" descr="preencoded.png">    </p:cNvPr>
          <p:cNvPicPr>
            <a:picLocks noChangeAspect="1"/>
          </p:cNvPicPr>
          <p:nvPr/>
        </p:nvPicPr>
        <p:blipFill>
          <a:blip r:embed="rId6"/>
          <a:stretch>
            <a:fillRect/>
          </a:stretch>
        </p:blipFill>
        <p:spPr>
          <a:xfrm>
            <a:off x="9145959" y="2103120"/>
            <a:ext cx="274320" cy="274320"/>
          </a:xfrm>
          <a:prstGeom prst="rect">
            <a:avLst/>
          </a:prstGeom>
        </p:spPr>
      </p:pic>
      <p:sp>
        <p:nvSpPr>
          <p:cNvPr id="32" name="Text 24"/>
          <p:cNvSpPr txBox="1"/>
          <p:nvPr/>
        </p:nvSpPr>
        <p:spPr>
          <a:xfrm>
            <a:off x="8593401" y="2606040"/>
            <a:ext cx="1379438" cy="320040"/>
          </a:xfrm>
          <a:prstGeom prst="rect">
            <a:avLst/>
          </a:prstGeom>
          <a:noFill/>
          <a:ln/>
        </p:spPr>
        <p:txBody>
          <a:bodyPr wrap="square" lIns="0" tIns="0" rIns="0" bIns="0" rtlCol="0" anchor="ctr"/>
          <a:lstStyle/>
          <a:p>
            <a:pPr algn="ctr" indent="0" marL="0">
              <a:buNone/>
            </a:pPr>
            <a:r>
              <a:rPr lang="en-US" sz="1150" b="1" dirty="0">
                <a:solidFill>
                  <a:schemeClr val="tx1"/>
                </a:solidFill>
              </a:rPr>
              <a:t>6. 무게 구간</a:t>
            </a:r>
            <a:endParaRPr lang="en-US" sz="1150" dirty="0"/>
          </a:p>
        </p:txBody>
      </p:sp>
      <p:sp>
        <p:nvSpPr>
          <p:cNvPr id="33" name="Text 25"/>
          <p:cNvSpPr txBox="1"/>
          <p:nvPr/>
        </p:nvSpPr>
        <p:spPr>
          <a:xfrm>
            <a:off x="8611689" y="2935224"/>
            <a:ext cx="1342862" cy="1271016"/>
          </a:xfrm>
          <a:prstGeom prst="rect">
            <a:avLst/>
          </a:prstGeom>
          <a:noFill/>
          <a:ln/>
        </p:spPr>
        <p:txBody>
          <a:bodyPr wrap="square" lIns="0" tIns="0" rIns="0" bIns="0" rtlCol="0" anchor="t"/>
          <a:lstStyle/>
          <a:p>
            <a:pPr algn="ctr" indent="0" marL="0">
              <a:buNone/>
            </a:pPr>
            <a:r>
              <a:rPr lang="en-US" sz="950" dirty="0">
                <a:solidFill>
                  <a:schemeClr val="accent4"/>
                </a:solidFill>
              </a:rPr>
              <a:t>가정 밀도로 산출</a:t>
            </a:r>
            <a:endParaRPr lang="en-US" sz="950" dirty="0"/>
          </a:p>
          <a:p>
            <a:pPr algn="ctr" indent="0" marL="0">
              <a:buNone/>
            </a:pPr>
            <a:r>
              <a:rPr lang="en-US" sz="950" dirty="0">
                <a:solidFill>
                  <a:schemeClr val="accent4"/>
                </a:solidFill>
              </a:rPr>
              <a:t>저울 실측 30개</a:t>
            </a:r>
            <a:endParaRPr lang="en-US" sz="950" dirty="0"/>
          </a:p>
          <a:p>
            <a:pPr algn="ctr" indent="0" marL="0">
              <a:buNone/>
            </a:pPr>
            <a:r>
              <a:rPr lang="en-US" sz="950" dirty="0">
                <a:solidFill>
                  <a:schemeClr val="accent4"/>
                </a:solidFill>
              </a:rPr>
              <a:t>확보 예정</a:t>
            </a:r>
            <a:endParaRPr lang="en-US" sz="950" dirty="0"/>
          </a:p>
        </p:txBody>
      </p:sp>
      <p:sp>
        <p:nvSpPr>
          <p:cNvPr id="34" name="step 수거계획"/>
          <p:cNvSpPr/>
          <p:nvPr/>
        </p:nvSpPr>
        <p:spPr>
          <a:xfrm>
            <a:off x="10114570" y="1783080"/>
            <a:ext cx="1525742" cy="2514600"/>
          </a:xfrm>
          <a:prstGeom prst="roundRect">
            <a:avLst>
              <a:gd name="adj" fmla="val 5993"/>
            </a:avLst>
          </a:prstGeom>
          <a:solidFill>
            <a:srgbClr val="0B3C5D"/>
          </a:solidFill>
          <a:ln w="12700">
            <a:solidFill>
              <a:srgbClr val="0B3C5D"/>
            </a:solidFill>
            <a:prstDash val="solid"/>
          </a:ln>
        </p:spPr>
      </p:sp>
      <p:sp>
        <p:nvSpPr>
          <p:cNvPr id="35" name="icon circle"/>
          <p:cNvSpPr/>
          <p:nvPr/>
        </p:nvSpPr>
        <p:spPr>
          <a:xfrm>
            <a:off x="10603121" y="1965960"/>
            <a:ext cx="548640" cy="548640"/>
          </a:xfrm>
          <a:prstGeom prst="ellipse">
            <a:avLst/>
          </a:prstGeom>
          <a:solidFill>
            <a:srgbClr val="F26B21"/>
          </a:solidFill>
          <a:ln w="12700">
            <a:solidFill>
              <a:srgbClr val="F26B21"/>
            </a:solidFill>
            <a:prstDash val="solid"/>
          </a:ln>
        </p:spPr>
      </p:sp>
      <p:pic>
        <p:nvPicPr>
          <p:cNvPr id="36" name="icon FaTruck" descr="preencoded.png">    </p:cNvPr>
          <p:cNvPicPr>
            <a:picLocks noChangeAspect="1"/>
          </p:cNvPicPr>
          <p:nvPr/>
        </p:nvPicPr>
        <p:blipFill>
          <a:blip r:embed="rId7"/>
          <a:stretch>
            <a:fillRect/>
          </a:stretch>
        </p:blipFill>
        <p:spPr>
          <a:xfrm>
            <a:off x="10740281" y="2103120"/>
            <a:ext cx="274320" cy="274320"/>
          </a:xfrm>
          <a:prstGeom prst="rect">
            <a:avLst/>
          </a:prstGeom>
        </p:spPr>
      </p:pic>
      <p:sp>
        <p:nvSpPr>
          <p:cNvPr id="37" name="Text 28"/>
          <p:cNvSpPr txBox="1"/>
          <p:nvPr/>
        </p:nvSpPr>
        <p:spPr>
          <a:xfrm>
            <a:off x="10187722" y="2606040"/>
            <a:ext cx="1379438" cy="320040"/>
          </a:xfrm>
          <a:prstGeom prst="rect">
            <a:avLst/>
          </a:prstGeom>
          <a:noFill/>
          <a:ln/>
        </p:spPr>
        <p:txBody>
          <a:bodyPr wrap="square" lIns="0" tIns="0" rIns="0" bIns="0" rtlCol="0" anchor="ctr"/>
          <a:lstStyle/>
          <a:p>
            <a:pPr algn="ctr" indent="0" marL="0">
              <a:buNone/>
            </a:pPr>
            <a:r>
              <a:rPr lang="en-US" sz="1150" b="1" dirty="0">
                <a:solidFill>
                  <a:schemeClr val="bg1"/>
                </a:solidFill>
              </a:rPr>
              <a:t>7. 수거계획</a:t>
            </a:r>
            <a:endParaRPr lang="en-US" sz="1150" dirty="0"/>
          </a:p>
        </p:txBody>
      </p:sp>
      <p:sp>
        <p:nvSpPr>
          <p:cNvPr id="38" name="Text 29"/>
          <p:cNvSpPr txBox="1"/>
          <p:nvPr/>
        </p:nvSpPr>
        <p:spPr>
          <a:xfrm>
            <a:off x="10206010" y="2935224"/>
            <a:ext cx="1342862" cy="1271016"/>
          </a:xfrm>
          <a:prstGeom prst="rect">
            <a:avLst/>
          </a:prstGeom>
          <a:noFill/>
          <a:ln/>
        </p:spPr>
        <p:txBody>
          <a:bodyPr wrap="square" lIns="0" tIns="0" rIns="0" bIns="0" rtlCol="0" anchor="t"/>
          <a:lstStyle/>
          <a:p>
            <a:pPr algn="ctr" indent="0" marL="0">
              <a:buNone/>
            </a:pPr>
            <a:r>
              <a:rPr lang="en-US" sz="950" dirty="0">
                <a:solidFill>
                  <a:schemeClr val="accent5"/>
                </a:solidFill>
              </a:rPr>
              <a:t>니하우 5,476개 →</a:t>
            </a:r>
            <a:endParaRPr lang="en-US" sz="950" dirty="0"/>
          </a:p>
          <a:p>
            <a:pPr algn="ctr" indent="0" marL="0">
              <a:buNone/>
            </a:pPr>
            <a:r>
              <a:rPr lang="en-US" sz="950" dirty="0">
                <a:solidFill>
                  <a:schemeClr val="accent5"/>
                </a:solidFill>
              </a:rPr>
              <a:t>마대 1,082 · 트럭 37</a:t>
            </a:r>
            <a:endParaRPr lang="en-US" sz="950" dirty="0"/>
          </a:p>
          <a:p>
            <a:pPr algn="ctr" indent="0" marL="0">
              <a:buNone/>
            </a:pPr>
            <a:r>
              <a:rPr lang="en-US" sz="950" dirty="0">
                <a:solidFill>
                  <a:schemeClr val="accent5"/>
                </a:solidFill>
              </a:rPr>
              <a:t>경로 71.9 km</a:t>
            </a:r>
            <a:endParaRPr lang="en-US" sz="950" dirty="0"/>
          </a:p>
        </p:txBody>
      </p:sp>
      <p:sp>
        <p:nvSpPr>
          <p:cNvPr id="39" name="check"/>
          <p:cNvSpPr/>
          <p:nvPr/>
        </p:nvSpPr>
        <p:spPr>
          <a:xfrm>
            <a:off x="1690334" y="1874520"/>
            <a:ext cx="274320" cy="274320"/>
          </a:xfrm>
          <a:prstGeom prst="ellipse">
            <a:avLst/>
          </a:prstGeom>
          <a:solidFill>
            <a:srgbClr val="0A7A2F"/>
          </a:solidFill>
          <a:ln w="12700">
            <a:solidFill>
              <a:srgbClr val="0A7A2F"/>
            </a:solidFill>
            <a:prstDash val="solid"/>
          </a:ln>
        </p:spPr>
      </p:sp>
      <p:pic>
        <p:nvPicPr>
          <p:cNvPr id="40" name="check icon" descr="preencoded.png">    </p:cNvPr>
          <p:cNvPicPr>
            <a:picLocks noChangeAspect="1"/>
          </p:cNvPicPr>
          <p:nvPr/>
        </p:nvPicPr>
        <p:blipFill>
          <a:blip r:embed="rId8"/>
          <a:stretch>
            <a:fillRect/>
          </a:stretch>
        </p:blipFill>
        <p:spPr>
          <a:xfrm>
            <a:off x="1754342" y="1938528"/>
            <a:ext cx="146304" cy="146304"/>
          </a:xfrm>
          <a:prstGeom prst="rect">
            <a:avLst/>
          </a:prstGeom>
        </p:spPr>
      </p:pic>
      <p:sp>
        <p:nvSpPr>
          <p:cNvPr id="41" name="check"/>
          <p:cNvSpPr/>
          <p:nvPr/>
        </p:nvSpPr>
        <p:spPr>
          <a:xfrm>
            <a:off x="3284655" y="1874520"/>
            <a:ext cx="274320" cy="274320"/>
          </a:xfrm>
          <a:prstGeom prst="ellipse">
            <a:avLst/>
          </a:prstGeom>
          <a:solidFill>
            <a:srgbClr val="0A7A2F"/>
          </a:solidFill>
          <a:ln w="12700">
            <a:solidFill>
              <a:srgbClr val="0A7A2F"/>
            </a:solidFill>
            <a:prstDash val="solid"/>
          </a:ln>
        </p:spPr>
      </p:sp>
      <p:pic>
        <p:nvPicPr>
          <p:cNvPr id="42" name="check icon" descr="preencoded.png">    </p:cNvPr>
          <p:cNvPicPr>
            <a:picLocks noChangeAspect="1"/>
          </p:cNvPicPr>
          <p:nvPr/>
        </p:nvPicPr>
        <p:blipFill>
          <a:blip r:embed="rId9"/>
          <a:stretch>
            <a:fillRect/>
          </a:stretch>
        </p:blipFill>
        <p:spPr>
          <a:xfrm>
            <a:off x="3348663" y="1938528"/>
            <a:ext cx="146304" cy="146304"/>
          </a:xfrm>
          <a:prstGeom prst="rect">
            <a:avLst/>
          </a:prstGeom>
        </p:spPr>
      </p:pic>
      <p:sp>
        <p:nvSpPr>
          <p:cNvPr id="43" name="check"/>
          <p:cNvSpPr/>
          <p:nvPr/>
        </p:nvSpPr>
        <p:spPr>
          <a:xfrm>
            <a:off x="4878977" y="1874520"/>
            <a:ext cx="274320" cy="274320"/>
          </a:xfrm>
          <a:prstGeom prst="ellipse">
            <a:avLst/>
          </a:prstGeom>
          <a:solidFill>
            <a:srgbClr val="0A7A2F"/>
          </a:solidFill>
          <a:ln w="12700">
            <a:solidFill>
              <a:srgbClr val="0A7A2F"/>
            </a:solidFill>
            <a:prstDash val="solid"/>
          </a:ln>
        </p:spPr>
      </p:sp>
      <p:pic>
        <p:nvPicPr>
          <p:cNvPr id="44" name="check icon" descr="preencoded.png">    </p:cNvPr>
          <p:cNvPicPr>
            <a:picLocks noChangeAspect="1"/>
          </p:cNvPicPr>
          <p:nvPr/>
        </p:nvPicPr>
        <p:blipFill>
          <a:blip r:embed="rId10"/>
          <a:stretch>
            <a:fillRect/>
          </a:stretch>
        </p:blipFill>
        <p:spPr>
          <a:xfrm>
            <a:off x="4942985" y="1938528"/>
            <a:ext cx="146304" cy="146304"/>
          </a:xfrm>
          <a:prstGeom prst="rect">
            <a:avLst/>
          </a:prstGeom>
        </p:spPr>
      </p:pic>
      <p:sp>
        <p:nvSpPr>
          <p:cNvPr id="45" name="check"/>
          <p:cNvSpPr/>
          <p:nvPr/>
        </p:nvSpPr>
        <p:spPr>
          <a:xfrm>
            <a:off x="6473299" y="1874520"/>
            <a:ext cx="274320" cy="274320"/>
          </a:xfrm>
          <a:prstGeom prst="ellipse">
            <a:avLst/>
          </a:prstGeom>
          <a:solidFill>
            <a:srgbClr val="0A7A2F"/>
          </a:solidFill>
          <a:ln w="12700">
            <a:solidFill>
              <a:srgbClr val="0A7A2F"/>
            </a:solidFill>
            <a:prstDash val="solid"/>
          </a:ln>
        </p:spPr>
      </p:sp>
      <p:pic>
        <p:nvPicPr>
          <p:cNvPr id="46" name="check icon" descr="preencoded.png">    </p:cNvPr>
          <p:cNvPicPr>
            <a:picLocks noChangeAspect="1"/>
          </p:cNvPicPr>
          <p:nvPr/>
        </p:nvPicPr>
        <p:blipFill>
          <a:blip r:embed="rId11"/>
          <a:stretch>
            <a:fillRect/>
          </a:stretch>
        </p:blipFill>
        <p:spPr>
          <a:xfrm>
            <a:off x="6537307" y="1938528"/>
            <a:ext cx="146304" cy="146304"/>
          </a:xfrm>
          <a:prstGeom prst="rect">
            <a:avLst/>
          </a:prstGeom>
        </p:spPr>
      </p:pic>
      <p:sp>
        <p:nvSpPr>
          <p:cNvPr id="47" name="check"/>
          <p:cNvSpPr/>
          <p:nvPr/>
        </p:nvSpPr>
        <p:spPr>
          <a:xfrm>
            <a:off x="8067621" y="1874520"/>
            <a:ext cx="274320" cy="274320"/>
          </a:xfrm>
          <a:prstGeom prst="ellipse">
            <a:avLst/>
          </a:prstGeom>
          <a:solidFill>
            <a:srgbClr val="0A7A2F"/>
          </a:solidFill>
          <a:ln w="12700">
            <a:solidFill>
              <a:srgbClr val="0A7A2F"/>
            </a:solidFill>
            <a:prstDash val="solid"/>
          </a:ln>
        </p:spPr>
      </p:sp>
      <p:pic>
        <p:nvPicPr>
          <p:cNvPr id="48" name="check icon" descr="preencoded.png">    </p:cNvPr>
          <p:cNvPicPr>
            <a:picLocks noChangeAspect="1"/>
          </p:cNvPicPr>
          <p:nvPr/>
        </p:nvPicPr>
        <p:blipFill>
          <a:blip r:embed="rId12"/>
          <a:stretch>
            <a:fillRect/>
          </a:stretch>
        </p:blipFill>
        <p:spPr>
          <a:xfrm>
            <a:off x="8131629" y="1938528"/>
            <a:ext cx="146304" cy="146304"/>
          </a:xfrm>
          <a:prstGeom prst="rect">
            <a:avLst/>
          </a:prstGeom>
        </p:spPr>
      </p:pic>
      <p:sp>
        <p:nvSpPr>
          <p:cNvPr id="49" name="check"/>
          <p:cNvSpPr/>
          <p:nvPr/>
        </p:nvSpPr>
        <p:spPr>
          <a:xfrm>
            <a:off x="9661942" y="1874520"/>
            <a:ext cx="274320" cy="274320"/>
          </a:xfrm>
          <a:prstGeom prst="ellipse">
            <a:avLst/>
          </a:prstGeom>
          <a:solidFill>
            <a:srgbClr val="6F8794"/>
          </a:solidFill>
          <a:ln w="12700">
            <a:solidFill>
              <a:srgbClr val="6F8794"/>
            </a:solidFill>
            <a:prstDash val="solid"/>
          </a:ln>
        </p:spPr>
      </p:sp>
      <p:pic>
        <p:nvPicPr>
          <p:cNvPr id="50" name="check icon" descr="preencoded.png">    </p:cNvPr>
          <p:cNvPicPr>
            <a:picLocks noChangeAspect="1"/>
          </p:cNvPicPr>
          <p:nvPr/>
        </p:nvPicPr>
        <p:blipFill>
          <a:blip r:embed="rId13"/>
          <a:stretch>
            <a:fillRect/>
          </a:stretch>
        </p:blipFill>
        <p:spPr>
          <a:xfrm>
            <a:off x="9725950" y="1938528"/>
            <a:ext cx="146304" cy="146304"/>
          </a:xfrm>
          <a:prstGeom prst="rect">
            <a:avLst/>
          </a:prstGeom>
        </p:spPr>
      </p:pic>
      <p:sp>
        <p:nvSpPr>
          <p:cNvPr id="51" name="check"/>
          <p:cNvSpPr/>
          <p:nvPr/>
        </p:nvSpPr>
        <p:spPr>
          <a:xfrm>
            <a:off x="11256264" y="1874520"/>
            <a:ext cx="274320" cy="274320"/>
          </a:xfrm>
          <a:prstGeom prst="ellipse">
            <a:avLst/>
          </a:prstGeom>
          <a:solidFill>
            <a:srgbClr val="0A7A2F"/>
          </a:solidFill>
          <a:ln w="12700">
            <a:solidFill>
              <a:srgbClr val="0A7A2F"/>
            </a:solidFill>
            <a:prstDash val="solid"/>
          </a:ln>
        </p:spPr>
      </p:sp>
      <p:pic>
        <p:nvPicPr>
          <p:cNvPr id="52" name="check icon" descr="preencoded.png">    </p:cNvPr>
          <p:cNvPicPr>
            <a:picLocks noChangeAspect="1"/>
          </p:cNvPicPr>
          <p:nvPr/>
        </p:nvPicPr>
        <p:blipFill>
          <a:blip r:embed="rId14"/>
          <a:stretch>
            <a:fillRect/>
          </a:stretch>
        </p:blipFill>
        <p:spPr>
          <a:xfrm>
            <a:off x="11320272" y="1938528"/>
            <a:ext cx="146304" cy="146304"/>
          </a:xfrm>
          <a:prstGeom prst="rect">
            <a:avLst/>
          </a:prstGeom>
        </p:spPr>
      </p:pic>
      <p:sp>
        <p:nvSpPr>
          <p:cNvPr id="53" name="stat 실제 데이터로 확인한 단계"/>
          <p:cNvSpPr/>
          <p:nvPr/>
        </p:nvSpPr>
        <p:spPr>
          <a:xfrm>
            <a:off x="548640" y="4526280"/>
            <a:ext cx="265176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4" name="Text 38"/>
          <p:cNvSpPr txBox="1"/>
          <p:nvPr/>
        </p:nvSpPr>
        <p:spPr>
          <a:xfrm>
            <a:off x="777240" y="4672584"/>
            <a:ext cx="2240280" cy="274320"/>
          </a:xfrm>
          <a:prstGeom prst="rect">
            <a:avLst/>
          </a:prstGeom>
          <a:noFill/>
          <a:ln/>
        </p:spPr>
        <p:txBody>
          <a:bodyPr wrap="square" lIns="0" tIns="0" rIns="0" bIns="0" rtlCol="0" anchor="ctr"/>
          <a:lstStyle/>
          <a:p>
            <a:pPr indent="0" marL="0">
              <a:buNone/>
            </a:pPr>
            <a:r>
              <a:rPr lang="en-US" sz="1000" dirty="0">
                <a:solidFill>
                  <a:schemeClr val="accent4"/>
                </a:solidFill>
              </a:rPr>
              <a:t>실제 데이터로 확인한 단계</a:t>
            </a:r>
            <a:endParaRPr lang="en-US" sz="1000" dirty="0"/>
          </a:p>
        </p:txBody>
      </p:sp>
      <p:sp>
        <p:nvSpPr>
          <p:cNvPr id="55" name="Text 39"/>
          <p:cNvSpPr txBox="1"/>
          <p:nvPr/>
        </p:nvSpPr>
        <p:spPr>
          <a:xfrm>
            <a:off x="777240" y="4910328"/>
            <a:ext cx="2240280" cy="548640"/>
          </a:xfrm>
          <a:prstGeom prst="rect">
            <a:avLst/>
          </a:prstGeom>
          <a:noFill/>
          <a:ln/>
        </p:spPr>
        <p:txBody>
          <a:bodyPr wrap="square" lIns="0" tIns="0" rIns="0" bIns="0" rtlCol="0" anchor="ctr"/>
          <a:lstStyle/>
          <a:p>
            <a:pPr indent="0" marL="0">
              <a:buNone/>
            </a:pPr>
            <a:r>
              <a:rPr lang="en-US" sz="2800" b="1" dirty="0">
                <a:solidFill>
                  <a:schemeClr val="tx2"/>
                </a:solidFill>
              </a:rPr>
              <a:t>6 / 7</a:t>
            </a:r>
            <a:pPr indent="0" marL="0">
              <a:buNone/>
            </a:pPr>
            <a:r>
              <a:rPr lang="en-US" sz="1200" b="1" dirty="0">
                <a:solidFill>
                  <a:schemeClr val="accent4"/>
                </a:solidFill>
              </a:rPr>
              <a:t> 단계</a:t>
            </a:r>
            <a:endParaRPr lang="en-US" sz="2800" dirty="0"/>
          </a:p>
        </p:txBody>
      </p:sp>
      <p:sp>
        <p:nvSpPr>
          <p:cNvPr id="56" name="Text 40"/>
          <p:cNvSpPr txBox="1"/>
          <p:nvPr/>
        </p:nvSpPr>
        <p:spPr>
          <a:xfrm>
            <a:off x="777240" y="5440680"/>
            <a:ext cx="2240280" cy="384048"/>
          </a:xfrm>
          <a:prstGeom prst="rect">
            <a:avLst/>
          </a:prstGeom>
          <a:noFill/>
          <a:ln/>
        </p:spPr>
        <p:txBody>
          <a:bodyPr wrap="square" lIns="0" tIns="0" rIns="0" bIns="0" rtlCol="0" anchor="t"/>
          <a:lstStyle/>
          <a:p>
            <a:pPr indent="0" marL="0">
              <a:buNone/>
            </a:pPr>
            <a:r>
              <a:rPr lang="en-US" sz="950" dirty="0">
                <a:solidFill>
                  <a:schemeClr val="accent4"/>
                </a:solidFill>
              </a:rPr>
              <a:t>무게 구간만 실측 대기</a:t>
            </a:r>
            <a:endParaRPr lang="en-US" sz="950" dirty="0"/>
          </a:p>
        </p:txBody>
      </p:sp>
      <p:sp>
        <p:nvSpPr>
          <p:cNvPr id="57" name="stat 상자 · 영상 · 해안"/>
          <p:cNvSpPr/>
          <p:nvPr/>
        </p:nvSpPr>
        <p:spPr>
          <a:xfrm>
            <a:off x="3364992" y="4526280"/>
            <a:ext cx="265176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8" name="Text 42"/>
          <p:cNvSpPr txBox="1"/>
          <p:nvPr/>
        </p:nvSpPr>
        <p:spPr>
          <a:xfrm>
            <a:off x="3593592" y="4672584"/>
            <a:ext cx="2240280" cy="274320"/>
          </a:xfrm>
          <a:prstGeom prst="rect">
            <a:avLst/>
          </a:prstGeom>
          <a:noFill/>
          <a:ln/>
        </p:spPr>
        <p:txBody>
          <a:bodyPr wrap="square" lIns="0" tIns="0" rIns="0" bIns="0" rtlCol="0" anchor="ctr"/>
          <a:lstStyle/>
          <a:p>
            <a:pPr indent="0" marL="0">
              <a:buNone/>
            </a:pPr>
            <a:r>
              <a:rPr lang="en-US" sz="1000" dirty="0">
                <a:solidFill>
                  <a:schemeClr val="accent4"/>
                </a:solidFill>
              </a:rPr>
              <a:t>상자 · 영상 · 해안</a:t>
            </a:r>
            <a:endParaRPr lang="en-US" sz="1000" dirty="0"/>
          </a:p>
        </p:txBody>
      </p:sp>
      <p:sp>
        <p:nvSpPr>
          <p:cNvPr id="59" name="Text 43"/>
          <p:cNvSpPr txBox="1"/>
          <p:nvPr/>
        </p:nvSpPr>
        <p:spPr>
          <a:xfrm>
            <a:off x="3593592" y="4910328"/>
            <a:ext cx="2240280" cy="548640"/>
          </a:xfrm>
          <a:prstGeom prst="rect">
            <a:avLst/>
          </a:prstGeom>
          <a:noFill/>
          <a:ln/>
        </p:spPr>
        <p:txBody>
          <a:bodyPr wrap="square" lIns="0" tIns="0" rIns="0" bIns="0" rtlCol="0" anchor="ctr"/>
          <a:lstStyle/>
          <a:p>
            <a:pPr indent="0" marL="0">
              <a:buNone/>
            </a:pPr>
            <a:r>
              <a:rPr lang="en-US" sz="2800" b="1" dirty="0">
                <a:solidFill>
                  <a:schemeClr val="tx2"/>
                </a:solidFill>
              </a:rPr>
              <a:t>3 · 3 · 3</a:t>
            </a:r>
            <a:pPr indent="0" marL="0">
              <a:buNone/>
            </a:pPr>
            <a:endParaRPr lang="en-US" sz="2800" dirty="0"/>
          </a:p>
        </p:txBody>
      </p:sp>
      <p:sp>
        <p:nvSpPr>
          <p:cNvPr id="60" name="Text 44"/>
          <p:cNvSpPr txBox="1"/>
          <p:nvPr/>
        </p:nvSpPr>
        <p:spPr>
          <a:xfrm>
            <a:off x="3593592" y="5440680"/>
            <a:ext cx="2240280" cy="384048"/>
          </a:xfrm>
          <a:prstGeom prst="rect">
            <a:avLst/>
          </a:prstGeom>
          <a:noFill/>
          <a:ln/>
        </p:spPr>
        <p:txBody>
          <a:bodyPr wrap="square" lIns="0" tIns="0" rIns="0" bIns="0" rtlCol="0" anchor="t"/>
          <a:lstStyle/>
          <a:p>
            <a:pPr indent="0" marL="0">
              <a:buNone/>
            </a:pPr>
            <a:r>
              <a:rPr lang="en-US" sz="950" dirty="0">
                <a:solidFill>
                  <a:schemeClr val="accent4"/>
                </a:solidFill>
              </a:rPr>
              <a:t>상자 3개, 영상 0007·0010·0015, 니하우·문갑도·인천</a:t>
            </a:r>
            <a:endParaRPr lang="en-US" sz="950" dirty="0"/>
          </a:p>
        </p:txBody>
      </p:sp>
      <p:sp>
        <p:nvSpPr>
          <p:cNvPr id="61" name="stat 완료한 검증 실험"/>
          <p:cNvSpPr/>
          <p:nvPr/>
        </p:nvSpPr>
        <p:spPr>
          <a:xfrm>
            <a:off x="6172200" y="4526280"/>
            <a:ext cx="265176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62" name="Text 46"/>
          <p:cNvSpPr txBox="1"/>
          <p:nvPr/>
        </p:nvSpPr>
        <p:spPr>
          <a:xfrm>
            <a:off x="6400800" y="4672584"/>
            <a:ext cx="2240280" cy="274320"/>
          </a:xfrm>
          <a:prstGeom prst="rect">
            <a:avLst/>
          </a:prstGeom>
          <a:noFill/>
          <a:ln/>
        </p:spPr>
        <p:txBody>
          <a:bodyPr wrap="square" lIns="0" tIns="0" rIns="0" bIns="0" rtlCol="0" anchor="ctr"/>
          <a:lstStyle/>
          <a:p>
            <a:pPr indent="0" marL="0">
              <a:buNone/>
            </a:pPr>
            <a:r>
              <a:rPr lang="en-US" sz="1000" dirty="0">
                <a:solidFill>
                  <a:schemeClr val="accent4"/>
                </a:solidFill>
              </a:rPr>
              <a:t>완료한 검증 실험</a:t>
            </a:r>
            <a:endParaRPr lang="en-US" sz="1000" dirty="0"/>
          </a:p>
        </p:txBody>
      </p:sp>
      <p:sp>
        <p:nvSpPr>
          <p:cNvPr id="63" name="Text 47"/>
          <p:cNvSpPr txBox="1"/>
          <p:nvPr/>
        </p:nvSpPr>
        <p:spPr>
          <a:xfrm>
            <a:off x="6400800" y="4910328"/>
            <a:ext cx="2240280" cy="548640"/>
          </a:xfrm>
          <a:prstGeom prst="rect">
            <a:avLst/>
          </a:prstGeom>
          <a:noFill/>
          <a:ln/>
        </p:spPr>
        <p:txBody>
          <a:bodyPr wrap="square" lIns="0" tIns="0" rIns="0" bIns="0" rtlCol="0" anchor="ctr"/>
          <a:lstStyle/>
          <a:p>
            <a:pPr indent="0" marL="0">
              <a:buNone/>
            </a:pPr>
            <a:r>
              <a:rPr lang="en-US" sz="2800" b="1" dirty="0">
                <a:solidFill>
                  <a:schemeClr val="tx2"/>
                </a:solidFill>
              </a:rPr>
              <a:t>9</a:t>
            </a:r>
            <a:pPr indent="0" marL="0">
              <a:buNone/>
            </a:pPr>
            <a:r>
              <a:rPr lang="en-US" sz="1200" b="1" dirty="0">
                <a:solidFill>
                  <a:schemeClr val="accent4"/>
                </a:solidFill>
              </a:rPr>
              <a:t> 건</a:t>
            </a:r>
            <a:endParaRPr lang="en-US" sz="2800" dirty="0"/>
          </a:p>
        </p:txBody>
      </p:sp>
      <p:sp>
        <p:nvSpPr>
          <p:cNvPr id="64" name="Text 48"/>
          <p:cNvSpPr txBox="1"/>
          <p:nvPr/>
        </p:nvSpPr>
        <p:spPr>
          <a:xfrm>
            <a:off x="6400800" y="5440680"/>
            <a:ext cx="2240280" cy="384048"/>
          </a:xfrm>
          <a:prstGeom prst="rect">
            <a:avLst/>
          </a:prstGeom>
          <a:noFill/>
          <a:ln/>
        </p:spPr>
        <p:txBody>
          <a:bodyPr wrap="square" lIns="0" tIns="0" rIns="0" bIns="0" rtlCol="0" anchor="t"/>
          <a:lstStyle/>
          <a:p>
            <a:pPr indent="0" marL="0">
              <a:buNone/>
            </a:pPr>
            <a:r>
              <a:rPr lang="en-US" sz="950" dirty="0">
                <a:solidFill>
                  <a:schemeClr val="accent4"/>
                </a:solidFill>
              </a:rPr>
              <a:t>요약표는 이 장 끝에</a:t>
            </a:r>
            <a:endParaRPr lang="en-US" sz="950" dirty="0"/>
          </a:p>
        </p:txBody>
      </p:sp>
      <p:sp>
        <p:nvSpPr>
          <p:cNvPr id="65" name="stat 같은 자원으로 찾는 양"/>
          <p:cNvSpPr/>
          <p:nvPr/>
        </p:nvSpPr>
        <p:spPr>
          <a:xfrm>
            <a:off x="8988552" y="4526280"/>
            <a:ext cx="265176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66" name="Text 50"/>
          <p:cNvSpPr txBox="1"/>
          <p:nvPr/>
        </p:nvSpPr>
        <p:spPr>
          <a:xfrm>
            <a:off x="9217152" y="4672584"/>
            <a:ext cx="2240280" cy="274320"/>
          </a:xfrm>
          <a:prstGeom prst="rect">
            <a:avLst/>
          </a:prstGeom>
          <a:noFill/>
          <a:ln/>
        </p:spPr>
        <p:txBody>
          <a:bodyPr wrap="square" lIns="0" tIns="0" rIns="0" bIns="0" rtlCol="0" anchor="ctr"/>
          <a:lstStyle/>
          <a:p>
            <a:pPr indent="0" marL="0">
              <a:buNone/>
            </a:pPr>
            <a:r>
              <a:rPr lang="en-US" sz="1000" dirty="0">
                <a:solidFill>
                  <a:schemeClr val="accent4"/>
                </a:solidFill>
              </a:rPr>
              <a:t>같은 자원으로 찾는 양</a:t>
            </a:r>
            <a:endParaRPr lang="en-US" sz="1000" dirty="0"/>
          </a:p>
        </p:txBody>
      </p:sp>
      <p:sp>
        <p:nvSpPr>
          <p:cNvPr id="67" name="Text 51"/>
          <p:cNvSpPr txBox="1"/>
          <p:nvPr/>
        </p:nvSpPr>
        <p:spPr>
          <a:xfrm>
            <a:off x="9217152" y="4910328"/>
            <a:ext cx="2240280" cy="548640"/>
          </a:xfrm>
          <a:prstGeom prst="rect">
            <a:avLst/>
          </a:prstGeom>
          <a:noFill/>
          <a:ln/>
        </p:spPr>
        <p:txBody>
          <a:bodyPr wrap="square" lIns="0" tIns="0" rIns="0" bIns="0" rtlCol="0" anchor="ctr"/>
          <a:lstStyle/>
          <a:p>
            <a:pPr indent="0" marL="0">
              <a:buNone/>
            </a:pPr>
            <a:r>
              <a:rPr lang="en-US" sz="2800" b="1" dirty="0">
                <a:solidFill>
                  <a:schemeClr val="accent2"/>
                </a:solidFill>
              </a:rPr>
              <a:t>2배</a:t>
            </a:r>
            <a:pPr indent="0" marL="0">
              <a:buNone/>
            </a:pPr>
            <a:endParaRPr lang="en-US" sz="2800" dirty="0"/>
          </a:p>
        </p:txBody>
      </p:sp>
      <p:sp>
        <p:nvSpPr>
          <p:cNvPr id="68" name="Text 52"/>
          <p:cNvSpPr txBox="1"/>
          <p:nvPr/>
        </p:nvSpPr>
        <p:spPr>
          <a:xfrm>
            <a:off x="9217152" y="5440680"/>
            <a:ext cx="2240280" cy="384048"/>
          </a:xfrm>
          <a:prstGeom prst="rect">
            <a:avLst/>
          </a:prstGeom>
          <a:noFill/>
          <a:ln/>
        </p:spPr>
        <p:txBody>
          <a:bodyPr wrap="square" lIns="0" tIns="0" rIns="0" bIns="0" rtlCol="0" anchor="t"/>
          <a:lstStyle/>
          <a:p>
            <a:pPr indent="0" marL="0">
              <a:buNone/>
            </a:pPr>
            <a:r>
              <a:rPr lang="en-US" sz="950" dirty="0">
                <a:solidFill>
                  <a:schemeClr val="accent4"/>
                </a:solidFill>
              </a:rPr>
              <a:t>핫스팟 30% 67% vs 무작위 29%</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검증 ① 어디를 날지: 상위 30% 구간에 쓰레기의 62~67%가 있었다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같은 카메라·같은 띠 폭·같은 배터리로 비교했습니다. 위성 형상 점수 상위 30%만 날면 전체 지그재그의 37% 시간으로 탐지 무게의 67%를 잡습니다(니하우).</a:t>
            </a:r>
            <a:endParaRPr lang="en-US" sz="1400" dirty="0"/>
          </a:p>
        </p:txBody>
      </p:sp>
      <p:pic>
        <p:nvPicPr>
          <p:cNvPr id="4" name="니하우 시간 대비 포착" descr="/tmp/claude-0/-home-user-hsr1m/6022f0b4-b8f8-52b0-8810-837ebd6bfbe9/scratchpad/deck/img/fig_22_시간대비포착_핫스팟_vs_지그재그.jpg">    </p:cNvPr>
          <p:cNvPicPr>
            <a:picLocks noChangeAspect="1"/>
          </p:cNvPicPr>
          <p:nvPr/>
        </p:nvPicPr>
        <p:blipFill>
          <a:blip r:embed="rId1"/>
          <a:srcRect l="0" r="0" t="0" b="0"/>
          <a:stretch/>
        </p:blipFill>
        <p:spPr>
          <a:xfrm>
            <a:off x="548640" y="1783080"/>
            <a:ext cx="5577840" cy="3630168"/>
          </a:xfrm>
          <a:prstGeom prst="rect">
            <a:avLst/>
          </a:prstGeom>
        </p:spPr>
      </p:pic>
      <p:sp>
        <p:nvSpPr>
          <p:cNvPr id="5" name="Text 2"/>
          <p:cNvSpPr txBox="1"/>
          <p:nvPr/>
        </p:nvSpPr>
        <p:spPr>
          <a:xfrm>
            <a:off x="548640" y="5440680"/>
            <a:ext cx="5577840" cy="457200"/>
          </a:xfrm>
          <a:prstGeom prst="rect">
            <a:avLst/>
          </a:prstGeom>
          <a:noFill/>
          <a:ln/>
        </p:spPr>
        <p:txBody>
          <a:bodyPr wrap="square" lIns="0" tIns="0" rIns="0" bIns="0" rtlCol="0" anchor="t"/>
          <a:lstStyle/>
          <a:p>
            <a:pPr indent="0" marL="0">
              <a:buNone/>
            </a:pPr>
            <a:r>
              <a:rPr lang="en-US" sz="900" dirty="0">
                <a:solidFill>
                  <a:schemeClr val="accent4"/>
                </a:solidFill>
              </a:rPr>
              <a:t>니하우 해안 98.8 km, 고도 20 m·GSD 2.9 cm·8패스. 파란 선이 핫스팟, 주황이 지리 순서, 점선이 무작위.</a:t>
            </a:r>
            <a:endParaRPr lang="en-US" sz="900" dirty="0"/>
          </a:p>
        </p:txBody>
      </p:sp>
      <p:sp>
        <p:nvSpPr>
          <p:cNvPr id="6" name="stat 니하우: 상위 30% 길이가 잡는 무게"/>
          <p:cNvSpPr/>
          <p:nvPr/>
        </p:nvSpPr>
        <p:spPr>
          <a:xfrm>
            <a:off x="6355080" y="1783080"/>
            <a:ext cx="256032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7" name="Text 4"/>
          <p:cNvSpPr txBox="1"/>
          <p:nvPr/>
        </p:nvSpPr>
        <p:spPr>
          <a:xfrm>
            <a:off x="6583680" y="1929384"/>
            <a:ext cx="2148840" cy="274320"/>
          </a:xfrm>
          <a:prstGeom prst="rect">
            <a:avLst/>
          </a:prstGeom>
          <a:noFill/>
          <a:ln/>
        </p:spPr>
        <p:txBody>
          <a:bodyPr wrap="square" lIns="0" tIns="0" rIns="0" bIns="0" rtlCol="0" anchor="ctr"/>
          <a:lstStyle/>
          <a:p>
            <a:pPr indent="0" marL="0">
              <a:buNone/>
            </a:pPr>
            <a:r>
              <a:rPr lang="en-US" sz="1000" dirty="0">
                <a:solidFill>
                  <a:schemeClr val="accent4"/>
                </a:solidFill>
              </a:rPr>
              <a:t>니하우: 상위 30% 길이가 잡는 무게</a:t>
            </a:r>
            <a:endParaRPr lang="en-US" sz="1000" dirty="0"/>
          </a:p>
        </p:txBody>
      </p:sp>
      <p:sp>
        <p:nvSpPr>
          <p:cNvPr id="8" name="Text 5"/>
          <p:cNvSpPr txBox="1"/>
          <p:nvPr/>
        </p:nvSpPr>
        <p:spPr>
          <a:xfrm>
            <a:off x="6583680" y="2167128"/>
            <a:ext cx="2148840" cy="548640"/>
          </a:xfrm>
          <a:prstGeom prst="rect">
            <a:avLst/>
          </a:prstGeom>
          <a:noFill/>
          <a:ln/>
        </p:spPr>
        <p:txBody>
          <a:bodyPr wrap="square" lIns="0" tIns="0" rIns="0" bIns="0" rtlCol="0" anchor="ctr"/>
          <a:lstStyle/>
          <a:p>
            <a:pPr indent="0" marL="0">
              <a:buNone/>
            </a:pPr>
            <a:r>
              <a:rPr lang="en-US" sz="2800" b="1" dirty="0">
                <a:solidFill>
                  <a:schemeClr val="accent2"/>
                </a:solidFill>
              </a:rPr>
              <a:t>67</a:t>
            </a:r>
            <a:pPr indent="0" marL="0">
              <a:buNone/>
            </a:pPr>
            <a:r>
              <a:rPr lang="en-US" sz="1200" b="1" dirty="0">
                <a:solidFill>
                  <a:schemeClr val="accent4"/>
                </a:solidFill>
              </a:rPr>
              <a:t> %</a:t>
            </a:r>
            <a:endParaRPr lang="en-US" sz="2800" dirty="0"/>
          </a:p>
        </p:txBody>
      </p:sp>
      <p:sp>
        <p:nvSpPr>
          <p:cNvPr id="9" name="Text 6"/>
          <p:cNvSpPr txBox="1"/>
          <p:nvPr/>
        </p:nvSpPr>
        <p:spPr>
          <a:xfrm>
            <a:off x="6583680" y="2697480"/>
            <a:ext cx="2148840" cy="338328"/>
          </a:xfrm>
          <a:prstGeom prst="rect">
            <a:avLst/>
          </a:prstGeom>
          <a:noFill/>
          <a:ln/>
        </p:spPr>
        <p:txBody>
          <a:bodyPr wrap="square" lIns="0" tIns="0" rIns="0" bIns="0" rtlCol="0" anchor="t"/>
          <a:lstStyle/>
          <a:p>
            <a:pPr indent="0" marL="0">
              <a:buNone/>
            </a:pPr>
            <a:r>
              <a:rPr lang="en-US" sz="950" dirty="0">
                <a:solidFill>
                  <a:schemeClr val="accent4"/>
                </a:solidFill>
              </a:rPr>
              <a:t>15.4 h vs 전체 41.3 h. 같은 시간 무작위 29%</a:t>
            </a:r>
            <a:endParaRPr lang="en-US" sz="950" dirty="0"/>
          </a:p>
        </p:txBody>
      </p:sp>
      <p:sp>
        <p:nvSpPr>
          <p:cNvPr id="10" name="stat 문갑도: 라벨 42개 중 상위 30% 안"/>
          <p:cNvSpPr/>
          <p:nvPr/>
        </p:nvSpPr>
        <p:spPr>
          <a:xfrm>
            <a:off x="9079992" y="1783080"/>
            <a:ext cx="256032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1" name="Text 8"/>
          <p:cNvSpPr txBox="1"/>
          <p:nvPr/>
        </p:nvSpPr>
        <p:spPr>
          <a:xfrm>
            <a:off x="9308592" y="1929384"/>
            <a:ext cx="2148840" cy="274320"/>
          </a:xfrm>
          <a:prstGeom prst="rect">
            <a:avLst/>
          </a:prstGeom>
          <a:noFill/>
          <a:ln/>
        </p:spPr>
        <p:txBody>
          <a:bodyPr wrap="square" lIns="0" tIns="0" rIns="0" bIns="0" rtlCol="0" anchor="ctr"/>
          <a:lstStyle/>
          <a:p>
            <a:pPr indent="0" marL="0">
              <a:buNone/>
            </a:pPr>
            <a:r>
              <a:rPr lang="en-US" sz="1000" dirty="0">
                <a:solidFill>
                  <a:schemeClr val="accent4"/>
                </a:solidFill>
              </a:rPr>
              <a:t>문갑도: 라벨 42개 중 상위 30% 안</a:t>
            </a:r>
            <a:endParaRPr lang="en-US" sz="1000" dirty="0"/>
          </a:p>
        </p:txBody>
      </p:sp>
      <p:sp>
        <p:nvSpPr>
          <p:cNvPr id="12" name="Text 9"/>
          <p:cNvSpPr txBox="1"/>
          <p:nvPr/>
        </p:nvSpPr>
        <p:spPr>
          <a:xfrm>
            <a:off x="9308592" y="2167128"/>
            <a:ext cx="2148840" cy="548640"/>
          </a:xfrm>
          <a:prstGeom prst="rect">
            <a:avLst/>
          </a:prstGeom>
          <a:noFill/>
          <a:ln/>
        </p:spPr>
        <p:txBody>
          <a:bodyPr wrap="square" lIns="0" tIns="0" rIns="0" bIns="0" rtlCol="0" anchor="ctr"/>
          <a:lstStyle/>
          <a:p>
            <a:pPr indent="0" marL="0">
              <a:buNone/>
            </a:pPr>
            <a:r>
              <a:rPr lang="en-US" sz="2800" b="1" dirty="0">
                <a:solidFill>
                  <a:schemeClr val="tx2"/>
                </a:solidFill>
              </a:rPr>
              <a:t>62</a:t>
            </a:r>
            <a:pPr indent="0" marL="0">
              <a:buNone/>
            </a:pPr>
            <a:r>
              <a:rPr lang="en-US" sz="1200" b="1" dirty="0">
                <a:solidFill>
                  <a:schemeClr val="accent4"/>
                </a:solidFill>
              </a:rPr>
              <a:t> %</a:t>
            </a:r>
            <a:endParaRPr lang="en-US" sz="2800" dirty="0"/>
          </a:p>
        </p:txBody>
      </p:sp>
      <p:sp>
        <p:nvSpPr>
          <p:cNvPr id="13" name="Text 10"/>
          <p:cNvSpPr txBox="1"/>
          <p:nvPr/>
        </p:nvSpPr>
        <p:spPr>
          <a:xfrm>
            <a:off x="9308592" y="2697480"/>
            <a:ext cx="2148840" cy="338328"/>
          </a:xfrm>
          <a:prstGeom prst="rect">
            <a:avLst/>
          </a:prstGeom>
          <a:noFill/>
          <a:ln/>
        </p:spPr>
        <p:txBody>
          <a:bodyPr wrap="square" lIns="0" tIns="0" rIns="0" bIns="0" rtlCol="0" anchor="t"/>
          <a:lstStyle/>
          <a:p>
            <a:pPr indent="0" marL="0">
              <a:buNone/>
            </a:pPr>
            <a:r>
              <a:rPr lang="en-US" sz="950" dirty="0">
                <a:solidFill>
                  <a:schemeClr val="accent4"/>
                </a:solidFill>
              </a:rPr>
              <a:t>만입도만 62%, 잔차류·풍향 더하면 67%</a:t>
            </a:r>
            <a:endParaRPr lang="en-US" sz="950" dirty="0"/>
          </a:p>
        </p:txBody>
      </p:sp>
      <p:sp>
        <p:nvSpPr>
          <p:cNvPr id="14" name="stat 인천 하구: 조석 모델 집적 해안"/>
          <p:cNvSpPr/>
          <p:nvPr/>
        </p:nvSpPr>
        <p:spPr>
          <a:xfrm>
            <a:off x="6355080" y="3218688"/>
            <a:ext cx="256032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5" name="Text 12"/>
          <p:cNvSpPr txBox="1"/>
          <p:nvPr/>
        </p:nvSpPr>
        <p:spPr>
          <a:xfrm>
            <a:off x="6583680" y="3364992"/>
            <a:ext cx="2148840" cy="274320"/>
          </a:xfrm>
          <a:prstGeom prst="rect">
            <a:avLst/>
          </a:prstGeom>
          <a:noFill/>
          <a:ln/>
        </p:spPr>
        <p:txBody>
          <a:bodyPr wrap="square" lIns="0" tIns="0" rIns="0" bIns="0" rtlCol="0" anchor="ctr"/>
          <a:lstStyle/>
          <a:p>
            <a:pPr indent="0" marL="0">
              <a:buNone/>
            </a:pPr>
            <a:r>
              <a:rPr lang="en-US" sz="1000" dirty="0">
                <a:solidFill>
                  <a:schemeClr val="accent4"/>
                </a:solidFill>
              </a:rPr>
              <a:t>인천 하구: 조석 모델 집적 해안</a:t>
            </a:r>
            <a:endParaRPr lang="en-US" sz="1000" dirty="0"/>
          </a:p>
        </p:txBody>
      </p:sp>
      <p:sp>
        <p:nvSpPr>
          <p:cNvPr id="16" name="Text 13"/>
          <p:cNvSpPr txBox="1"/>
          <p:nvPr/>
        </p:nvSpPr>
        <p:spPr>
          <a:xfrm>
            <a:off x="6583680" y="3602736"/>
            <a:ext cx="2148840" cy="548640"/>
          </a:xfrm>
          <a:prstGeom prst="rect">
            <a:avLst/>
          </a:prstGeom>
          <a:noFill/>
          <a:ln/>
        </p:spPr>
        <p:txBody>
          <a:bodyPr wrap="square" lIns="0" tIns="0" rIns="0" bIns="0" rtlCol="0" anchor="ctr"/>
          <a:lstStyle/>
          <a:p>
            <a:pPr indent="0" marL="0">
              <a:buNone/>
            </a:pPr>
            <a:r>
              <a:rPr lang="en-US" sz="2800" b="1" dirty="0">
                <a:solidFill>
                  <a:schemeClr val="tx2"/>
                </a:solidFill>
              </a:rPr>
              <a:t>99</a:t>
            </a:r>
            <a:pPr indent="0" marL="0">
              <a:buNone/>
            </a:pPr>
            <a:r>
              <a:rPr lang="en-US" sz="1200" b="1" dirty="0">
                <a:solidFill>
                  <a:schemeClr val="accent4"/>
                </a:solidFill>
              </a:rPr>
              <a:t> %</a:t>
            </a:r>
            <a:endParaRPr lang="en-US" sz="2800" dirty="0"/>
          </a:p>
        </p:txBody>
      </p:sp>
      <p:sp>
        <p:nvSpPr>
          <p:cNvPr id="17" name="Text 14"/>
          <p:cNvSpPr txBox="1"/>
          <p:nvPr/>
        </p:nvSpPr>
        <p:spPr>
          <a:xfrm>
            <a:off x="6583680" y="4133088"/>
            <a:ext cx="2148840" cy="338328"/>
          </a:xfrm>
          <a:prstGeom prst="rect">
            <a:avLst/>
          </a:prstGeom>
          <a:noFill/>
          <a:ln/>
        </p:spPr>
        <p:txBody>
          <a:bodyPr wrap="square" lIns="0" tIns="0" rIns="0" bIns="0" rtlCol="0" anchor="t"/>
          <a:lstStyle/>
          <a:p>
            <a:pPr indent="0" marL="0">
              <a:buNone/>
            </a:pPr>
            <a:r>
              <a:rPr lang="en-US" sz="950" dirty="0">
                <a:solidFill>
                  <a:schemeClr val="accent4"/>
                </a:solidFill>
              </a:rPr>
              <a:t>13% 길이로 448 h → 57 h</a:t>
            </a:r>
            <a:endParaRPr lang="en-US" sz="950" dirty="0"/>
          </a:p>
        </p:txBody>
      </p:sp>
      <p:sp>
        <p:nvSpPr>
          <p:cNvPr id="18" name="stat 다시 쌓인다: 앞/뒤 기간 순위상관"/>
          <p:cNvSpPr/>
          <p:nvPr/>
        </p:nvSpPr>
        <p:spPr>
          <a:xfrm>
            <a:off x="9079992" y="3218688"/>
            <a:ext cx="256032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9" name="Text 16"/>
          <p:cNvSpPr txBox="1"/>
          <p:nvPr/>
        </p:nvSpPr>
        <p:spPr>
          <a:xfrm>
            <a:off x="9308592" y="3364992"/>
            <a:ext cx="2148840" cy="274320"/>
          </a:xfrm>
          <a:prstGeom prst="rect">
            <a:avLst/>
          </a:prstGeom>
          <a:noFill/>
          <a:ln/>
        </p:spPr>
        <p:txBody>
          <a:bodyPr wrap="square" lIns="0" tIns="0" rIns="0" bIns="0" rtlCol="0" anchor="ctr"/>
          <a:lstStyle/>
          <a:p>
            <a:pPr indent="0" marL="0">
              <a:buNone/>
            </a:pPr>
            <a:r>
              <a:rPr lang="en-US" sz="1000" dirty="0">
                <a:solidFill>
                  <a:schemeClr val="accent4"/>
                </a:solidFill>
              </a:rPr>
              <a:t>다시 쌓인다: 앞/뒤 기간 순위상관</a:t>
            </a:r>
            <a:endParaRPr lang="en-US" sz="1000" dirty="0"/>
          </a:p>
        </p:txBody>
      </p:sp>
      <p:sp>
        <p:nvSpPr>
          <p:cNvPr id="20" name="Text 17"/>
          <p:cNvSpPr txBox="1"/>
          <p:nvPr/>
        </p:nvSpPr>
        <p:spPr>
          <a:xfrm>
            <a:off x="9308592" y="3602736"/>
            <a:ext cx="2148840" cy="548640"/>
          </a:xfrm>
          <a:prstGeom prst="rect">
            <a:avLst/>
          </a:prstGeom>
          <a:noFill/>
          <a:ln/>
        </p:spPr>
        <p:txBody>
          <a:bodyPr wrap="square" lIns="0" tIns="0" rIns="0" bIns="0" rtlCol="0" anchor="ctr"/>
          <a:lstStyle/>
          <a:p>
            <a:pPr indent="0" marL="0">
              <a:buNone/>
            </a:pPr>
            <a:r>
              <a:rPr lang="en-US" sz="2800" b="1" dirty="0">
                <a:solidFill>
                  <a:schemeClr val="tx2"/>
                </a:solidFill>
              </a:rPr>
              <a:t>0.88</a:t>
            </a:r>
            <a:pPr indent="0" marL="0">
              <a:buNone/>
            </a:pPr>
            <a:endParaRPr lang="en-US" sz="2800" dirty="0"/>
          </a:p>
        </p:txBody>
      </p:sp>
      <p:sp>
        <p:nvSpPr>
          <p:cNvPr id="21" name="Text 18"/>
          <p:cNvSpPr txBox="1"/>
          <p:nvPr/>
        </p:nvSpPr>
        <p:spPr>
          <a:xfrm>
            <a:off x="9308592" y="4133088"/>
            <a:ext cx="2148840" cy="338328"/>
          </a:xfrm>
          <a:prstGeom prst="rect">
            <a:avLst/>
          </a:prstGeom>
          <a:noFill/>
          <a:ln/>
        </p:spPr>
        <p:txBody>
          <a:bodyPr wrap="square" lIns="0" tIns="0" rIns="0" bIns="0" rtlCol="0" anchor="t"/>
          <a:lstStyle/>
          <a:p>
            <a:pPr indent="0" marL="0">
              <a:buNone/>
            </a:pPr>
            <a:r>
              <a:rPr lang="en-US" sz="950" dirty="0">
                <a:solidFill>
                  <a:schemeClr val="accent4"/>
                </a:solidFill>
              </a:rPr>
              <a:t>NOAA MDMAP 134곳 반복조사, 상위 20% 유지 74%</a:t>
            </a:r>
            <a:endParaRPr lang="en-US" sz="950" dirty="0"/>
          </a:p>
        </p:txBody>
      </p:sp>
      <p:sp>
        <p:nvSpPr>
          <p:cNvPr id="22" name="card 읽는 법"/>
          <p:cNvSpPr/>
          <p:nvPr/>
        </p:nvSpPr>
        <p:spPr>
          <a:xfrm>
            <a:off x="6355080" y="4663440"/>
            <a:ext cx="5285232"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3" name="Text 20"/>
          <p:cNvSpPr txBox="1"/>
          <p:nvPr/>
        </p:nvSpPr>
        <p:spPr>
          <a:xfrm>
            <a:off x="6629400" y="4919472"/>
            <a:ext cx="4736592" cy="384048"/>
          </a:xfrm>
          <a:prstGeom prst="rect">
            <a:avLst/>
          </a:prstGeom>
          <a:noFill/>
          <a:ln/>
        </p:spPr>
        <p:txBody>
          <a:bodyPr wrap="square" lIns="0" tIns="0" rIns="0" bIns="0" rtlCol="0" anchor="t"/>
          <a:lstStyle/>
          <a:p>
            <a:pPr indent="0" marL="0">
              <a:buNone/>
            </a:pPr>
            <a:r>
              <a:rPr lang="en-US" sz="1250" b="1" dirty="0">
                <a:solidFill>
                  <a:schemeClr val="tx1"/>
                </a:solidFill>
              </a:rPr>
              <a:t>읽는 법</a:t>
            </a:r>
            <a:endParaRPr lang="en-US" sz="1250" dirty="0"/>
          </a:p>
        </p:txBody>
      </p:sp>
      <p:sp>
        <p:nvSpPr>
          <p:cNvPr id="24" name="Text 21"/>
          <p:cNvSpPr txBox="1"/>
          <p:nvPr/>
        </p:nvSpPr>
        <p:spPr>
          <a:xfrm>
            <a:off x="6629400" y="5358384"/>
            <a:ext cx="4736592" cy="457200"/>
          </a:xfrm>
          <a:prstGeom prst="rect">
            <a:avLst/>
          </a:prstGeom>
          <a:noFill/>
          <a:ln/>
        </p:spPr>
        <p:txBody>
          <a:bodyPr wrap="square" lIns="0" tIns="0" rIns="0" bIns="0" rtlCol="0" anchor="t"/>
          <a:lstStyle/>
          <a:p>
            <a:pPr indent="0" marL="0">
              <a:spcAft>
                <a:spcPts val="400"/>
              </a:spcAft>
              <a:buNone/>
            </a:pPr>
            <a:r>
              <a:rPr lang="en-US" sz="1050" dirty="0">
                <a:solidFill>
                  <a:schemeClr val="accent4"/>
                </a:solidFill>
              </a:rPr>
              <a:t>외해 섬(니하우·문갑도)은 위성 형상이, 하구·항만(인천)은 조석 모델이 맞혔습니다. 공간 군집은 자료로 확인했고(니하우 만 244 vs 곶 40 kg/km), 시간 반복은 미국 반복조사로 뒷받침됩니다.</a:t>
            </a:r>
            <a:endParaRPr lang="en-US" sz="1050" dirty="0"/>
          </a:p>
        </p:txBody>
      </p:sp>
      <p:sp>
        <p:nvSpPr>
          <p:cNvPr id="25"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자료: Sentinel-2 10 m 해안선 · 하와이 탐지 격자 5,476개(Zenodo 8381113) · 업체 라벨 42개(2026-07-29) · NOAA MDMAP · route_optimization/docs, hotspot/</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검증 ② 탐지와 위치: 재현율 0.72, 위치 잔차 1 m대</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운용 고도 해상도로 학습한 모델이 업체 정사영상에서 쓰레기 10개 중 7개를 찾고, 3D 위치는 GPS와 1.16 m 안에서 맞습니다. 낯선 해안에서도 10분 미세조정으로 0.69까지.</a:t>
            </a:r>
            <a:endParaRPr lang="en-US" sz="1400" dirty="0"/>
          </a:p>
        </p:txBody>
      </p:sp>
      <p:sp>
        <p:nvSpPr>
          <p:cNvPr id="4" name="chart card"/>
          <p:cNvSpPr/>
          <p:nvPr/>
        </p:nvSpPr>
        <p:spPr>
          <a:xfrm>
            <a:off x="548640" y="1783080"/>
            <a:ext cx="5120640" cy="2514600"/>
          </a:xfrm>
          <a:prstGeom prst="roundRect">
            <a:avLst>
              <a:gd name="adj" fmla="val 4364"/>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Text 3"/>
          <p:cNvSpPr txBox="1"/>
          <p:nvPr/>
        </p:nvSpPr>
        <p:spPr>
          <a:xfrm>
            <a:off x="777240" y="1874520"/>
            <a:ext cx="4754880" cy="274320"/>
          </a:xfrm>
          <a:prstGeom prst="rect">
            <a:avLst/>
          </a:prstGeom>
          <a:noFill/>
          <a:ln/>
        </p:spPr>
        <p:txBody>
          <a:bodyPr wrap="square" lIns="0" tIns="0" rIns="0" bIns="0" rtlCol="0" anchor="ctr"/>
          <a:lstStyle/>
          <a:p>
            <a:pPr indent="0" marL="0">
              <a:buNone/>
            </a:pPr>
            <a:r>
              <a:rPr lang="en-US" sz="1150" b="1" dirty="0">
                <a:solidFill>
                  <a:schemeClr val="tx1"/>
                </a:solidFill>
              </a:rPr>
              <a:t>탐지 재현율, 현장별 (클래스 무시, IoU 0.3)</a:t>
            </a:r>
            <a:endParaRPr lang="en-US" sz="1150" dirty="0"/>
          </a:p>
        </p:txBody>
      </p:sp>
      <p:graphicFrame>
        <p:nvGraphicFramePr>
          <p:cNvPr id="6" name="Chart 0" descr=""/>
          <p:cNvGraphicFramePr/>
          <p:nvPr/>
        </p:nvGraphicFramePr>
        <p:xfrm>
          <a:off x="640080" y="2194560"/>
          <a:ext cx="4937760" cy="2057400"/>
        </p:xfrm>
        <a:graphic xmlns:a="http://schemas.openxmlformats.org/drawingml/2006/main">
          <a:graphicData uri="http://schemas.openxmlformats.org/drawingml/2006/chart">
            <c:chart xmlns:c="http://schemas.openxmlformats.org/drawingml/2006/chart" r:id="rId1"/>
          </a:graphicData>
        </a:graphic>
      </p:graphicFrame>
      <p:sp>
        <p:nvSpPr>
          <p:cNvPr id="7" name="card 무엇이 올렸나"/>
          <p:cNvSpPr/>
          <p:nvPr/>
        </p:nvSpPr>
        <p:spPr>
          <a:xfrm>
            <a:off x="548640" y="4434840"/>
            <a:ext cx="5120640" cy="1508760"/>
          </a:xfrm>
          <a:prstGeom prst="roundRect">
            <a:avLst>
              <a:gd name="adj" fmla="val 7273"/>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8" name="Text 5"/>
          <p:cNvSpPr txBox="1"/>
          <p:nvPr/>
        </p:nvSpPr>
        <p:spPr>
          <a:xfrm>
            <a:off x="822960" y="4690872"/>
            <a:ext cx="4572000" cy="384048"/>
          </a:xfrm>
          <a:prstGeom prst="rect">
            <a:avLst/>
          </a:prstGeom>
          <a:noFill/>
          <a:ln/>
        </p:spPr>
        <p:txBody>
          <a:bodyPr wrap="square" lIns="0" tIns="0" rIns="0" bIns="0" rtlCol="0" anchor="t"/>
          <a:lstStyle/>
          <a:p>
            <a:pPr indent="0" marL="0">
              <a:buNone/>
            </a:pPr>
            <a:r>
              <a:rPr lang="en-US" sz="1250" b="1" dirty="0">
                <a:solidFill>
                  <a:schemeClr val="tx1"/>
                </a:solidFill>
              </a:rPr>
              <a:t>무엇이 올렸나</a:t>
            </a:r>
            <a:endParaRPr lang="en-US" sz="1250" dirty="0"/>
          </a:p>
        </p:txBody>
      </p:sp>
      <p:sp>
        <p:nvSpPr>
          <p:cNvPr id="9" name="Text 6"/>
          <p:cNvSpPr txBox="1"/>
          <p:nvPr/>
        </p:nvSpPr>
        <p:spPr>
          <a:xfrm>
            <a:off x="822960" y="5129784"/>
            <a:ext cx="4572000" cy="685800"/>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문갑도: 공개 UAVVaste 0.28 → AI Hub 거리별 학습 0.72(스티로폼 0.81). 하와이: 재학습 없이 0.24 → 현지 사진 10분 미세조정 0.58 → 8클래스·1024 px 0.69(AP50 0.62). 튀니지: 통합 학습 0.14 → 0.52. 야간 종이상자 30개는 개방형 탐지에 이름만 추가해 잡았습니다.</a:t>
            </a:r>
            <a:endParaRPr lang="en-US" sz="1000" dirty="0"/>
          </a:p>
        </p:txBody>
      </p:sp>
      <p:pic>
        <p:nvPicPr>
          <p:cNvPr id="10" name="0015 야간 상자 30개 지도" descr="/tmp/claude-0/-home-user-hsr1m/6022f0b4-b8f8-52b0-8810-837ebd6bfbe9/scratchpad/deck/img/fig_16_0015_야간_상자30개_지도.jpg">    </p:cNvPr>
          <p:cNvPicPr>
            <a:picLocks noChangeAspect="1"/>
          </p:cNvPicPr>
          <p:nvPr/>
        </p:nvPicPr>
        <p:blipFill>
          <a:blip r:embed="rId2"/>
          <a:srcRect l="0" r="0" t="0" b="0"/>
          <a:stretch/>
        </p:blipFill>
        <p:spPr>
          <a:xfrm>
            <a:off x="5943600" y="1783080"/>
            <a:ext cx="2331720" cy="2651760"/>
          </a:xfrm>
          <a:prstGeom prst="rect">
            <a:avLst/>
          </a:prstGeom>
        </p:spPr>
      </p:pic>
      <p:sp>
        <p:nvSpPr>
          <p:cNvPr id="11" name="Text 7"/>
          <p:cNvSpPr txBox="1"/>
          <p:nvPr/>
        </p:nvSpPr>
        <p:spPr>
          <a:xfrm>
            <a:off x="5943600" y="4480560"/>
            <a:ext cx="2331720" cy="411480"/>
          </a:xfrm>
          <a:prstGeom prst="rect">
            <a:avLst/>
          </a:prstGeom>
          <a:noFill/>
          <a:ln/>
        </p:spPr>
        <p:txBody>
          <a:bodyPr wrap="square" lIns="0" tIns="0" rIns="0" bIns="0" rtlCol="0" anchor="t"/>
          <a:lstStyle/>
          <a:p>
            <a:pPr indent="0" marL="0">
              <a:buNone/>
            </a:pPr>
            <a:r>
              <a:rPr lang="en-US" sz="900" dirty="0">
                <a:solidFill>
                  <a:schemeClr val="accent4"/>
                </a:solidFill>
              </a:rPr>
              <a:t>야간 10분 통과 비행(0015): 상자 30개 자동 지도화, 3D 뼈대 25/25</a:t>
            </a:r>
            <a:endParaRPr lang="en-US" sz="900" dirty="0"/>
          </a:p>
        </p:txBody>
      </p:sp>
      <p:sp>
        <p:nvSpPr>
          <p:cNvPr id="12" name="table card"/>
          <p:cNvSpPr/>
          <p:nvPr/>
        </p:nvSpPr>
        <p:spPr>
          <a:xfrm>
            <a:off x="8503920" y="1783080"/>
            <a:ext cx="3136392" cy="265176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3" name="Text 9"/>
          <p:cNvSpPr txBox="1"/>
          <p:nvPr/>
        </p:nvSpPr>
        <p:spPr>
          <a:xfrm>
            <a:off x="8732520" y="1874520"/>
            <a:ext cx="2743200" cy="274320"/>
          </a:xfrm>
          <a:prstGeom prst="rect">
            <a:avLst/>
          </a:prstGeom>
          <a:noFill/>
          <a:ln/>
        </p:spPr>
        <p:txBody>
          <a:bodyPr wrap="square" lIns="0" tIns="0" rIns="0" bIns="0" rtlCol="0" anchor="ctr"/>
          <a:lstStyle/>
          <a:p>
            <a:pPr indent="0" marL="0">
              <a:buNone/>
            </a:pPr>
            <a:r>
              <a:rPr lang="en-US" sz="1150" b="1" dirty="0">
                <a:solidFill>
                  <a:schemeClr val="tx1"/>
                </a:solidFill>
              </a:rPr>
              <a:t>위치 정확도 (실기체)</a:t>
            </a:r>
            <a:endParaRPr lang="en-US" sz="1150" dirty="0"/>
          </a:p>
        </p:txBody>
      </p:sp>
      <p:graphicFrame>
        <p:nvGraphicFramePr>
          <p:cNvPr id="26" name="position accuracy"/>
          <p:cNvGraphicFramePr>
            <a:graphicFrameLocks noGrp="1"/>
          </p:cNvGraphicFramePr>
          <p:nvPr>
            <p:extLst>
              <p:ext uri="{D42A27DB-BD31-4B8C-83A1-F6EECF244321}">
                <p14:modId xmlns:p14="http://schemas.microsoft.com/office/powerpoint/2010/main" val="1579011935"/>
              </p:ext>
            </p:extLst>
          </p:nvPr>
        </p:nvGraphicFramePr>
        <p:xfrm>
          <a:off x="8732520" y="2194560"/>
          <a:ext cx="2697480" cy="914400"/>
        </p:xfrm>
        <a:graphic>
          <a:graphicData uri="http://schemas.openxmlformats.org/drawingml/2006/table">
            <a:tbl>
              <a:tblPr/>
              <a:tblGrid>
                <a:gridCol w="1554480"/>
                <a:gridCol w="1143000"/>
              </a:tblGrid>
              <a:tr h="310896">
                <a:tc>
                  <a:txBody>
                    <a:bodyPr/>
                    <a:lstStyle/>
                    <a:p>
                      <a:pPr indent="0" marL="0">
                        <a:buNone/>
                      </a:pPr>
                      <a:r>
                        <a:rPr lang="en-US" sz="1000" b="1" dirty="0">
                          <a:solidFill>
                            <a:srgbClr val="0B3C5D"/>
                          </a:solidFill>
                        </a:rPr>
                        <a:t>영상</a:t>
                      </a:r>
                      <a:endParaRPr lang="en-US" sz="100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3D ↔ GPS 잔차</a:t>
                      </a:r>
                      <a:endParaRPr lang="en-US" sz="100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r>
              <a:tr h="310896">
                <a:tc>
                  <a:txBody>
                    <a:bodyPr/>
                    <a:lstStyle/>
                    <a:p>
                      <a:pPr indent="0" marL="0">
                        <a:buNone/>
                      </a:pPr>
                      <a:r>
                        <a:rPr lang="en-US" sz="950" dirty="0">
                          <a:solidFill>
                            <a:srgbClr val="10212E"/>
                          </a:solidFill>
                        </a:rPr>
                        <a:t>0007 송도 선회 7 m</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50" dirty="0">
                          <a:solidFill>
                            <a:srgbClr val="10212E"/>
                          </a:solidFill>
                        </a:rPr>
                        <a:t>1.16 m</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10212E"/>
                          </a:solidFill>
                        </a:rPr>
                        <a:t>0010 골목 왕복 2 m</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50" dirty="0">
                          <a:solidFill>
                            <a:srgbClr val="10212E"/>
                          </a:solidFill>
                        </a:rPr>
                        <a:t>8.07 → 0.51 m*</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10212E"/>
                          </a:solidFill>
                        </a:rPr>
                        <a:t>합성 7개 시나리오</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50" dirty="0">
                          <a:solidFill>
                            <a:srgbClr val="10212E"/>
                          </a:solidFill>
                        </a:rPr>
                        <a:t>0.01~0.11 m</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10896">
                <a:tc>
                  <a:txBody>
                    <a:bodyPr/>
                    <a:lstStyle/>
                    <a:p>
                      <a:pPr indent="0" marL="0">
                        <a:buNone/>
                      </a:pPr>
                      <a:r>
                        <a:rPr lang="en-US" sz="950" dirty="0">
                          <a:solidFill>
                            <a:srgbClr val="10212E"/>
                          </a:solidFill>
                        </a:rPr>
                        <a:t>r95 (GPS 1σ 2.5 m)</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50" dirty="0">
                          <a:solidFill>
                            <a:srgbClr val="10212E"/>
                          </a:solidFill>
                        </a:rPr>
                        <a:t>5.2 m</a:t>
                      </a:r>
                      <a:endParaRPr lang="en-US" sz="950" dirty="0"/>
                    </a:p>
                  </a:txBody>
                  <a:tcPr marL="36576" marR="36576" marT="36576" marB="36576">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bl>
          </a:graphicData>
        </a:graphic>
      </p:graphicFrame>
      <p:sp>
        <p:nvSpPr>
          <p:cNvPr id="15" name="Text 10"/>
          <p:cNvSpPr txBox="1"/>
          <p:nvPr/>
        </p:nvSpPr>
        <p:spPr>
          <a:xfrm>
            <a:off x="8732520" y="3767328"/>
            <a:ext cx="2743200" cy="457200"/>
          </a:xfrm>
          <a:prstGeom prst="rect">
            <a:avLst/>
          </a:prstGeom>
          <a:noFill/>
          <a:ln/>
        </p:spPr>
        <p:txBody>
          <a:bodyPr wrap="square" lIns="0" tIns="0" rIns="0" bIns="0" rtlCol="0" anchor="t"/>
          <a:lstStyle/>
          <a:p>
            <a:pPr indent="0" marL="0">
              <a:buNone/>
            </a:pPr>
            <a:r>
              <a:rPr lang="en-US" sz="900" dirty="0">
                <a:solidFill>
                  <a:schemeClr val="accent4"/>
                </a:solidFill>
              </a:rPr>
              <a:t>* SRT 고도가 틀린 경우 GPS 경로로 축척을 자동 선택</a:t>
            </a:r>
            <a:endParaRPr lang="en-US" sz="900" dirty="0"/>
          </a:p>
        </p:txBody>
      </p:sp>
      <p:sp>
        <p:nvSpPr>
          <p:cNvPr id="16" name="card 50 m 오차가 1 m대로"/>
          <p:cNvSpPr/>
          <p:nvPr/>
        </p:nvSpPr>
        <p:spPr>
          <a:xfrm>
            <a:off x="5943600" y="4937760"/>
            <a:ext cx="5696712"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7" name="Text 12"/>
          <p:cNvSpPr txBox="1"/>
          <p:nvPr/>
        </p:nvSpPr>
        <p:spPr>
          <a:xfrm>
            <a:off x="6217920" y="5193792"/>
            <a:ext cx="5148072" cy="384048"/>
          </a:xfrm>
          <a:prstGeom prst="rect">
            <a:avLst/>
          </a:prstGeom>
          <a:noFill/>
          <a:ln/>
        </p:spPr>
        <p:txBody>
          <a:bodyPr wrap="square" lIns="0" tIns="0" rIns="0" bIns="0" rtlCol="0" anchor="t"/>
          <a:lstStyle/>
          <a:p>
            <a:pPr indent="0" marL="0">
              <a:buNone/>
            </a:pPr>
            <a:r>
              <a:rPr lang="en-US" sz="1200" b="1" dirty="0">
                <a:solidFill>
                  <a:schemeClr val="tx1"/>
                </a:solidFill>
              </a:rPr>
              <a:t>50 m 오차가 1 m대로</a:t>
            </a:r>
            <a:endParaRPr lang="en-US" sz="1200" dirty="0"/>
          </a:p>
        </p:txBody>
      </p:sp>
      <p:sp>
        <p:nvSpPr>
          <p:cNvPr id="18" name="Text 13"/>
          <p:cNvSpPr txBox="1"/>
          <p:nvPr/>
        </p:nvSpPr>
        <p:spPr>
          <a:xfrm>
            <a:off x="6217920" y="5632704"/>
            <a:ext cx="5148072" cy="182880"/>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드론 GPS 대신 3D 카메라 자세로 광선을 쏴 지면과 교차. 절대 위치의 바닥은 GPS(r95 ≈ 5 m)라 RTK·기준 표식·위성 정합으로 더 내릴 수 있습니다.</a:t>
            </a:r>
            <a:endParaRPr lang="en-US" sz="1000" dirty="0"/>
          </a:p>
        </p:txBody>
      </p:sp>
      <p:sp>
        <p:nvSpPr>
          <p:cNvPr id="19"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자료: 업체 칩 48장(정답 47) · 하와이 420칩(정답 3,195) · 튀니지 TUN-MarineLitter 179장 · figures/cross_eval*.json, 0007_plan_summary.json, 삼각측량 패치 tests</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검증 ③ 부피와 무게: 크기 아는 상자 3개가 ±20% 안에 들었다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정답 부피를 아는 상자를 두 고도에서 찍어 3D 부피와 비교했습니다. 같은 상자를 업체 방식(면적 × 계수)으로 계산하면 기준의 1/112·1/180입니다.</a:t>
            </a:r>
            <a:endParaRPr lang="en-US" sz="1400" dirty="0"/>
          </a:p>
        </p:txBody>
      </p:sp>
      <p:sp>
        <p:nvSpPr>
          <p:cNvPr id="4" name="chart card"/>
          <p:cNvSpPr/>
          <p:nvPr/>
        </p:nvSpPr>
        <p:spPr>
          <a:xfrm>
            <a:off x="548640" y="1783080"/>
            <a:ext cx="4937760" cy="4160520"/>
          </a:xfrm>
          <a:prstGeom prst="roundRect">
            <a:avLst>
              <a:gd name="adj" fmla="val 263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Text 3"/>
          <p:cNvSpPr txBox="1"/>
          <p:nvPr/>
        </p:nvSpPr>
        <p:spPr>
          <a:xfrm>
            <a:off x="777240" y="1874520"/>
            <a:ext cx="4572000" cy="274320"/>
          </a:xfrm>
          <a:prstGeom prst="rect">
            <a:avLst/>
          </a:prstGeom>
          <a:noFill/>
          <a:ln/>
        </p:spPr>
        <p:txBody>
          <a:bodyPr wrap="square" lIns="0" tIns="0" rIns="0" bIns="0" rtlCol="0" anchor="ctr"/>
          <a:lstStyle/>
          <a:p>
            <a:pPr indent="0" marL="0">
              <a:buNone/>
            </a:pPr>
            <a:r>
              <a:rPr lang="en-US" sz="1150" b="1" dirty="0">
                <a:solidFill>
                  <a:schemeClr val="tx1"/>
                </a:solidFill>
              </a:rPr>
              <a:t>크기 아는 상자 3개의 부피 오차 (실측 대비)</a:t>
            </a:r>
            <a:endParaRPr lang="en-US" sz="1150" dirty="0"/>
          </a:p>
        </p:txBody>
      </p:sp>
      <p:graphicFrame>
        <p:nvGraphicFramePr>
          <p:cNvPr id="6" name="Chart 0" descr=""/>
          <p:cNvGraphicFramePr/>
          <p:nvPr/>
        </p:nvGraphicFramePr>
        <p:xfrm>
          <a:off x="640080" y="2194560"/>
          <a:ext cx="4754880" cy="2377440"/>
        </p:xfrm>
        <a:graphic xmlns:a="http://schemas.openxmlformats.org/drawingml/2006/main">
          <a:graphicData uri="http://schemas.openxmlformats.org/drawingml/2006/chart">
            <c:chart xmlns:c="http://schemas.openxmlformats.org/drawingml/2006/chart" r:id="rId1"/>
          </a:graphicData>
        </a:graphic>
      </p:graphicFrame>
      <p:graphicFrame>
        <p:nvGraphicFramePr>
          <p:cNvPr id="27" name="box table"/>
          <p:cNvGraphicFramePr>
            <a:graphicFrameLocks noGrp="1"/>
          </p:cNvGraphicFramePr>
          <p:nvPr>
            <p:extLst>
              <p:ext uri="{D42A27DB-BD31-4B8C-83A1-F6EECF244321}">
                <p14:modId xmlns:p14="http://schemas.microsoft.com/office/powerpoint/2010/main" val="1579011935"/>
              </p:ext>
            </p:extLst>
          </p:nvPr>
        </p:nvGraphicFramePr>
        <p:xfrm>
          <a:off x="777240" y="4617720"/>
          <a:ext cx="4480560" cy="914400"/>
        </p:xfrm>
        <a:graphic>
          <a:graphicData uri="http://schemas.openxmlformats.org/drawingml/2006/table">
            <a:tbl>
              <a:tblPr/>
              <a:tblGrid>
                <a:gridCol w="868680"/>
                <a:gridCol w="1463040"/>
                <a:gridCol w="1188720"/>
                <a:gridCol w="960120"/>
              </a:tblGrid>
              <a:tr h="274320">
                <a:tc>
                  <a:txBody>
                    <a:bodyPr/>
                    <a:lstStyle/>
                    <a:p>
                      <a:pPr indent="0" marL="0">
                        <a:buNone/>
                      </a:pPr>
                      <a:r>
                        <a:rPr lang="en-US" sz="1000" b="1" dirty="0">
                          <a:solidFill>
                            <a:srgbClr val="0B3C5D"/>
                          </a:solidFill>
                        </a:rPr>
                        <a:t>상자</a:t>
                      </a:r>
                      <a:endParaRPr lang="en-US" sz="10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정답</a:t>
                      </a:r>
                      <a:endParaRPr lang="en-US" sz="10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3D 측정</a:t>
                      </a:r>
                      <a:endParaRPr lang="en-US" sz="10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부피</a:t>
                      </a:r>
                      <a:endParaRPr lang="en-US" sz="10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r>
              <a:tr h="274320">
                <a:tc>
                  <a:txBody>
                    <a:bodyPr/>
                    <a:lstStyle/>
                    <a:p>
                      <a:pPr indent="0" marL="0">
                        <a:buNone/>
                      </a:pPr>
                      <a:r>
                        <a:rPr lang="en-US" sz="900" dirty="0">
                          <a:solidFill>
                            <a:srgbClr val="10212E"/>
                          </a:solidFill>
                        </a:rPr>
                        <a:t>0007 작은</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23×17×8 cm · 3.1 L</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27×19×11.5 cm</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3.7 L (+19%)</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0212E"/>
                          </a:solidFill>
                        </a:rPr>
                        <a:t>0007 큰</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60×45×12 cm · 32.4 L</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62×49×13.5 cm</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38.8 L (+20%)</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0212E"/>
                          </a:solidFill>
                        </a:rPr>
                        <a:t>0010 키 큰</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32×42×39 cm · 52.4 L</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49×37×38 cm</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47.2 L (−10%)</a:t>
                      </a:r>
                      <a:endParaRPr lang="en-US" sz="900" dirty="0"/>
                    </a:p>
                  </a:txBody>
                  <a:tcPr marL="27432" marR="27432" marT="27432" marB="27432">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bl>
          </a:graphicData>
        </a:graphic>
      </p:graphicFrame>
      <p:pic>
        <p:nvPicPr>
          <p:cNvPr id="8" name="업체 방식 vs 3D 상자 무게" descr="/tmp/claude-0/-home-user-hsr1m/6022f0b4-b8f8-52b0-8810-837ebd6bfbe9/scratchpad/deck/img/fig_11_업체방식_vs_3D_상자무게.jpg">    </p:cNvPr>
          <p:cNvPicPr>
            <a:picLocks noChangeAspect="1"/>
          </p:cNvPicPr>
          <p:nvPr/>
        </p:nvPicPr>
        <p:blipFill>
          <a:blip r:embed="rId2"/>
          <a:srcRect l="0" r="0" t="0" b="0"/>
          <a:stretch/>
        </p:blipFill>
        <p:spPr>
          <a:xfrm>
            <a:off x="5760720" y="1783080"/>
            <a:ext cx="5879592" cy="2350008"/>
          </a:xfrm>
          <a:prstGeom prst="rect">
            <a:avLst/>
          </a:prstGeom>
        </p:spPr>
      </p:pic>
      <p:sp>
        <p:nvSpPr>
          <p:cNvPr id="9" name="Text 4"/>
          <p:cNvSpPr txBox="1"/>
          <p:nvPr/>
        </p:nvSpPr>
        <p:spPr>
          <a:xfrm>
            <a:off x="5760720" y="4151376"/>
            <a:ext cx="5879592" cy="365760"/>
          </a:xfrm>
          <a:prstGeom prst="rect">
            <a:avLst/>
          </a:prstGeom>
          <a:noFill/>
          <a:ln/>
        </p:spPr>
        <p:txBody>
          <a:bodyPr wrap="square" lIns="0" tIns="0" rIns="0" bIns="0" rtlCol="0" anchor="t"/>
          <a:lstStyle/>
          <a:p>
            <a:pPr indent="0" marL="0">
              <a:buNone/>
            </a:pPr>
            <a:r>
              <a:rPr lang="en-US" sz="900" dirty="0">
                <a:solidFill>
                  <a:schemeClr val="accent4"/>
                </a:solidFill>
              </a:rPr>
              <a:t>같은 상자 2개의 무게: 업체 방식(주황) vs 3D 부피 × 겉보기밀도(파랑) vs 기준값(초록). 업체 방식은 기준의 1/112·1/180.</a:t>
            </a:r>
            <a:endParaRPr lang="en-US" sz="900" dirty="0"/>
          </a:p>
        </p:txBody>
      </p:sp>
      <p:sp>
        <p:nvSpPr>
          <p:cNvPr id="10" name="stat 상자 3개 부피 오차"/>
          <p:cNvSpPr/>
          <p:nvPr/>
        </p:nvSpPr>
        <p:spPr>
          <a:xfrm>
            <a:off x="5760720" y="4572000"/>
            <a:ext cx="283464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1" name="Text 6"/>
          <p:cNvSpPr txBox="1"/>
          <p:nvPr/>
        </p:nvSpPr>
        <p:spPr>
          <a:xfrm>
            <a:off x="5989320" y="4718304"/>
            <a:ext cx="2423160" cy="274320"/>
          </a:xfrm>
          <a:prstGeom prst="rect">
            <a:avLst/>
          </a:prstGeom>
          <a:noFill/>
          <a:ln/>
        </p:spPr>
        <p:txBody>
          <a:bodyPr wrap="square" lIns="0" tIns="0" rIns="0" bIns="0" rtlCol="0" anchor="ctr"/>
          <a:lstStyle/>
          <a:p>
            <a:pPr indent="0" marL="0">
              <a:buNone/>
            </a:pPr>
            <a:r>
              <a:rPr lang="en-US" sz="1000" dirty="0">
                <a:solidFill>
                  <a:schemeClr val="accent4"/>
                </a:solidFill>
              </a:rPr>
              <a:t>상자 3개 부피 오차</a:t>
            </a:r>
            <a:endParaRPr lang="en-US" sz="1000" dirty="0"/>
          </a:p>
        </p:txBody>
      </p:sp>
      <p:sp>
        <p:nvSpPr>
          <p:cNvPr id="12" name="Text 7"/>
          <p:cNvSpPr txBox="1"/>
          <p:nvPr/>
        </p:nvSpPr>
        <p:spPr>
          <a:xfrm>
            <a:off x="5989320" y="4956048"/>
            <a:ext cx="2423160" cy="548640"/>
          </a:xfrm>
          <a:prstGeom prst="rect">
            <a:avLst/>
          </a:prstGeom>
          <a:noFill/>
          <a:ln/>
        </p:spPr>
        <p:txBody>
          <a:bodyPr wrap="square" lIns="0" tIns="0" rIns="0" bIns="0" rtlCol="0" anchor="ctr"/>
          <a:lstStyle/>
          <a:p>
            <a:pPr indent="0" marL="0">
              <a:buNone/>
            </a:pPr>
            <a:r>
              <a:rPr lang="en-US" sz="2800" b="1" dirty="0">
                <a:solidFill>
                  <a:schemeClr val="tx2"/>
                </a:solidFill>
              </a:rPr>
              <a:t>±20</a:t>
            </a:r>
            <a:pPr indent="0" marL="0">
              <a:buNone/>
            </a:pPr>
            <a:r>
              <a:rPr lang="en-US" sz="1200" b="1" dirty="0">
                <a:solidFill>
                  <a:schemeClr val="accent4"/>
                </a:solidFill>
              </a:rPr>
              <a:t> % 안</a:t>
            </a:r>
            <a:endParaRPr lang="en-US" sz="2800" dirty="0"/>
          </a:p>
        </p:txBody>
      </p:sp>
      <p:sp>
        <p:nvSpPr>
          <p:cNvPr id="13" name="Text 8"/>
          <p:cNvSpPr txBox="1"/>
          <p:nvPr/>
        </p:nvSpPr>
        <p:spPr>
          <a:xfrm>
            <a:off x="5989320" y="5486400"/>
            <a:ext cx="2423160" cy="384048"/>
          </a:xfrm>
          <a:prstGeom prst="rect">
            <a:avLst/>
          </a:prstGeom>
          <a:noFill/>
          <a:ln/>
        </p:spPr>
        <p:txBody>
          <a:bodyPr wrap="square" lIns="0" tIns="0" rIns="0" bIns="0" rtlCol="0" anchor="t"/>
          <a:lstStyle/>
          <a:p>
            <a:pPr indent="0" marL="0">
              <a:buNone/>
            </a:pPr>
            <a:r>
              <a:rPr lang="en-US" sz="950" dirty="0">
                <a:solidFill>
                  <a:schemeClr val="accent4"/>
                </a:solidFill>
              </a:rPr>
              <a:t>7 m 선회 2개, 2 m 왕복 1개</a:t>
            </a:r>
            <a:endParaRPr lang="en-US" sz="950" dirty="0"/>
          </a:p>
        </p:txBody>
      </p:sp>
      <p:sp>
        <p:nvSpPr>
          <p:cNvPr id="14" name="stat 업체 방식의 무게 (기준 대비)"/>
          <p:cNvSpPr/>
          <p:nvPr/>
        </p:nvSpPr>
        <p:spPr>
          <a:xfrm>
            <a:off x="8805672" y="4572000"/>
            <a:ext cx="2834640" cy="1371600"/>
          </a:xfrm>
          <a:prstGeom prst="roundRect">
            <a:avLst>
              <a:gd name="adj" fmla="val 8000"/>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5" name="Text 10"/>
          <p:cNvSpPr txBox="1"/>
          <p:nvPr/>
        </p:nvSpPr>
        <p:spPr>
          <a:xfrm>
            <a:off x="9034272" y="4718304"/>
            <a:ext cx="2423160" cy="274320"/>
          </a:xfrm>
          <a:prstGeom prst="rect">
            <a:avLst/>
          </a:prstGeom>
          <a:noFill/>
          <a:ln/>
        </p:spPr>
        <p:txBody>
          <a:bodyPr wrap="square" lIns="0" tIns="0" rIns="0" bIns="0" rtlCol="0" anchor="ctr"/>
          <a:lstStyle/>
          <a:p>
            <a:pPr indent="0" marL="0">
              <a:buNone/>
            </a:pPr>
            <a:r>
              <a:rPr lang="en-US" sz="1000" dirty="0">
                <a:solidFill>
                  <a:schemeClr val="accent4"/>
                </a:solidFill>
              </a:rPr>
              <a:t>업체 방식의 무게 (기준 대비)</a:t>
            </a:r>
            <a:endParaRPr lang="en-US" sz="1000" dirty="0"/>
          </a:p>
        </p:txBody>
      </p:sp>
      <p:sp>
        <p:nvSpPr>
          <p:cNvPr id="16" name="Text 11"/>
          <p:cNvSpPr txBox="1"/>
          <p:nvPr/>
        </p:nvSpPr>
        <p:spPr>
          <a:xfrm>
            <a:off x="9034272" y="4956048"/>
            <a:ext cx="2423160" cy="548640"/>
          </a:xfrm>
          <a:prstGeom prst="rect">
            <a:avLst/>
          </a:prstGeom>
          <a:noFill/>
          <a:ln/>
        </p:spPr>
        <p:txBody>
          <a:bodyPr wrap="square" lIns="0" tIns="0" rIns="0" bIns="0" rtlCol="0" anchor="ctr"/>
          <a:lstStyle/>
          <a:p>
            <a:pPr indent="0" marL="0">
              <a:buNone/>
            </a:pPr>
            <a:r>
              <a:rPr lang="en-US" sz="2800" b="1" dirty="0">
                <a:solidFill>
                  <a:schemeClr val="accent2"/>
                </a:solidFill>
              </a:rPr>
              <a:t>1/112</a:t>
            </a:r>
            <a:pPr indent="0" marL="0">
              <a:buNone/>
            </a:pPr>
            <a:r>
              <a:rPr lang="en-US" sz="1200" b="1" dirty="0">
                <a:solidFill>
                  <a:schemeClr val="accent4"/>
                </a:solidFill>
              </a:rPr>
              <a:t> · 1/180</a:t>
            </a:r>
            <a:endParaRPr lang="en-US" sz="2800" dirty="0"/>
          </a:p>
        </p:txBody>
      </p:sp>
      <p:sp>
        <p:nvSpPr>
          <p:cNvPr id="17" name="Text 12"/>
          <p:cNvSpPr txBox="1"/>
          <p:nvPr/>
        </p:nvSpPr>
        <p:spPr>
          <a:xfrm>
            <a:off x="9034272" y="5486400"/>
            <a:ext cx="2423160" cy="384048"/>
          </a:xfrm>
          <a:prstGeom prst="rect">
            <a:avLst/>
          </a:prstGeom>
          <a:noFill/>
          <a:ln/>
        </p:spPr>
        <p:txBody>
          <a:bodyPr wrap="square" lIns="0" tIns="0" rIns="0" bIns="0" rtlCol="0" anchor="t"/>
          <a:lstStyle/>
          <a:p>
            <a:pPr indent="0" marL="0">
              <a:buNone/>
            </a:pPr>
            <a:r>
              <a:rPr lang="en-US" sz="950" dirty="0">
                <a:solidFill>
                  <a:schemeClr val="accent4"/>
                </a:solidFill>
              </a:rPr>
              <a:t>같은 상자를 면적 × 계수로</a:t>
            </a:r>
            <a:endParaRPr lang="en-US" sz="950" dirty="0"/>
          </a:p>
        </p:txBody>
      </p:sp>
      <p:sp>
        <p:nvSpPr>
          <p:cNvPr id="18"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자료: figures/0007_objvol_v2.json, 0010 v2, compare_summary.json · 기준값은 정답 부피 × 같은 겉보기밀도(저울 실측으로 교체 예정)</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검증 ④ 재방문과 수거계획: 재현율 0.86, 섬 하나의 작업카드</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업체 정사영상 위 가상비행에서 애매한 후보만 재방문해 재현율을 0.71 → 0.86으로 올렸고, 니하우 섬 전체에 파이프라인을 돌려 작업카드까지 냈습니다.</a:t>
            </a:r>
            <a:endParaRPr lang="en-US" sz="1400" dirty="0"/>
          </a:p>
        </p:txBody>
      </p:sp>
      <p:sp>
        <p:nvSpPr>
          <p:cNvPr id="4" name="chart card"/>
          <p:cNvSpPr/>
          <p:nvPr/>
        </p:nvSpPr>
        <p:spPr>
          <a:xfrm>
            <a:off x="548640" y="1783080"/>
            <a:ext cx="3657600" cy="2377440"/>
          </a:xfrm>
          <a:prstGeom prst="roundRect">
            <a:avLst>
              <a:gd name="adj" fmla="val 4615"/>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Text 3"/>
          <p:cNvSpPr txBox="1"/>
          <p:nvPr/>
        </p:nvSpPr>
        <p:spPr>
          <a:xfrm>
            <a:off x="777240" y="1874520"/>
            <a:ext cx="3291840" cy="274320"/>
          </a:xfrm>
          <a:prstGeom prst="rect">
            <a:avLst/>
          </a:prstGeom>
          <a:noFill/>
          <a:ln/>
        </p:spPr>
        <p:txBody>
          <a:bodyPr wrap="square" lIns="0" tIns="0" rIns="0" bIns="0" rtlCol="0" anchor="ctr"/>
          <a:lstStyle/>
          <a:p>
            <a:pPr indent="0" marL="0">
              <a:buNone/>
            </a:pPr>
            <a:r>
              <a:rPr lang="en-US" sz="1100" b="1" dirty="0">
                <a:solidFill>
                  <a:schemeClr val="tx1"/>
                </a:solidFill>
              </a:rPr>
              <a:t>능동 재방문 효과 (문갑도 100×100 m, 라벨 7개)</a:t>
            </a:r>
            <a:endParaRPr lang="en-US" sz="1100" dirty="0"/>
          </a:p>
        </p:txBody>
      </p:sp>
      <p:graphicFrame>
        <p:nvGraphicFramePr>
          <p:cNvPr id="6" name="Chart 0" descr=""/>
          <p:cNvGraphicFramePr/>
          <p:nvPr/>
        </p:nvGraphicFramePr>
        <p:xfrm>
          <a:off x="640080" y="2194560"/>
          <a:ext cx="3474720" cy="1874520"/>
        </p:xfrm>
        <a:graphic xmlns:a="http://schemas.openxmlformats.org/drawingml/2006/main">
          <a:graphicData uri="http://schemas.openxmlformats.org/drawingml/2006/chart">
            <c:chart xmlns:c="http://schemas.openxmlformats.org/drawingml/2006/chart" r:id="rId1"/>
          </a:graphicData>
        </a:graphic>
      </p:graphicFrame>
      <p:sp>
        <p:nvSpPr>
          <p:cNvPr id="7" name="card 재방문 25회 중 22회 기각"/>
          <p:cNvSpPr/>
          <p:nvPr/>
        </p:nvSpPr>
        <p:spPr>
          <a:xfrm>
            <a:off x="548640" y="4297680"/>
            <a:ext cx="365760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8" name="Text 5"/>
          <p:cNvSpPr txBox="1"/>
          <p:nvPr/>
        </p:nvSpPr>
        <p:spPr>
          <a:xfrm>
            <a:off x="822960" y="4553712"/>
            <a:ext cx="3108960" cy="384048"/>
          </a:xfrm>
          <a:prstGeom prst="rect">
            <a:avLst/>
          </a:prstGeom>
          <a:noFill/>
          <a:ln/>
        </p:spPr>
        <p:txBody>
          <a:bodyPr wrap="square" lIns="0" tIns="0" rIns="0" bIns="0" rtlCol="0" anchor="t"/>
          <a:lstStyle/>
          <a:p>
            <a:pPr indent="0" marL="0">
              <a:buNone/>
            </a:pPr>
            <a:r>
              <a:rPr lang="en-US" sz="1200" b="1" dirty="0">
                <a:solidFill>
                  <a:schemeClr val="tx1"/>
                </a:solidFill>
              </a:rPr>
              <a:t>재방문 25회 중 22회 기각</a:t>
            </a:r>
            <a:endParaRPr lang="en-US" sz="1200" dirty="0"/>
          </a:p>
        </p:txBody>
      </p:sp>
      <p:sp>
        <p:nvSpPr>
          <p:cNvPr id="9" name="Text 6"/>
          <p:cNvSpPr txBox="1"/>
          <p:nvPr/>
        </p:nvSpPr>
        <p:spPr>
          <a:xfrm>
            <a:off x="822960" y="4992624"/>
            <a:ext cx="3108960" cy="822960"/>
          </a:xfrm>
          <a:prstGeom prst="rect">
            <a:avLst/>
          </a:prstGeom>
          <a:noFill/>
          <a:ln/>
        </p:spPr>
        <p:txBody>
          <a:bodyPr wrap="square" lIns="0" tIns="0" rIns="0" bIns="0" rtlCol="0" anchor="t"/>
          <a:lstStyle/>
          <a:p>
            <a:pPr indent="0" marL="0">
              <a:spcAft>
                <a:spcPts val="400"/>
              </a:spcAft>
              <a:buNone/>
            </a:pPr>
            <a:r>
              <a:rPr lang="en-US" sz="1000" dirty="0">
                <a:solidFill>
                  <a:schemeClr val="accent4"/>
                </a:solidFill>
              </a:rPr>
              <a:t>한 프레임에서만 우연히 잡힌 탐지를 8 m 재촬영으로 걸러내고 3개를 확정. 추가 비행거리 697 m(679 → 1,718 m).</a:t>
            </a:r>
            <a:endParaRPr lang="en-US" sz="1000" dirty="0"/>
          </a:p>
        </p:txBody>
      </p:sp>
      <p:pic>
        <p:nvPicPr>
          <p:cNvPr id="10" name="니하우 수거계획" descr="/tmp/claude-0/-home-user-hsr1m/6022f0b4-b8f8-52b0-8810-837ebd6bfbe9/scratchpad/deck/img/fig_18_하와이_niihau_지도_수거계획.jpg">    </p:cNvPr>
          <p:cNvPicPr>
            <a:picLocks noChangeAspect="1"/>
          </p:cNvPicPr>
          <p:nvPr/>
        </p:nvPicPr>
        <p:blipFill>
          <a:blip r:embed="rId2"/>
          <a:srcRect l="0" r="0" t="0" b="0"/>
          <a:stretch/>
        </p:blipFill>
        <p:spPr>
          <a:xfrm>
            <a:off x="4434840" y="1783080"/>
            <a:ext cx="7205472" cy="3172968"/>
          </a:xfrm>
          <a:prstGeom prst="rect">
            <a:avLst/>
          </a:prstGeom>
        </p:spPr>
      </p:pic>
      <p:sp>
        <p:nvSpPr>
          <p:cNvPr id="11" name="kpi 탐지 물체"/>
          <p:cNvSpPr/>
          <p:nvPr/>
        </p:nvSpPr>
        <p:spPr>
          <a:xfrm>
            <a:off x="4434840" y="5029200"/>
            <a:ext cx="1737360" cy="914400"/>
          </a:xfrm>
          <a:prstGeom prst="roundRect">
            <a:avLst>
              <a:gd name="adj" fmla="val 10000"/>
            </a:avLst>
          </a:prstGeom>
          <a:solidFill>
            <a:srgbClr val="EEF3F6"/>
          </a:solidFill>
          <a:ln w="12700">
            <a:solidFill>
              <a:srgbClr val="EEF3F6"/>
            </a:solidFill>
            <a:prstDash val="solid"/>
          </a:ln>
        </p:spPr>
      </p:sp>
      <p:sp>
        <p:nvSpPr>
          <p:cNvPr id="12" name="Text 8"/>
          <p:cNvSpPr txBox="1"/>
          <p:nvPr/>
        </p:nvSpPr>
        <p:spPr>
          <a:xfrm>
            <a:off x="4572000" y="5074920"/>
            <a:ext cx="1508760" cy="228600"/>
          </a:xfrm>
          <a:prstGeom prst="rect">
            <a:avLst/>
          </a:prstGeom>
          <a:noFill/>
          <a:ln/>
        </p:spPr>
        <p:txBody>
          <a:bodyPr wrap="square" lIns="0" tIns="0" rIns="0" bIns="0" rtlCol="0" anchor="ctr"/>
          <a:lstStyle/>
          <a:p>
            <a:pPr indent="0" marL="0">
              <a:buNone/>
            </a:pPr>
            <a:r>
              <a:rPr lang="en-US" sz="900" dirty="0">
                <a:solidFill>
                  <a:schemeClr val="accent4"/>
                </a:solidFill>
              </a:rPr>
              <a:t>탐지 물체</a:t>
            </a:r>
            <a:endParaRPr lang="en-US" sz="900" dirty="0"/>
          </a:p>
        </p:txBody>
      </p:sp>
      <p:sp>
        <p:nvSpPr>
          <p:cNvPr id="13" name="Text 9"/>
          <p:cNvSpPr txBox="1"/>
          <p:nvPr/>
        </p:nvSpPr>
        <p:spPr>
          <a:xfrm>
            <a:off x="4572000" y="5285232"/>
            <a:ext cx="1554480" cy="365760"/>
          </a:xfrm>
          <a:prstGeom prst="rect">
            <a:avLst/>
          </a:prstGeom>
          <a:noFill/>
          <a:ln/>
        </p:spPr>
        <p:txBody>
          <a:bodyPr wrap="square" lIns="0" tIns="0" rIns="0" bIns="0" rtlCol="0" anchor="ctr"/>
          <a:lstStyle/>
          <a:p>
            <a:pPr indent="0" marL="0">
              <a:buNone/>
            </a:pPr>
            <a:r>
              <a:rPr lang="en-US" sz="1400" b="1" dirty="0">
                <a:solidFill>
                  <a:schemeClr val="tx2"/>
                </a:solidFill>
              </a:rPr>
              <a:t>5,476개</a:t>
            </a:r>
            <a:endParaRPr lang="en-US" sz="1400" dirty="0"/>
          </a:p>
        </p:txBody>
      </p:sp>
      <p:sp>
        <p:nvSpPr>
          <p:cNvPr id="14" name="Text 10"/>
          <p:cNvSpPr txBox="1"/>
          <p:nvPr/>
        </p:nvSpPr>
        <p:spPr>
          <a:xfrm>
            <a:off x="4572000" y="5641848"/>
            <a:ext cx="1554480" cy="274320"/>
          </a:xfrm>
          <a:prstGeom prst="rect">
            <a:avLst/>
          </a:prstGeom>
          <a:noFill/>
          <a:ln/>
        </p:spPr>
        <p:txBody>
          <a:bodyPr wrap="square" lIns="0" tIns="0" rIns="0" bIns="0" rtlCol="0" anchor="t"/>
          <a:lstStyle/>
          <a:p>
            <a:pPr indent="0" marL="0">
              <a:buNone/>
            </a:pPr>
            <a:r>
              <a:rPr lang="en-US" sz="750" dirty="0">
                <a:solidFill>
                  <a:schemeClr val="accent4"/>
                </a:solidFill>
              </a:rPr>
              <a:t>플라스틱 3,966 · 부표 477 · 페트병 439 · 어망 214</a:t>
            </a:r>
            <a:endParaRPr lang="en-US" sz="750" dirty="0"/>
          </a:p>
        </p:txBody>
      </p:sp>
      <p:sp>
        <p:nvSpPr>
          <p:cNvPr id="15" name="kpi 무게 구간"/>
          <p:cNvSpPr/>
          <p:nvPr/>
        </p:nvSpPr>
        <p:spPr>
          <a:xfrm>
            <a:off x="6263640" y="5029200"/>
            <a:ext cx="1737360" cy="914400"/>
          </a:xfrm>
          <a:prstGeom prst="roundRect">
            <a:avLst>
              <a:gd name="adj" fmla="val 10000"/>
            </a:avLst>
          </a:prstGeom>
          <a:solidFill>
            <a:srgbClr val="EEF3F6"/>
          </a:solidFill>
          <a:ln w="12700">
            <a:solidFill>
              <a:srgbClr val="EEF3F6"/>
            </a:solidFill>
            <a:prstDash val="solid"/>
          </a:ln>
        </p:spPr>
      </p:sp>
      <p:sp>
        <p:nvSpPr>
          <p:cNvPr id="16" name="Text 12"/>
          <p:cNvSpPr txBox="1"/>
          <p:nvPr/>
        </p:nvSpPr>
        <p:spPr>
          <a:xfrm>
            <a:off x="6400800" y="5074920"/>
            <a:ext cx="1508760" cy="228600"/>
          </a:xfrm>
          <a:prstGeom prst="rect">
            <a:avLst/>
          </a:prstGeom>
          <a:noFill/>
          <a:ln/>
        </p:spPr>
        <p:txBody>
          <a:bodyPr wrap="square" lIns="0" tIns="0" rIns="0" bIns="0" rtlCol="0" anchor="ctr"/>
          <a:lstStyle/>
          <a:p>
            <a:pPr indent="0" marL="0">
              <a:buNone/>
            </a:pPr>
            <a:r>
              <a:rPr lang="en-US" sz="900" dirty="0">
                <a:solidFill>
                  <a:schemeClr val="accent4"/>
                </a:solidFill>
              </a:rPr>
              <a:t>무게 구간</a:t>
            </a:r>
            <a:endParaRPr lang="en-US" sz="900" dirty="0"/>
          </a:p>
        </p:txBody>
      </p:sp>
      <p:sp>
        <p:nvSpPr>
          <p:cNvPr id="17" name="Text 13"/>
          <p:cNvSpPr txBox="1"/>
          <p:nvPr/>
        </p:nvSpPr>
        <p:spPr>
          <a:xfrm>
            <a:off x="6400800" y="5285232"/>
            <a:ext cx="1554480" cy="365760"/>
          </a:xfrm>
          <a:prstGeom prst="rect">
            <a:avLst/>
          </a:prstGeom>
          <a:noFill/>
          <a:ln/>
        </p:spPr>
        <p:txBody>
          <a:bodyPr wrap="square" lIns="0" tIns="0" rIns="0" bIns="0" rtlCol="0" anchor="ctr"/>
          <a:lstStyle/>
          <a:p>
            <a:pPr indent="0" marL="0">
              <a:buNone/>
            </a:pPr>
            <a:r>
              <a:rPr lang="en-US" sz="1400" b="1" dirty="0">
                <a:solidFill>
                  <a:schemeClr val="accent2"/>
                </a:solidFill>
              </a:rPr>
              <a:t>7.9~33.6 t</a:t>
            </a:r>
            <a:endParaRPr lang="en-US" sz="1400" dirty="0"/>
          </a:p>
        </p:txBody>
      </p:sp>
      <p:sp>
        <p:nvSpPr>
          <p:cNvPr id="18" name="Text 14"/>
          <p:cNvSpPr txBox="1"/>
          <p:nvPr/>
        </p:nvSpPr>
        <p:spPr>
          <a:xfrm>
            <a:off x="6400800" y="5641848"/>
            <a:ext cx="1554480" cy="274320"/>
          </a:xfrm>
          <a:prstGeom prst="rect">
            <a:avLst/>
          </a:prstGeom>
          <a:noFill/>
          <a:ln/>
        </p:spPr>
        <p:txBody>
          <a:bodyPr wrap="square" lIns="0" tIns="0" rIns="0" bIns="0" rtlCol="0" anchor="t"/>
          <a:lstStyle/>
          <a:p>
            <a:pPr indent="0" marL="0">
              <a:buNone/>
            </a:pPr>
            <a:r>
              <a:rPr lang="en-US" sz="750" dirty="0">
                <a:solidFill>
                  <a:schemeClr val="accent4"/>
                </a:solidFill>
              </a:rPr>
              <a:t>추정 13.7 t (업체 방식이면 69 kg)</a:t>
            </a:r>
            <a:endParaRPr lang="en-US" sz="750" dirty="0"/>
          </a:p>
        </p:txBody>
      </p:sp>
      <p:sp>
        <p:nvSpPr>
          <p:cNvPr id="19" name="kpi 마대 · 트럭"/>
          <p:cNvSpPr/>
          <p:nvPr/>
        </p:nvSpPr>
        <p:spPr>
          <a:xfrm>
            <a:off x="8092440" y="5029200"/>
            <a:ext cx="1737360" cy="914400"/>
          </a:xfrm>
          <a:prstGeom prst="roundRect">
            <a:avLst>
              <a:gd name="adj" fmla="val 10000"/>
            </a:avLst>
          </a:prstGeom>
          <a:solidFill>
            <a:srgbClr val="EEF3F6"/>
          </a:solidFill>
          <a:ln w="12700">
            <a:solidFill>
              <a:srgbClr val="EEF3F6"/>
            </a:solidFill>
            <a:prstDash val="solid"/>
          </a:ln>
        </p:spPr>
      </p:sp>
      <p:sp>
        <p:nvSpPr>
          <p:cNvPr id="20" name="Text 16"/>
          <p:cNvSpPr txBox="1"/>
          <p:nvPr/>
        </p:nvSpPr>
        <p:spPr>
          <a:xfrm>
            <a:off x="8229600" y="5074920"/>
            <a:ext cx="1508760" cy="228600"/>
          </a:xfrm>
          <a:prstGeom prst="rect">
            <a:avLst/>
          </a:prstGeom>
          <a:noFill/>
          <a:ln/>
        </p:spPr>
        <p:txBody>
          <a:bodyPr wrap="square" lIns="0" tIns="0" rIns="0" bIns="0" rtlCol="0" anchor="ctr"/>
          <a:lstStyle/>
          <a:p>
            <a:pPr indent="0" marL="0">
              <a:buNone/>
            </a:pPr>
            <a:r>
              <a:rPr lang="en-US" sz="900" dirty="0">
                <a:solidFill>
                  <a:schemeClr val="accent4"/>
                </a:solidFill>
              </a:rPr>
              <a:t>마대 · 트럭</a:t>
            </a:r>
            <a:endParaRPr lang="en-US" sz="900" dirty="0"/>
          </a:p>
        </p:txBody>
      </p:sp>
      <p:sp>
        <p:nvSpPr>
          <p:cNvPr id="21" name="Text 17"/>
          <p:cNvSpPr txBox="1"/>
          <p:nvPr/>
        </p:nvSpPr>
        <p:spPr>
          <a:xfrm>
            <a:off x="8229600" y="5285232"/>
            <a:ext cx="1554480" cy="365760"/>
          </a:xfrm>
          <a:prstGeom prst="rect">
            <a:avLst/>
          </a:prstGeom>
          <a:noFill/>
          <a:ln/>
        </p:spPr>
        <p:txBody>
          <a:bodyPr wrap="square" lIns="0" tIns="0" rIns="0" bIns="0" rtlCol="0" anchor="ctr"/>
          <a:lstStyle/>
          <a:p>
            <a:pPr indent="0" marL="0">
              <a:buNone/>
            </a:pPr>
            <a:r>
              <a:rPr lang="en-US" sz="1400" b="1" dirty="0">
                <a:solidFill>
                  <a:schemeClr val="tx2"/>
                </a:solidFill>
              </a:rPr>
              <a:t>1,082장 · 37대</a:t>
            </a:r>
            <a:endParaRPr lang="en-US" sz="1400" dirty="0"/>
          </a:p>
        </p:txBody>
      </p:sp>
      <p:sp>
        <p:nvSpPr>
          <p:cNvPr id="22" name="Text 18"/>
          <p:cNvSpPr txBox="1"/>
          <p:nvPr/>
        </p:nvSpPr>
        <p:spPr>
          <a:xfrm>
            <a:off x="8229600" y="5641848"/>
            <a:ext cx="1554480" cy="274320"/>
          </a:xfrm>
          <a:prstGeom prst="rect">
            <a:avLst/>
          </a:prstGeom>
          <a:noFill/>
          <a:ln/>
        </p:spPr>
        <p:txBody>
          <a:bodyPr wrap="square" lIns="0" tIns="0" rIns="0" bIns="0" rtlCol="0" anchor="t"/>
          <a:lstStyle/>
          <a:p>
            <a:pPr indent="0" marL="0">
              <a:buNone/>
            </a:pPr>
            <a:r>
              <a:rPr lang="en-US" sz="750" dirty="0">
                <a:solidFill>
                  <a:schemeClr val="accent4"/>
                </a:solidFill>
              </a:rPr>
              <a:t>정거장 331 · 경로 71.9 km</a:t>
            </a:r>
            <a:endParaRPr lang="en-US" sz="750" dirty="0"/>
          </a:p>
        </p:txBody>
      </p:sp>
      <p:sp>
        <p:nvSpPr>
          <p:cNvPr id="23" name="kpi 인력 구분"/>
          <p:cNvSpPr/>
          <p:nvPr/>
        </p:nvSpPr>
        <p:spPr>
          <a:xfrm>
            <a:off x="9921240" y="5029200"/>
            <a:ext cx="1737360" cy="914400"/>
          </a:xfrm>
          <a:prstGeom prst="roundRect">
            <a:avLst>
              <a:gd name="adj" fmla="val 10000"/>
            </a:avLst>
          </a:prstGeom>
          <a:solidFill>
            <a:srgbClr val="EEF3F6"/>
          </a:solidFill>
          <a:ln w="12700">
            <a:solidFill>
              <a:srgbClr val="EEF3F6"/>
            </a:solidFill>
            <a:prstDash val="solid"/>
          </a:ln>
        </p:spPr>
      </p:sp>
      <p:sp>
        <p:nvSpPr>
          <p:cNvPr id="24" name="Text 20"/>
          <p:cNvSpPr txBox="1"/>
          <p:nvPr/>
        </p:nvSpPr>
        <p:spPr>
          <a:xfrm>
            <a:off x="10058400" y="5074920"/>
            <a:ext cx="1508760" cy="228600"/>
          </a:xfrm>
          <a:prstGeom prst="rect">
            <a:avLst/>
          </a:prstGeom>
          <a:noFill/>
          <a:ln/>
        </p:spPr>
        <p:txBody>
          <a:bodyPr wrap="square" lIns="0" tIns="0" rIns="0" bIns="0" rtlCol="0" anchor="ctr"/>
          <a:lstStyle/>
          <a:p>
            <a:pPr indent="0" marL="0">
              <a:buNone/>
            </a:pPr>
            <a:r>
              <a:rPr lang="en-US" sz="900" dirty="0">
                <a:solidFill>
                  <a:schemeClr val="accent4"/>
                </a:solidFill>
              </a:rPr>
              <a:t>인력 구분</a:t>
            </a:r>
            <a:endParaRPr lang="en-US" sz="900" dirty="0"/>
          </a:p>
        </p:txBody>
      </p:sp>
      <p:sp>
        <p:nvSpPr>
          <p:cNvPr id="25" name="Text 21"/>
          <p:cNvSpPr txBox="1"/>
          <p:nvPr/>
        </p:nvSpPr>
        <p:spPr>
          <a:xfrm>
            <a:off x="10058400" y="5285232"/>
            <a:ext cx="1554480" cy="365760"/>
          </a:xfrm>
          <a:prstGeom prst="rect">
            <a:avLst/>
          </a:prstGeom>
          <a:noFill/>
          <a:ln/>
        </p:spPr>
        <p:txBody>
          <a:bodyPr wrap="square" lIns="0" tIns="0" rIns="0" bIns="0" rtlCol="0" anchor="ctr"/>
          <a:lstStyle/>
          <a:p>
            <a:pPr indent="0" marL="0">
              <a:buNone/>
            </a:pPr>
            <a:r>
              <a:rPr lang="en-US" sz="950" b="1" dirty="0">
                <a:solidFill>
                  <a:schemeClr val="tx2"/>
                </a:solidFill>
              </a:rPr>
              <a:t>1인 5,294 · 2인 138 · 장비 44</a:t>
            </a:r>
            <a:endParaRPr lang="en-US" sz="950" dirty="0"/>
          </a:p>
        </p:txBody>
      </p:sp>
      <p:sp>
        <p:nvSpPr>
          <p:cNvPr id="26" name="Text 22"/>
          <p:cNvSpPr txBox="1"/>
          <p:nvPr/>
        </p:nvSpPr>
        <p:spPr>
          <a:xfrm>
            <a:off x="10058400" y="5641848"/>
            <a:ext cx="1554480" cy="274320"/>
          </a:xfrm>
          <a:prstGeom prst="rect">
            <a:avLst/>
          </a:prstGeom>
          <a:noFill/>
          <a:ln/>
        </p:spPr>
        <p:txBody>
          <a:bodyPr wrap="square" lIns="0" tIns="0" rIns="0" bIns="0" rtlCol="0" anchor="t"/>
          <a:lstStyle/>
          <a:p>
            <a:pPr indent="0" marL="0">
              <a:buNone/>
            </a:pPr>
            <a:r>
              <a:rPr lang="en-US" sz="750" dirty="0">
                <a:solidFill>
                  <a:schemeClr val="accent4"/>
                </a:solidFill>
              </a:rPr>
              <a:t>23 kg 규칙 · 묻힘 의심</a:t>
            </a:r>
            <a:endParaRPr lang="en-US" sz="750" dirty="0"/>
          </a:p>
        </p:txBody>
      </p:sp>
      <p:sp>
        <p:nvSpPr>
          <p:cNvPr id="27" name="refs"/>
          <p:cNvSpPr txBox="1"/>
          <p:nvPr/>
        </p:nvSpPr>
        <p:spPr>
          <a:xfrm>
            <a:off x="548640" y="6053328"/>
            <a:ext cx="11064240" cy="329184"/>
          </a:xfrm>
          <a:prstGeom prst="rect">
            <a:avLst/>
          </a:prstGeom>
          <a:noFill/>
          <a:ln/>
        </p:spPr>
        <p:txBody>
          <a:bodyPr wrap="square" lIns="0" tIns="0" rIns="0" bIns="0" rtlCol="0" anchor="t"/>
          <a:lstStyle/>
          <a:p>
            <a:pPr indent="0" marL="0">
              <a:buNone/>
            </a:pPr>
            <a:r>
              <a:rPr lang="en-US" sz="950" i="1" dirty="0">
                <a:solidFill>
                  <a:schemeClr val="accent4"/>
                </a:solidFill>
              </a:rPr>
              <a:t>자료: figures/sim_aihub_*_summary.json · hawaii_niihau_ft_summary.json(칩 553장, 2 cm/px) · 송도 0007 작업카드: 정거장 1, 0.83 kg(상한 1.67), 마대 1, 트럭 1, 경로 20 m</a:t>
            </a:r>
            <a:endParaRPr lang="en-US" sz="9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검증 요약: 가설 · 설계 · 결과</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완료 9건. 수치는 모두 저장소의 로그·JSON에서 재현됩니다.</a:t>
            </a:r>
            <a:endParaRPr lang="en-US" sz="1400" dirty="0"/>
          </a:p>
        </p:txBody>
      </p:sp>
      <p:graphicFrame>
        <p:nvGraphicFramePr>
          <p:cNvPr id="29" name="validation summary"/>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188720"/>
                <a:gridCol w="2971800"/>
                <a:gridCol w="2926080"/>
                <a:gridCol w="3154680"/>
                <a:gridCol w="850392"/>
              </a:tblGrid>
              <a:tr h="365760">
                <a:tc>
                  <a:txBody>
                    <a:bodyPr/>
                    <a:lstStyle/>
                    <a:p>
                      <a:pPr indent="0" marL="0">
                        <a:buNone/>
                      </a:pPr>
                      <a:r>
                        <a:rPr lang="en-US" sz="1000" b="1" dirty="0">
                          <a:solidFill>
                            <a:srgbClr val="0B3C5D"/>
                          </a:solidFill>
                        </a:rPr>
                        <a:t>실험</a:t>
                      </a:r>
                      <a:endParaRPr lang="en-US" sz="10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가설</a:t>
                      </a:r>
                      <a:endParaRPr lang="en-US" sz="10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설계</a:t>
                      </a:r>
                      <a:endParaRPr lang="en-US" sz="10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결과</a:t>
                      </a:r>
                      <a:endParaRPr lang="en-US" sz="10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00" b="1" dirty="0">
                          <a:solidFill>
                            <a:srgbClr val="0B3C5D"/>
                          </a:solidFill>
                        </a:rPr>
                        <a:t>상태</a:t>
                      </a:r>
                      <a:endParaRPr lang="en-US" sz="10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r>
              <a:tr h="365760">
                <a:tc>
                  <a:txBody>
                    <a:bodyPr/>
                    <a:lstStyle/>
                    <a:p>
                      <a:pPr indent="0" marL="0">
                        <a:buNone/>
                      </a:pPr>
                      <a:r>
                        <a:rPr lang="en-US" sz="900" dirty="0">
                          <a:solidFill>
                            <a:srgbClr val="10212E"/>
                          </a:solidFill>
                        </a:rPr>
                        <a:t>A 부피</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영상 3D로 잰 부피가 실측과 ±20% 안에 든다</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크기 아는 상자 3개, 7 m 선회(0007)·2 m 왕복(0010)</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+19% / +20% / −10%. 업체 방식은 1/112·1/180</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B 위치</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3D 자세로 계산한 위치가 GPS와 수 m 안</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0007·0010 실기체 + 합성 7개 시나리오</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1.16 m · 8.07→0.51 m(축척 자동) · 합성 0.01~0.11 m</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C 탐지</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운용 고도 GSD로 학습하면 현장 재현율이 오른다</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문갑도 칩 48·하와이 420칩·튀니지 179장 교차평가</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문갑도 0.28→0.72 · 하와이 0.24→0.69 · 튀니지 0.14→0.52</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D 재방문</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애매한 후보만 재방문하면 짧은 추가 비행으로 재현율↑</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문갑도 정사영상 가상비행 100×100 m, 라벨 7개</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0.71→0.86, +697 m (25회 중 22회 기각)</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E 야간 통과</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통과 비행만으로 탐지·지도·3D 뼈대가 된다</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0015 야간 10분, 4K 60 fps, 상자 ~28개</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탐지 30개 · 3D 뼈대 25/25 · 부피는 선회로</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F 반복성(미국)</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몰리고, 다시 쌓이고, 과거로 짠 경로가 통한다</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하와이 2015 항공조사 · NOAA MDMAP 134곳 · 텍사스 33곳</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상위 10% 칸 75% · 순위상관 0.88 · 61% vs 36%</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G 위성 형상 선별</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형상 점수 상위 30% 길이에 무게의 절반 이상</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니하우 탐지 격자 · 문갑도 라벨 42 · 인천 조석 지도</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니하우 65~67% · 문갑도 62~67% · 인천 조석 모델 99%</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H 전략 비교</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핫스팟 30%가 같은 자원으로 전체 지그재그의 2배</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같은 카메라·띠 폭·배터리 모델, 지리 순서·무작위 대조</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15.4 h vs 41.3 h · 67% vs 25~29%</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365760">
                <a:tc>
                  <a:txBody>
                    <a:bodyPr/>
                    <a:lstStyle/>
                    <a:p>
                      <a:pPr indent="0" marL="0">
                        <a:buNone/>
                      </a:pPr>
                      <a:r>
                        <a:rPr lang="en-US" sz="900" dirty="0">
                          <a:solidFill>
                            <a:srgbClr val="10212E"/>
                          </a:solidFill>
                        </a:rPr>
                        <a:t>I 해안 적용</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같은 파이프라인이 다른 해안에서 수거계획을 낸다</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니하우 섬 칩 553장, 10분 미세조정</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900" dirty="0">
                          <a:solidFill>
                            <a:srgbClr val="10212E"/>
                          </a:solidFill>
                        </a:rPr>
                        <a:t>5,476개 · 7.9~33.6 t · 마대 1,082 · 트럭 37</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A7A2F"/>
                          </a:solidFill>
                        </a:rPr>
                        <a:t>완료</a:t>
                      </a:r>
                      <a:endParaRPr lang="en-US" sz="900" dirty="0"/>
                    </a:p>
                  </a:txBody>
                  <a:tcPr marL="32004" marR="32004" marT="32004" marB="3200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bl>
          </a:graphicData>
        </a:graphic>
      </p:graphicFrame>
      <p:sp>
        <p:nvSpPr>
          <p:cNvPr id="5"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저장소: dohun415/aerodrone_hackathon (docs/파이프라인_결과정리.md, figures/*.json, hotspot/, route_optimization/) · HSR2M/hsr1m (island_drone_sim, 삼각측량 패치, incheon_debris_sim). 다음 검증(저울 실측, 3·5·7 m 선회, 국내 정점 시계열)은 로드맵에.</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1737360"/>
            <a:ext cx="2743200" cy="914400"/>
          </a:xfrm>
          <a:prstGeom prst="rect">
            <a:avLst/>
          </a:prstGeom>
          <a:noFill/>
          <a:ln/>
        </p:spPr>
        <p:txBody>
          <a:bodyPr wrap="square" lIns="0" tIns="0" rIns="0" bIns="0" rtlCol="0" anchor="ctr"/>
          <a:lstStyle/>
          <a:p>
            <a:pPr indent="0" marL="0">
              <a:buNone/>
            </a:pPr>
            <a:r>
              <a:rPr lang="en-US" sz="6000" b="1" dirty="0">
                <a:solidFill>
                  <a:schemeClr val="accent2"/>
                </a:solidFill>
              </a:rPr>
              <a:t>05</a:t>
            </a:r>
            <a:endParaRPr lang="en-US" sz="6000" dirty="0"/>
          </a:p>
        </p:txBody>
      </p:sp>
      <p:sp>
        <p:nvSpPr>
          <p:cNvPr id="3" name="Text 0"/>
          <p:cNvSpPr/>
          <p:nvPr>
            <p:ph idx="100" type="title" hasCustomPrompt="1"/>
          </p:nvPr>
        </p:nvSpPr>
        <p:spPr>
          <a:xfrm>
            <a:off x="731520" y="2743200"/>
            <a:ext cx="10515600" cy="1188720"/>
          </a:xfrm>
          <a:prstGeom prst="rect">
            <a:avLst/>
          </a:prstGeom>
          <a:noFill/>
          <a:ln/>
        </p:spPr>
        <p:txBody>
          <a:bodyPr wrap="square" lIns="0" tIns="0" rIns="0" bIns="0" rtlCol="0" anchor="b"/>
          <a:lstStyle/>
          <a:p>
            <a:pPr algn="l" indent="0" marL="0">
              <a:buNone/>
            </a:pPr>
            <a:r>
              <a:rPr lang="en-US" sz="4000" b="1" dirty="0">
                <a:solidFill>
                  <a:schemeClr val="bg1"/>
                </a:solidFill>
              </a:rPr>
              <a:t>기대효과와 제안</a:t>
            </a:r>
            <a:endParaRPr lang="en-US" sz="4000" dirty="0"/>
          </a:p>
        </p:txBody>
      </p:sp>
      <p:sp>
        <p:nvSpPr>
          <p:cNvPr id="4" name="Text 0"/>
          <p:cNvSpPr/>
          <p:nvPr>
            <p:ph idx="101" type="body" hasCustomPrompt="1"/>
          </p:nvPr>
        </p:nvSpPr>
        <p:spPr>
          <a:xfrm>
            <a:off x="731520" y="4023360"/>
            <a:ext cx="10058400" cy="1097280"/>
          </a:xfrm>
          <a:prstGeom prst="rect">
            <a:avLst/>
          </a:prstGeom>
          <a:noFill/>
          <a:ln/>
        </p:spPr>
        <p:txBody>
          <a:bodyPr wrap="square" lIns="0" tIns="0" rIns="0" bIns="0" rtlCol="0" anchor="t"/>
          <a:lstStyle/>
          <a:p>
            <a:pPr algn="l" indent="0" marL="0">
              <a:buNone/>
            </a:pPr>
            <a:r>
              <a:rPr lang="en-US" sz="1600" dirty="0">
                <a:solidFill>
                  <a:schemeClr val="accent5"/>
                </a:solidFill>
              </a:rPr>
              <a:t>기업이 아끼는 것, 이 기술의 의의, 그리고 3DLabs와 함께 검증하고 싶은 것.</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기업이 아끼는 것: 비행시간 63%, 재방문·재배차, 현장에서 헤매는 시간</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같은 장비·같은 인원으로 어디가 달라지는지. 수치는 니하우·인천·문갑도 비교 모델과 업체 라벨 분석에서 나왔습니다.</a:t>
            </a:r>
            <a:endParaRPr lang="en-US" sz="1400" dirty="0"/>
          </a:p>
        </p:txBody>
      </p:sp>
      <p:graphicFrame>
        <p:nvGraphicFramePr>
          <p:cNvPr id="31" name="savings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554480"/>
                <a:gridCol w="2377440"/>
                <a:gridCol w="3657600"/>
                <a:gridCol w="3502152"/>
              </a:tblGrid>
              <a:tr h="566928">
                <a:tc>
                  <a:txBody>
                    <a:bodyPr/>
                    <a:lstStyle/>
                    <a:p>
                      <a:pPr indent="0" marL="0">
                        <a:buNone/>
                      </a:pPr>
                      <a:r>
                        <a:rPr lang="en-US" sz="1050" b="1" dirty="0">
                          <a:solidFill>
                            <a:srgbClr val="0B3C5D"/>
                          </a:solidFill>
                        </a:rPr>
                        <a:t>항목</a:t>
                      </a:r>
                      <a:endParaRPr lang="en-US" sz="105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50" b="1" dirty="0">
                          <a:solidFill>
                            <a:srgbClr val="0B3C5D"/>
                          </a:solidFill>
                        </a:rPr>
                        <a:t>지금</a:t>
                      </a:r>
                      <a:endParaRPr lang="en-US" sz="105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50" b="1" dirty="0">
                          <a:solidFill>
                            <a:srgbClr val="0B3C5D"/>
                          </a:solidFill>
                        </a:rPr>
                        <a:t>DroneSweep</a:t>
                      </a:r>
                      <a:endParaRPr lang="en-US" sz="105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c>
                  <a:txBody>
                    <a:bodyPr/>
                    <a:lstStyle/>
                    <a:p>
                      <a:pPr indent="0" marL="0">
                        <a:buNone/>
                      </a:pPr>
                      <a:r>
                        <a:rPr lang="en-US" sz="1050" b="1" dirty="0">
                          <a:solidFill>
                            <a:srgbClr val="0B3C5D"/>
                          </a:solidFill>
                        </a:rPr>
                        <a:t>근거</a:t>
                      </a:r>
                      <a:endParaRPr lang="en-US" sz="105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DCE6EC"/>
                    </a:solidFill>
                  </a:tcPr>
                </a:tc>
              </a:tr>
              <a:tr h="566928">
                <a:tc>
                  <a:txBody>
                    <a:bodyPr/>
                    <a:lstStyle/>
                    <a:p>
                      <a:pPr indent="0" marL="0">
                        <a:buNone/>
                      </a:pPr>
                      <a:r>
                        <a:rPr lang="en-US" sz="1000" dirty="0">
                          <a:solidFill>
                            <a:srgbClr val="10212E"/>
                          </a:solidFill>
                        </a:rPr>
                        <a:t>비행·조사 시간</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해안 전체 지그재그</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상위 30% 구간만 → −63% (니하우 41.3 → 15.4 h)</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인천 448 → 57 h, 문갑도 5.0 → 2.2 h. 배터리·인력·일수가 같은 비율로</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0212E"/>
                          </a:solidFill>
                        </a:rPr>
                        <a:t>탐지·3D 연산</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프레임 147,266장</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51,640장 → −65% (CPU 9.0 → 3.2 h, 58 → 20 GB)</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노트북 한 대 처리가 100 km 해안에서도 유지</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0212E"/>
                          </a:solidFill>
                        </a:rPr>
                        <a:t>현장에서 찾기</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50 m 어긋난 핀을 보고 헤맴</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1 m대 핀 + 주변 표지물 사진 카드</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3D↔GPS 잔차 1.16 m, 수거자가 도착 즉시 확인</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0212E"/>
                          </a:solidFill>
                        </a:rPr>
                        <a:t>무게·배차</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면적 × 계수 1.3 kg → 마대 1장</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3D 101 kg → 마대 6장·트럭·2인 작업을 사전 확정</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같은 42개 물체, 78배 차이. 추가 호출·장비 대기 방지</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r h="566928">
                <a:tc>
                  <a:txBody>
                    <a:bodyPr/>
                    <a:lstStyle/>
                    <a:p>
                      <a:pPr indent="0" marL="0">
                        <a:buNone/>
                      </a:pPr>
                      <a:r>
                        <a:rPr lang="en-US" sz="1000" dirty="0">
                          <a:solidFill>
                            <a:srgbClr val="10212E"/>
                          </a:solidFill>
                        </a:rPr>
                        <a:t>방문 횟수</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찾고, 재고, 다시 오고</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비행 1회 = 작업카드 1부, 경계 물체만 2차 선회</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indent="0" marL="0">
                        <a:buNone/>
                      </a:pPr>
                      <a:r>
                        <a:rPr lang="en-US" sz="1000" dirty="0">
                          <a:solidFill>
                            <a:srgbClr val="10212E"/>
                          </a:solidFill>
                        </a:rPr>
                        <a:t>재방문 후보 25개 중 22개는 영상으로 기각</a:t>
                      </a:r>
                      <a:endParaRPr lang="en-US" sz="1000" dirty="0"/>
                    </a:p>
                  </a:txBody>
                  <a:tcPr marL="54864" marR="54864" marT="54864" marB="54864"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r>
            </a:tbl>
          </a:graphicData>
        </a:graphic>
      </p:graphicFrame>
      <p:sp>
        <p:nvSpPr>
          <p:cNvPr id="5" name="money"/>
          <p:cNvSpPr/>
          <p:nvPr/>
        </p:nvSpPr>
        <p:spPr>
          <a:xfrm>
            <a:off x="548640" y="5257800"/>
            <a:ext cx="11091672" cy="731520"/>
          </a:xfrm>
          <a:prstGeom prst="roundRect">
            <a:avLst>
              <a:gd name="adj" fmla="val 12500"/>
            </a:avLst>
          </a:prstGeom>
          <a:solidFill>
            <a:srgbClr val="FFD9C2"/>
          </a:solidFill>
          <a:ln w="12700">
            <a:solidFill>
              <a:srgbClr val="FFD9C2"/>
            </a:solidFill>
            <a:prstDash val="solid"/>
          </a:ln>
        </p:spPr>
      </p:sp>
      <p:pic>
        <p:nvPicPr>
          <p:cNvPr id="6" name="icon coins" descr="preencoded.png">    </p:cNvPr>
          <p:cNvPicPr>
            <a:picLocks noChangeAspect="1"/>
          </p:cNvPicPr>
          <p:nvPr/>
        </p:nvPicPr>
        <p:blipFill>
          <a:blip r:embed="rId1"/>
          <a:stretch>
            <a:fillRect/>
          </a:stretch>
        </p:blipFill>
        <p:spPr>
          <a:xfrm>
            <a:off x="822960" y="5440680"/>
            <a:ext cx="365760" cy="365760"/>
          </a:xfrm>
          <a:prstGeom prst="rect">
            <a:avLst/>
          </a:prstGeom>
        </p:spPr>
      </p:pic>
      <p:sp>
        <p:nvSpPr>
          <p:cNvPr id="7" name="Text 3"/>
          <p:cNvSpPr txBox="1"/>
          <p:nvPr/>
        </p:nvSpPr>
        <p:spPr>
          <a:xfrm>
            <a:off x="1325880" y="5257800"/>
            <a:ext cx="10149840" cy="731520"/>
          </a:xfrm>
          <a:prstGeom prst="rect">
            <a:avLst/>
          </a:prstGeom>
          <a:noFill/>
          <a:ln/>
        </p:spPr>
        <p:txBody>
          <a:bodyPr wrap="square" lIns="0" tIns="0" rIns="0" bIns="0" rtlCol="0" anchor="ctr"/>
          <a:lstStyle/>
          <a:p>
            <a:pPr indent="0" marL="0">
              <a:buNone/>
            </a:pPr>
            <a:r>
              <a:rPr lang="en-US" sz="1100" b="1" dirty="0">
                <a:solidFill>
                  <a:schemeClr val="tx2"/>
                </a:solidFill>
              </a:rPr>
              <a:t>돈으로: 처리 단가 톤당 약 50만 원이면 100 t 추정 오차가 5천만 원이고, 비행·연산 시간 63~65% 절감은 소티·배터리·인건비에 그대로 비례합니다. 발주처(지자체)에는 추정 오차가, 업체에는 재방문과 재배차가 줄어듭니다.</a:t>
            </a:r>
            <a:endParaRPr lang="en-US" sz="1100" dirty="0"/>
          </a:p>
        </p:txBody>
      </p:sp>
      <p:sp>
        <p:nvSpPr>
          <p:cNvPr id="8"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자료: route_optimization/docs/전략비교(니하우), incheon/비교표, mungap_opendrift · 업체 라벨 42개 분석 · 처리 단가 한국일보(전남). 금액은 단가 × 오차의 산술 환산이며 계약 조건에 따라 달라집니다.</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포인트 기술의 의의: 정합이 '위치 엔진'이 되고, 3D가 '무게'를 만든다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처음 과제였던 정합 기술을 버리지 않고 두 곳에 꽂았습니다. 그리고 업체 데이터에서 가장 큰 구멍이었던 '높이'를 영상 하나로 채웠습니다.</a:t>
            </a:r>
            <a:endParaRPr lang="en-US" sz="1400" dirty="0"/>
          </a:p>
        </p:txBody>
      </p:sp>
      <p:sp>
        <p:nvSpPr>
          <p:cNvPr id="4" name="card 정합 → 위치 엔진: 50 m가 1 m대로"/>
          <p:cNvSpPr/>
          <p:nvPr/>
        </p:nvSpPr>
        <p:spPr>
          <a:xfrm>
            <a:off x="548640" y="1783080"/>
            <a:ext cx="3566160" cy="416052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icon circle"/>
          <p:cNvSpPr/>
          <p:nvPr/>
        </p:nvSpPr>
        <p:spPr>
          <a:xfrm>
            <a:off x="822960" y="2039112"/>
            <a:ext cx="566928" cy="566928"/>
          </a:xfrm>
          <a:prstGeom prst="ellipse">
            <a:avLst/>
          </a:prstGeom>
          <a:solidFill>
            <a:srgbClr val="0B3C5D"/>
          </a:solidFill>
          <a:ln w="12700">
            <a:solidFill>
              <a:srgbClr val="0B3C5D"/>
            </a:solidFill>
            <a:prstDash val="solid"/>
          </a:ln>
        </p:spPr>
      </p:sp>
      <p:pic>
        <p:nvPicPr>
          <p:cNvPr id="6" name="icon FaCrosshairs" descr="preencoded.png">    </p:cNvPr>
          <p:cNvPicPr>
            <a:picLocks noChangeAspect="1"/>
          </p:cNvPicPr>
          <p:nvPr/>
        </p:nvPicPr>
        <p:blipFill>
          <a:blip r:embed="rId1"/>
          <a:stretch>
            <a:fillRect/>
          </a:stretch>
        </p:blipFill>
        <p:spPr>
          <a:xfrm>
            <a:off x="960120" y="2176272"/>
            <a:ext cx="292608" cy="292608"/>
          </a:xfrm>
          <a:prstGeom prst="rect">
            <a:avLst/>
          </a:prstGeom>
        </p:spPr>
      </p:pic>
      <p:sp>
        <p:nvSpPr>
          <p:cNvPr id="7" name="Text 4"/>
          <p:cNvSpPr txBox="1"/>
          <p:nvPr/>
        </p:nvSpPr>
        <p:spPr>
          <a:xfrm>
            <a:off x="822960" y="2770632"/>
            <a:ext cx="3017520" cy="384048"/>
          </a:xfrm>
          <a:prstGeom prst="rect">
            <a:avLst/>
          </a:prstGeom>
          <a:noFill/>
          <a:ln/>
        </p:spPr>
        <p:txBody>
          <a:bodyPr wrap="square" lIns="0" tIns="0" rIns="0" bIns="0" rtlCol="0" anchor="t"/>
          <a:lstStyle/>
          <a:p>
            <a:pPr indent="0" marL="0">
              <a:buNone/>
            </a:pPr>
            <a:r>
              <a:rPr lang="en-US" sz="1350" b="1" dirty="0">
                <a:solidFill>
                  <a:schemeClr val="tx1"/>
                </a:solidFill>
              </a:rPr>
              <a:t>정합 → 위치 엔진: 50 m가 1 m대로</a:t>
            </a:r>
            <a:endParaRPr lang="en-US" sz="1350" dirty="0"/>
          </a:p>
        </p:txBody>
      </p:sp>
      <p:sp>
        <p:nvSpPr>
          <p:cNvPr id="8" name="Text 5"/>
          <p:cNvSpPr txBox="1"/>
          <p:nvPr/>
        </p:nvSpPr>
        <p:spPr>
          <a:xfrm>
            <a:off x="822960" y="3209544"/>
            <a:ext cx="3017520" cy="2606040"/>
          </a:xfrm>
          <a:prstGeom prst="rect">
            <a:avLst/>
          </a:prstGeom>
          <a:noFill/>
          <a:ln/>
        </p:spPr>
        <p:txBody>
          <a:bodyPr wrap="square" lIns="0" tIns="0" rIns="0" bIns="0" rtlCol="0" anchor="t"/>
          <a:lstStyle/>
          <a:p>
            <a:pPr indent="0" marL="0">
              <a:spcAft>
                <a:spcPts val="400"/>
              </a:spcAft>
              <a:buNone/>
            </a:pPr>
            <a:r>
              <a:rPr lang="en-US" sz="1100" dirty="0">
                <a:solidFill>
                  <a:schemeClr val="accent4"/>
                </a:solidFill>
              </a:rPr>
              <a:t>SfM 카메라 자세를 GPS 경로에 정렬하고(잔차 1.16 m), 정사영상은 위성(SkySat↔Sentinel-2 인라이어 85%, 5~8 m)에 정합합니다. 수거자가 핀을 보고 바로 찾습니다.</a:t>
            </a:r>
            <a:endParaRPr lang="en-US" sz="1100" dirty="0"/>
          </a:p>
          <a:p>
            <a:pPr indent="0" marL="0">
              <a:spcAft>
                <a:spcPts val="400"/>
              </a:spcAft>
              <a:buNone/>
            </a:pPr>
            <a:endParaRPr lang="en-US" sz="1100" dirty="0"/>
          </a:p>
          <a:p>
            <a:pPr indent="0" marL="0">
              <a:spcAft>
                <a:spcPts val="400"/>
              </a:spcAft>
              <a:buNone/>
            </a:pPr>
            <a:r>
              <a:rPr lang="en-US" sz="1100" dirty="0">
                <a:solidFill>
                  <a:schemeClr val="accent4"/>
                </a:solidFill>
              </a:rPr>
              <a:t>사람이 아끼는 것: 헤매는 시간, 못 찾고 돌아오는 날.</a:t>
            </a:r>
            <a:endParaRPr lang="en-US" sz="1100" dirty="0"/>
          </a:p>
        </p:txBody>
      </p:sp>
      <p:sp>
        <p:nvSpPr>
          <p:cNvPr id="9" name="card 3D 부피 → 무게: 1.3 kg이 101 kg으로"/>
          <p:cNvSpPr/>
          <p:nvPr/>
        </p:nvSpPr>
        <p:spPr>
          <a:xfrm>
            <a:off x="4315968" y="1783080"/>
            <a:ext cx="3566160" cy="416052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0" name="icon circle"/>
          <p:cNvSpPr/>
          <p:nvPr/>
        </p:nvSpPr>
        <p:spPr>
          <a:xfrm>
            <a:off x="4590288" y="2039112"/>
            <a:ext cx="566928" cy="566928"/>
          </a:xfrm>
          <a:prstGeom prst="ellipse">
            <a:avLst/>
          </a:prstGeom>
          <a:solidFill>
            <a:srgbClr val="0B3C5D"/>
          </a:solidFill>
          <a:ln w="12700">
            <a:solidFill>
              <a:srgbClr val="0B3C5D"/>
            </a:solidFill>
            <a:prstDash val="solid"/>
          </a:ln>
        </p:spPr>
      </p:sp>
      <p:pic>
        <p:nvPicPr>
          <p:cNvPr id="11" name="icon FaCubes" descr="preencoded.png">    </p:cNvPr>
          <p:cNvPicPr>
            <a:picLocks noChangeAspect="1"/>
          </p:cNvPicPr>
          <p:nvPr/>
        </p:nvPicPr>
        <p:blipFill>
          <a:blip r:embed="rId2"/>
          <a:stretch>
            <a:fillRect/>
          </a:stretch>
        </p:blipFill>
        <p:spPr>
          <a:xfrm>
            <a:off x="4727448" y="2176272"/>
            <a:ext cx="292608" cy="292608"/>
          </a:xfrm>
          <a:prstGeom prst="rect">
            <a:avLst/>
          </a:prstGeom>
        </p:spPr>
      </p:pic>
      <p:sp>
        <p:nvSpPr>
          <p:cNvPr id="12" name="Text 8"/>
          <p:cNvSpPr txBox="1"/>
          <p:nvPr/>
        </p:nvSpPr>
        <p:spPr>
          <a:xfrm>
            <a:off x="4590288" y="2770632"/>
            <a:ext cx="3017520" cy="384048"/>
          </a:xfrm>
          <a:prstGeom prst="rect">
            <a:avLst/>
          </a:prstGeom>
          <a:noFill/>
          <a:ln/>
        </p:spPr>
        <p:txBody>
          <a:bodyPr wrap="square" lIns="0" tIns="0" rIns="0" bIns="0" rtlCol="0" anchor="t"/>
          <a:lstStyle/>
          <a:p>
            <a:pPr indent="0" marL="0">
              <a:buNone/>
            </a:pPr>
            <a:r>
              <a:rPr lang="en-US" sz="1350" b="1" dirty="0">
                <a:solidFill>
                  <a:schemeClr val="tx1"/>
                </a:solidFill>
              </a:rPr>
              <a:t>3D 부피 → 무게: 1.3 kg이 101 kg으로</a:t>
            </a:r>
            <a:endParaRPr lang="en-US" sz="1350" dirty="0"/>
          </a:p>
        </p:txBody>
      </p:sp>
      <p:sp>
        <p:nvSpPr>
          <p:cNvPr id="13" name="Text 9"/>
          <p:cNvSpPr txBox="1"/>
          <p:nvPr/>
        </p:nvSpPr>
        <p:spPr>
          <a:xfrm>
            <a:off x="4590288" y="3209544"/>
            <a:ext cx="3017520" cy="2606040"/>
          </a:xfrm>
          <a:prstGeom prst="rect">
            <a:avLst/>
          </a:prstGeom>
          <a:noFill/>
          <a:ln/>
        </p:spPr>
        <p:txBody>
          <a:bodyPr wrap="square" lIns="0" tIns="0" rIns="0" bIns="0" rtlCol="0" anchor="t"/>
          <a:lstStyle/>
          <a:p>
            <a:pPr indent="0" marL="0">
              <a:spcAft>
                <a:spcPts val="400"/>
              </a:spcAft>
              <a:buNone/>
            </a:pPr>
            <a:r>
              <a:rPr lang="en-US" sz="1100" dirty="0">
                <a:solidFill>
                  <a:schemeClr val="accent4"/>
                </a:solidFill>
              </a:rPr>
              <a:t>업체 기록은 면적 × 계수라 높이가 없습니다. 영상 하나로 점구름을 만들고 SAM 2 투표로 물체 점만 남겨 높이를 잽니다. 상자 3개에서 ±20% 안.</a:t>
            </a:r>
            <a:endParaRPr lang="en-US" sz="1100" dirty="0"/>
          </a:p>
          <a:p>
            <a:pPr indent="0" marL="0">
              <a:spcAft>
                <a:spcPts val="400"/>
              </a:spcAft>
              <a:buNone/>
            </a:pPr>
            <a:endParaRPr lang="en-US" sz="1100" dirty="0"/>
          </a:p>
          <a:p>
            <a:pPr indent="0" marL="0">
              <a:spcAft>
                <a:spcPts val="400"/>
              </a:spcAft>
              <a:buNone/>
            </a:pPr>
            <a:r>
              <a:rPr lang="en-US" sz="1100" dirty="0">
                <a:solidFill>
                  <a:schemeClr val="accent4"/>
                </a:solidFill>
              </a:rPr>
              <a:t>기업이 아끼는 것: 마대·트럭·인원을 한 번에 맞게, 재배차 없이.</a:t>
            </a:r>
            <a:endParaRPr lang="en-US" sz="1100" dirty="0"/>
          </a:p>
        </p:txBody>
      </p:sp>
      <p:sp>
        <p:nvSpPr>
          <p:cNvPr id="14" name="card 위성 → 선별: 해안의 30%만 날아 67%"/>
          <p:cNvSpPr/>
          <p:nvPr/>
        </p:nvSpPr>
        <p:spPr>
          <a:xfrm>
            <a:off x="8074152" y="1783080"/>
            <a:ext cx="3566160" cy="416052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5" name="icon circle"/>
          <p:cNvSpPr/>
          <p:nvPr/>
        </p:nvSpPr>
        <p:spPr>
          <a:xfrm>
            <a:off x="8348472" y="2039112"/>
            <a:ext cx="566928" cy="566928"/>
          </a:xfrm>
          <a:prstGeom prst="ellipse">
            <a:avLst/>
          </a:prstGeom>
          <a:solidFill>
            <a:srgbClr val="0B3C5D"/>
          </a:solidFill>
          <a:ln w="12700">
            <a:solidFill>
              <a:srgbClr val="0B3C5D"/>
            </a:solidFill>
            <a:prstDash val="solid"/>
          </a:ln>
        </p:spPr>
      </p:sp>
      <p:pic>
        <p:nvPicPr>
          <p:cNvPr id="16" name="icon FaSatellite" descr="preencoded.png">    </p:cNvPr>
          <p:cNvPicPr>
            <a:picLocks noChangeAspect="1"/>
          </p:cNvPicPr>
          <p:nvPr/>
        </p:nvPicPr>
        <p:blipFill>
          <a:blip r:embed="rId3"/>
          <a:stretch>
            <a:fillRect/>
          </a:stretch>
        </p:blipFill>
        <p:spPr>
          <a:xfrm>
            <a:off x="8485632" y="2176272"/>
            <a:ext cx="292608" cy="292608"/>
          </a:xfrm>
          <a:prstGeom prst="rect">
            <a:avLst/>
          </a:prstGeom>
        </p:spPr>
      </p:pic>
      <p:sp>
        <p:nvSpPr>
          <p:cNvPr id="17" name="Text 12"/>
          <p:cNvSpPr txBox="1"/>
          <p:nvPr/>
        </p:nvSpPr>
        <p:spPr>
          <a:xfrm>
            <a:off x="8348472" y="2770632"/>
            <a:ext cx="3017520" cy="384048"/>
          </a:xfrm>
          <a:prstGeom prst="rect">
            <a:avLst/>
          </a:prstGeom>
          <a:noFill/>
          <a:ln/>
        </p:spPr>
        <p:txBody>
          <a:bodyPr wrap="square" lIns="0" tIns="0" rIns="0" bIns="0" rtlCol="0" anchor="t"/>
          <a:lstStyle/>
          <a:p>
            <a:pPr indent="0" marL="0">
              <a:buNone/>
            </a:pPr>
            <a:r>
              <a:rPr lang="en-US" sz="1350" b="1" dirty="0">
                <a:solidFill>
                  <a:schemeClr val="tx1"/>
                </a:solidFill>
              </a:rPr>
              <a:t>위성 → 선별: 해안의 30%만 날아 67%</a:t>
            </a:r>
            <a:endParaRPr lang="en-US" sz="1350" dirty="0"/>
          </a:p>
        </p:txBody>
      </p:sp>
      <p:sp>
        <p:nvSpPr>
          <p:cNvPr id="18" name="Text 13"/>
          <p:cNvSpPr txBox="1"/>
          <p:nvPr/>
        </p:nvSpPr>
        <p:spPr>
          <a:xfrm>
            <a:off x="8348472" y="3209544"/>
            <a:ext cx="3017520" cy="2606040"/>
          </a:xfrm>
          <a:prstGeom prst="rect">
            <a:avLst/>
          </a:prstGeom>
          <a:noFill/>
          <a:ln/>
        </p:spPr>
        <p:txBody>
          <a:bodyPr wrap="square" lIns="0" tIns="0" rIns="0" bIns="0" rtlCol="0" anchor="t"/>
          <a:lstStyle/>
          <a:p>
            <a:pPr indent="0" marL="0">
              <a:spcAft>
                <a:spcPts val="400"/>
              </a:spcAft>
              <a:buNone/>
            </a:pPr>
            <a:r>
              <a:rPr lang="en-US" sz="1100" dirty="0">
                <a:solidFill>
                  <a:schemeClr val="accent4"/>
                </a:solidFill>
              </a:rPr>
              <a:t>위성이 쓰레기를 보는 게 아니라 해안의 모양을 봅니다. 만입도·풍향 노출·띠 폭으로 쌓이는 자리를 고르고, 하구는 조석 모델이 맡습니다.</a:t>
            </a:r>
            <a:endParaRPr lang="en-US" sz="1100" dirty="0"/>
          </a:p>
          <a:p>
            <a:pPr indent="0" marL="0">
              <a:spcAft>
                <a:spcPts val="400"/>
              </a:spcAft>
              <a:buNone/>
            </a:pPr>
            <a:endParaRPr lang="en-US" sz="1100" dirty="0"/>
          </a:p>
          <a:p>
            <a:pPr indent="0" marL="0">
              <a:spcAft>
                <a:spcPts val="400"/>
              </a:spcAft>
              <a:buNone/>
            </a:pPr>
            <a:r>
              <a:rPr lang="en-US" sz="1100" dirty="0">
                <a:solidFill>
                  <a:schemeClr val="accent4"/>
                </a:solidFill>
              </a:rPr>
              <a:t>아끼는 것: 비행시간 63%, 배터리와 하루.</a:t>
            </a:r>
            <a:endParaRPr lang="en-US" sz="11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위성이 넓게 보고, 드론이 자세히 재고, 지자체가 배차한다</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3DLabs의 위성 지상국·ARD 플랫폼 위에 드론 측정 계층을 얹어, 활용 분야(도시·산림·항만·수체변화)에 '해안쓰레기 수거계획'을 추가합니다.</a:t>
            </a:r>
            <a:endParaRPr lang="en-US" sz="1400" dirty="0"/>
          </a:p>
        </p:txBody>
      </p:sp>
      <p:sp>
        <p:nvSpPr>
          <p:cNvPr id="4" name="role 3DLabs · 위성 계층"/>
          <p:cNvSpPr/>
          <p:nvPr/>
        </p:nvSpPr>
        <p:spPr>
          <a:xfrm>
            <a:off x="548640" y="1783080"/>
            <a:ext cx="3566160" cy="3063240"/>
          </a:xfrm>
          <a:prstGeom prst="roundRect">
            <a:avLst>
              <a:gd name="adj" fmla="val 3582"/>
            </a:avLst>
          </a:prstGeom>
          <a:solidFill>
            <a:srgbClr val="0B3C5D"/>
          </a:solidFill>
          <a:ln w="12700">
            <a:solidFill>
              <a:srgbClr val="0B3C5D"/>
            </a:solidFill>
            <a:prstDash val="solid"/>
          </a:ln>
        </p:spPr>
      </p:sp>
      <p:sp>
        <p:nvSpPr>
          <p:cNvPr id="5" name="icon circle"/>
          <p:cNvSpPr/>
          <p:nvPr/>
        </p:nvSpPr>
        <p:spPr>
          <a:xfrm>
            <a:off x="822960" y="2057400"/>
            <a:ext cx="566928" cy="566928"/>
          </a:xfrm>
          <a:prstGeom prst="ellipse">
            <a:avLst/>
          </a:prstGeom>
          <a:solidFill>
            <a:srgbClr val="F26B21"/>
          </a:solidFill>
          <a:ln w="12700">
            <a:solidFill>
              <a:srgbClr val="F26B21"/>
            </a:solidFill>
            <a:prstDash val="solid"/>
          </a:ln>
        </p:spPr>
      </p:sp>
      <p:pic>
        <p:nvPicPr>
          <p:cNvPr id="6" name="icon FaSatellite" descr="preencoded.png">    </p:cNvPr>
          <p:cNvPicPr>
            <a:picLocks noChangeAspect="1"/>
          </p:cNvPicPr>
          <p:nvPr/>
        </p:nvPicPr>
        <p:blipFill>
          <a:blip r:embed="rId1"/>
          <a:stretch>
            <a:fillRect/>
          </a:stretch>
        </p:blipFill>
        <p:spPr>
          <a:xfrm>
            <a:off x="960120" y="2194560"/>
            <a:ext cx="292608" cy="292608"/>
          </a:xfrm>
          <a:prstGeom prst="rect">
            <a:avLst/>
          </a:prstGeom>
        </p:spPr>
      </p:pic>
      <p:sp>
        <p:nvSpPr>
          <p:cNvPr id="7" name="Text 4"/>
          <p:cNvSpPr txBox="1"/>
          <p:nvPr/>
        </p:nvSpPr>
        <p:spPr>
          <a:xfrm>
            <a:off x="822960" y="2788920"/>
            <a:ext cx="3017520" cy="365760"/>
          </a:xfrm>
          <a:prstGeom prst="rect">
            <a:avLst/>
          </a:prstGeom>
          <a:noFill/>
          <a:ln/>
        </p:spPr>
        <p:txBody>
          <a:bodyPr wrap="square" lIns="0" tIns="0" rIns="0" bIns="0" rtlCol="0" anchor="ctr"/>
          <a:lstStyle/>
          <a:p>
            <a:pPr indent="0" marL="0">
              <a:buNone/>
            </a:pPr>
            <a:r>
              <a:rPr lang="en-US" sz="1450" b="1" dirty="0">
                <a:solidFill>
                  <a:schemeClr val="bg1"/>
                </a:solidFill>
              </a:rPr>
              <a:t>3DLabs · 위성 계층</a:t>
            </a:r>
            <a:endParaRPr lang="en-US" sz="1450" dirty="0"/>
          </a:p>
        </p:txBody>
      </p:sp>
      <p:sp>
        <p:nvSpPr>
          <p:cNvPr id="8" name="Text 5"/>
          <p:cNvSpPr txBox="1"/>
          <p:nvPr/>
        </p:nvSpPr>
        <p:spPr>
          <a:xfrm>
            <a:off x="822960" y="3200400"/>
            <a:ext cx="3017520"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accent5"/>
                </a:solidFill>
              </a:rPr>
              <a:t>위성의 역할은 탐지가 아니라 해안선 갱신(송도·소래 매립)·형상 점수·선별</a:t>
            </a:r>
            <a:endParaRPr lang="en-US" sz="1100" dirty="0"/>
          </a:p>
          <a:p>
            <a:pPr marL="177800" indent="-177800">
              <a:spcAft>
                <a:spcPts val="600"/>
              </a:spcAft>
              <a:buSzPct val="100000"/>
              <a:buChar char="•"/>
            </a:pPr>
            <a:r>
              <a:rPr lang="en-US" sz="1100" dirty="0">
                <a:solidFill>
                  <a:schemeClr val="accent5"/>
                </a:solidFill>
              </a:rPr>
              <a:t>Sentinel-2 공개자료로 시작, 상용 고해상 위성은 띠 폭·해안선 정확도를 올리는 상위 상품</a:t>
            </a:r>
            <a:endParaRPr lang="en-US" sz="1100" dirty="0"/>
          </a:p>
          <a:p>
            <a:pPr marL="177800" indent="-177800">
              <a:spcAft>
                <a:spcPts val="600"/>
              </a:spcAft>
              <a:buSzPct val="100000"/>
              <a:buChar char="•"/>
            </a:pPr>
            <a:r>
              <a:rPr lang="en-US" sz="1100" dirty="0">
                <a:solidFill>
                  <a:schemeClr val="accent5"/>
                </a:solidFill>
              </a:rPr>
              <a:t>하구에서는 조석·수리 모델 결합이 필요 → 제휴 포인트</a:t>
            </a:r>
            <a:endParaRPr lang="en-US" sz="1100" dirty="0"/>
          </a:p>
        </p:txBody>
      </p:sp>
      <p:sp>
        <p:nvSpPr>
          <p:cNvPr id="9" name="arrow"/>
          <p:cNvSpPr/>
          <p:nvPr/>
        </p:nvSpPr>
        <p:spPr>
          <a:xfrm>
            <a:off x="4133088" y="3063240"/>
            <a:ext cx="155448" cy="365760"/>
          </a:xfrm>
          <a:prstGeom prst="rightArrow">
            <a:avLst/>
          </a:prstGeom>
          <a:solidFill>
            <a:srgbClr val="F26B21"/>
          </a:solidFill>
          <a:ln w="12700">
            <a:solidFill>
              <a:srgbClr val="F26B21"/>
            </a:solidFill>
            <a:prstDash val="solid"/>
          </a:ln>
        </p:spPr>
      </p:sp>
      <p:sp>
        <p:nvSpPr>
          <p:cNvPr id="10" name="role DroneSweep · 드론 계층"/>
          <p:cNvSpPr/>
          <p:nvPr/>
        </p:nvSpPr>
        <p:spPr>
          <a:xfrm>
            <a:off x="4297680" y="1783080"/>
            <a:ext cx="3566160" cy="3063240"/>
          </a:xfrm>
          <a:prstGeom prst="roundRect">
            <a:avLst>
              <a:gd name="adj" fmla="val 3582"/>
            </a:avLst>
          </a:prstGeom>
          <a:solidFill>
            <a:srgbClr val="124A6E"/>
          </a:solidFill>
          <a:ln w="12700">
            <a:solidFill>
              <a:srgbClr val="124A6E"/>
            </a:solidFill>
            <a:prstDash val="solid"/>
          </a:ln>
        </p:spPr>
      </p:sp>
      <p:sp>
        <p:nvSpPr>
          <p:cNvPr id="11" name="icon circle"/>
          <p:cNvSpPr/>
          <p:nvPr/>
        </p:nvSpPr>
        <p:spPr>
          <a:xfrm>
            <a:off x="4572000" y="2057400"/>
            <a:ext cx="566928" cy="566928"/>
          </a:xfrm>
          <a:prstGeom prst="ellipse">
            <a:avLst/>
          </a:prstGeom>
          <a:solidFill>
            <a:srgbClr val="F26B21"/>
          </a:solidFill>
          <a:ln w="12700">
            <a:solidFill>
              <a:srgbClr val="F26B21"/>
            </a:solidFill>
            <a:prstDash val="solid"/>
          </a:ln>
        </p:spPr>
      </p:sp>
      <p:pic>
        <p:nvPicPr>
          <p:cNvPr id="12" name="icon FaPlane" descr="preencoded.png">    </p:cNvPr>
          <p:cNvPicPr>
            <a:picLocks noChangeAspect="1"/>
          </p:cNvPicPr>
          <p:nvPr/>
        </p:nvPicPr>
        <p:blipFill>
          <a:blip r:embed="rId2"/>
          <a:stretch>
            <a:fillRect/>
          </a:stretch>
        </p:blipFill>
        <p:spPr>
          <a:xfrm>
            <a:off x="4709160" y="2194560"/>
            <a:ext cx="292608" cy="292608"/>
          </a:xfrm>
          <a:prstGeom prst="rect">
            <a:avLst/>
          </a:prstGeom>
        </p:spPr>
      </p:pic>
      <p:sp>
        <p:nvSpPr>
          <p:cNvPr id="13" name="Text 9"/>
          <p:cNvSpPr txBox="1"/>
          <p:nvPr/>
        </p:nvSpPr>
        <p:spPr>
          <a:xfrm>
            <a:off x="4572000" y="2788920"/>
            <a:ext cx="3017520" cy="365760"/>
          </a:xfrm>
          <a:prstGeom prst="rect">
            <a:avLst/>
          </a:prstGeom>
          <a:noFill/>
          <a:ln/>
        </p:spPr>
        <p:txBody>
          <a:bodyPr wrap="square" lIns="0" tIns="0" rIns="0" bIns="0" rtlCol="0" anchor="ctr"/>
          <a:lstStyle/>
          <a:p>
            <a:pPr indent="0" marL="0">
              <a:buNone/>
            </a:pPr>
            <a:r>
              <a:rPr lang="en-US" sz="1450" b="1" dirty="0">
                <a:solidFill>
                  <a:schemeClr val="bg1"/>
                </a:solidFill>
              </a:rPr>
              <a:t>DroneSweep · 드론 계층</a:t>
            </a:r>
            <a:endParaRPr lang="en-US" sz="1450" dirty="0"/>
          </a:p>
        </p:txBody>
      </p:sp>
      <p:sp>
        <p:nvSpPr>
          <p:cNvPr id="14" name="Text 10"/>
          <p:cNvSpPr txBox="1"/>
          <p:nvPr/>
        </p:nvSpPr>
        <p:spPr>
          <a:xfrm>
            <a:off x="4572000" y="3200400"/>
            <a:ext cx="3017520"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accent5"/>
                </a:solidFill>
              </a:rPr>
              <a:t>핫스팟 경로 KML, 조종자 비행, 탐지·3D 위치·SfM 부피</a:t>
            </a:r>
            <a:endParaRPr lang="en-US" sz="1100" dirty="0"/>
          </a:p>
          <a:p>
            <a:pPr marL="177800" indent="-177800">
              <a:spcAft>
                <a:spcPts val="600"/>
              </a:spcAft>
              <a:buSzPct val="100000"/>
              <a:buChar char="•"/>
            </a:pPr>
            <a:r>
              <a:rPr lang="en-US" sz="1100" dirty="0">
                <a:solidFill>
                  <a:schemeClr val="accent5"/>
                </a:solidFill>
              </a:rPr>
              <a:t>무게 구간과 23 kg·마대·트럭 경계 2차 선회</a:t>
            </a:r>
            <a:endParaRPr lang="en-US" sz="1100" dirty="0"/>
          </a:p>
          <a:p>
            <a:pPr marL="177800" indent="-177800">
              <a:spcAft>
                <a:spcPts val="600"/>
              </a:spcAft>
              <a:buSzPct val="100000"/>
              <a:buChar char="•"/>
            </a:pPr>
            <a:r>
              <a:rPr lang="en-US" sz="1100" dirty="0">
                <a:solidFill>
                  <a:schemeClr val="accent5"/>
                </a:solidFill>
              </a:rPr>
              <a:t>정거장별 작업카드(인력·마대·트럭·경로), 대시보드</a:t>
            </a:r>
            <a:endParaRPr lang="en-US" sz="1100" dirty="0"/>
          </a:p>
        </p:txBody>
      </p:sp>
      <p:sp>
        <p:nvSpPr>
          <p:cNvPr id="15" name="arrow"/>
          <p:cNvSpPr/>
          <p:nvPr/>
        </p:nvSpPr>
        <p:spPr>
          <a:xfrm>
            <a:off x="7882128" y="3063240"/>
            <a:ext cx="155448" cy="365760"/>
          </a:xfrm>
          <a:prstGeom prst="rightArrow">
            <a:avLst/>
          </a:prstGeom>
          <a:solidFill>
            <a:srgbClr val="F26B21"/>
          </a:solidFill>
          <a:ln w="12700">
            <a:solidFill>
              <a:srgbClr val="F26B21"/>
            </a:solidFill>
            <a:prstDash val="solid"/>
          </a:ln>
        </p:spPr>
      </p:sp>
      <p:sp>
        <p:nvSpPr>
          <p:cNvPr id="16" name="role 고객 · 지자체 계층"/>
          <p:cNvSpPr/>
          <p:nvPr/>
        </p:nvSpPr>
        <p:spPr>
          <a:xfrm>
            <a:off x="8046720" y="1783080"/>
            <a:ext cx="3566160" cy="3063240"/>
          </a:xfrm>
          <a:prstGeom prst="roundRect">
            <a:avLst>
              <a:gd name="adj" fmla="val 3582"/>
            </a:avLst>
          </a:prstGeom>
          <a:solidFill>
            <a:srgbClr val="EEF3F6"/>
          </a:solidFill>
          <a:ln w="12700">
            <a:solidFill>
              <a:srgbClr val="EEF3F6"/>
            </a:solidFill>
            <a:prstDash val="solid"/>
          </a:ln>
          <a:effectLst>
            <a:outerShdw sx="100000" sy="100000" kx="0" ky="0" algn="bl" rotWithShape="0" blurRad="101600" dist="25400" dir="5400000">
              <a:srgbClr val="0B3C5D">
                <a:alpha val="10000"/>
              </a:srgbClr>
            </a:outerShdw>
          </a:effectLst>
        </p:spPr>
      </p:sp>
      <p:sp>
        <p:nvSpPr>
          <p:cNvPr id="17" name="icon circle"/>
          <p:cNvSpPr/>
          <p:nvPr/>
        </p:nvSpPr>
        <p:spPr>
          <a:xfrm>
            <a:off x="8321040" y="2057400"/>
            <a:ext cx="566928" cy="566928"/>
          </a:xfrm>
          <a:prstGeom prst="ellipse">
            <a:avLst/>
          </a:prstGeom>
          <a:solidFill>
            <a:srgbClr val="0B3C5D"/>
          </a:solidFill>
          <a:ln w="12700">
            <a:solidFill>
              <a:srgbClr val="0B3C5D"/>
            </a:solidFill>
            <a:prstDash val="solid"/>
          </a:ln>
        </p:spPr>
      </p:sp>
      <p:pic>
        <p:nvPicPr>
          <p:cNvPr id="18" name="icon FaUsers" descr="preencoded.png">    </p:cNvPr>
          <p:cNvPicPr>
            <a:picLocks noChangeAspect="1"/>
          </p:cNvPicPr>
          <p:nvPr/>
        </p:nvPicPr>
        <p:blipFill>
          <a:blip r:embed="rId3"/>
          <a:stretch>
            <a:fillRect/>
          </a:stretch>
        </p:blipFill>
        <p:spPr>
          <a:xfrm>
            <a:off x="8458200" y="2194560"/>
            <a:ext cx="292608" cy="292608"/>
          </a:xfrm>
          <a:prstGeom prst="rect">
            <a:avLst/>
          </a:prstGeom>
        </p:spPr>
      </p:pic>
      <p:sp>
        <p:nvSpPr>
          <p:cNvPr id="19" name="Text 14"/>
          <p:cNvSpPr txBox="1"/>
          <p:nvPr/>
        </p:nvSpPr>
        <p:spPr>
          <a:xfrm>
            <a:off x="8321040" y="2788920"/>
            <a:ext cx="3017520" cy="365760"/>
          </a:xfrm>
          <a:prstGeom prst="rect">
            <a:avLst/>
          </a:prstGeom>
          <a:noFill/>
          <a:ln/>
        </p:spPr>
        <p:txBody>
          <a:bodyPr wrap="square" lIns="0" tIns="0" rIns="0" bIns="0" rtlCol="0" anchor="ctr"/>
          <a:lstStyle/>
          <a:p>
            <a:pPr indent="0" marL="0">
              <a:buNone/>
            </a:pPr>
            <a:r>
              <a:rPr lang="en-US" sz="1450" b="1" dirty="0">
                <a:solidFill>
                  <a:schemeClr val="tx1"/>
                </a:solidFill>
              </a:rPr>
              <a:t>고객 · 지자체 계층</a:t>
            </a:r>
            <a:endParaRPr lang="en-US" sz="1450" dirty="0"/>
          </a:p>
        </p:txBody>
      </p:sp>
      <p:sp>
        <p:nvSpPr>
          <p:cNvPr id="20" name="Text 15"/>
          <p:cNvSpPr txBox="1"/>
          <p:nvPr/>
        </p:nvSpPr>
        <p:spPr>
          <a:xfrm>
            <a:off x="8321040" y="3200400"/>
            <a:ext cx="3017520" cy="15544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시군 해양수산 부서: 예산·배차</a:t>
            </a:r>
            <a:endParaRPr lang="en-US" sz="1100" dirty="0"/>
          </a:p>
          <a:p>
            <a:pPr marL="177800" indent="-177800">
              <a:spcAft>
                <a:spcPts val="600"/>
              </a:spcAft>
              <a:buSzPct val="100000"/>
              <a:buChar char="•"/>
            </a:pPr>
            <a:r>
              <a:rPr lang="en-US" sz="1100" dirty="0">
                <a:solidFill>
                  <a:schemeClr val="tx1"/>
                </a:solidFill>
              </a:rPr>
              <a:t>수거 용역업체: 동선·인원</a:t>
            </a:r>
            <a:endParaRPr lang="en-US" sz="1100" dirty="0"/>
          </a:p>
          <a:p>
            <a:pPr marL="177800" indent="-177800">
              <a:spcAft>
                <a:spcPts val="600"/>
              </a:spcAft>
              <a:buSzPct val="100000"/>
              <a:buChar char="•"/>
            </a:pPr>
            <a:r>
              <a:rPr lang="en-US" sz="1100" dirty="0">
                <a:solidFill>
                  <a:schemeClr val="tx1"/>
                </a:solidFill>
              </a:rPr>
              <a:t>해양환경공단: 반복 모니터링 데이터(핫스팟 이력)</a:t>
            </a:r>
            <a:endParaRPr lang="en-US" sz="1100" dirty="0"/>
          </a:p>
        </p:txBody>
      </p:sp>
      <p:sp>
        <p:nvSpPr>
          <p:cNvPr id="21" name="Text 16"/>
          <p:cNvSpPr txBox="1"/>
          <p:nvPr/>
        </p:nvSpPr>
        <p:spPr>
          <a:xfrm>
            <a:off x="548640" y="5029200"/>
            <a:ext cx="2743200" cy="274320"/>
          </a:xfrm>
          <a:prstGeom prst="rect">
            <a:avLst/>
          </a:prstGeom>
          <a:noFill/>
          <a:ln/>
        </p:spPr>
        <p:txBody>
          <a:bodyPr wrap="square" lIns="0" tIns="0" rIns="0" bIns="0" rtlCol="0" anchor="ctr"/>
          <a:lstStyle/>
          <a:p>
            <a:pPr indent="0" marL="0">
              <a:buNone/>
            </a:pPr>
            <a:r>
              <a:rPr lang="en-US" sz="1150" b="1" dirty="0">
                <a:solidFill>
                  <a:schemeClr val="tx1"/>
                </a:solidFill>
              </a:rPr>
              <a:t>시장 신호</a:t>
            </a:r>
            <a:endParaRPr lang="en-US" sz="1150" dirty="0"/>
          </a:p>
        </p:txBody>
      </p:sp>
      <p:sp>
        <p:nvSpPr>
          <p:cNvPr id="22" name="signal 0"/>
          <p:cNvSpPr/>
          <p:nvPr/>
        </p:nvSpPr>
        <p:spPr>
          <a:xfrm>
            <a:off x="548640" y="5349240"/>
            <a:ext cx="3566160" cy="658368"/>
          </a:xfrm>
          <a:prstGeom prst="roundRect">
            <a:avLst>
              <a:gd name="adj" fmla="val 13889"/>
            </a:avLst>
          </a:prstGeom>
          <a:solidFill>
            <a:srgbClr val="FFD9C2"/>
          </a:solidFill>
          <a:ln w="12700">
            <a:solidFill>
              <a:srgbClr val="FFD9C2"/>
            </a:solidFill>
            <a:prstDash val="solid"/>
          </a:ln>
        </p:spPr>
      </p:sp>
      <p:sp>
        <p:nvSpPr>
          <p:cNvPr id="23" name="Text 18"/>
          <p:cNvSpPr txBox="1"/>
          <p:nvPr/>
        </p:nvSpPr>
        <p:spPr>
          <a:xfrm>
            <a:off x="713232" y="5394960"/>
            <a:ext cx="3246120" cy="411480"/>
          </a:xfrm>
          <a:prstGeom prst="rect">
            <a:avLst/>
          </a:prstGeom>
          <a:noFill/>
          <a:ln/>
        </p:spPr>
        <p:txBody>
          <a:bodyPr wrap="square" lIns="0" tIns="0" rIns="0" bIns="0" rtlCol="0" anchor="t"/>
          <a:lstStyle/>
          <a:p>
            <a:pPr indent="0" marL="0">
              <a:buNone/>
            </a:pPr>
            <a:r>
              <a:rPr lang="en-US" sz="950" b="1" dirty="0">
                <a:solidFill>
                  <a:schemeClr val="tx2"/>
                </a:solidFill>
              </a:rPr>
              <a:t>전남도 2026년 해양쓰레기 저감 441억 원, AI·드론 관리 강화</a:t>
            </a:r>
            <a:endParaRPr lang="en-US" sz="950" dirty="0"/>
          </a:p>
        </p:txBody>
      </p:sp>
      <p:sp>
        <p:nvSpPr>
          <p:cNvPr id="24" name="Text 19"/>
          <p:cNvSpPr txBox="1"/>
          <p:nvPr/>
        </p:nvSpPr>
        <p:spPr>
          <a:xfrm>
            <a:off x="713232" y="5788152"/>
            <a:ext cx="3246120" cy="182880"/>
          </a:xfrm>
          <a:prstGeom prst="rect">
            <a:avLst/>
          </a:prstGeom>
          <a:noFill/>
          <a:ln/>
        </p:spPr>
        <p:txBody>
          <a:bodyPr wrap="square" lIns="0" tIns="0" rIns="0" bIns="0" rtlCol="0" anchor="ctr"/>
          <a:lstStyle/>
          <a:p>
            <a:pPr indent="0" marL="0">
              <a:buNone/>
            </a:pPr>
            <a:r>
              <a:rPr lang="en-US" sz="800" dirty="0">
                <a:solidFill>
                  <a:schemeClr val="accent4"/>
                </a:solidFill>
              </a:rPr>
              <a:t>뉴스핌 2026.03</a:t>
            </a:r>
            <a:endParaRPr lang="en-US" sz="800" dirty="0"/>
          </a:p>
        </p:txBody>
      </p:sp>
      <p:sp>
        <p:nvSpPr>
          <p:cNvPr id="25" name="signal 1"/>
          <p:cNvSpPr/>
          <p:nvPr/>
        </p:nvSpPr>
        <p:spPr>
          <a:xfrm>
            <a:off x="4297680" y="5349240"/>
            <a:ext cx="3566160" cy="658368"/>
          </a:xfrm>
          <a:prstGeom prst="roundRect">
            <a:avLst>
              <a:gd name="adj" fmla="val 13889"/>
            </a:avLst>
          </a:prstGeom>
          <a:solidFill>
            <a:srgbClr val="FFD9C2"/>
          </a:solidFill>
          <a:ln w="12700">
            <a:solidFill>
              <a:srgbClr val="FFD9C2"/>
            </a:solidFill>
            <a:prstDash val="solid"/>
          </a:ln>
        </p:spPr>
      </p:sp>
      <p:sp>
        <p:nvSpPr>
          <p:cNvPr id="26" name="Text 21"/>
          <p:cNvSpPr txBox="1"/>
          <p:nvPr/>
        </p:nvSpPr>
        <p:spPr>
          <a:xfrm>
            <a:off x="4462272" y="5394960"/>
            <a:ext cx="3246120" cy="411480"/>
          </a:xfrm>
          <a:prstGeom prst="rect">
            <a:avLst/>
          </a:prstGeom>
          <a:noFill/>
          <a:ln/>
        </p:spPr>
        <p:txBody>
          <a:bodyPr wrap="square" lIns="0" tIns="0" rIns="0" bIns="0" rtlCol="0" anchor="t"/>
          <a:lstStyle/>
          <a:p>
            <a:pPr indent="0" marL="0">
              <a:buNone/>
            </a:pPr>
            <a:r>
              <a:rPr lang="en-US" sz="950" b="1" dirty="0">
                <a:solidFill>
                  <a:schemeClr val="tx2"/>
                </a:solidFill>
              </a:rPr>
              <a:t>해양환경공단 8개 무역항 드론 모니터링, 드론 탐지+AI 판독+수상로봇 'KOEM-ARK' 현장 운용</a:t>
            </a:r>
            <a:endParaRPr lang="en-US" sz="950" dirty="0"/>
          </a:p>
        </p:txBody>
      </p:sp>
      <p:sp>
        <p:nvSpPr>
          <p:cNvPr id="27" name="Text 22"/>
          <p:cNvSpPr txBox="1"/>
          <p:nvPr/>
        </p:nvSpPr>
        <p:spPr>
          <a:xfrm>
            <a:off x="4462272" y="5788152"/>
            <a:ext cx="3246120" cy="182880"/>
          </a:xfrm>
          <a:prstGeom prst="rect">
            <a:avLst/>
          </a:prstGeom>
          <a:noFill/>
          <a:ln/>
        </p:spPr>
        <p:txBody>
          <a:bodyPr wrap="square" lIns="0" tIns="0" rIns="0" bIns="0" rtlCol="0" anchor="ctr"/>
          <a:lstStyle/>
          <a:p>
            <a:pPr indent="0" marL="0">
              <a:buNone/>
            </a:pPr>
            <a:r>
              <a:rPr lang="en-US" sz="800" dirty="0">
                <a:solidFill>
                  <a:schemeClr val="accent4"/>
                </a:solidFill>
              </a:rPr>
              <a:t>이투데이 · 뉴스핌 2026.07</a:t>
            </a:r>
            <a:endParaRPr lang="en-US" sz="800" dirty="0"/>
          </a:p>
        </p:txBody>
      </p:sp>
      <p:sp>
        <p:nvSpPr>
          <p:cNvPr id="28" name="signal 2"/>
          <p:cNvSpPr/>
          <p:nvPr/>
        </p:nvSpPr>
        <p:spPr>
          <a:xfrm>
            <a:off x="8046720" y="5349240"/>
            <a:ext cx="3566160" cy="658368"/>
          </a:xfrm>
          <a:prstGeom prst="roundRect">
            <a:avLst>
              <a:gd name="adj" fmla="val 13889"/>
            </a:avLst>
          </a:prstGeom>
          <a:solidFill>
            <a:srgbClr val="FFD9C2"/>
          </a:solidFill>
          <a:ln w="12700">
            <a:solidFill>
              <a:srgbClr val="FFD9C2"/>
            </a:solidFill>
            <a:prstDash val="solid"/>
          </a:ln>
        </p:spPr>
      </p:sp>
      <p:sp>
        <p:nvSpPr>
          <p:cNvPr id="29" name="Text 24"/>
          <p:cNvSpPr txBox="1"/>
          <p:nvPr/>
        </p:nvSpPr>
        <p:spPr>
          <a:xfrm>
            <a:off x="8211312" y="5394960"/>
            <a:ext cx="3246120" cy="411480"/>
          </a:xfrm>
          <a:prstGeom prst="rect">
            <a:avLst/>
          </a:prstGeom>
          <a:noFill/>
          <a:ln/>
        </p:spPr>
        <p:txBody>
          <a:bodyPr wrap="square" lIns="0" tIns="0" rIns="0" bIns="0" rtlCol="0" anchor="t"/>
          <a:lstStyle/>
          <a:p>
            <a:pPr indent="0" marL="0">
              <a:buNone/>
            </a:pPr>
            <a:r>
              <a:rPr lang="en-US" sz="950" b="1" dirty="0">
                <a:solidFill>
                  <a:schemeClr val="tx2"/>
                </a:solidFill>
              </a:rPr>
              <a:t>전국 해양폐기물 처리 예산 1,114억 원(2026), 5년 수거량 65.6만 t</a:t>
            </a:r>
            <a:endParaRPr lang="en-US" sz="950" dirty="0"/>
          </a:p>
        </p:txBody>
      </p:sp>
      <p:sp>
        <p:nvSpPr>
          <p:cNvPr id="30" name="Text 25"/>
          <p:cNvSpPr txBox="1"/>
          <p:nvPr/>
        </p:nvSpPr>
        <p:spPr>
          <a:xfrm>
            <a:off x="8211312" y="5788152"/>
            <a:ext cx="3246120" cy="182880"/>
          </a:xfrm>
          <a:prstGeom prst="rect">
            <a:avLst/>
          </a:prstGeom>
          <a:noFill/>
          <a:ln/>
        </p:spPr>
        <p:txBody>
          <a:bodyPr wrap="square" lIns="0" tIns="0" rIns="0" bIns="0" rtlCol="0" anchor="ctr"/>
          <a:lstStyle/>
          <a:p>
            <a:pPr indent="0" marL="0">
              <a:buNone/>
            </a:pPr>
            <a:r>
              <a:rPr lang="en-US" sz="800" dirty="0">
                <a:solidFill>
                  <a:schemeClr val="accent4"/>
                </a:solidFill>
              </a:rPr>
              <a:t>해양수산부 2026.09</a:t>
            </a:r>
            <a:endParaRPr lang="en-US" sz="800" dirty="0"/>
          </a:p>
        </p:txBody>
      </p:sp>
      <p:sp>
        <p:nvSpPr>
          <p:cNvPr id="31" name="source"/>
          <p:cNvSpPr txBox="1"/>
          <p:nvPr/>
        </p:nvSpPr>
        <p:spPr>
          <a:xfrm>
            <a:off x="548640" y="6053328"/>
            <a:ext cx="11064240" cy="329184"/>
          </a:xfrm>
          <a:prstGeom prst="rect">
            <a:avLst/>
          </a:prstGeom>
          <a:noFill/>
          <a:ln/>
        </p:spPr>
        <p:txBody>
          <a:bodyPr wrap="square" lIns="0" tIns="0" rIns="0" bIns="0" rtlCol="0" anchor="b"/>
          <a:lstStyle/>
          <a:p>
            <a:pPr indent="0" marL="0">
              <a:buNone/>
            </a:pPr>
            <a:r>
              <a:rPr lang="en-US" sz="900" dirty="0">
                <a:solidFill>
                  <a:schemeClr val="accent4"/>
                </a:solidFill>
              </a:rPr>
              <a:t>3DLabs 소개: 인하대 공간정보공학 스핀오프(2011), 위성 지상국·전처리·ARD·드론 영상처리(회사 소개) · 전남도 441억(뉴스핌 2026.03.22) · KOEM 드론·KOEM-ARK(이투데이, 뉴스핌 2026.07.07)</a:t>
            </a:r>
            <a:endParaRPr lang="en-US" sz="9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공동 실증 로드맵 (제안)</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세 단계, 각 단계의 끝에 숫자로 확인할 수 있는 결과를 두었습니다.</a:t>
            </a:r>
            <a:endParaRPr lang="en-US" sz="1400" dirty="0"/>
          </a:p>
        </p:txBody>
      </p:sp>
      <p:sp>
        <p:nvSpPr>
          <p:cNvPr id="4" name="phase 1"/>
          <p:cNvSpPr/>
          <p:nvPr/>
        </p:nvSpPr>
        <p:spPr>
          <a:xfrm>
            <a:off x="548640" y="1783080"/>
            <a:ext cx="3566160" cy="406908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phase circle"/>
          <p:cNvSpPr/>
          <p:nvPr/>
        </p:nvSpPr>
        <p:spPr>
          <a:xfrm>
            <a:off x="822960" y="2057400"/>
            <a:ext cx="566928" cy="566928"/>
          </a:xfrm>
          <a:prstGeom prst="ellipse">
            <a:avLst/>
          </a:prstGeom>
          <a:solidFill>
            <a:srgbClr val="0B3C5D"/>
          </a:solidFill>
          <a:ln w="12700">
            <a:solidFill>
              <a:srgbClr val="0B3C5D"/>
            </a:solidFill>
            <a:prstDash val="solid"/>
          </a:ln>
        </p:spPr>
      </p:sp>
      <p:sp>
        <p:nvSpPr>
          <p:cNvPr id="6" name="Text 4"/>
          <p:cNvSpPr txBox="1"/>
          <p:nvPr/>
        </p:nvSpPr>
        <p:spPr>
          <a:xfrm>
            <a:off x="822960" y="20574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554480" y="2075688"/>
            <a:ext cx="2286000" cy="256032"/>
          </a:xfrm>
          <a:prstGeom prst="rect">
            <a:avLst/>
          </a:prstGeom>
          <a:noFill/>
          <a:ln/>
        </p:spPr>
        <p:txBody>
          <a:bodyPr wrap="square" lIns="0" tIns="0" rIns="0" bIns="0" rtlCol="0" anchor="ctr"/>
          <a:lstStyle/>
          <a:p>
            <a:pPr indent="0" marL="0">
              <a:buNone/>
            </a:pPr>
            <a:r>
              <a:rPr lang="en-US" sz="1000" dirty="0">
                <a:solidFill>
                  <a:schemeClr val="accent4"/>
                </a:solidFill>
              </a:rPr>
              <a:t>2026 4분기</a:t>
            </a:r>
            <a:endParaRPr lang="en-US" sz="1000" dirty="0"/>
          </a:p>
        </p:txBody>
      </p:sp>
      <p:sp>
        <p:nvSpPr>
          <p:cNvPr id="8" name="Text 6"/>
          <p:cNvSpPr txBox="1"/>
          <p:nvPr/>
        </p:nvSpPr>
        <p:spPr>
          <a:xfrm>
            <a:off x="1554480" y="2304288"/>
            <a:ext cx="2286000" cy="365760"/>
          </a:xfrm>
          <a:prstGeom prst="rect">
            <a:avLst/>
          </a:prstGeom>
          <a:noFill/>
          <a:ln/>
        </p:spPr>
        <p:txBody>
          <a:bodyPr wrap="square" lIns="0" tIns="0" rIns="0" bIns="0" rtlCol="0" anchor="ctr"/>
          <a:lstStyle/>
          <a:p>
            <a:pPr indent="0" marL="0">
              <a:buNone/>
            </a:pPr>
            <a:r>
              <a:rPr lang="en-US" sz="1500" b="1" dirty="0">
                <a:solidFill>
                  <a:schemeClr val="tx1"/>
                </a:solidFill>
              </a:rPr>
              <a:t>데이터 보정</a:t>
            </a:r>
            <a:endParaRPr lang="en-US" sz="1500" dirty="0"/>
          </a:p>
        </p:txBody>
      </p:sp>
      <p:sp>
        <p:nvSpPr>
          <p:cNvPr id="9" name="Text 7"/>
          <p:cNvSpPr txBox="1"/>
          <p:nvPr/>
        </p:nvSpPr>
        <p:spPr>
          <a:xfrm>
            <a:off x="822960" y="2880360"/>
            <a:ext cx="3017520" cy="2011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상자 3개 저울 실측 + 3·5·7 m 선회 통제 실험 → 밀도·편향 보정</a:t>
            </a:r>
            <a:endParaRPr lang="en-US" sz="1100" dirty="0"/>
          </a:p>
          <a:p>
            <a:pPr marL="177800" indent="-177800">
              <a:spcAft>
                <a:spcPts val="600"/>
              </a:spcAft>
              <a:buSzPct val="100000"/>
              <a:buChar char="•"/>
            </a:pPr>
            <a:r>
              <a:rPr lang="en-US" sz="1100" dirty="0">
                <a:solidFill>
                  <a:schemeClr val="tx1"/>
                </a:solidFill>
              </a:rPr>
              <a:t>문갑도 핫스팟 30% vs 전체를 같은 날 비행해 라벨로 비교, 국가 모니터링 정점 시계열로 반복성 검증</a:t>
            </a:r>
            <a:endParaRPr lang="en-US" sz="1100" dirty="0"/>
          </a:p>
          <a:p>
            <a:pPr marL="177800" indent="-177800">
              <a:spcAft>
                <a:spcPts val="600"/>
              </a:spcAft>
              <a:buSzPct val="100000"/>
              <a:buChar char="•"/>
            </a:pPr>
            <a:r>
              <a:rPr lang="en-US" sz="1100" dirty="0">
                <a:solidFill>
                  <a:schemeClr val="tx1"/>
                </a:solidFill>
              </a:rPr>
              <a:t>통합 모델 30 에폭 재비교, 위성 ARD 샘플 2~3개 해안으로 형상 점수 vs 실제 패치</a:t>
            </a:r>
            <a:endParaRPr lang="en-US" sz="1100" dirty="0"/>
          </a:p>
        </p:txBody>
      </p:sp>
      <p:sp>
        <p:nvSpPr>
          <p:cNvPr id="10" name="phase output"/>
          <p:cNvSpPr/>
          <p:nvPr/>
        </p:nvSpPr>
        <p:spPr>
          <a:xfrm>
            <a:off x="822960" y="4983480"/>
            <a:ext cx="3017520" cy="685800"/>
          </a:xfrm>
          <a:prstGeom prst="roundRect">
            <a:avLst>
              <a:gd name="adj" fmla="val 10667"/>
            </a:avLst>
          </a:prstGeom>
          <a:solidFill>
            <a:srgbClr val="EEF3F6"/>
          </a:solidFill>
          <a:ln w="12700">
            <a:solidFill>
              <a:srgbClr val="EEF3F6"/>
            </a:solidFill>
            <a:prstDash val="solid"/>
          </a:ln>
        </p:spPr>
      </p:sp>
      <p:sp>
        <p:nvSpPr>
          <p:cNvPr id="11" name="Text 9"/>
          <p:cNvSpPr txBox="1"/>
          <p:nvPr/>
        </p:nvSpPr>
        <p:spPr>
          <a:xfrm>
            <a:off x="960120" y="4983480"/>
            <a:ext cx="2743200" cy="685800"/>
          </a:xfrm>
          <a:prstGeom prst="rect">
            <a:avLst/>
          </a:prstGeom>
          <a:noFill/>
          <a:ln/>
        </p:spPr>
        <p:txBody>
          <a:bodyPr wrap="square" lIns="0" tIns="0" rIns="0" bIns="0" rtlCol="0" anchor="ctr"/>
          <a:lstStyle/>
          <a:p>
            <a:pPr indent="0" marL="0">
              <a:buNone/>
            </a:pPr>
            <a:r>
              <a:rPr lang="en-US" sz="1000" b="1" dirty="0">
                <a:solidFill>
                  <a:schemeClr val="tx2"/>
                </a:solidFill>
              </a:rPr>
              <a:t>산출: 실측 기반 무게 구간, 한국 핫스팟 검증 보고</a:t>
            </a:r>
            <a:endParaRPr lang="en-US" sz="1000" dirty="0"/>
          </a:p>
        </p:txBody>
      </p:sp>
      <p:sp>
        <p:nvSpPr>
          <p:cNvPr id="12" name="phase 2"/>
          <p:cNvSpPr/>
          <p:nvPr/>
        </p:nvSpPr>
        <p:spPr>
          <a:xfrm>
            <a:off x="4297680" y="1783080"/>
            <a:ext cx="3566160" cy="406908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3" name="phase circle"/>
          <p:cNvSpPr/>
          <p:nvPr/>
        </p:nvSpPr>
        <p:spPr>
          <a:xfrm>
            <a:off x="4572000" y="2057400"/>
            <a:ext cx="566928" cy="566928"/>
          </a:xfrm>
          <a:prstGeom prst="ellipse">
            <a:avLst/>
          </a:prstGeom>
          <a:solidFill>
            <a:srgbClr val="0B3C5D"/>
          </a:solidFill>
          <a:ln w="12700">
            <a:solidFill>
              <a:srgbClr val="0B3C5D"/>
            </a:solidFill>
            <a:prstDash val="solid"/>
          </a:ln>
        </p:spPr>
      </p:sp>
      <p:sp>
        <p:nvSpPr>
          <p:cNvPr id="14" name="Text 12"/>
          <p:cNvSpPr txBox="1"/>
          <p:nvPr/>
        </p:nvSpPr>
        <p:spPr>
          <a:xfrm>
            <a:off x="4572000" y="20574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3"/>
          <p:cNvSpPr txBox="1"/>
          <p:nvPr/>
        </p:nvSpPr>
        <p:spPr>
          <a:xfrm>
            <a:off x="5303520" y="2075688"/>
            <a:ext cx="2286000" cy="256032"/>
          </a:xfrm>
          <a:prstGeom prst="rect">
            <a:avLst/>
          </a:prstGeom>
          <a:noFill/>
          <a:ln/>
        </p:spPr>
        <p:txBody>
          <a:bodyPr wrap="square" lIns="0" tIns="0" rIns="0" bIns="0" rtlCol="0" anchor="ctr"/>
          <a:lstStyle/>
          <a:p>
            <a:pPr indent="0" marL="0">
              <a:buNone/>
            </a:pPr>
            <a:r>
              <a:rPr lang="en-US" sz="1000" dirty="0">
                <a:solidFill>
                  <a:schemeClr val="accent4"/>
                </a:solidFill>
              </a:rPr>
              <a:t>2027 상반기</a:t>
            </a:r>
            <a:endParaRPr lang="en-US" sz="1000" dirty="0"/>
          </a:p>
        </p:txBody>
      </p:sp>
      <p:sp>
        <p:nvSpPr>
          <p:cNvPr id="16" name="Text 14"/>
          <p:cNvSpPr txBox="1"/>
          <p:nvPr/>
        </p:nvSpPr>
        <p:spPr>
          <a:xfrm>
            <a:off x="5303520" y="2304288"/>
            <a:ext cx="2286000" cy="365760"/>
          </a:xfrm>
          <a:prstGeom prst="rect">
            <a:avLst/>
          </a:prstGeom>
          <a:noFill/>
          <a:ln/>
        </p:spPr>
        <p:txBody>
          <a:bodyPr wrap="square" lIns="0" tIns="0" rIns="0" bIns="0" rtlCol="0" anchor="ctr"/>
          <a:lstStyle/>
          <a:p>
            <a:pPr indent="0" marL="0">
              <a:buNone/>
            </a:pPr>
            <a:r>
              <a:rPr lang="en-US" sz="1500" b="1" dirty="0">
                <a:solidFill>
                  <a:schemeClr val="tx1"/>
                </a:solidFill>
              </a:rPr>
              <a:t>지자체 시범</a:t>
            </a:r>
            <a:endParaRPr lang="en-US" sz="1500" dirty="0"/>
          </a:p>
        </p:txBody>
      </p:sp>
      <p:sp>
        <p:nvSpPr>
          <p:cNvPr id="17" name="Text 15"/>
          <p:cNvSpPr txBox="1"/>
          <p:nvPr/>
        </p:nvSpPr>
        <p:spPr>
          <a:xfrm>
            <a:off x="4572000" y="2880360"/>
            <a:ext cx="3017520" cy="2011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시군 1곳(인천 옹진 또는 전남 도서) 해안 3구간, 2회 이상 반복 비행</a:t>
            </a:r>
            <a:endParaRPr lang="en-US" sz="1100" dirty="0"/>
          </a:p>
          <a:p>
            <a:pPr marL="177800" indent="-177800">
              <a:spcAft>
                <a:spcPts val="600"/>
              </a:spcAft>
              <a:buSzPct val="100000"/>
              <a:buChar char="•"/>
            </a:pPr>
            <a:r>
              <a:rPr lang="en-US" sz="1100" dirty="0">
                <a:solidFill>
                  <a:schemeClr val="tx1"/>
                </a:solidFill>
              </a:rPr>
              <a:t>실측 해류(KHOA·KOOS) 교체, RTK 또는 기준 표식 도입</a:t>
            </a:r>
            <a:endParaRPr lang="en-US" sz="1100" dirty="0"/>
          </a:p>
          <a:p>
            <a:pPr marL="177800" indent="-177800">
              <a:spcAft>
                <a:spcPts val="600"/>
              </a:spcAft>
              <a:buSzPct val="100000"/>
              <a:buChar char="•"/>
            </a:pPr>
            <a:r>
              <a:rPr lang="en-US" sz="1100" dirty="0">
                <a:solidFill>
                  <a:schemeClr val="tx1"/>
                </a:solidFill>
              </a:rPr>
              <a:t>비행 1회 → 작업카드 → 실제 수거량·마대·트럭과 대조</a:t>
            </a:r>
            <a:endParaRPr lang="en-US" sz="1100" dirty="0"/>
          </a:p>
        </p:txBody>
      </p:sp>
      <p:sp>
        <p:nvSpPr>
          <p:cNvPr id="18" name="phase output"/>
          <p:cNvSpPr/>
          <p:nvPr/>
        </p:nvSpPr>
        <p:spPr>
          <a:xfrm>
            <a:off x="4572000" y="4983480"/>
            <a:ext cx="3017520" cy="685800"/>
          </a:xfrm>
          <a:prstGeom prst="roundRect">
            <a:avLst>
              <a:gd name="adj" fmla="val 10667"/>
            </a:avLst>
          </a:prstGeom>
          <a:solidFill>
            <a:srgbClr val="EEF3F6"/>
          </a:solidFill>
          <a:ln w="12700">
            <a:solidFill>
              <a:srgbClr val="EEF3F6"/>
            </a:solidFill>
            <a:prstDash val="solid"/>
          </a:ln>
        </p:spPr>
      </p:sp>
      <p:sp>
        <p:nvSpPr>
          <p:cNvPr id="19" name="Text 17"/>
          <p:cNvSpPr txBox="1"/>
          <p:nvPr/>
        </p:nvSpPr>
        <p:spPr>
          <a:xfrm>
            <a:off x="4709160" y="4983480"/>
            <a:ext cx="2743200" cy="685800"/>
          </a:xfrm>
          <a:prstGeom prst="rect">
            <a:avLst/>
          </a:prstGeom>
          <a:noFill/>
          <a:ln/>
        </p:spPr>
        <p:txBody>
          <a:bodyPr wrap="square" lIns="0" tIns="0" rIns="0" bIns="0" rtlCol="0" anchor="ctr"/>
          <a:lstStyle/>
          <a:p>
            <a:pPr indent="0" marL="0">
              <a:buNone/>
            </a:pPr>
            <a:r>
              <a:rPr lang="en-US" sz="1000" b="1" dirty="0">
                <a:solidFill>
                  <a:schemeClr val="tx2"/>
                </a:solidFill>
              </a:rPr>
              <a:t>산출: 추정 vs 실제 수거량 오차, 마대·트럭 적중률</a:t>
            </a:r>
            <a:endParaRPr lang="en-US" sz="1000" dirty="0"/>
          </a:p>
        </p:txBody>
      </p:sp>
      <p:sp>
        <p:nvSpPr>
          <p:cNvPr id="20" name="phase 3"/>
          <p:cNvSpPr/>
          <p:nvPr/>
        </p:nvSpPr>
        <p:spPr>
          <a:xfrm>
            <a:off x="8046720" y="1783080"/>
            <a:ext cx="3566160" cy="4069080"/>
          </a:xfrm>
          <a:prstGeom prst="roundRect">
            <a:avLst>
              <a:gd name="adj" fmla="val 3077"/>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1" name="phase circle"/>
          <p:cNvSpPr/>
          <p:nvPr/>
        </p:nvSpPr>
        <p:spPr>
          <a:xfrm>
            <a:off x="8321040" y="2057400"/>
            <a:ext cx="566928" cy="566928"/>
          </a:xfrm>
          <a:prstGeom prst="ellipse">
            <a:avLst/>
          </a:prstGeom>
          <a:solidFill>
            <a:srgbClr val="F26B21"/>
          </a:solidFill>
          <a:ln w="12700">
            <a:solidFill>
              <a:srgbClr val="F26B21"/>
            </a:solidFill>
            <a:prstDash val="solid"/>
          </a:ln>
        </p:spPr>
      </p:sp>
      <p:sp>
        <p:nvSpPr>
          <p:cNvPr id="22" name="Text 20"/>
          <p:cNvSpPr txBox="1"/>
          <p:nvPr/>
        </p:nvSpPr>
        <p:spPr>
          <a:xfrm>
            <a:off x="8321040" y="20574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3" name="Text 21"/>
          <p:cNvSpPr txBox="1"/>
          <p:nvPr/>
        </p:nvSpPr>
        <p:spPr>
          <a:xfrm>
            <a:off x="9052560" y="2075688"/>
            <a:ext cx="2286000" cy="256032"/>
          </a:xfrm>
          <a:prstGeom prst="rect">
            <a:avLst/>
          </a:prstGeom>
          <a:noFill/>
          <a:ln/>
        </p:spPr>
        <p:txBody>
          <a:bodyPr wrap="square" lIns="0" tIns="0" rIns="0" bIns="0" rtlCol="0" anchor="ctr"/>
          <a:lstStyle/>
          <a:p>
            <a:pPr indent="0" marL="0">
              <a:buNone/>
            </a:pPr>
            <a:r>
              <a:rPr lang="en-US" sz="1000" dirty="0">
                <a:solidFill>
                  <a:schemeClr val="accent4"/>
                </a:solidFill>
              </a:rPr>
              <a:t>2027 하반기</a:t>
            </a:r>
            <a:endParaRPr lang="en-US" sz="1000" dirty="0"/>
          </a:p>
        </p:txBody>
      </p:sp>
      <p:sp>
        <p:nvSpPr>
          <p:cNvPr id="24" name="Text 22"/>
          <p:cNvSpPr txBox="1"/>
          <p:nvPr/>
        </p:nvSpPr>
        <p:spPr>
          <a:xfrm>
            <a:off x="9052560" y="2304288"/>
            <a:ext cx="2286000" cy="365760"/>
          </a:xfrm>
          <a:prstGeom prst="rect">
            <a:avLst/>
          </a:prstGeom>
          <a:noFill/>
          <a:ln/>
        </p:spPr>
        <p:txBody>
          <a:bodyPr wrap="square" lIns="0" tIns="0" rIns="0" bIns="0" rtlCol="0" anchor="ctr"/>
          <a:lstStyle/>
          <a:p>
            <a:pPr indent="0" marL="0">
              <a:buNone/>
            </a:pPr>
            <a:r>
              <a:rPr lang="en-US" sz="1500" b="1" dirty="0">
                <a:solidFill>
                  <a:schemeClr val="tx1"/>
                </a:solidFill>
              </a:rPr>
              <a:t>위성 결합 · 상용</a:t>
            </a:r>
            <a:endParaRPr lang="en-US" sz="1500" dirty="0"/>
          </a:p>
        </p:txBody>
      </p:sp>
      <p:sp>
        <p:nvSpPr>
          <p:cNvPr id="25" name="Text 23"/>
          <p:cNvSpPr txBox="1"/>
          <p:nvPr/>
        </p:nvSpPr>
        <p:spPr>
          <a:xfrm>
            <a:off x="8321040" y="2880360"/>
            <a:ext cx="3017520" cy="20116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위성 변화 탐지로 비행 시점·구간 자동 추천</a:t>
            </a:r>
            <a:endParaRPr lang="en-US" sz="1100" dirty="0"/>
          </a:p>
          <a:p>
            <a:pPr marL="177800" indent="-177800">
              <a:spcAft>
                <a:spcPts val="600"/>
              </a:spcAft>
              <a:buSzPct val="100000"/>
              <a:buChar char="•"/>
            </a:pPr>
            <a:r>
              <a:rPr lang="en-US" sz="1100" dirty="0">
                <a:solidFill>
                  <a:schemeClr val="tx1"/>
                </a:solidFill>
              </a:rPr>
              <a:t>KOEM 2개월 모니터링과 연동한 반복 조사 상품(이력 갱신)</a:t>
            </a:r>
            <a:endParaRPr lang="en-US" sz="1100" dirty="0"/>
          </a:p>
          <a:p>
            <a:pPr marL="177800" indent="-177800">
              <a:spcAft>
                <a:spcPts val="600"/>
              </a:spcAft>
              <a:buSzPct val="100000"/>
              <a:buChar char="•"/>
            </a:pPr>
            <a:r>
              <a:rPr lang="en-US" sz="1100" dirty="0">
                <a:solidFill>
                  <a:schemeClr val="tx1"/>
                </a:solidFill>
              </a:rPr>
              <a:t>B2G 플랫폼 활용 분야에 '해안쓰레기' 추가</a:t>
            </a:r>
            <a:endParaRPr lang="en-US" sz="1100" dirty="0"/>
          </a:p>
        </p:txBody>
      </p:sp>
      <p:sp>
        <p:nvSpPr>
          <p:cNvPr id="26" name="phase output"/>
          <p:cNvSpPr/>
          <p:nvPr/>
        </p:nvSpPr>
        <p:spPr>
          <a:xfrm>
            <a:off x="8321040" y="4983480"/>
            <a:ext cx="3017520" cy="685800"/>
          </a:xfrm>
          <a:prstGeom prst="roundRect">
            <a:avLst>
              <a:gd name="adj" fmla="val 10667"/>
            </a:avLst>
          </a:prstGeom>
          <a:solidFill>
            <a:srgbClr val="EEF3F6"/>
          </a:solidFill>
          <a:ln w="12700">
            <a:solidFill>
              <a:srgbClr val="EEF3F6"/>
            </a:solidFill>
            <a:prstDash val="solid"/>
          </a:ln>
        </p:spPr>
      </p:sp>
      <p:sp>
        <p:nvSpPr>
          <p:cNvPr id="27" name="Text 25"/>
          <p:cNvSpPr txBox="1"/>
          <p:nvPr/>
        </p:nvSpPr>
        <p:spPr>
          <a:xfrm>
            <a:off x="8458200" y="4983480"/>
            <a:ext cx="2743200" cy="685800"/>
          </a:xfrm>
          <a:prstGeom prst="rect">
            <a:avLst/>
          </a:prstGeom>
          <a:noFill/>
          <a:ln/>
        </p:spPr>
        <p:txBody>
          <a:bodyPr wrap="square" lIns="0" tIns="0" rIns="0" bIns="0" rtlCol="0" anchor="ctr"/>
          <a:lstStyle/>
          <a:p>
            <a:pPr indent="0" marL="0">
              <a:buNone/>
            </a:pPr>
            <a:r>
              <a:rPr lang="en-US" sz="1000" b="1" dirty="0">
                <a:solidFill>
                  <a:schemeClr val="tx2"/>
                </a:solidFill>
              </a:rPr>
              <a:t>산출: 구독형 수거계획 서비스, 레퍼런스 1곳</a:t>
            </a:r>
            <a:endParaRPr lang="en-US" sz="10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bg1"/>
                </a:solidFill>
              </a:rPr>
              <a:t>함께 검증하고 싶은 것</a:t>
            </a:r>
            <a:endParaRPr lang="en-US" sz="2800" dirty="0"/>
          </a:p>
        </p:txBody>
      </p:sp>
      <p:sp>
        <p:nvSpPr>
          <p:cNvPr id="3" name="Text 1"/>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5"/>
                </a:solidFill>
              </a:rPr>
              <a:t>세 가지를 요청드립니다. 모두 1단계(2026 4분기) 안에 결과를 숫자로 돌려드릴 수 있는 범위입니다.</a:t>
            </a:r>
            <a:endParaRPr lang="en-US" sz="1400" dirty="0"/>
          </a:p>
        </p:txBody>
      </p:sp>
      <p:sp>
        <p:nvSpPr>
          <p:cNvPr id="4" name="card 위성 ARD 샘플"/>
          <p:cNvSpPr/>
          <p:nvPr/>
        </p:nvSpPr>
        <p:spPr>
          <a:xfrm>
            <a:off x="548640" y="1783080"/>
            <a:ext cx="3566160" cy="2743200"/>
          </a:xfrm>
          <a:prstGeom prst="roundRect">
            <a:avLst>
              <a:gd name="adj" fmla="val 4000"/>
            </a:avLst>
          </a:prstGeom>
          <a:solidFill>
            <a:srgbClr val="124A6E"/>
          </a:solidFill>
          <a:ln w="12700">
            <a:solidFill>
              <a:srgbClr val="124A6E"/>
            </a:solidFill>
            <a:prstDash val="solid"/>
          </a:ln>
        </p:spPr>
      </p:sp>
      <p:sp>
        <p:nvSpPr>
          <p:cNvPr id="5" name="icon circle"/>
          <p:cNvSpPr/>
          <p:nvPr/>
        </p:nvSpPr>
        <p:spPr>
          <a:xfrm>
            <a:off x="822960" y="2039112"/>
            <a:ext cx="566928" cy="566928"/>
          </a:xfrm>
          <a:prstGeom prst="ellipse">
            <a:avLst/>
          </a:prstGeom>
          <a:solidFill>
            <a:srgbClr val="F26B21"/>
          </a:solidFill>
          <a:ln w="12700">
            <a:solidFill>
              <a:srgbClr val="F26B21"/>
            </a:solidFill>
            <a:prstDash val="solid"/>
          </a:ln>
        </p:spPr>
      </p:sp>
      <p:pic>
        <p:nvPicPr>
          <p:cNvPr id="6" name="icon FaDatabase" descr="preencoded.png">    </p:cNvPr>
          <p:cNvPicPr>
            <a:picLocks noChangeAspect="1"/>
          </p:cNvPicPr>
          <p:nvPr/>
        </p:nvPicPr>
        <p:blipFill>
          <a:blip r:embed="rId1"/>
          <a:stretch>
            <a:fillRect/>
          </a:stretch>
        </p:blipFill>
        <p:spPr>
          <a:xfrm>
            <a:off x="960120" y="2176272"/>
            <a:ext cx="292608" cy="292608"/>
          </a:xfrm>
          <a:prstGeom prst="rect">
            <a:avLst/>
          </a:prstGeom>
        </p:spPr>
      </p:pic>
      <p:sp>
        <p:nvSpPr>
          <p:cNvPr id="7" name="Text 4"/>
          <p:cNvSpPr txBox="1"/>
          <p:nvPr/>
        </p:nvSpPr>
        <p:spPr>
          <a:xfrm>
            <a:off x="822960" y="2770632"/>
            <a:ext cx="3017520" cy="384048"/>
          </a:xfrm>
          <a:prstGeom prst="rect">
            <a:avLst/>
          </a:prstGeom>
          <a:noFill/>
          <a:ln/>
        </p:spPr>
        <p:txBody>
          <a:bodyPr wrap="square" lIns="0" tIns="0" rIns="0" bIns="0" rtlCol="0" anchor="t"/>
          <a:lstStyle/>
          <a:p>
            <a:pPr indent="0" marL="0">
              <a:buNone/>
            </a:pPr>
            <a:r>
              <a:rPr lang="en-US" sz="1500" b="1" dirty="0">
                <a:solidFill>
                  <a:schemeClr val="bg1"/>
                </a:solidFill>
              </a:rPr>
              <a:t>위성 ARD 샘플</a:t>
            </a:r>
            <a:endParaRPr lang="en-US" sz="1500" dirty="0"/>
          </a:p>
        </p:txBody>
      </p:sp>
      <p:sp>
        <p:nvSpPr>
          <p:cNvPr id="8" name="Text 5"/>
          <p:cNvSpPr txBox="1"/>
          <p:nvPr/>
        </p:nvSpPr>
        <p:spPr>
          <a:xfrm>
            <a:off x="822960" y="3209544"/>
            <a:ext cx="3017520" cy="1188720"/>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대상 해안 2~3곳(인천·강화 도서 또는 전남 도서)의 정사영상·시계열. 해안선 갱신과 형상 점수의 입력으로 쓰고 실제 패치와 대조합니다.</a:t>
            </a:r>
            <a:endParaRPr lang="en-US" sz="1200" dirty="0"/>
          </a:p>
        </p:txBody>
      </p:sp>
      <p:sp>
        <p:nvSpPr>
          <p:cNvPr id="9" name="card 시범 지자체 소개"/>
          <p:cNvSpPr/>
          <p:nvPr/>
        </p:nvSpPr>
        <p:spPr>
          <a:xfrm>
            <a:off x="4297680" y="1783080"/>
            <a:ext cx="3566160" cy="2743200"/>
          </a:xfrm>
          <a:prstGeom prst="roundRect">
            <a:avLst>
              <a:gd name="adj" fmla="val 4000"/>
            </a:avLst>
          </a:prstGeom>
          <a:solidFill>
            <a:srgbClr val="124A6E"/>
          </a:solidFill>
          <a:ln w="12700">
            <a:solidFill>
              <a:srgbClr val="124A6E"/>
            </a:solidFill>
            <a:prstDash val="solid"/>
          </a:ln>
        </p:spPr>
      </p:sp>
      <p:sp>
        <p:nvSpPr>
          <p:cNvPr id="10" name="icon circle"/>
          <p:cNvSpPr/>
          <p:nvPr/>
        </p:nvSpPr>
        <p:spPr>
          <a:xfrm>
            <a:off x="4572000" y="2039112"/>
            <a:ext cx="566928" cy="566928"/>
          </a:xfrm>
          <a:prstGeom prst="ellipse">
            <a:avLst/>
          </a:prstGeom>
          <a:solidFill>
            <a:srgbClr val="F26B21"/>
          </a:solidFill>
          <a:ln w="12700">
            <a:solidFill>
              <a:srgbClr val="F26B21"/>
            </a:solidFill>
            <a:prstDash val="solid"/>
          </a:ln>
        </p:spPr>
      </p:sp>
      <p:pic>
        <p:nvPicPr>
          <p:cNvPr id="11" name="icon FaHandshake" descr="preencoded.png">    </p:cNvPr>
          <p:cNvPicPr>
            <a:picLocks noChangeAspect="1"/>
          </p:cNvPicPr>
          <p:nvPr/>
        </p:nvPicPr>
        <p:blipFill>
          <a:blip r:embed="rId2"/>
          <a:stretch>
            <a:fillRect/>
          </a:stretch>
        </p:blipFill>
        <p:spPr>
          <a:xfrm>
            <a:off x="4709160" y="2176272"/>
            <a:ext cx="292608" cy="292608"/>
          </a:xfrm>
          <a:prstGeom prst="rect">
            <a:avLst/>
          </a:prstGeom>
        </p:spPr>
      </p:pic>
      <p:sp>
        <p:nvSpPr>
          <p:cNvPr id="12" name="Text 8"/>
          <p:cNvSpPr txBox="1"/>
          <p:nvPr/>
        </p:nvSpPr>
        <p:spPr>
          <a:xfrm>
            <a:off x="4572000" y="2770632"/>
            <a:ext cx="3017520" cy="384048"/>
          </a:xfrm>
          <a:prstGeom prst="rect">
            <a:avLst/>
          </a:prstGeom>
          <a:noFill/>
          <a:ln/>
        </p:spPr>
        <p:txBody>
          <a:bodyPr wrap="square" lIns="0" tIns="0" rIns="0" bIns="0" rtlCol="0" anchor="t"/>
          <a:lstStyle/>
          <a:p>
            <a:pPr indent="0" marL="0">
              <a:buNone/>
            </a:pPr>
            <a:r>
              <a:rPr lang="en-US" sz="1500" b="1" dirty="0">
                <a:solidFill>
                  <a:schemeClr val="bg1"/>
                </a:solidFill>
              </a:rPr>
              <a:t>시범 지자체 소개</a:t>
            </a:r>
            <a:endParaRPr lang="en-US" sz="1500" dirty="0"/>
          </a:p>
        </p:txBody>
      </p:sp>
      <p:sp>
        <p:nvSpPr>
          <p:cNvPr id="13" name="Text 9"/>
          <p:cNvSpPr txBox="1"/>
          <p:nvPr/>
        </p:nvSpPr>
        <p:spPr>
          <a:xfrm>
            <a:off x="4572000" y="3209544"/>
            <a:ext cx="3017520" cy="1188720"/>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B2G 채널로 연결된 시군 1곳. 비행 1회로 작업카드를 내고 실제 수거량·마대·트럭과 대조합니다.</a:t>
            </a:r>
            <a:endParaRPr lang="en-US" sz="1200" dirty="0"/>
          </a:p>
        </p:txBody>
      </p:sp>
      <p:sp>
        <p:nvSpPr>
          <p:cNvPr id="14" name="card 데이터 연동 규격 협의"/>
          <p:cNvSpPr/>
          <p:nvPr/>
        </p:nvSpPr>
        <p:spPr>
          <a:xfrm>
            <a:off x="8046720" y="1783080"/>
            <a:ext cx="3566160" cy="2743200"/>
          </a:xfrm>
          <a:prstGeom prst="roundRect">
            <a:avLst>
              <a:gd name="adj" fmla="val 4000"/>
            </a:avLst>
          </a:prstGeom>
          <a:solidFill>
            <a:srgbClr val="124A6E"/>
          </a:solidFill>
          <a:ln w="12700">
            <a:solidFill>
              <a:srgbClr val="124A6E"/>
            </a:solidFill>
            <a:prstDash val="solid"/>
          </a:ln>
        </p:spPr>
      </p:sp>
      <p:sp>
        <p:nvSpPr>
          <p:cNvPr id="15" name="icon circle"/>
          <p:cNvSpPr/>
          <p:nvPr/>
        </p:nvSpPr>
        <p:spPr>
          <a:xfrm>
            <a:off x="8321040" y="2039112"/>
            <a:ext cx="566928" cy="566928"/>
          </a:xfrm>
          <a:prstGeom prst="ellipse">
            <a:avLst/>
          </a:prstGeom>
          <a:solidFill>
            <a:srgbClr val="F26B21"/>
          </a:solidFill>
          <a:ln w="12700">
            <a:solidFill>
              <a:srgbClr val="F26B21"/>
            </a:solidFill>
            <a:prstDash val="solid"/>
          </a:ln>
        </p:spPr>
      </p:sp>
      <p:pic>
        <p:nvPicPr>
          <p:cNvPr id="16" name="icon FaLayerGroup" descr="preencoded.png">    </p:cNvPr>
          <p:cNvPicPr>
            <a:picLocks noChangeAspect="1"/>
          </p:cNvPicPr>
          <p:nvPr/>
        </p:nvPicPr>
        <p:blipFill>
          <a:blip r:embed="rId3"/>
          <a:stretch>
            <a:fillRect/>
          </a:stretch>
        </p:blipFill>
        <p:spPr>
          <a:xfrm>
            <a:off x="8458200" y="2176272"/>
            <a:ext cx="292608" cy="292608"/>
          </a:xfrm>
          <a:prstGeom prst="rect">
            <a:avLst/>
          </a:prstGeom>
        </p:spPr>
      </p:pic>
      <p:sp>
        <p:nvSpPr>
          <p:cNvPr id="17" name="Text 12"/>
          <p:cNvSpPr txBox="1"/>
          <p:nvPr/>
        </p:nvSpPr>
        <p:spPr>
          <a:xfrm>
            <a:off x="8321040" y="2770632"/>
            <a:ext cx="3017520" cy="384048"/>
          </a:xfrm>
          <a:prstGeom prst="rect">
            <a:avLst/>
          </a:prstGeom>
          <a:noFill/>
          <a:ln/>
        </p:spPr>
        <p:txBody>
          <a:bodyPr wrap="square" lIns="0" tIns="0" rIns="0" bIns="0" rtlCol="0" anchor="t"/>
          <a:lstStyle/>
          <a:p>
            <a:pPr indent="0" marL="0">
              <a:buNone/>
            </a:pPr>
            <a:r>
              <a:rPr lang="en-US" sz="1500" b="1" dirty="0">
                <a:solidFill>
                  <a:schemeClr val="bg1"/>
                </a:solidFill>
              </a:rPr>
              <a:t>데이터 연동 규격 협의</a:t>
            </a:r>
            <a:endParaRPr lang="en-US" sz="1500" dirty="0"/>
          </a:p>
        </p:txBody>
      </p:sp>
      <p:sp>
        <p:nvSpPr>
          <p:cNvPr id="18" name="Text 13"/>
          <p:cNvSpPr txBox="1"/>
          <p:nvPr/>
        </p:nvSpPr>
        <p:spPr>
          <a:xfrm>
            <a:off x="8321040" y="3209544"/>
            <a:ext cx="3017520" cy="1188720"/>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ARD → 핫스팟 사전값 입력, 드론 결과(GeoJSON·CSV·작업카드) → 플랫폼 활용 분야 등록. 양방향 포맷을 먼저 맞춥니다.</a:t>
            </a:r>
            <a:endParaRPr lang="en-US" sz="1200" dirty="0"/>
          </a:p>
        </p:txBody>
      </p:sp>
      <p:sp>
        <p:nvSpPr>
          <p:cNvPr id="19" name="closing"/>
          <p:cNvSpPr/>
          <p:nvPr/>
        </p:nvSpPr>
        <p:spPr>
          <a:xfrm>
            <a:off x="548640" y="4754880"/>
            <a:ext cx="11091672" cy="1143000"/>
          </a:xfrm>
          <a:prstGeom prst="roundRect">
            <a:avLst>
              <a:gd name="adj" fmla="val 9600"/>
            </a:avLst>
          </a:prstGeom>
          <a:solidFill>
            <a:srgbClr val="F26B21"/>
          </a:solidFill>
          <a:ln w="12700">
            <a:solidFill>
              <a:srgbClr val="F26B21"/>
            </a:solidFill>
            <a:prstDash val="solid"/>
          </a:ln>
        </p:spPr>
      </p:sp>
      <p:sp>
        <p:nvSpPr>
          <p:cNvPr id="20" name="Text 15"/>
          <p:cNvSpPr txBox="1"/>
          <p:nvPr/>
        </p:nvSpPr>
        <p:spPr>
          <a:xfrm>
            <a:off x="868680" y="4754880"/>
            <a:ext cx="10424160" cy="731520"/>
          </a:xfrm>
          <a:prstGeom prst="rect">
            <a:avLst/>
          </a:prstGeom>
          <a:noFill/>
          <a:ln/>
        </p:spPr>
        <p:txBody>
          <a:bodyPr wrap="square" lIns="0" tIns="0" rIns="0" bIns="0" rtlCol="0" anchor="ctr"/>
          <a:lstStyle/>
          <a:p>
            <a:pPr indent="0" marL="0">
              <a:buNone/>
            </a:pPr>
            <a:r>
              <a:rPr lang="en-US" sz="1700" b="1" dirty="0">
                <a:solidFill>
                  <a:schemeClr val="bg1"/>
                </a:solidFill>
              </a:rPr>
              <a:t>추정이 틀리면 배차가 틀린다.  위성이 넓게 보고, 드론이 자세히 재면, 지자체는 맞게 배차할 수 있습니다.</a:t>
            </a:r>
            <a:endParaRPr lang="en-US" sz="1700" dirty="0"/>
          </a:p>
        </p:txBody>
      </p:sp>
      <p:sp>
        <p:nvSpPr>
          <p:cNvPr id="21" name="Text 16"/>
          <p:cNvSpPr txBox="1"/>
          <p:nvPr/>
        </p:nvSpPr>
        <p:spPr>
          <a:xfrm>
            <a:off x="868680" y="5440680"/>
            <a:ext cx="10424160" cy="365760"/>
          </a:xfrm>
          <a:prstGeom prst="rect">
            <a:avLst/>
          </a:prstGeom>
          <a:noFill/>
          <a:ln/>
        </p:spPr>
        <p:txBody>
          <a:bodyPr wrap="square" lIns="0" tIns="0" rIns="0" bIns="0" rtlCol="0" anchor="ctr"/>
          <a:lstStyle/>
          <a:p>
            <a:pPr indent="0" marL="0">
              <a:buNone/>
            </a:pPr>
            <a:r>
              <a:rPr lang="en-US" sz="1050" dirty="0">
                <a:solidFill>
                  <a:schemeClr val="bg1"/>
                </a:solidFill>
              </a:rPr>
              <a:t>DroneSweep · 드론대장 붕붕이 · 저장소 dohun415/aerodrone_hackathon, HSR2M/hsr1m</a:t>
            </a:r>
            <a:endParaRPr lang="en-US" sz="105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다시 한 장으로</a:t>
            </a:r>
            <a:endParaRPr lang="en-US" sz="2800" dirty="0"/>
          </a:p>
        </p:txBody>
      </p:sp>
      <p:sp>
        <p:nvSpPr>
          <p:cNvPr id="3" name="subtitle"/>
          <p:cNvSpPr txBox="1"/>
          <p:nvPr/>
        </p:nvSpPr>
        <p:spPr>
          <a:xfrm>
            <a:off x="548640" y="1207008"/>
            <a:ext cx="11064240" cy="411480"/>
          </a:xfrm>
          <a:prstGeom prst="rect">
            <a:avLst/>
          </a:prstGeom>
          <a:noFill/>
          <a:ln/>
        </p:spPr>
        <p:txBody>
          <a:bodyPr wrap="square" lIns="0" tIns="0" rIns="0" bIns="0" rtlCol="0" anchor="ctr"/>
          <a:lstStyle/>
          <a:p>
            <a:pPr indent="0" marL="0">
              <a:buNone/>
            </a:pPr>
            <a:r>
              <a:rPr lang="en-US" sz="1400" dirty="0">
                <a:solidFill>
                  <a:schemeClr val="accent4"/>
                </a:solidFill>
              </a:rPr>
              <a:t>문제 → 해법 → 검증 → 제안. 새로 발명한 알고리즘은 없고, 검증된 방법을 수거계획 하나로 이었습니다.</a:t>
            </a:r>
            <a:endParaRPr lang="en-US" sz="1400" dirty="0"/>
          </a:p>
        </p:txBody>
      </p:sp>
      <p:sp>
        <p:nvSpPr>
          <p:cNvPr id="4" name="card 문제: 추정이 곧 예산이다"/>
          <p:cNvSpPr/>
          <p:nvPr/>
        </p:nvSpPr>
        <p:spPr>
          <a:xfrm>
            <a:off x="548640" y="1783080"/>
            <a:ext cx="2651760" cy="393192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5" name="icon circle"/>
          <p:cNvSpPr/>
          <p:nvPr/>
        </p:nvSpPr>
        <p:spPr>
          <a:xfrm>
            <a:off x="822960" y="2039112"/>
            <a:ext cx="566928" cy="566928"/>
          </a:xfrm>
          <a:prstGeom prst="ellipse">
            <a:avLst/>
          </a:prstGeom>
          <a:solidFill>
            <a:srgbClr val="0B3C5D"/>
          </a:solidFill>
          <a:ln w="12700">
            <a:solidFill>
              <a:srgbClr val="0B3C5D"/>
            </a:solidFill>
            <a:prstDash val="solid"/>
          </a:ln>
        </p:spPr>
      </p:sp>
      <p:pic>
        <p:nvPicPr>
          <p:cNvPr id="6" name="icon FaExclamationTriangle" descr="preencoded.png">    </p:cNvPr>
          <p:cNvPicPr>
            <a:picLocks noChangeAspect="1"/>
          </p:cNvPicPr>
          <p:nvPr/>
        </p:nvPicPr>
        <p:blipFill>
          <a:blip r:embed="rId1"/>
          <a:stretch>
            <a:fillRect/>
          </a:stretch>
        </p:blipFill>
        <p:spPr>
          <a:xfrm>
            <a:off x="960120" y="2176272"/>
            <a:ext cx="292608" cy="292608"/>
          </a:xfrm>
          <a:prstGeom prst="rect">
            <a:avLst/>
          </a:prstGeom>
        </p:spPr>
      </p:pic>
      <p:sp>
        <p:nvSpPr>
          <p:cNvPr id="7" name="Text 4"/>
          <p:cNvSpPr txBox="1"/>
          <p:nvPr/>
        </p:nvSpPr>
        <p:spPr>
          <a:xfrm>
            <a:off x="822960" y="2770632"/>
            <a:ext cx="2103120" cy="384048"/>
          </a:xfrm>
          <a:prstGeom prst="rect">
            <a:avLst/>
          </a:prstGeom>
          <a:noFill/>
          <a:ln/>
        </p:spPr>
        <p:txBody>
          <a:bodyPr wrap="square" lIns="0" tIns="0" rIns="0" bIns="0" rtlCol="0" anchor="t"/>
          <a:lstStyle/>
          <a:p>
            <a:pPr indent="0" marL="0">
              <a:buNone/>
            </a:pPr>
            <a:r>
              <a:rPr lang="en-US" sz="1450" b="1" dirty="0">
                <a:solidFill>
                  <a:schemeClr val="tx1"/>
                </a:solidFill>
              </a:rPr>
              <a:t>문제: 추정이 곧 예산이다</a:t>
            </a:r>
            <a:endParaRPr lang="en-US" sz="1450" dirty="0"/>
          </a:p>
        </p:txBody>
      </p:sp>
      <p:sp>
        <p:nvSpPr>
          <p:cNvPr id="8" name="Text 5"/>
          <p:cNvSpPr txBox="1"/>
          <p:nvPr/>
        </p:nvSpPr>
        <p:spPr>
          <a:xfrm>
            <a:off x="822960" y="3209544"/>
            <a:ext cx="2103120" cy="2377440"/>
          </a:xfrm>
          <a:prstGeom prst="rect">
            <a:avLst/>
          </a:prstGeom>
          <a:noFill/>
          <a:ln/>
        </p:spPr>
        <p:txBody>
          <a:bodyPr wrap="square" lIns="0" tIns="0" rIns="0" bIns="0" rtlCol="0" anchor="t"/>
          <a:lstStyle/>
          <a:p>
            <a:pPr indent="0" marL="0">
              <a:spcAft>
                <a:spcPts val="400"/>
              </a:spcAft>
              <a:buNone/>
            </a:pPr>
            <a:r>
              <a:rPr lang="en-US" sz="1200" dirty="0">
                <a:solidFill>
                  <a:schemeClr val="accent4"/>
                </a:solidFill>
              </a:rPr>
              <a:t>수거 업체는 눈으로 찾고(50 m 오차), 면적에 계수를 곱해 무게를 내고(42개 합계 1.3 kg, 3D로는 101 kg), 경험으로 배차합니다. 수거량은 5년간 19.8% 늘었고 90%를 지자체가 발주합니다.</a:t>
            </a:r>
            <a:endParaRPr lang="en-US" sz="1200" dirty="0"/>
          </a:p>
        </p:txBody>
      </p:sp>
      <p:sp>
        <p:nvSpPr>
          <p:cNvPr id="9" name="card 해법: 비행 한 번 = 수거계획서 한 부"/>
          <p:cNvSpPr/>
          <p:nvPr/>
        </p:nvSpPr>
        <p:spPr>
          <a:xfrm>
            <a:off x="3360420" y="1783080"/>
            <a:ext cx="2651760" cy="393192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0" name="icon circle"/>
          <p:cNvSpPr/>
          <p:nvPr/>
        </p:nvSpPr>
        <p:spPr>
          <a:xfrm>
            <a:off x="3634740" y="2039112"/>
            <a:ext cx="566928" cy="566928"/>
          </a:xfrm>
          <a:prstGeom prst="ellipse">
            <a:avLst/>
          </a:prstGeom>
          <a:solidFill>
            <a:srgbClr val="0B3C5D"/>
          </a:solidFill>
          <a:ln w="12700">
            <a:solidFill>
              <a:srgbClr val="0B3C5D"/>
            </a:solidFill>
            <a:prstDash val="solid"/>
          </a:ln>
        </p:spPr>
      </p:sp>
      <p:pic>
        <p:nvPicPr>
          <p:cNvPr id="11" name="icon FaRoute" descr="preencoded.png">    </p:cNvPr>
          <p:cNvPicPr>
            <a:picLocks noChangeAspect="1"/>
          </p:cNvPicPr>
          <p:nvPr/>
        </p:nvPicPr>
        <p:blipFill>
          <a:blip r:embed="rId2"/>
          <a:stretch>
            <a:fillRect/>
          </a:stretch>
        </p:blipFill>
        <p:spPr>
          <a:xfrm>
            <a:off x="3771900" y="2176272"/>
            <a:ext cx="292608" cy="292608"/>
          </a:xfrm>
          <a:prstGeom prst="rect">
            <a:avLst/>
          </a:prstGeom>
        </p:spPr>
      </p:pic>
      <p:sp>
        <p:nvSpPr>
          <p:cNvPr id="12" name="Text 8"/>
          <p:cNvSpPr txBox="1"/>
          <p:nvPr/>
        </p:nvSpPr>
        <p:spPr>
          <a:xfrm>
            <a:off x="3634740" y="2770632"/>
            <a:ext cx="2103120" cy="384048"/>
          </a:xfrm>
          <a:prstGeom prst="rect">
            <a:avLst/>
          </a:prstGeom>
          <a:noFill/>
          <a:ln/>
        </p:spPr>
        <p:txBody>
          <a:bodyPr wrap="square" lIns="0" tIns="0" rIns="0" bIns="0" rtlCol="0" anchor="t"/>
          <a:lstStyle/>
          <a:p>
            <a:pPr indent="0" marL="0">
              <a:buNone/>
            </a:pPr>
            <a:r>
              <a:rPr lang="en-US" sz="1450" b="1" dirty="0">
                <a:solidFill>
                  <a:schemeClr val="tx1"/>
                </a:solidFill>
              </a:rPr>
              <a:t>해법: 비행 한 번 = 수거계획서 한 부</a:t>
            </a:r>
            <a:endParaRPr lang="en-US" sz="1450" dirty="0"/>
          </a:p>
        </p:txBody>
      </p:sp>
      <p:sp>
        <p:nvSpPr>
          <p:cNvPr id="13" name="Text 9"/>
          <p:cNvSpPr txBox="1"/>
          <p:nvPr/>
        </p:nvSpPr>
        <p:spPr>
          <a:xfrm>
            <a:off x="3634740" y="3209544"/>
            <a:ext cx="2103120" cy="2377440"/>
          </a:xfrm>
          <a:prstGeom prst="rect">
            <a:avLst/>
          </a:prstGeom>
          <a:noFill/>
          <a:ln/>
        </p:spPr>
        <p:txBody>
          <a:bodyPr wrap="square" lIns="0" tIns="0" rIns="0" bIns="0" rtlCol="0" anchor="t"/>
          <a:lstStyle/>
          <a:p>
            <a:pPr indent="0" marL="0">
              <a:spcAft>
                <a:spcPts val="400"/>
              </a:spcAft>
              <a:buNone/>
            </a:pPr>
            <a:r>
              <a:rPr lang="en-US" sz="1200" dirty="0">
                <a:solidFill>
                  <a:schemeClr val="accent4"/>
                </a:solidFill>
              </a:rPr>
              <a:t>위성 형상 점수·조석 모델로 어디를 날지 고르고(상위 30% 구간에 쓰레기 절반 이상) → 조종자 비행(KML) → 탐지 → 3D 위치 → SfM 부피 × 겉보기밀도 → 무게 구간 → 마대·트럭·인원·경로 작업카드.</a:t>
            </a:r>
            <a:endParaRPr lang="en-US" sz="1200" dirty="0"/>
          </a:p>
        </p:txBody>
      </p:sp>
      <p:sp>
        <p:nvSpPr>
          <p:cNvPr id="14" name="card 검증: 상자 3개, 영상 3편, 해안 3곳"/>
          <p:cNvSpPr/>
          <p:nvPr/>
        </p:nvSpPr>
        <p:spPr>
          <a:xfrm>
            <a:off x="6172200" y="1783080"/>
            <a:ext cx="2651760" cy="393192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15" name="icon circle"/>
          <p:cNvSpPr/>
          <p:nvPr/>
        </p:nvSpPr>
        <p:spPr>
          <a:xfrm>
            <a:off x="6446520" y="2039112"/>
            <a:ext cx="566928" cy="566928"/>
          </a:xfrm>
          <a:prstGeom prst="ellipse">
            <a:avLst/>
          </a:prstGeom>
          <a:solidFill>
            <a:srgbClr val="0B3C5D"/>
          </a:solidFill>
          <a:ln w="12700">
            <a:solidFill>
              <a:srgbClr val="0B3C5D"/>
            </a:solidFill>
            <a:prstDash val="solid"/>
          </a:ln>
        </p:spPr>
      </p:sp>
      <p:pic>
        <p:nvPicPr>
          <p:cNvPr id="16" name="icon FaFlask" descr="preencoded.png">    </p:cNvPr>
          <p:cNvPicPr>
            <a:picLocks noChangeAspect="1"/>
          </p:cNvPicPr>
          <p:nvPr/>
        </p:nvPicPr>
        <p:blipFill>
          <a:blip r:embed="rId3"/>
          <a:stretch>
            <a:fillRect/>
          </a:stretch>
        </p:blipFill>
        <p:spPr>
          <a:xfrm>
            <a:off x="6583680" y="2176272"/>
            <a:ext cx="292608" cy="292608"/>
          </a:xfrm>
          <a:prstGeom prst="rect">
            <a:avLst/>
          </a:prstGeom>
        </p:spPr>
      </p:pic>
      <p:sp>
        <p:nvSpPr>
          <p:cNvPr id="17" name="Text 12"/>
          <p:cNvSpPr txBox="1"/>
          <p:nvPr/>
        </p:nvSpPr>
        <p:spPr>
          <a:xfrm>
            <a:off x="6446520" y="2770632"/>
            <a:ext cx="2103120" cy="384048"/>
          </a:xfrm>
          <a:prstGeom prst="rect">
            <a:avLst/>
          </a:prstGeom>
          <a:noFill/>
          <a:ln/>
        </p:spPr>
        <p:txBody>
          <a:bodyPr wrap="square" lIns="0" tIns="0" rIns="0" bIns="0" rtlCol="0" anchor="t"/>
          <a:lstStyle/>
          <a:p>
            <a:pPr indent="0" marL="0">
              <a:buNone/>
            </a:pPr>
            <a:r>
              <a:rPr lang="en-US" sz="1450" b="1" dirty="0">
                <a:solidFill>
                  <a:schemeClr val="tx1"/>
                </a:solidFill>
              </a:rPr>
              <a:t>검증: 상자 3개, 영상 3편, 해안 3곳</a:t>
            </a:r>
            <a:endParaRPr lang="en-US" sz="1450" dirty="0"/>
          </a:p>
        </p:txBody>
      </p:sp>
      <p:sp>
        <p:nvSpPr>
          <p:cNvPr id="18" name="Text 13"/>
          <p:cNvSpPr txBox="1"/>
          <p:nvPr/>
        </p:nvSpPr>
        <p:spPr>
          <a:xfrm>
            <a:off x="6446520" y="3209544"/>
            <a:ext cx="2103120" cy="2377440"/>
          </a:xfrm>
          <a:prstGeom prst="rect">
            <a:avLst/>
          </a:prstGeom>
          <a:noFill/>
          <a:ln/>
        </p:spPr>
        <p:txBody>
          <a:bodyPr wrap="square" lIns="0" tIns="0" rIns="0" bIns="0" rtlCol="0" anchor="t"/>
          <a:lstStyle/>
          <a:p>
            <a:pPr indent="0" marL="0">
              <a:spcAft>
                <a:spcPts val="400"/>
              </a:spcAft>
              <a:buNone/>
            </a:pPr>
            <a:r>
              <a:rPr lang="en-US" sz="1200" dirty="0">
                <a:solidFill>
                  <a:schemeClr val="accent4"/>
                </a:solidFill>
              </a:rPr>
              <a:t>부피 오차 ±20% 안(업체 방식은 1/112·1/180). 3D↔GPS 1.16 m. 재현율 0.72, 재방문 0.86. 니하우: 핫스팟 30%가 37% 시간으로 67% 포착. 문갑도 라벨: 상위 30% 길이에 62%.</a:t>
            </a:r>
            <a:endParaRPr lang="en-US" sz="1200" dirty="0"/>
          </a:p>
        </p:txBody>
      </p:sp>
      <p:sp>
        <p:nvSpPr>
          <p:cNvPr id="19" name="card 제안: 위성이 넓게, 드론이 자세히"/>
          <p:cNvSpPr/>
          <p:nvPr/>
        </p:nvSpPr>
        <p:spPr>
          <a:xfrm>
            <a:off x="8983980" y="1783080"/>
            <a:ext cx="2651760" cy="3931920"/>
          </a:xfrm>
          <a:prstGeom prst="roundRect">
            <a:avLst>
              <a:gd name="adj" fmla="val 4138"/>
            </a:avLst>
          </a:prstGeom>
          <a:solidFill>
            <a:srgbClr val="FFFFFF"/>
          </a:solidFill>
          <a:ln w="12700">
            <a:solidFill>
              <a:srgbClr val="FFFFFF"/>
            </a:solidFill>
            <a:prstDash val="solid"/>
          </a:ln>
          <a:effectLst>
            <a:outerShdw sx="100000" sy="100000" kx="0" ky="0" algn="bl" rotWithShape="0" blurRad="101600" dist="25400" dir="5400000">
              <a:srgbClr val="0B3C5D">
                <a:alpha val="10000"/>
              </a:srgbClr>
            </a:outerShdw>
          </a:effectLst>
        </p:spPr>
      </p:sp>
      <p:sp>
        <p:nvSpPr>
          <p:cNvPr id="20" name="icon circle"/>
          <p:cNvSpPr/>
          <p:nvPr/>
        </p:nvSpPr>
        <p:spPr>
          <a:xfrm>
            <a:off x="9258300" y="2039112"/>
            <a:ext cx="566928" cy="566928"/>
          </a:xfrm>
          <a:prstGeom prst="ellipse">
            <a:avLst/>
          </a:prstGeom>
          <a:solidFill>
            <a:srgbClr val="0B3C5D"/>
          </a:solidFill>
          <a:ln w="12700">
            <a:solidFill>
              <a:srgbClr val="0B3C5D"/>
            </a:solidFill>
            <a:prstDash val="solid"/>
          </a:ln>
        </p:spPr>
      </p:sp>
      <p:pic>
        <p:nvPicPr>
          <p:cNvPr id="21" name="icon FaHandshake" descr="preencoded.png">    </p:cNvPr>
          <p:cNvPicPr>
            <a:picLocks noChangeAspect="1"/>
          </p:cNvPicPr>
          <p:nvPr/>
        </p:nvPicPr>
        <p:blipFill>
          <a:blip r:embed="rId4"/>
          <a:stretch>
            <a:fillRect/>
          </a:stretch>
        </p:blipFill>
        <p:spPr>
          <a:xfrm>
            <a:off x="9395460" y="2176272"/>
            <a:ext cx="292608" cy="292608"/>
          </a:xfrm>
          <a:prstGeom prst="rect">
            <a:avLst/>
          </a:prstGeom>
        </p:spPr>
      </p:pic>
      <p:sp>
        <p:nvSpPr>
          <p:cNvPr id="22" name="Text 16"/>
          <p:cNvSpPr txBox="1"/>
          <p:nvPr/>
        </p:nvSpPr>
        <p:spPr>
          <a:xfrm>
            <a:off x="9258300" y="2770632"/>
            <a:ext cx="2103120" cy="384048"/>
          </a:xfrm>
          <a:prstGeom prst="rect">
            <a:avLst/>
          </a:prstGeom>
          <a:noFill/>
          <a:ln/>
        </p:spPr>
        <p:txBody>
          <a:bodyPr wrap="square" lIns="0" tIns="0" rIns="0" bIns="0" rtlCol="0" anchor="t"/>
          <a:lstStyle/>
          <a:p>
            <a:pPr indent="0" marL="0">
              <a:buNone/>
            </a:pPr>
            <a:r>
              <a:rPr lang="en-US" sz="1450" b="1" dirty="0">
                <a:solidFill>
                  <a:schemeClr val="tx1"/>
                </a:solidFill>
              </a:rPr>
              <a:t>제안: 위성이 넓게, 드론이 자세히</a:t>
            </a:r>
            <a:endParaRPr lang="en-US" sz="1450" dirty="0"/>
          </a:p>
        </p:txBody>
      </p:sp>
      <p:sp>
        <p:nvSpPr>
          <p:cNvPr id="23" name="Text 17"/>
          <p:cNvSpPr txBox="1"/>
          <p:nvPr/>
        </p:nvSpPr>
        <p:spPr>
          <a:xfrm>
            <a:off x="9258300" y="3209544"/>
            <a:ext cx="2103120" cy="2377440"/>
          </a:xfrm>
          <a:prstGeom prst="rect">
            <a:avLst/>
          </a:prstGeom>
          <a:noFill/>
          <a:ln/>
        </p:spPr>
        <p:txBody>
          <a:bodyPr wrap="square" lIns="0" tIns="0" rIns="0" bIns="0" rtlCol="0" anchor="t"/>
          <a:lstStyle/>
          <a:p>
            <a:pPr indent="0" marL="0">
              <a:spcAft>
                <a:spcPts val="400"/>
              </a:spcAft>
              <a:buNone/>
            </a:pPr>
            <a:r>
              <a:rPr lang="en-US" sz="1200" dirty="0">
                <a:solidFill>
                  <a:schemeClr val="accent4"/>
                </a:solidFill>
              </a:rPr>
              <a:t>위성의 역할은 탐지가 아니라 해안선 갱신·형상 점수·선별입니다. 3DLabs의 ARD 위에 드론 측정 계층을 얹어 지자체 수거계획으로 연결하는 B2G 공동 실증.</a:t>
            </a:r>
            <a:endParaRPr lang="en-US" sz="1200" dirty="0"/>
          </a:p>
        </p:txBody>
      </p:sp>
      <p:sp>
        <p:nvSpPr>
          <p:cNvPr id="25" name="Slide Number Placeholder 0"/>
          <p:cNvSpPr>
            <a:spLocks noGrp="1"/>
          </p:cNvSpPr>
          <p:nvPr>
            <p:ph type="sldNum" sz="quarter" idx="4294967295"/>
          </p:nvPr>
        </p:nvSpPr>
        <p:spPr>
          <a:xfrm>
            <a:off x="1124712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Bungbungi Ocean">
  <a:themeElements>
    <a:clrScheme name="Bungbungi Ocean">
      <a:dk1>
        <a:srgbClr val="10212E"/>
      </a:dk1>
      <a:lt1>
        <a:srgbClr val="FFFFFF"/>
      </a:lt1>
      <a:dk2>
        <a:srgbClr val="0B3C5D"/>
      </a:dk2>
      <a:lt2>
        <a:srgbClr val="EEF3F6"/>
      </a:lt2>
      <a:accent1>
        <a:srgbClr val="0B3C5D"/>
      </a:accent1>
      <a:accent2>
        <a:srgbClr val="F26B21"/>
      </a:accent2>
      <a:accent3>
        <a:srgbClr val="1C7293"/>
      </a:accent3>
      <a:accent4>
        <a:srgbClr val="6F8794"/>
      </a:accent4>
      <a:accent5>
        <a:srgbClr val="D5DEE4"/>
      </a:accent5>
      <a:accent6>
        <a:srgbClr val="FFD9C2"/>
      </a:accent6>
      <a:hlink>
        <a:srgbClr val="1C7293"/>
      </a:hlink>
      <a:folHlink>
        <a:srgbClr val="6F8794"/>
      </a:folHlink>
    </a:clrScheme>
    <a:fontScheme name="Bungbungi Ocean">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DroneSweep — 드론 영상 하나로 끝내는 해안쓰레기 측정·수거계획</dc:title>
  <dc:subject>PptxGenJS Presentation</dc:subject>
  <dc:creator>드론대장 붕붕이</dc:creator>
  <cp:lastModifiedBy>드론대장 붕붕이</cp:lastModifiedBy>
  <cp:revision>1</cp:revision>
  <dcterms:created xsi:type="dcterms:W3CDTF">2026-10-02T01:19:22Z</dcterms:created>
  <dcterms:modified xsi:type="dcterms:W3CDTF">2026-10-02T01:19:22Z</dcterms:modified>
</cp:coreProperties>
</file>